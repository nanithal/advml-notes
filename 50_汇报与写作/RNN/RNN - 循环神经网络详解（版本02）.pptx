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embeddedFontLst>
    <p:embeddedFont>
      <p:font typeface="FZYaYiHei GB18030L2 R" panose="02000500000000000000" charset="-122"/>
      <p:regular r:id="rId23"/>
    </p:embeddedFont>
    <p:embeddedFont>
      <p:font typeface="Inter" panose="02000503000000020004"/>
      <p:regular r:id="rId24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各位好，欢迎来到今天的深度学习课程。今天我们要一起深入理解循环神经网络，也就是RNN。这是一种专门用来处理序列数据的神经网络架构，从自然语言到时间序列，它在很多领域都有重要应用。接下来我会从基础概念讲到训练难题，帮大家系统掌握RNN的核心原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今天的课程分为四个部分：第一部分我们搞清楚什么是RNN，它为什么被发明出来；第二部分深入RNN的内部结构，看看它到底是怎么计算的；第三部分看看RNN在哪些实际场景中发挥作用；第四部分聊聊RNN训练中最头疼的问题——梯度消失和梯度爆炸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好，我们先从最基础的问题开始：RNN到底是什么？它和普通的神经网络有什么不一样？为什么我们需要这样一种专门的网络架构？带着这些问题，我们进入第一部分。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先来理解一个关键概念——序列数据。什么是序列数据？简单来说，就是数据元素之间存在先后顺序和依赖关系的数据。比如一句话里的词语，'我吃饭'和'饭吃我'虽然用了相同的字，但意思完全不同，顺序很重要。再比如股票价格，今天的股价和昨天、前天的走势密切相关。传统的前馈神经网络有一个根本假设：它认为每个输入都是相互独立的，这就导致它无法捕捉序列内部的时序模式。RNN的核心创新就在于引入了隐藏状态的循环传递机制，让网络在每个时间步都能'记住'之前积累的信息，从而真正理解序列的含义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搞清楚了RNN为什么存在之后，接下来我们进入最核心的部分：RNN的内部结构到底长什么样？它是怎么一步步完成计算的？这部分会涉及一些公式，但我会尽量讲得直观易懂。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看这张结构图，RNN的基本架构可以分为三个部分。首先是输入层，它负责接收当前时间步的输入数据xt，可以是词向量、音频帧或任何序列元素。然后是隐藏层，这是RNN最核心的部分——它不仅接收当前输入，还接收上一时刻的隐藏状态ht-1，两者融合后产生新的隐藏状态ht。这个循环连接就是RNN名字的由来。最后是输出层，它将隐藏状态映射到输出空间，完成具体的预测或分类任务。关键在于隐藏层的循环连接，它让信息能够跨时间步传递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我们来看RNN的核心计算公式。隐藏状态的更新公式是ht等于tanh(Wxh乘以xt加上Whh乘以ht-1再加上偏置bh)。这个公式看起来有点复杂，但其实逻辑很清晰：Wxh是输入权重，负责把当前输入映射到隐藏空间；Whh是循环权重，它决定了上一时刻的记忆对当前状态有多大影响；bh是偏置项。最外层的tanh是激活函数，它把所有值压缩到-1到1之间，防止数值在多次循环后爆炸。输出层则比较简单，就是yt等于Why乘以ht加by，把隐藏状态映射到最终的输出空间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为了更好地理解RNN的工作过程，我们把它沿着时间轴展开来看。在时间步t-1，网络接收输入xt-1，结合之前的隐藏状态计算出ht-1，然后输出yt-1。到了时间步t，网络不仅接收新的输入xt，还带着上一时刻的隐藏状态ht-1一起计算，产生ht和yt。再到t+1时刻，同样的过程继续，但这次用的是ht。大家可以看到，信息就像接力赛一样，通过隐藏状态一步步向前传递。这种展开结构也是我们后面理解BPTT反向传播算法的基础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了解了RNN的结构和计算方式之后，大家可能会问：这东西到底能干什么？接下来我们看看RNN在实际中的典型应用场景，你会发现它的能力覆盖面其实非常广。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NN凭借序列建模能力在很多领域都有出色表现。首先是文本生成，Karpathy曾经用RNN生成莎士比亚风格的诗歌，效果令人惊叹，网络学会了字符之间的序列模式。其次是机器翻译，经典的编码器-解码器架构就是基于RNN的，编码器把源语言句子压缩成向量，解码器再把它展开成目标语言。第三是语音识别，连续的音频信号本质上就是时间序列数据，RNN能够捕获音频中的时序特征和语言模式。最后是时间序列预测，无论是股票价格、天气预报还是网站流量，RNN都能学习历史数据中的趋势和周期性规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里我想特别强调一下，RNN的输入输出模式其实非常灵活。最基础的是一对一模式，输入一个元素输出一个结果，但这种方式其实没有发挥RNN的序列优势。更常见的是多对一模式，比如情感分析，输入一整段评论文本，最后输出一个情感分类结果——正向还是负向。最复杂的是多对多模式，比如序列标注任务中的词性标注，每个输入词语都要对应一个标签输出；还有机器翻译，输入和输出的序列长度甚至不一样，这就需要编码器-解码器的特殊架构。这种灵活性使得RNN能够适配各种不同类型的序列任务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RNN看起来很强大，但它在实际训练中面临着非常严峻的挑战。接下来我们进入最后一个也是最重要的部分：RNN的训练难题。理解了这些问题，大家就能明白为什么后来会出现LSTM、GRU这些改进架构。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梯度消失是RNN训练中最核心的难题。要理解这个问题，我们先看RNN是怎么训练的。RNN使用BPTT算法，也就是随时间反向传播。梯度从输出层向输入层反向传递时，每经过一个时间步，都要乘以循环权重矩阵的转置。如果权重矩阵的最大特征值小于1，那每次相乘梯度都会缩小一点，经过多个时间步后，梯度就指数级衰减到接近于零了。这意味着什么呢？网络无法建立相隔多步的输入输出关联。打个比方，就像传话游戏，信息经过多人传递后严重失真，最前面说的话到最后已经完全变样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梯度消失的另一面就是梯度爆炸。当循环权重矩阵的特征值大于1时，梯度在反向传播过程中会指数级增长，导致参数更新幅度过大，训练变得非常不稳定甚至发散。好消息是，梯度爆炸相对容易解决。最常用的方法是梯度裁剪：我们设定一个梯度范数阈值，当梯度超过这个阈值时，按比例把它缩放回去，就像给梯度加了一个'限速器'。此外，合理的权重初始化也很重要，比如采用正交初始化或小方差初始化来避免初始权重过大。但要注意，梯度裁剪只能解决爆炸问题，梯度消失问题仍然没有好的治标方案，必须从网络结构层面寻求根本性突破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用一张表格来对比总结一下RNN训练中的两大难题。从产生条件看，梯度消失发生在权重特征值小于1时，梯度爆炸则发生在大于1时。从表现形式看，消失是梯度趋近于零导致学习停滞，爆炸是梯度急剧增大导致训练发散。从解决难度看，爆炸相对好解决，用梯度裁剪就行；但消失问题才是真正的大boss，需要从根本上改变网络结构。从影响范围看，消失导致长期依赖无法学习，爆炸则让整个训练过程不稳定。理解这两个问题的本质，就为后续学习改进架构打下了基础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好，我们来总结一下今天的内容。RNN是深度学习领域第一个能够有效处理序列数据的神经网络架构，它的循环连接机制开创了让网络拥有'记忆'能力的先河。从文本生成到语音识别，从机器翻译到时间序列预测，RNN在多个领域奠定了序列建模的基础。虽然标准RNN存在梯度消失的训练难题，但正是这些问题推动了后续LSTM、GRU等门控循环单元的诞生，不断完善着序列建模的技术体系。理解了RNN的基础原理，大家就掌握了整个循环神经网络家族的根基。后续课程中我们会继续深入学习改进架构，今天的课就到这里，谢谢大家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1364264" y="2750939"/>
            <a:ext cx="9460424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RNN循环神经网络详解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947376" y="3771900"/>
            <a:ext cx="8294201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600" b="0" i="0" strike="noStrike">
                <a:solidFill>
                  <a:srgbClr val="F1F3F5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从序列建模到深度记忆——核心原理与训练挑战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2581424"/>
            <a:ext cx="450732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Contents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2952899"/>
            <a:ext cx="4507323" cy="6000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42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课程目录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3825329"/>
            <a:ext cx="4507323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A1F3D">
                    <a:alpha val="7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 循环神经网络详解——从基础概念到训练策略的完整学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0A1F3D">
                    <a:alpha val="7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习路径。</a:t>
            </a:r>
            <a:endParaRPr sz="1200" b="0" i="0" strike="noStrike">
              <a:solidFill>
                <a:srgbClr val="0A1F3D">
                  <a:alpha val="70196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421494" y="173161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5421494" y="136966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5840490" y="130299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A1F3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RNN基础概念与诞生背景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421494" y="3015555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5421494" y="2653605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840490" y="2586930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A1F3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RNN结构与内部计算机制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21494" y="429949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5421494" y="393754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5840490" y="387087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A1F3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RNN的典型应用场景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421494" y="558343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5421494" y="522148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5840490" y="515481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A1F3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RNN的训练挑战与应对策略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5638283" y="2546300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1F3F5">
                    <a:alpha val="6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Chapter 01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199031" y="2979688"/>
            <a:ext cx="9790888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RNN基础概念与诞生背景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897381" y="4000649"/>
            <a:ext cx="8394188" cy="32995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1F3F5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理解序列数据的本质特征与循环神经网络的核心创新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什么是循环神经网络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335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RNN是一种专门处理序列数据的神经网络架构，通过引入循环连接机制，使网络能够维护内部状态并捕获时间序列中的前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后依赖关系，弥补了传统前馈网络无法建模时序模式的根本缺陷。</a:t>
            </a:r>
            <a:endParaRPr sz="16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457086" y="2439293"/>
            <a:ext cx="4570857" cy="3429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TextBox 8"/>
          <p:cNvSpPr txBox="1"/>
          <p:nvPr/>
        </p:nvSpPr>
        <p:spPr>
          <a:xfrm>
            <a:off x="457086" y="5963543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序列数据的时序依赖关系示意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332666" y="2154436"/>
            <a:ext cx="6399200" cy="990153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5332666" y="2154436"/>
            <a:ext cx="6399200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5494551" y="2444651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746603" y="2454176"/>
            <a:ext cx="509966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序列数据的本质特征是元素之间存在明确的时序依赖关系，如文本中的词语顺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序、时间序列中的前后关联、语音信号的连续波形</a:t>
            </a:r>
            <a:endParaRPr sz="1100" b="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960534" y="2463701"/>
            <a:ext cx="64753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8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时序依赖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32666" y="3239840"/>
            <a:ext cx="6399200" cy="990153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5332666" y="3239840"/>
            <a:ext cx="6399200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5494551" y="3530054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5746603" y="3539579"/>
            <a:ext cx="509966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标准前馈网络假设输入相互独立，无法建模序列内部的时序模式和长期依赖关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系，这是其处理序列问题的根本局限</a:t>
            </a:r>
            <a:endParaRPr sz="1100" b="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960534" y="3549104"/>
            <a:ext cx="64753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8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独立假设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332666" y="4325243"/>
            <a:ext cx="6399200" cy="990153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5332666" y="4325243"/>
            <a:ext cx="6399200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5494551" y="4615458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5746603" y="4624983"/>
            <a:ext cx="509966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RNN的核心创新是引入隐藏状态的循环传递机制，使网络在每个时间步都能访问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之前积累的信息，实现"记忆"能力</a:t>
            </a:r>
            <a:endParaRPr sz="1100" b="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960534" y="4634508"/>
            <a:ext cx="64753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8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循环传递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332666" y="5410647"/>
            <a:ext cx="6399200" cy="990153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5332666" y="5410647"/>
            <a:ext cx="6399200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5494551" y="5700861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5746603" y="5710386"/>
            <a:ext cx="509966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将同一网络模块沿时间轴展开，形成从过去到未来的信息传递链条，这种展开结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构是理解RNN计算过程的关键视角</a:t>
            </a:r>
            <a:endParaRPr sz="1100" b="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960534" y="5719911"/>
            <a:ext cx="64753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5B8CB8">
                    <a:alpha val="8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展开视角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5603169" y="2551807"/>
            <a:ext cx="658578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F1F3F5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02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199031" y="2999482"/>
            <a:ext cx="9790888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RNN结构与内部计算机制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666458" y="4020443"/>
            <a:ext cx="8856035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1F3F5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从输入层到隐藏层循环连接，深入理解信息如何在时间步之间流动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Architecture Overview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RNN基本结构解析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954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466580" y="12319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RNN由输入层、带循环连接的隐藏层和输出层三部分组成，其中隐藏层通过循环权重矩阵Whh实现跨时间步的信息传递，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这是RNN区别于其他神经网络架构的根本特征。</a:t>
            </a:r>
            <a:endParaRPr sz="16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086" y="2078236"/>
            <a:ext cx="3631242" cy="4303514"/>
          </a:xfrm>
          <a:prstGeom prst="rect">
            <a:avLst/>
          </a:prstGeom>
          <a:solidFill>
            <a:srgbClr val="E4E8EC">
              <a:alpha val="100000"/>
            </a:srgbClr>
          </a:solidFill>
          <a:ln w="9525">
            <a:solidFill>
              <a:srgbClr val="C0C9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57086" y="2097286"/>
            <a:ext cx="363124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57061" y="2354461"/>
            <a:ext cx="361860" cy="3619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499" y="0"/>
                </a:moveTo>
                <a:lnTo>
                  <a:pt x="5499" y="3889"/>
                </a:lnTo>
                <a:lnTo>
                  <a:pt x="7998" y="3889"/>
                </a:lnTo>
                <a:lnTo>
                  <a:pt x="4999" y="7222"/>
                </a:lnTo>
                <a:lnTo>
                  <a:pt x="2000" y="3889"/>
                </a:lnTo>
                <a:lnTo>
                  <a:pt x="4499" y="3889"/>
                </a:lnTo>
                <a:lnTo>
                  <a:pt x="4499" y="0"/>
                </a:lnTo>
                <a:lnTo>
                  <a:pt x="5499" y="0"/>
                </a:lnTo>
                <a:moveTo>
                  <a:pt x="1000" y="5000"/>
                </a:moveTo>
                <a:lnTo>
                  <a:pt x="1000" y="8889"/>
                </a:lnTo>
                <a:lnTo>
                  <a:pt x="8998" y="8889"/>
                </a:lnTo>
                <a:lnTo>
                  <a:pt x="8998" y="5000"/>
                </a:lnTo>
                <a:lnTo>
                  <a:pt x="9998" y="5000"/>
                </a:ln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657061" y="2878336"/>
            <a:ext cx="323129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输入层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56426" y="3276481"/>
            <a:ext cx="3431267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接收当前时间步的输入数据xt，可以是词向量、音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频帧或传感器读数等序列元素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09436" y="3867031"/>
            <a:ext cx="3431267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通过输入权重矩阵Wxh将原始输入映射到隐藏状态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空间，为后续循环计算做准备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57061" y="4545211"/>
            <a:ext cx="3231293" cy="9525"/>
          </a:xfrm>
          <a:prstGeom prst="line">
            <a:avLst/>
          </a:prstGeom>
          <a:ln w="9525">
            <a:solidFill>
              <a:srgbClr val="C0C9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609436" y="4745236"/>
            <a:ext cx="323129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Wxh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278780" y="2097286"/>
            <a:ext cx="3631242" cy="4303514"/>
          </a:xfrm>
          <a:prstGeom prst="rect">
            <a:avLst/>
          </a:prstGeom>
          <a:solidFill>
            <a:srgbClr val="E4E8EC">
              <a:alpha val="100000"/>
            </a:srgbClr>
          </a:solidFill>
          <a:ln w="9525">
            <a:solidFill>
              <a:srgbClr val="C0C9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4278780" y="2097286"/>
            <a:ext cx="363124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>
            <a:off x="4478755" y="2354461"/>
            <a:ext cx="361860" cy="3619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"/>
                </a:moveTo>
                <a:cubicBezTo>
                  <a:pt x="4325" y="1000"/>
                  <a:pt x="3692" y="1160"/>
                  <a:pt x="3099" y="1480"/>
                </a:cubicBezTo>
                <a:cubicBezTo>
                  <a:pt x="2526" y="1786"/>
                  <a:pt x="2056" y="2210"/>
                  <a:pt x="1690" y="2750"/>
                </a:cubicBezTo>
                <a:lnTo>
                  <a:pt x="2999" y="2750"/>
                </a:lnTo>
                <a:lnTo>
                  <a:pt x="2999" y="3750"/>
                </a:lnTo>
                <a:lnTo>
                  <a:pt x="0" y="3750"/>
                </a:lnTo>
                <a:lnTo>
                  <a:pt x="0" y="750"/>
                </a:lnTo>
                <a:lnTo>
                  <a:pt x="1000" y="750"/>
                </a:lnTo>
                <a:lnTo>
                  <a:pt x="1000" y="2000"/>
                </a:lnTo>
                <a:cubicBezTo>
                  <a:pt x="1466" y="1380"/>
                  <a:pt x="2043" y="893"/>
                  <a:pt x="2729" y="540"/>
                </a:cubicBezTo>
                <a:cubicBezTo>
                  <a:pt x="3435" y="180"/>
                  <a:pt x="4192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moveTo>
                  <a:pt x="0" y="5000"/>
                </a:move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672" y="9000"/>
                  <a:pt x="6305" y="8840"/>
                  <a:pt x="6899" y="8520"/>
                </a:cubicBezTo>
                <a:cubicBezTo>
                  <a:pt x="7471" y="8213"/>
                  <a:pt x="7941" y="7790"/>
                  <a:pt x="8308" y="7250"/>
                </a:cubicBezTo>
                <a:lnTo>
                  <a:pt x="6999" y="7250"/>
                </a:lnTo>
                <a:lnTo>
                  <a:pt x="6999" y="6250"/>
                </a:lnTo>
                <a:lnTo>
                  <a:pt x="9998" y="6250"/>
                </a:lnTo>
                <a:lnTo>
                  <a:pt x="9998" y="9250"/>
                </a:lnTo>
                <a:lnTo>
                  <a:pt x="8998" y="9250"/>
                </a:lnTo>
                <a:lnTo>
                  <a:pt x="8998" y="8000"/>
                </a:lnTo>
                <a:cubicBezTo>
                  <a:pt x="8531" y="8620"/>
                  <a:pt x="7955" y="9106"/>
                  <a:pt x="7269" y="9460"/>
                </a:cubicBezTo>
                <a:cubicBezTo>
                  <a:pt x="6562" y="9820"/>
                  <a:pt x="5805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4478755" y="2878336"/>
            <a:ext cx="323129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隐藏层（循环核心）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4495900" y="3345061"/>
            <a:ext cx="3431267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同时接收当前输入xt和上一时刻隐藏状态ht-1，通过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非线性变换生成新的隐藏状态ht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495900" y="3867031"/>
            <a:ext cx="3231293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循环权重矩阵Whh使上一时刻的信息影响当前计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算，形成跨时间步的记忆传递链条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4478755" y="4545211"/>
            <a:ext cx="3231293" cy="9525"/>
          </a:xfrm>
          <a:prstGeom prst="line">
            <a:avLst/>
          </a:prstGeom>
          <a:ln w="9525">
            <a:solidFill>
              <a:srgbClr val="C0C9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4495900" y="4724281"/>
            <a:ext cx="323129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Whh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100475" y="2097286"/>
            <a:ext cx="3631391" cy="4303514"/>
          </a:xfrm>
          <a:prstGeom prst="rect">
            <a:avLst/>
          </a:prstGeom>
          <a:solidFill>
            <a:srgbClr val="E4E8EC">
              <a:alpha val="100000"/>
            </a:srgbClr>
          </a:solidFill>
          <a:ln w="9525">
            <a:solidFill>
              <a:srgbClr val="C0C9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AutoShape 33"/>
          <p:cNvSpPr/>
          <p:nvPr/>
        </p:nvSpPr>
        <p:spPr>
          <a:xfrm>
            <a:off x="8100475" y="2097286"/>
            <a:ext cx="3631391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AutoShape 34"/>
          <p:cNvSpPr/>
          <p:nvPr/>
        </p:nvSpPr>
        <p:spPr>
          <a:xfrm>
            <a:off x="8300451" y="2354461"/>
            <a:ext cx="361860" cy="3619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5000"/>
                </a:moveTo>
                <a:lnTo>
                  <a:pt x="1000" y="8889"/>
                </a:lnTo>
                <a:lnTo>
                  <a:pt x="8998" y="8889"/>
                </a:lnTo>
                <a:lnTo>
                  <a:pt x="8998" y="5000"/>
                </a:lnTo>
                <a:lnTo>
                  <a:pt x="9998" y="5000"/>
                </a:ln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000"/>
                </a:lnTo>
                <a:lnTo>
                  <a:pt x="1000" y="5000"/>
                </a:lnTo>
                <a:moveTo>
                  <a:pt x="7998" y="3333"/>
                </a:moveTo>
                <a:lnTo>
                  <a:pt x="5499" y="3333"/>
                </a:lnTo>
                <a:lnTo>
                  <a:pt x="5499" y="7222"/>
                </a:lnTo>
                <a:lnTo>
                  <a:pt x="4499" y="7222"/>
                </a:lnTo>
                <a:lnTo>
                  <a:pt x="4499" y="3333"/>
                </a:lnTo>
                <a:lnTo>
                  <a:pt x="2000" y="3333"/>
                </a:lnTo>
                <a:lnTo>
                  <a:pt x="4999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5" name="TextBox 35"/>
          <p:cNvSpPr txBox="1"/>
          <p:nvPr/>
        </p:nvSpPr>
        <p:spPr>
          <a:xfrm>
            <a:off x="8300451" y="2878336"/>
            <a:ext cx="323144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输出层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8300451" y="3345061"/>
            <a:ext cx="3431416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通过输出权重矩阵Why将隐藏状态ht映射到输出空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间，完成预测或分类任务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300451" y="3907036"/>
            <a:ext cx="3431416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根据任务需求灵活设计：序列标注每步输出、分类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任务仅最终步输出、生成任务逐步输出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8300451" y="4545211"/>
            <a:ext cx="3231441" cy="9525"/>
          </a:xfrm>
          <a:prstGeom prst="line">
            <a:avLst/>
          </a:prstGeom>
          <a:ln w="9525">
            <a:solidFill>
              <a:srgbClr val="C0C9D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TextBox 42"/>
          <p:cNvSpPr txBox="1"/>
          <p:nvPr/>
        </p:nvSpPr>
        <p:spPr>
          <a:xfrm>
            <a:off x="8305531" y="4745236"/>
            <a:ext cx="32314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Why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Computation Mechanism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5247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RNN内部计算机制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68611"/>
            <a:ext cx="9522" cy="514350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297186"/>
            <a:ext cx="11608072" cy="4476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RNN在每个时间步将当前输入与历史隐藏状态融合计算，通过循环权重矩阵Whh实现信息的跨时间步传递，隐藏状态ht既是当前时刻的输出表示，</a:t>
            </a:r>
            <a:endParaRPr lang="en-US" sz="1100"/>
          </a:p>
          <a:p>
            <a:pPr algn="l"/>
            <a:r>
              <a:rPr sz="13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也是传递给下一时刻的记忆载体。</a:t>
            </a:r>
            <a:endParaRPr sz="13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1935361"/>
            <a:ext cx="5570732" cy="2166045"/>
          </a:xfrm>
          <a:prstGeom prst="rect">
            <a:avLst/>
          </a:prstGeom>
          <a:solidFill>
            <a:srgbClr val="E5E8EC">
              <a:alpha val="100000"/>
            </a:srgbClr>
          </a:solidFill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1935361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12647" y="2158232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00" y="8333"/>
                </a:moveTo>
                <a:lnTo>
                  <a:pt x="1000" y="6278"/>
                </a:lnTo>
                <a:cubicBezTo>
                  <a:pt x="1000" y="6048"/>
                  <a:pt x="926" y="5851"/>
                  <a:pt x="780" y="5689"/>
                </a:cubicBezTo>
                <a:cubicBezTo>
                  <a:pt x="633" y="5525"/>
                  <a:pt x="456" y="5444"/>
                  <a:pt x="250" y="5444"/>
                </a:cubicBezTo>
                <a:lnTo>
                  <a:pt x="0" y="5444"/>
                </a:lnTo>
                <a:lnTo>
                  <a:pt x="0" y="4556"/>
                </a:lnTo>
                <a:lnTo>
                  <a:pt x="250" y="4556"/>
                </a:lnTo>
                <a:cubicBezTo>
                  <a:pt x="456" y="4556"/>
                  <a:pt x="633" y="4474"/>
                  <a:pt x="780" y="4311"/>
                </a:cubicBezTo>
                <a:cubicBezTo>
                  <a:pt x="926" y="4148"/>
                  <a:pt x="1000" y="3952"/>
                  <a:pt x="1000" y="3722"/>
                </a:cubicBezTo>
                <a:lnTo>
                  <a:pt x="1000" y="1667"/>
                </a:lnTo>
                <a:cubicBezTo>
                  <a:pt x="1000" y="1363"/>
                  <a:pt x="1066" y="1083"/>
                  <a:pt x="1200" y="828"/>
                </a:cubicBezTo>
                <a:cubicBezTo>
                  <a:pt x="1333" y="572"/>
                  <a:pt x="1515" y="370"/>
                  <a:pt x="1745" y="222"/>
                </a:cubicBezTo>
                <a:cubicBezTo>
                  <a:pt x="1975" y="74"/>
                  <a:pt x="2226" y="0"/>
                  <a:pt x="2500" y="0"/>
                </a:cubicBezTo>
                <a:lnTo>
                  <a:pt x="2999" y="0"/>
                </a:lnTo>
                <a:lnTo>
                  <a:pt x="2999" y="1111"/>
                </a:lnTo>
                <a:lnTo>
                  <a:pt x="2500" y="1111"/>
                </a:lnTo>
                <a:cubicBezTo>
                  <a:pt x="2360" y="1111"/>
                  <a:pt x="2241" y="1164"/>
                  <a:pt x="2145" y="1272"/>
                </a:cubicBezTo>
                <a:cubicBezTo>
                  <a:pt x="2048" y="1379"/>
                  <a:pt x="2000" y="1511"/>
                  <a:pt x="2000" y="1667"/>
                </a:cubicBezTo>
                <a:lnTo>
                  <a:pt x="2000" y="3944"/>
                </a:lnTo>
                <a:cubicBezTo>
                  <a:pt x="2000" y="4188"/>
                  <a:pt x="1936" y="4407"/>
                  <a:pt x="1810" y="4600"/>
                </a:cubicBezTo>
                <a:cubicBezTo>
                  <a:pt x="1683" y="4792"/>
                  <a:pt x="1516" y="4926"/>
                  <a:pt x="1310" y="5000"/>
                </a:cubicBezTo>
                <a:cubicBezTo>
                  <a:pt x="1516" y="5074"/>
                  <a:pt x="1683" y="5207"/>
                  <a:pt x="1810" y="5400"/>
                </a:cubicBezTo>
                <a:cubicBezTo>
                  <a:pt x="1936" y="5592"/>
                  <a:pt x="2000" y="5811"/>
                  <a:pt x="2000" y="6056"/>
                </a:cubicBezTo>
                <a:lnTo>
                  <a:pt x="2000" y="8333"/>
                </a:lnTo>
                <a:cubicBezTo>
                  <a:pt x="2000" y="8489"/>
                  <a:pt x="2048" y="8620"/>
                  <a:pt x="2145" y="8728"/>
                </a:cubicBezTo>
                <a:cubicBezTo>
                  <a:pt x="2241" y="8835"/>
                  <a:pt x="2360" y="8889"/>
                  <a:pt x="2500" y="8889"/>
                </a:cubicBezTo>
                <a:lnTo>
                  <a:pt x="2999" y="8889"/>
                </a:lnTo>
                <a:lnTo>
                  <a:pt x="2999" y="10000"/>
                </a:lnTo>
                <a:lnTo>
                  <a:pt x="2500" y="10000"/>
                </a:lnTo>
                <a:cubicBezTo>
                  <a:pt x="2226" y="10000"/>
                  <a:pt x="1975" y="9926"/>
                  <a:pt x="1745" y="9778"/>
                </a:cubicBezTo>
                <a:cubicBezTo>
                  <a:pt x="1515" y="9630"/>
                  <a:pt x="1333" y="9428"/>
                  <a:pt x="1200" y="9172"/>
                </a:cubicBezTo>
                <a:cubicBezTo>
                  <a:pt x="1066" y="8916"/>
                  <a:pt x="1000" y="8637"/>
                  <a:pt x="1000" y="8333"/>
                </a:cubicBezTo>
                <a:moveTo>
                  <a:pt x="8998" y="6278"/>
                </a:moveTo>
                <a:lnTo>
                  <a:pt x="8998" y="8333"/>
                </a:lnTo>
                <a:cubicBezTo>
                  <a:pt x="8998" y="8637"/>
                  <a:pt x="8931" y="8916"/>
                  <a:pt x="8798" y="9172"/>
                </a:cubicBezTo>
                <a:cubicBezTo>
                  <a:pt x="8664" y="9428"/>
                  <a:pt x="8483" y="9630"/>
                  <a:pt x="8253" y="9778"/>
                </a:cubicBezTo>
                <a:cubicBezTo>
                  <a:pt x="8023" y="9926"/>
                  <a:pt x="7771" y="10000"/>
                  <a:pt x="7499" y="10000"/>
                </a:cubicBezTo>
                <a:lnTo>
                  <a:pt x="6999" y="10000"/>
                </a:lnTo>
                <a:lnTo>
                  <a:pt x="6999" y="8889"/>
                </a:lnTo>
                <a:lnTo>
                  <a:pt x="7499" y="8889"/>
                </a:lnTo>
                <a:cubicBezTo>
                  <a:pt x="7638" y="8889"/>
                  <a:pt x="7756" y="8835"/>
                  <a:pt x="7853" y="8728"/>
                </a:cubicBezTo>
                <a:cubicBezTo>
                  <a:pt x="7949" y="8620"/>
                  <a:pt x="7998" y="8489"/>
                  <a:pt x="7998" y="8333"/>
                </a:cubicBezTo>
                <a:lnTo>
                  <a:pt x="7998" y="6056"/>
                </a:lnTo>
                <a:cubicBezTo>
                  <a:pt x="7998" y="5811"/>
                  <a:pt x="8061" y="5592"/>
                  <a:pt x="8188" y="5400"/>
                </a:cubicBezTo>
                <a:cubicBezTo>
                  <a:pt x="8314" y="5207"/>
                  <a:pt x="8481" y="5074"/>
                  <a:pt x="8688" y="5000"/>
                </a:cubicBezTo>
                <a:cubicBezTo>
                  <a:pt x="8481" y="4926"/>
                  <a:pt x="8314" y="4792"/>
                  <a:pt x="8188" y="4600"/>
                </a:cubicBezTo>
                <a:cubicBezTo>
                  <a:pt x="8061" y="4407"/>
                  <a:pt x="7998" y="4188"/>
                  <a:pt x="7998" y="3944"/>
                </a:cubicBezTo>
                <a:lnTo>
                  <a:pt x="7998" y="1667"/>
                </a:lnTo>
                <a:cubicBezTo>
                  <a:pt x="7998" y="1511"/>
                  <a:pt x="7949" y="1379"/>
                  <a:pt x="7853" y="1272"/>
                </a:cubicBezTo>
                <a:cubicBezTo>
                  <a:pt x="7756" y="1164"/>
                  <a:pt x="7638" y="1111"/>
                  <a:pt x="7499" y="1111"/>
                </a:cubicBezTo>
                <a:lnTo>
                  <a:pt x="6999" y="1111"/>
                </a:lnTo>
                <a:lnTo>
                  <a:pt x="6999" y="0"/>
                </a:lnTo>
                <a:lnTo>
                  <a:pt x="7499" y="0"/>
                </a:lnTo>
                <a:cubicBezTo>
                  <a:pt x="7771" y="0"/>
                  <a:pt x="8023" y="74"/>
                  <a:pt x="8253" y="222"/>
                </a:cubicBezTo>
                <a:cubicBezTo>
                  <a:pt x="8483" y="370"/>
                  <a:pt x="8664" y="572"/>
                  <a:pt x="8798" y="828"/>
                </a:cubicBezTo>
                <a:cubicBezTo>
                  <a:pt x="8931" y="1083"/>
                  <a:pt x="8998" y="1363"/>
                  <a:pt x="8998" y="1667"/>
                </a:cubicBezTo>
                <a:lnTo>
                  <a:pt x="8998" y="3722"/>
                </a:lnTo>
                <a:cubicBezTo>
                  <a:pt x="8998" y="3952"/>
                  <a:pt x="9071" y="4148"/>
                  <a:pt x="9218" y="4311"/>
                </a:cubicBezTo>
                <a:cubicBezTo>
                  <a:pt x="9364" y="4474"/>
                  <a:pt x="9541" y="4556"/>
                  <a:pt x="9748" y="4556"/>
                </a:cubicBezTo>
                <a:lnTo>
                  <a:pt x="9998" y="4556"/>
                </a:lnTo>
                <a:lnTo>
                  <a:pt x="9998" y="5444"/>
                </a:lnTo>
                <a:lnTo>
                  <a:pt x="9748" y="5444"/>
                </a:lnTo>
                <a:cubicBezTo>
                  <a:pt x="9541" y="5444"/>
                  <a:pt x="9364" y="5525"/>
                  <a:pt x="9218" y="5689"/>
                </a:cubicBezTo>
                <a:cubicBezTo>
                  <a:pt x="9071" y="5851"/>
                  <a:pt x="8998" y="6048"/>
                  <a:pt x="8998" y="6278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930092" y="2125861"/>
            <a:ext cx="491679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隐藏状态更新公式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930092" y="2443907"/>
            <a:ext cx="4916796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ht = tanh(Wxh·xt + Whh·ht-1 + bh)，其中Wxh为输入权重矩阵，Whh为循环权重矩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阵，bh为偏置项。该公式实现了当前输入与历史信息的非线性融合。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8015" y="3620393"/>
            <a:ext cx="5208872" cy="9525"/>
          </a:xfrm>
          <a:prstGeom prst="line">
            <a:avLst/>
          </a:prstGeom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1746136" y="3620393"/>
            <a:ext cx="2992632" cy="31908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ht = tanh(·)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61134" y="1935361"/>
            <a:ext cx="5570732" cy="2166045"/>
          </a:xfrm>
          <a:prstGeom prst="rect">
            <a:avLst/>
          </a:prstGeom>
          <a:solidFill>
            <a:srgbClr val="E5E8EC">
              <a:alpha val="100000"/>
            </a:srgbClr>
          </a:solidFill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6161134" y="1935361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6316696" y="2158232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"/>
                </a:moveTo>
                <a:cubicBezTo>
                  <a:pt x="4325" y="1000"/>
                  <a:pt x="3692" y="1160"/>
                  <a:pt x="3099" y="1480"/>
                </a:cubicBezTo>
                <a:cubicBezTo>
                  <a:pt x="2526" y="1786"/>
                  <a:pt x="2056" y="2210"/>
                  <a:pt x="1690" y="2750"/>
                </a:cubicBezTo>
                <a:lnTo>
                  <a:pt x="2999" y="2750"/>
                </a:lnTo>
                <a:lnTo>
                  <a:pt x="2999" y="3750"/>
                </a:lnTo>
                <a:lnTo>
                  <a:pt x="0" y="3750"/>
                </a:lnTo>
                <a:lnTo>
                  <a:pt x="0" y="750"/>
                </a:lnTo>
                <a:lnTo>
                  <a:pt x="1000" y="750"/>
                </a:lnTo>
                <a:lnTo>
                  <a:pt x="1000" y="2000"/>
                </a:lnTo>
                <a:cubicBezTo>
                  <a:pt x="1466" y="1380"/>
                  <a:pt x="2043" y="893"/>
                  <a:pt x="2729" y="540"/>
                </a:cubicBezTo>
                <a:cubicBezTo>
                  <a:pt x="3435" y="180"/>
                  <a:pt x="4192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moveTo>
                  <a:pt x="0" y="5000"/>
                </a:move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672" y="9000"/>
                  <a:pt x="6305" y="8840"/>
                  <a:pt x="6899" y="8520"/>
                </a:cubicBezTo>
                <a:cubicBezTo>
                  <a:pt x="7471" y="8213"/>
                  <a:pt x="7941" y="7790"/>
                  <a:pt x="8308" y="7250"/>
                </a:cubicBezTo>
                <a:lnTo>
                  <a:pt x="6999" y="7250"/>
                </a:lnTo>
                <a:lnTo>
                  <a:pt x="6999" y="6250"/>
                </a:lnTo>
                <a:lnTo>
                  <a:pt x="9998" y="6250"/>
                </a:lnTo>
                <a:lnTo>
                  <a:pt x="9998" y="9250"/>
                </a:lnTo>
                <a:lnTo>
                  <a:pt x="8998" y="9250"/>
                </a:lnTo>
                <a:lnTo>
                  <a:pt x="8998" y="8000"/>
                </a:lnTo>
                <a:cubicBezTo>
                  <a:pt x="8531" y="8620"/>
                  <a:pt x="7955" y="9106"/>
                  <a:pt x="7269" y="9460"/>
                </a:cubicBezTo>
                <a:cubicBezTo>
                  <a:pt x="6562" y="9820"/>
                  <a:pt x="5805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6634141" y="2125861"/>
            <a:ext cx="491679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循环权重与时序传递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634141" y="2443907"/>
            <a:ext cx="4941495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Whh使上一时刻隐藏状态ht-1影响当前计算，形成信息的时序传递链条。这种循环连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接是RNN记忆能力的数学基础，使网络能够建模序列中的长期依赖关系。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42064" y="3620393"/>
            <a:ext cx="5208872" cy="9525"/>
          </a:xfrm>
          <a:prstGeom prst="line">
            <a:avLst/>
          </a:prstGeom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7462609" y="3620393"/>
            <a:ext cx="2967784" cy="31908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Whh · ht-1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086" y="4234755"/>
            <a:ext cx="5570732" cy="2166045"/>
          </a:xfrm>
          <a:prstGeom prst="rect">
            <a:avLst/>
          </a:prstGeom>
          <a:solidFill>
            <a:srgbClr val="E5E8EC">
              <a:alpha val="100000"/>
            </a:srgbClr>
          </a:solidFill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457086" y="4234755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612647" y="445762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15" y="0"/>
                </a:moveTo>
                <a:lnTo>
                  <a:pt x="5483" y="0"/>
                </a:lnTo>
                <a:lnTo>
                  <a:pt x="5483" y="674"/>
                </a:lnTo>
                <a:lnTo>
                  <a:pt x="7905" y="1547"/>
                </a:lnTo>
                <a:lnTo>
                  <a:pt x="9669" y="916"/>
                </a:lnTo>
                <a:lnTo>
                  <a:pt x="9969" y="1916"/>
                </a:lnTo>
                <a:lnTo>
                  <a:pt x="8506" y="2442"/>
                </a:lnTo>
                <a:lnTo>
                  <a:pt x="9998" y="6926"/>
                </a:lnTo>
                <a:cubicBezTo>
                  <a:pt x="9733" y="7228"/>
                  <a:pt x="9420" y="7465"/>
                  <a:pt x="9058" y="7637"/>
                </a:cubicBezTo>
                <a:cubicBezTo>
                  <a:pt x="8696" y="7809"/>
                  <a:pt x="8312" y="7895"/>
                  <a:pt x="7905" y="7895"/>
                </a:cubicBezTo>
                <a:cubicBezTo>
                  <a:pt x="7498" y="7895"/>
                  <a:pt x="7114" y="7809"/>
                  <a:pt x="6753" y="7637"/>
                </a:cubicBezTo>
                <a:cubicBezTo>
                  <a:pt x="6391" y="7465"/>
                  <a:pt x="6077" y="7228"/>
                  <a:pt x="5813" y="6926"/>
                </a:cubicBezTo>
                <a:lnTo>
                  <a:pt x="7305" y="2442"/>
                </a:lnTo>
                <a:lnTo>
                  <a:pt x="5483" y="1779"/>
                </a:lnTo>
                <a:lnTo>
                  <a:pt x="5483" y="8947"/>
                </a:lnTo>
                <a:lnTo>
                  <a:pt x="7421" y="8947"/>
                </a:lnTo>
                <a:lnTo>
                  <a:pt x="7421" y="10000"/>
                </a:lnTo>
                <a:lnTo>
                  <a:pt x="2577" y="10000"/>
                </a:lnTo>
                <a:lnTo>
                  <a:pt x="2577" y="8947"/>
                </a:lnTo>
                <a:lnTo>
                  <a:pt x="4515" y="8947"/>
                </a:lnTo>
                <a:lnTo>
                  <a:pt x="4515" y="1779"/>
                </a:lnTo>
                <a:lnTo>
                  <a:pt x="2693" y="2442"/>
                </a:lnTo>
                <a:lnTo>
                  <a:pt x="4185" y="6926"/>
                </a:lnTo>
                <a:cubicBezTo>
                  <a:pt x="3920" y="7228"/>
                  <a:pt x="3607" y="7465"/>
                  <a:pt x="3245" y="7637"/>
                </a:cubicBezTo>
                <a:cubicBezTo>
                  <a:pt x="2883" y="7809"/>
                  <a:pt x="2499" y="7895"/>
                  <a:pt x="2093" y="7895"/>
                </a:cubicBezTo>
                <a:cubicBezTo>
                  <a:pt x="1685" y="7895"/>
                  <a:pt x="1301" y="7809"/>
                  <a:pt x="940" y="7637"/>
                </a:cubicBezTo>
                <a:cubicBezTo>
                  <a:pt x="578" y="7465"/>
                  <a:pt x="264" y="7228"/>
                  <a:pt x="0" y="6926"/>
                </a:cubicBezTo>
                <a:lnTo>
                  <a:pt x="1492" y="2442"/>
                </a:lnTo>
                <a:lnTo>
                  <a:pt x="29" y="1916"/>
                </a:lnTo>
                <a:lnTo>
                  <a:pt x="329" y="916"/>
                </a:lnTo>
                <a:lnTo>
                  <a:pt x="2093" y="1547"/>
                </a:lnTo>
                <a:lnTo>
                  <a:pt x="4515" y="674"/>
                </a:lnTo>
                <a:lnTo>
                  <a:pt x="4515" y="0"/>
                </a:lnTo>
                <a:moveTo>
                  <a:pt x="8855" y="6568"/>
                </a:moveTo>
                <a:lnTo>
                  <a:pt x="7905" y="3737"/>
                </a:lnTo>
                <a:lnTo>
                  <a:pt x="6956" y="6568"/>
                </a:lnTo>
                <a:cubicBezTo>
                  <a:pt x="7246" y="6750"/>
                  <a:pt x="7563" y="6842"/>
                  <a:pt x="7905" y="6842"/>
                </a:cubicBezTo>
                <a:cubicBezTo>
                  <a:pt x="8247" y="6842"/>
                  <a:pt x="8564" y="6750"/>
                  <a:pt x="8855" y="6568"/>
                </a:cubicBezTo>
                <a:moveTo>
                  <a:pt x="3042" y="6568"/>
                </a:moveTo>
                <a:lnTo>
                  <a:pt x="2093" y="3737"/>
                </a:lnTo>
                <a:lnTo>
                  <a:pt x="1143" y="6568"/>
                </a:lnTo>
                <a:cubicBezTo>
                  <a:pt x="1433" y="6750"/>
                  <a:pt x="1750" y="6842"/>
                  <a:pt x="2093" y="6842"/>
                </a:cubicBezTo>
                <a:cubicBezTo>
                  <a:pt x="2435" y="6842"/>
                  <a:pt x="2751" y="6750"/>
                  <a:pt x="3042" y="6568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930092" y="4425255"/>
            <a:ext cx="491679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激活函数tanh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930092" y="4743301"/>
            <a:ext cx="4916796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双曲正切函数将隐藏状态约束在(-1,1)区间内，有效防止数值在多次循环后无限增长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或衰减。这种饱和非线性特性保证了深层展开时的训练稳定性。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8015" y="5919788"/>
            <a:ext cx="5208872" cy="9525"/>
          </a:xfrm>
          <a:prstGeom prst="line">
            <a:avLst/>
          </a:prstGeom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1"/>
          <p:nvPr/>
        </p:nvSpPr>
        <p:spPr>
          <a:xfrm>
            <a:off x="1839948" y="5919788"/>
            <a:ext cx="2805006" cy="31908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(-1, 1)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61134" y="4234755"/>
            <a:ext cx="5570732" cy="2166045"/>
          </a:xfrm>
          <a:prstGeom prst="rect">
            <a:avLst/>
          </a:prstGeom>
          <a:solidFill>
            <a:srgbClr val="E5E8EC">
              <a:alpha val="100000"/>
            </a:srgbClr>
          </a:solidFill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6161134" y="4234755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6316696" y="445762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6999" y="5000"/>
                </a:moveTo>
                <a:lnTo>
                  <a:pt x="5499" y="5000"/>
                </a:lnTo>
                <a:lnTo>
                  <a:pt x="5499" y="7000"/>
                </a:lnTo>
                <a:lnTo>
                  <a:pt x="4499" y="7000"/>
                </a:lnTo>
                <a:lnTo>
                  <a:pt x="4499" y="5000"/>
                </a:lnTo>
                <a:lnTo>
                  <a:pt x="2999" y="5000"/>
                </a:lnTo>
                <a:lnTo>
                  <a:pt x="4999" y="3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6634141" y="4425255"/>
            <a:ext cx="491679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输出层计算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634141" y="4743301"/>
            <a:ext cx="4916796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yt = Why·ht + by，通过输出权重矩阵Why将隐藏状态映射到目标输出空间，配合偏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置by完成最终的预测或分类任务，实现从内部表示到外部输出的转换。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342064" y="5919788"/>
            <a:ext cx="5208872" cy="9525"/>
          </a:xfrm>
          <a:prstGeom prst="line">
            <a:avLst/>
          </a:prstGeom>
          <a:ln w="9525">
            <a:solidFill>
              <a:srgbClr val="C8CF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7442968" y="5919788"/>
            <a:ext cx="3007064" cy="31908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11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yt = Why·ht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UNROLLED ARCHITECTURE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RNN时序展开结构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144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466575" y="1382395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将RNN沿时间轴展开后可清晰观察信息在多个时间步之间的流动路径：每个时间步同时接收外部输入和历史隐藏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状态，产生的新隐藏状态既用于当前输出又传递给下一时刻，形成完整的时序信息链。</a:t>
            </a:r>
            <a:endParaRPr sz="16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192536"/>
            <a:ext cx="2675856" cy="4208264"/>
          </a:xfrm>
          <a:prstGeom prst="rect">
            <a:avLst/>
          </a:prstGeom>
          <a:solidFill>
            <a:srgbClr val="E5E8EC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192536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57061" y="2449711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9" y="0"/>
                </a:moveTo>
                <a:cubicBezTo>
                  <a:pt x="984" y="0"/>
                  <a:pt x="1166" y="60"/>
                  <a:pt x="1315" y="181"/>
                </a:cubicBezTo>
                <a:cubicBezTo>
                  <a:pt x="1463" y="301"/>
                  <a:pt x="1538" y="449"/>
                  <a:pt x="1538" y="625"/>
                </a:cubicBezTo>
                <a:lnTo>
                  <a:pt x="1538" y="4588"/>
                </a:lnTo>
                <a:lnTo>
                  <a:pt x="9398" y="325"/>
                </a:lnTo>
                <a:cubicBezTo>
                  <a:pt x="9490" y="275"/>
                  <a:pt x="9588" y="258"/>
                  <a:pt x="9690" y="275"/>
                </a:cubicBezTo>
                <a:cubicBezTo>
                  <a:pt x="9792" y="291"/>
                  <a:pt x="9874" y="337"/>
                  <a:pt x="9936" y="413"/>
                </a:cubicBezTo>
                <a:cubicBezTo>
                  <a:pt x="9977" y="462"/>
                  <a:pt x="9998" y="520"/>
                  <a:pt x="9998" y="588"/>
                </a:cubicBezTo>
                <a:lnTo>
                  <a:pt x="9998" y="9413"/>
                </a:lnTo>
                <a:cubicBezTo>
                  <a:pt x="9998" y="9504"/>
                  <a:pt x="9959" y="9579"/>
                  <a:pt x="9883" y="9638"/>
                </a:cubicBezTo>
                <a:cubicBezTo>
                  <a:pt x="9805" y="9696"/>
                  <a:pt x="9715" y="9725"/>
                  <a:pt x="9613" y="9725"/>
                </a:cubicBezTo>
                <a:cubicBezTo>
                  <a:pt x="9531" y="9725"/>
                  <a:pt x="9459" y="9708"/>
                  <a:pt x="9398" y="9675"/>
                </a:cubicBezTo>
                <a:lnTo>
                  <a:pt x="1538" y="5413"/>
                </a:lnTo>
                <a:lnTo>
                  <a:pt x="1538" y="9375"/>
                </a:lnTo>
                <a:cubicBezTo>
                  <a:pt x="1538" y="9550"/>
                  <a:pt x="1463" y="9698"/>
                  <a:pt x="1315" y="9819"/>
                </a:cubicBezTo>
                <a:cubicBezTo>
                  <a:pt x="1166" y="9939"/>
                  <a:pt x="984" y="10000"/>
                  <a:pt x="769" y="10000"/>
                </a:cubicBezTo>
                <a:cubicBezTo>
                  <a:pt x="553" y="10000"/>
                  <a:pt x="371" y="9939"/>
                  <a:pt x="223" y="9819"/>
                </a:cubicBezTo>
                <a:cubicBezTo>
                  <a:pt x="74" y="9698"/>
                  <a:pt x="0" y="9550"/>
                  <a:pt x="0" y="9375"/>
                </a:cubicBezTo>
                <a:lnTo>
                  <a:pt x="0" y="625"/>
                </a:lnTo>
                <a:cubicBezTo>
                  <a:pt x="0" y="449"/>
                  <a:pt x="74" y="301"/>
                  <a:pt x="223" y="181"/>
                </a:cubicBezTo>
                <a:cubicBezTo>
                  <a:pt x="371" y="60"/>
                  <a:pt x="553" y="0"/>
                  <a:pt x="769" y="0"/>
                </a:cubicBezTo>
                <a:moveTo>
                  <a:pt x="8460" y="7663"/>
                </a:moveTo>
                <a:lnTo>
                  <a:pt x="8460" y="2337"/>
                </a:lnTo>
                <a:lnTo>
                  <a:pt x="3538" y="5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57061" y="3786783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时间步 t−1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57061" y="4173438"/>
            <a:ext cx="2475880" cy="59233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输入 x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经隐藏层计算产生 h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并输出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y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，h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携带的时序信息将传递给下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一时刻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57061" y="5789414"/>
            <a:ext cx="227590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785170" y="5989439"/>
            <a:ext cx="2147797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t-1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57061" y="5922764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ht-1 → 传递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23394" y="2192536"/>
            <a:ext cx="2675856" cy="4208264"/>
          </a:xfrm>
          <a:prstGeom prst="rect">
            <a:avLst/>
          </a:prstGeom>
          <a:solidFill>
            <a:srgbClr val="E5E8EC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3323394" y="2192536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3523369" y="2449711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3523369" y="3786783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时间步 t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3523369" y="4173438"/>
            <a:ext cx="2475880" cy="59233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当前输入 x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与历史隐藏状态 h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t-1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融合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计算，产生新的 h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和 y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，体现RNN同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时处理新旧信息的能力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523369" y="5789414"/>
            <a:ext cx="227590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3523369" y="5922764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新旧融合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89702" y="2192536"/>
            <a:ext cx="2675856" cy="4208264"/>
          </a:xfrm>
          <a:prstGeom prst="rect">
            <a:avLst/>
          </a:prstGeom>
          <a:solidFill>
            <a:srgbClr val="E5E8EC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6189702" y="2192536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6389677" y="2449711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460" y="9375"/>
                </a:moveTo>
                <a:lnTo>
                  <a:pt x="8460" y="5413"/>
                </a:lnTo>
                <a:lnTo>
                  <a:pt x="600" y="9675"/>
                </a:lnTo>
                <a:cubicBezTo>
                  <a:pt x="507" y="9725"/>
                  <a:pt x="410" y="9741"/>
                  <a:pt x="308" y="9725"/>
                </a:cubicBezTo>
                <a:cubicBezTo>
                  <a:pt x="205" y="9708"/>
                  <a:pt x="123" y="9662"/>
                  <a:pt x="62" y="9588"/>
                </a:cubicBezTo>
                <a:cubicBezTo>
                  <a:pt x="20" y="9538"/>
                  <a:pt x="0" y="9479"/>
                  <a:pt x="0" y="9413"/>
                </a:cubicBezTo>
                <a:lnTo>
                  <a:pt x="0" y="588"/>
                </a:lnTo>
                <a:cubicBezTo>
                  <a:pt x="0" y="496"/>
                  <a:pt x="38" y="420"/>
                  <a:pt x="115" y="362"/>
                </a:cubicBezTo>
                <a:cubicBezTo>
                  <a:pt x="192" y="304"/>
                  <a:pt x="282" y="275"/>
                  <a:pt x="385" y="275"/>
                </a:cubicBezTo>
                <a:cubicBezTo>
                  <a:pt x="467" y="275"/>
                  <a:pt x="538" y="291"/>
                  <a:pt x="600" y="325"/>
                </a:cubicBezTo>
                <a:lnTo>
                  <a:pt x="8460" y="4588"/>
                </a:lnTo>
                <a:lnTo>
                  <a:pt x="8460" y="625"/>
                </a:lnTo>
                <a:cubicBezTo>
                  <a:pt x="8460" y="449"/>
                  <a:pt x="8534" y="301"/>
                  <a:pt x="8683" y="181"/>
                </a:cubicBezTo>
                <a:cubicBezTo>
                  <a:pt x="8831" y="60"/>
                  <a:pt x="9013" y="0"/>
                  <a:pt x="9229" y="0"/>
                </a:cubicBezTo>
                <a:cubicBezTo>
                  <a:pt x="9444" y="0"/>
                  <a:pt x="9626" y="60"/>
                  <a:pt x="9775" y="181"/>
                </a:cubicBezTo>
                <a:cubicBezTo>
                  <a:pt x="9923" y="301"/>
                  <a:pt x="9998" y="449"/>
                  <a:pt x="9998" y="625"/>
                </a:cubicBezTo>
                <a:lnTo>
                  <a:pt x="9998" y="9375"/>
                </a:lnTo>
                <a:cubicBezTo>
                  <a:pt x="9998" y="9550"/>
                  <a:pt x="9923" y="9698"/>
                  <a:pt x="9775" y="9819"/>
                </a:cubicBezTo>
                <a:cubicBezTo>
                  <a:pt x="9626" y="9939"/>
                  <a:pt x="9444" y="10000"/>
                  <a:pt x="9229" y="10000"/>
                </a:cubicBezTo>
                <a:cubicBezTo>
                  <a:pt x="9013" y="10000"/>
                  <a:pt x="8831" y="9939"/>
                  <a:pt x="8683" y="9819"/>
                </a:cubicBezTo>
                <a:cubicBezTo>
                  <a:pt x="8534" y="9698"/>
                  <a:pt x="8460" y="9550"/>
                  <a:pt x="8460" y="9375"/>
                </a:cubicBezTo>
                <a:moveTo>
                  <a:pt x="6460" y="5000"/>
                </a:moveTo>
                <a:lnTo>
                  <a:pt x="1538" y="2337"/>
                </a:lnTo>
                <a:lnTo>
                  <a:pt x="1538" y="766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6389677" y="3786783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时间步 t+1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389677" y="4173438"/>
            <a:ext cx="2475880" cy="59233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作为历史信息继续参与计算，信息链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条不断延伸，理论上可捕获任意长度的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序列依赖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89677" y="5789414"/>
            <a:ext cx="227590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6389677" y="5922764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链式延伸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56011" y="2192536"/>
            <a:ext cx="2675856" cy="4208264"/>
          </a:xfrm>
          <a:prstGeom prst="rect">
            <a:avLst/>
          </a:prstGeom>
          <a:solidFill>
            <a:srgbClr val="E5E8EC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9056011" y="2192536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AutoShape 31"/>
          <p:cNvSpPr/>
          <p:nvPr/>
        </p:nvSpPr>
        <p:spPr>
          <a:xfrm>
            <a:off x="9255985" y="2449711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812" y="3708"/>
                </a:moveTo>
                <a:lnTo>
                  <a:pt x="5551" y="2979"/>
                </a:lnTo>
                <a:lnTo>
                  <a:pt x="6290" y="3708"/>
                </a:lnTo>
                <a:cubicBezTo>
                  <a:pt x="6755" y="4173"/>
                  <a:pt x="7071" y="4725"/>
                  <a:pt x="7238" y="5365"/>
                </a:cubicBezTo>
                <a:cubicBezTo>
                  <a:pt x="7398" y="5983"/>
                  <a:pt x="7398" y="6601"/>
                  <a:pt x="7238" y="7219"/>
                </a:cubicBezTo>
                <a:cubicBezTo>
                  <a:pt x="7071" y="7851"/>
                  <a:pt x="6755" y="8399"/>
                  <a:pt x="6290" y="8865"/>
                </a:cubicBezTo>
                <a:lnTo>
                  <a:pt x="6103" y="9052"/>
                </a:lnTo>
                <a:cubicBezTo>
                  <a:pt x="5637" y="9517"/>
                  <a:pt x="5085" y="9833"/>
                  <a:pt x="4447" y="10000"/>
                </a:cubicBezTo>
                <a:cubicBezTo>
                  <a:pt x="3836" y="10160"/>
                  <a:pt x="3222" y="10160"/>
                  <a:pt x="2604" y="10000"/>
                </a:cubicBezTo>
                <a:cubicBezTo>
                  <a:pt x="1965" y="9833"/>
                  <a:pt x="1413" y="9517"/>
                  <a:pt x="948" y="9052"/>
                </a:cubicBezTo>
                <a:cubicBezTo>
                  <a:pt x="482" y="8586"/>
                  <a:pt x="166" y="8034"/>
                  <a:pt x="0" y="7396"/>
                </a:cubicBezTo>
                <a:cubicBezTo>
                  <a:pt x="-160" y="6778"/>
                  <a:pt x="-160" y="6163"/>
                  <a:pt x="0" y="5552"/>
                </a:cubicBezTo>
                <a:cubicBezTo>
                  <a:pt x="166" y="4913"/>
                  <a:pt x="482" y="4361"/>
                  <a:pt x="948" y="3896"/>
                </a:cubicBezTo>
                <a:lnTo>
                  <a:pt x="1687" y="4635"/>
                </a:lnTo>
                <a:cubicBezTo>
                  <a:pt x="1353" y="4968"/>
                  <a:pt x="1128" y="5357"/>
                  <a:pt x="1010" y="5802"/>
                </a:cubicBezTo>
                <a:cubicBezTo>
                  <a:pt x="892" y="6246"/>
                  <a:pt x="892" y="6693"/>
                  <a:pt x="1010" y="7141"/>
                </a:cubicBezTo>
                <a:cubicBezTo>
                  <a:pt x="1128" y="7589"/>
                  <a:pt x="1353" y="7979"/>
                  <a:pt x="1687" y="8313"/>
                </a:cubicBezTo>
                <a:cubicBezTo>
                  <a:pt x="2020" y="8646"/>
                  <a:pt x="2411" y="8872"/>
                  <a:pt x="2859" y="8990"/>
                </a:cubicBezTo>
                <a:cubicBezTo>
                  <a:pt x="3307" y="9108"/>
                  <a:pt x="3753" y="9108"/>
                  <a:pt x="4197" y="8990"/>
                </a:cubicBezTo>
                <a:cubicBezTo>
                  <a:pt x="4641" y="8872"/>
                  <a:pt x="5030" y="8646"/>
                  <a:pt x="5364" y="8313"/>
                </a:cubicBezTo>
                <a:lnTo>
                  <a:pt x="5551" y="8135"/>
                </a:lnTo>
                <a:cubicBezTo>
                  <a:pt x="5884" y="7795"/>
                  <a:pt x="6110" y="7402"/>
                  <a:pt x="6228" y="6958"/>
                </a:cubicBezTo>
                <a:cubicBezTo>
                  <a:pt x="6346" y="6514"/>
                  <a:pt x="6346" y="6068"/>
                  <a:pt x="6228" y="5620"/>
                </a:cubicBezTo>
                <a:cubicBezTo>
                  <a:pt x="6110" y="5172"/>
                  <a:pt x="5884" y="4781"/>
                  <a:pt x="5551" y="4448"/>
                </a:cubicBezTo>
                <a:lnTo>
                  <a:pt x="4812" y="3708"/>
                </a:lnTo>
                <a:moveTo>
                  <a:pt x="9050" y="6104"/>
                </a:moveTo>
                <a:lnTo>
                  <a:pt x="8311" y="5365"/>
                </a:lnTo>
                <a:cubicBezTo>
                  <a:pt x="8644" y="5031"/>
                  <a:pt x="8870" y="4642"/>
                  <a:pt x="8988" y="4198"/>
                </a:cubicBezTo>
                <a:cubicBezTo>
                  <a:pt x="9106" y="3753"/>
                  <a:pt x="9106" y="3307"/>
                  <a:pt x="8988" y="2859"/>
                </a:cubicBezTo>
                <a:cubicBezTo>
                  <a:pt x="8870" y="2411"/>
                  <a:pt x="8644" y="2021"/>
                  <a:pt x="8311" y="1688"/>
                </a:cubicBezTo>
                <a:cubicBezTo>
                  <a:pt x="7977" y="1354"/>
                  <a:pt x="7587" y="1128"/>
                  <a:pt x="7139" y="1010"/>
                </a:cubicBezTo>
                <a:cubicBezTo>
                  <a:pt x="6691" y="892"/>
                  <a:pt x="6245" y="892"/>
                  <a:pt x="5801" y="1010"/>
                </a:cubicBezTo>
                <a:cubicBezTo>
                  <a:pt x="5356" y="1128"/>
                  <a:pt x="4967" y="1354"/>
                  <a:pt x="4634" y="1688"/>
                </a:cubicBezTo>
                <a:lnTo>
                  <a:pt x="4447" y="1865"/>
                </a:lnTo>
                <a:cubicBezTo>
                  <a:pt x="4113" y="2205"/>
                  <a:pt x="3888" y="2597"/>
                  <a:pt x="3770" y="3042"/>
                </a:cubicBezTo>
                <a:cubicBezTo>
                  <a:pt x="3652" y="3486"/>
                  <a:pt x="3652" y="3932"/>
                  <a:pt x="3770" y="4380"/>
                </a:cubicBezTo>
                <a:cubicBezTo>
                  <a:pt x="3888" y="4828"/>
                  <a:pt x="4113" y="5218"/>
                  <a:pt x="4447" y="5552"/>
                </a:cubicBezTo>
                <a:lnTo>
                  <a:pt x="5186" y="6292"/>
                </a:lnTo>
                <a:lnTo>
                  <a:pt x="4447" y="7021"/>
                </a:lnTo>
                <a:lnTo>
                  <a:pt x="3708" y="6292"/>
                </a:lnTo>
                <a:cubicBezTo>
                  <a:pt x="3242" y="5826"/>
                  <a:pt x="2926" y="5274"/>
                  <a:pt x="2760" y="4635"/>
                </a:cubicBezTo>
                <a:cubicBezTo>
                  <a:pt x="2600" y="4017"/>
                  <a:pt x="2600" y="3399"/>
                  <a:pt x="2760" y="2781"/>
                </a:cubicBezTo>
                <a:cubicBezTo>
                  <a:pt x="2926" y="2149"/>
                  <a:pt x="3242" y="1600"/>
                  <a:pt x="3708" y="1135"/>
                </a:cubicBezTo>
                <a:lnTo>
                  <a:pt x="3895" y="948"/>
                </a:lnTo>
                <a:cubicBezTo>
                  <a:pt x="4360" y="482"/>
                  <a:pt x="4912" y="166"/>
                  <a:pt x="5551" y="0"/>
                </a:cubicBezTo>
                <a:cubicBezTo>
                  <a:pt x="6161" y="-160"/>
                  <a:pt x="6776" y="-160"/>
                  <a:pt x="7394" y="0"/>
                </a:cubicBezTo>
                <a:cubicBezTo>
                  <a:pt x="8032" y="166"/>
                  <a:pt x="8584" y="482"/>
                  <a:pt x="9050" y="948"/>
                </a:cubicBezTo>
                <a:cubicBezTo>
                  <a:pt x="9515" y="1413"/>
                  <a:pt x="9831" y="1965"/>
                  <a:pt x="9998" y="2604"/>
                </a:cubicBezTo>
                <a:cubicBezTo>
                  <a:pt x="10158" y="3222"/>
                  <a:pt x="10158" y="3836"/>
                  <a:pt x="9998" y="4448"/>
                </a:cubicBezTo>
                <a:cubicBezTo>
                  <a:pt x="9831" y="5086"/>
                  <a:pt x="9515" y="5638"/>
                  <a:pt x="9050" y="610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TextBox 32"/>
          <p:cNvSpPr txBox="1"/>
          <p:nvPr/>
        </p:nvSpPr>
        <p:spPr>
          <a:xfrm>
            <a:off x="9255985" y="3786783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参数共享本质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9255985" y="4173438"/>
            <a:ext cx="2475880" cy="59233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展开结构揭示了所有时间步共用同一组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权重 W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xh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、W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hh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和 W</a:t>
            </a:r>
            <a:r>
              <a:rPr sz="7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hy</a:t>
            </a:r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，大幅减少参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0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数量</a:t>
            </a:r>
            <a:endParaRPr sz="10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9255985" y="5789414"/>
            <a:ext cx="227590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TextBox 35"/>
          <p:cNvSpPr txBox="1"/>
          <p:nvPr/>
        </p:nvSpPr>
        <p:spPr>
          <a:xfrm>
            <a:off x="9255985" y="5922764"/>
            <a:ext cx="2275906" cy="2524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W</a:t>
            </a:r>
            <a:r>
              <a:rPr sz="10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xh</a:t>
            </a:r>
            <a:r>
              <a:rPr sz="16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 W</a:t>
            </a:r>
            <a:r>
              <a:rPr sz="10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hh</a:t>
            </a:r>
            <a:r>
              <a:rPr sz="16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 W</a:t>
            </a:r>
            <a:r>
              <a:rPr sz="1000" b="1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hy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2800617" y="2539901"/>
            <a:ext cx="6587717" cy="1857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900" b="0" i="0" strike="noStrike">
                <a:solidFill>
                  <a:srgbClr val="F1F3F5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CHAPTER 03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529497" y="2992338"/>
            <a:ext cx="9129960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RNN的典型应用场景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809298" y="4013299"/>
            <a:ext cx="8570358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1F3F5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从自然语言处理到时间序列预测，探索序列建模的多元应用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Applications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RNN的四大典型应用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99925" y="14097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RNN凭借对序列数据的强大建模能力，在自然语言处理、语音识别和时间序列预测等多个领域展现出广泛应用价值，是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早期深度学习在序列问题上的重要突破。</a:t>
            </a:r>
            <a:endParaRPr sz="16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249686"/>
            <a:ext cx="2675856" cy="41511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249686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57061" y="25068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9443" y="10000"/>
                </a:moveTo>
                <a:lnTo>
                  <a:pt x="555" y="10000"/>
                </a:lnTo>
                <a:cubicBezTo>
                  <a:pt x="399" y="10000"/>
                  <a:pt x="268" y="9951"/>
                  <a:pt x="161" y="9855"/>
                </a:cubicBezTo>
                <a:cubicBezTo>
                  <a:pt x="53" y="9758"/>
                  <a:pt x="0" y="9640"/>
                  <a:pt x="0" y="9500"/>
                </a:cubicBezTo>
                <a:lnTo>
                  <a:pt x="0" y="500"/>
                </a:lnTo>
                <a:cubicBezTo>
                  <a:pt x="0" y="360"/>
                  <a:pt x="53" y="241"/>
                  <a:pt x="161" y="145"/>
                </a:cubicBezTo>
                <a:cubicBezTo>
                  <a:pt x="268" y="48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48"/>
                  <a:pt x="9837" y="145"/>
                </a:cubicBezTo>
                <a:cubicBezTo>
                  <a:pt x="9944" y="241"/>
                  <a:pt x="9998" y="360"/>
                  <a:pt x="9998" y="500"/>
                </a:cubicBezTo>
                <a:lnTo>
                  <a:pt x="9998" y="9500"/>
                </a:lnTo>
                <a:cubicBezTo>
                  <a:pt x="9998" y="9640"/>
                  <a:pt x="9944" y="9758"/>
                  <a:pt x="9837" y="9855"/>
                </a:cubicBezTo>
                <a:cubicBezTo>
                  <a:pt x="9729" y="9951"/>
                  <a:pt x="9598" y="10000"/>
                  <a:pt x="9443" y="10000"/>
                </a:cubicBezTo>
                <a:moveTo>
                  <a:pt x="1111" y="9000"/>
                </a:moveTo>
                <a:lnTo>
                  <a:pt x="8887" y="9000"/>
                </a:lnTo>
                <a:lnTo>
                  <a:pt x="8887" y="1000"/>
                </a:lnTo>
                <a:lnTo>
                  <a:pt x="1111" y="1000"/>
                </a:lnTo>
                <a:lnTo>
                  <a:pt x="1111" y="9000"/>
                </a:lnTo>
                <a:moveTo>
                  <a:pt x="2222" y="4000"/>
                </a:moveTo>
                <a:lnTo>
                  <a:pt x="2222" y="2000"/>
                </a:lnTo>
                <a:lnTo>
                  <a:pt x="4444" y="2000"/>
                </a:lnTo>
                <a:lnTo>
                  <a:pt x="4444" y="4000"/>
                </a:lnTo>
                <a:lnTo>
                  <a:pt x="2222" y="4000"/>
                </a:lnTo>
                <a:moveTo>
                  <a:pt x="2222" y="6000"/>
                </a:moveTo>
                <a:lnTo>
                  <a:pt x="2222" y="5000"/>
                </a:lnTo>
                <a:lnTo>
                  <a:pt x="7776" y="5000"/>
                </a:lnTo>
                <a:lnTo>
                  <a:pt x="7776" y="6000"/>
                </a:lnTo>
                <a:lnTo>
                  <a:pt x="2222" y="6000"/>
                </a:lnTo>
                <a:moveTo>
                  <a:pt x="2222" y="8000"/>
                </a:moveTo>
                <a:lnTo>
                  <a:pt x="2222" y="7000"/>
                </a:lnTo>
                <a:lnTo>
                  <a:pt x="7776" y="7000"/>
                </a:lnTo>
                <a:lnTo>
                  <a:pt x="7776" y="8000"/>
                </a:lnTo>
                <a:lnTo>
                  <a:pt x="2222" y="8000"/>
                </a:lnTo>
                <a:moveTo>
                  <a:pt x="5554" y="3500"/>
                </a:moveTo>
                <a:lnTo>
                  <a:pt x="5554" y="2500"/>
                </a:lnTo>
                <a:lnTo>
                  <a:pt x="7776" y="2500"/>
                </a:lnTo>
                <a:lnTo>
                  <a:pt x="7776" y="3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57061" y="3810000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文本生成与语言建模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57061" y="4196655"/>
            <a:ext cx="2475880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RNN能够学习字符或词语的序列模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式，生成连贯文本，如Karpathy展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示的莎士比亚风格诗歌生成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57061" y="5747445"/>
            <a:ext cx="227590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657061" y="5880795"/>
            <a:ext cx="2275906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NLP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323394" y="2249686"/>
            <a:ext cx="2675856" cy="41511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3323394" y="2249686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3523369" y="25068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6936" y="4211"/>
                </a:moveTo>
                <a:lnTo>
                  <a:pt x="7893" y="4211"/>
                </a:lnTo>
                <a:lnTo>
                  <a:pt x="9998" y="10000"/>
                </a:lnTo>
                <a:lnTo>
                  <a:pt x="8965" y="10000"/>
                </a:lnTo>
                <a:lnTo>
                  <a:pt x="8391" y="8421"/>
                </a:lnTo>
                <a:lnTo>
                  <a:pt x="6429" y="8421"/>
                </a:lnTo>
                <a:lnTo>
                  <a:pt x="5855" y="10000"/>
                </a:lnTo>
                <a:lnTo>
                  <a:pt x="4832" y="10000"/>
                </a:lnTo>
                <a:lnTo>
                  <a:pt x="6936" y="4211"/>
                </a:lnTo>
                <a:moveTo>
                  <a:pt x="2870" y="0"/>
                </a:moveTo>
                <a:lnTo>
                  <a:pt x="3827" y="0"/>
                </a:lnTo>
                <a:lnTo>
                  <a:pt x="3827" y="1053"/>
                </a:lnTo>
                <a:lnTo>
                  <a:pt x="6697" y="1053"/>
                </a:lnTo>
                <a:lnTo>
                  <a:pt x="6697" y="2105"/>
                </a:lnTo>
                <a:lnTo>
                  <a:pt x="5750" y="2105"/>
                </a:lnTo>
                <a:cubicBezTo>
                  <a:pt x="5374" y="3347"/>
                  <a:pt x="4796" y="4452"/>
                  <a:pt x="4018" y="5421"/>
                </a:cubicBezTo>
                <a:cubicBezTo>
                  <a:pt x="4362" y="5765"/>
                  <a:pt x="4736" y="6063"/>
                  <a:pt x="5138" y="6316"/>
                </a:cubicBezTo>
                <a:lnTo>
                  <a:pt x="4774" y="7305"/>
                </a:lnTo>
                <a:cubicBezTo>
                  <a:pt x="4264" y="6989"/>
                  <a:pt x="3785" y="6610"/>
                  <a:pt x="3339" y="6168"/>
                </a:cubicBezTo>
                <a:cubicBezTo>
                  <a:pt x="2465" y="7038"/>
                  <a:pt x="1476" y="7663"/>
                  <a:pt x="373" y="8042"/>
                </a:cubicBezTo>
                <a:lnTo>
                  <a:pt x="124" y="7021"/>
                </a:lnTo>
                <a:cubicBezTo>
                  <a:pt x="1062" y="6698"/>
                  <a:pt x="1910" y="6165"/>
                  <a:pt x="2669" y="5421"/>
                </a:cubicBezTo>
                <a:cubicBezTo>
                  <a:pt x="2121" y="4740"/>
                  <a:pt x="1671" y="3986"/>
                  <a:pt x="1320" y="3158"/>
                </a:cubicBezTo>
                <a:lnTo>
                  <a:pt x="2392" y="3158"/>
                </a:lnTo>
                <a:cubicBezTo>
                  <a:pt x="2660" y="3705"/>
                  <a:pt x="2975" y="4210"/>
                  <a:pt x="3339" y="4674"/>
                </a:cubicBezTo>
                <a:cubicBezTo>
                  <a:pt x="3938" y="3916"/>
                  <a:pt x="4404" y="3059"/>
                  <a:pt x="4736" y="2105"/>
                </a:cubicBezTo>
                <a:lnTo>
                  <a:pt x="0" y="2105"/>
                </a:lnTo>
                <a:lnTo>
                  <a:pt x="0" y="1053"/>
                </a:lnTo>
                <a:lnTo>
                  <a:pt x="2870" y="1053"/>
                </a:lnTo>
                <a:lnTo>
                  <a:pt x="2870" y="0"/>
                </a:lnTo>
                <a:moveTo>
                  <a:pt x="8008" y="7368"/>
                </a:moveTo>
                <a:lnTo>
                  <a:pt x="7415" y="5726"/>
                </a:lnTo>
                <a:lnTo>
                  <a:pt x="6812" y="7368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3523369" y="3810000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机器翻译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3523369" y="4196655"/>
            <a:ext cx="2475880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通过编码器-解码器架构，RNN将源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语言句子编码为向量表示，再解码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生成目标语言翻译结果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523369" y="5747445"/>
            <a:ext cx="227590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3523369" y="5880795"/>
            <a:ext cx="2275906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翻译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89702" y="2249686"/>
            <a:ext cx="2675856" cy="41511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6189702" y="2249686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6389677" y="25068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909"/>
                </a:moveTo>
                <a:cubicBezTo>
                  <a:pt x="4693" y="909"/>
                  <a:pt x="4411" y="969"/>
                  <a:pt x="4155" y="1091"/>
                </a:cubicBezTo>
                <a:cubicBezTo>
                  <a:pt x="3897" y="1212"/>
                  <a:pt x="3694" y="1377"/>
                  <a:pt x="3545" y="1586"/>
                </a:cubicBezTo>
                <a:cubicBezTo>
                  <a:pt x="3395" y="1795"/>
                  <a:pt x="3321" y="2024"/>
                  <a:pt x="3321" y="2273"/>
                </a:cubicBezTo>
                <a:lnTo>
                  <a:pt x="3321" y="4091"/>
                </a:lnTo>
                <a:cubicBezTo>
                  <a:pt x="3321" y="4339"/>
                  <a:pt x="3395" y="4568"/>
                  <a:pt x="3545" y="4777"/>
                </a:cubicBezTo>
                <a:cubicBezTo>
                  <a:pt x="3694" y="4986"/>
                  <a:pt x="3897" y="5151"/>
                  <a:pt x="4155" y="5273"/>
                </a:cubicBezTo>
                <a:cubicBezTo>
                  <a:pt x="4411" y="5394"/>
                  <a:pt x="4693" y="5455"/>
                  <a:pt x="4999" y="5455"/>
                </a:cubicBezTo>
                <a:cubicBezTo>
                  <a:pt x="5305" y="5455"/>
                  <a:pt x="5586" y="5394"/>
                  <a:pt x="5843" y="5273"/>
                </a:cubicBezTo>
                <a:cubicBezTo>
                  <a:pt x="6100" y="5151"/>
                  <a:pt x="6303" y="4986"/>
                  <a:pt x="6453" y="4777"/>
                </a:cubicBezTo>
                <a:cubicBezTo>
                  <a:pt x="6602" y="4568"/>
                  <a:pt x="6677" y="4339"/>
                  <a:pt x="6677" y="4091"/>
                </a:cubicBezTo>
                <a:lnTo>
                  <a:pt x="6677" y="2273"/>
                </a:lnTo>
                <a:cubicBezTo>
                  <a:pt x="6677" y="2024"/>
                  <a:pt x="6602" y="1795"/>
                  <a:pt x="6453" y="1586"/>
                </a:cubicBezTo>
                <a:cubicBezTo>
                  <a:pt x="6303" y="1377"/>
                  <a:pt x="6100" y="1212"/>
                  <a:pt x="5843" y="1091"/>
                </a:cubicBezTo>
                <a:cubicBezTo>
                  <a:pt x="5586" y="969"/>
                  <a:pt x="5305" y="909"/>
                  <a:pt x="4999" y="909"/>
                </a:cubicBezTo>
                <a:moveTo>
                  <a:pt x="4999" y="0"/>
                </a:moveTo>
                <a:cubicBezTo>
                  <a:pt x="5505" y="0"/>
                  <a:pt x="5973" y="101"/>
                  <a:pt x="6403" y="305"/>
                </a:cubicBezTo>
                <a:cubicBezTo>
                  <a:pt x="6831" y="507"/>
                  <a:pt x="7170" y="783"/>
                  <a:pt x="7420" y="1132"/>
                </a:cubicBezTo>
                <a:cubicBezTo>
                  <a:pt x="7670" y="1480"/>
                  <a:pt x="7795" y="1861"/>
                  <a:pt x="7795" y="2273"/>
                </a:cubicBezTo>
                <a:lnTo>
                  <a:pt x="7795" y="4091"/>
                </a:lnTo>
                <a:cubicBezTo>
                  <a:pt x="7795" y="4503"/>
                  <a:pt x="7670" y="4883"/>
                  <a:pt x="7420" y="5232"/>
                </a:cubicBezTo>
                <a:cubicBezTo>
                  <a:pt x="7170" y="5580"/>
                  <a:pt x="6831" y="5856"/>
                  <a:pt x="6403" y="6059"/>
                </a:cubicBezTo>
                <a:cubicBezTo>
                  <a:pt x="5973" y="6262"/>
                  <a:pt x="5505" y="6364"/>
                  <a:pt x="4999" y="6364"/>
                </a:cubicBezTo>
                <a:cubicBezTo>
                  <a:pt x="4492" y="6364"/>
                  <a:pt x="4024" y="6262"/>
                  <a:pt x="3595" y="6059"/>
                </a:cubicBezTo>
                <a:cubicBezTo>
                  <a:pt x="3166" y="5856"/>
                  <a:pt x="2827" y="5580"/>
                  <a:pt x="2578" y="5232"/>
                </a:cubicBezTo>
                <a:cubicBezTo>
                  <a:pt x="2328" y="4883"/>
                  <a:pt x="2203" y="4503"/>
                  <a:pt x="2203" y="4091"/>
                </a:cubicBezTo>
                <a:lnTo>
                  <a:pt x="2203" y="2273"/>
                </a:lnTo>
                <a:cubicBezTo>
                  <a:pt x="2203" y="1861"/>
                  <a:pt x="2328" y="1480"/>
                  <a:pt x="2578" y="1132"/>
                </a:cubicBezTo>
                <a:cubicBezTo>
                  <a:pt x="2827" y="783"/>
                  <a:pt x="3166" y="507"/>
                  <a:pt x="3595" y="305"/>
                </a:cubicBezTo>
                <a:cubicBezTo>
                  <a:pt x="4024" y="101"/>
                  <a:pt x="4492" y="0"/>
                  <a:pt x="4999" y="0"/>
                </a:cubicBezTo>
                <a:moveTo>
                  <a:pt x="0" y="4545"/>
                </a:moveTo>
                <a:lnTo>
                  <a:pt x="1130" y="4545"/>
                </a:lnTo>
                <a:cubicBezTo>
                  <a:pt x="1219" y="5054"/>
                  <a:pt x="1444" y="5516"/>
                  <a:pt x="1806" y="5932"/>
                </a:cubicBezTo>
                <a:cubicBezTo>
                  <a:pt x="2168" y="6347"/>
                  <a:pt x="2624" y="6673"/>
                  <a:pt x="3176" y="6909"/>
                </a:cubicBezTo>
                <a:cubicBezTo>
                  <a:pt x="3742" y="7151"/>
                  <a:pt x="4350" y="7273"/>
                  <a:pt x="4999" y="7273"/>
                </a:cubicBezTo>
                <a:cubicBezTo>
                  <a:pt x="5647" y="7273"/>
                  <a:pt x="6255" y="7151"/>
                  <a:pt x="6822" y="6909"/>
                </a:cubicBezTo>
                <a:cubicBezTo>
                  <a:pt x="7373" y="6673"/>
                  <a:pt x="7830" y="6347"/>
                  <a:pt x="8192" y="5932"/>
                </a:cubicBezTo>
                <a:cubicBezTo>
                  <a:pt x="8553" y="5516"/>
                  <a:pt x="8778" y="5054"/>
                  <a:pt x="8868" y="4545"/>
                </a:cubicBezTo>
                <a:lnTo>
                  <a:pt x="9998" y="4545"/>
                </a:lnTo>
                <a:cubicBezTo>
                  <a:pt x="9916" y="5169"/>
                  <a:pt x="9666" y="5748"/>
                  <a:pt x="9249" y="6282"/>
                </a:cubicBezTo>
                <a:cubicBezTo>
                  <a:pt x="8846" y="6797"/>
                  <a:pt x="8328" y="7218"/>
                  <a:pt x="7694" y="7545"/>
                </a:cubicBezTo>
                <a:cubicBezTo>
                  <a:pt x="7038" y="7885"/>
                  <a:pt x="6326" y="8088"/>
                  <a:pt x="5558" y="8155"/>
                </a:cubicBezTo>
                <a:lnTo>
                  <a:pt x="5558" y="10000"/>
                </a:lnTo>
                <a:lnTo>
                  <a:pt x="4440" y="10000"/>
                </a:lnTo>
                <a:lnTo>
                  <a:pt x="4440" y="8155"/>
                </a:lnTo>
                <a:cubicBezTo>
                  <a:pt x="3672" y="8088"/>
                  <a:pt x="2960" y="7885"/>
                  <a:pt x="2304" y="7545"/>
                </a:cubicBezTo>
                <a:cubicBezTo>
                  <a:pt x="1670" y="7218"/>
                  <a:pt x="1151" y="6797"/>
                  <a:pt x="749" y="6282"/>
                </a:cubicBezTo>
                <a:cubicBezTo>
                  <a:pt x="331" y="5748"/>
                  <a:pt x="82" y="5169"/>
                  <a:pt x="0" y="4545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6389677" y="3810000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语音识别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389677" y="4196655"/>
            <a:ext cx="2475880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将连续语音信号转化为文本，RNN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能够捕获音频信号中的时序特征和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语言模式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89677" y="5747445"/>
            <a:ext cx="227590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1"/>
          <p:nvPr/>
        </p:nvSpPr>
        <p:spPr>
          <a:xfrm>
            <a:off x="6389677" y="5880795"/>
            <a:ext cx="2275906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ASR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056011" y="2249686"/>
            <a:ext cx="2675856" cy="41511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9056011" y="2249686"/>
            <a:ext cx="2675856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9255985" y="25068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0"/>
                </a:moveTo>
                <a:lnTo>
                  <a:pt x="1068" y="0"/>
                </a:lnTo>
                <a:lnTo>
                  <a:pt x="1068" y="8889"/>
                </a:lnTo>
                <a:lnTo>
                  <a:pt x="9613" y="8889"/>
                </a:lnTo>
                <a:lnTo>
                  <a:pt x="9613" y="10000"/>
                </a:lnTo>
                <a:lnTo>
                  <a:pt x="0" y="10000"/>
                </a:lnTo>
                <a:lnTo>
                  <a:pt x="0" y="0"/>
                </a:lnTo>
                <a:moveTo>
                  <a:pt x="6943" y="4211"/>
                </a:moveTo>
                <a:lnTo>
                  <a:pt x="9240" y="1833"/>
                </a:lnTo>
                <a:lnTo>
                  <a:pt x="9998" y="2611"/>
                </a:lnTo>
                <a:lnTo>
                  <a:pt x="6943" y="5789"/>
                </a:lnTo>
                <a:lnTo>
                  <a:pt x="5341" y="4122"/>
                </a:lnTo>
                <a:lnTo>
                  <a:pt x="3055" y="6500"/>
                </a:lnTo>
                <a:lnTo>
                  <a:pt x="2297" y="5722"/>
                </a:lnTo>
                <a:lnTo>
                  <a:pt x="5341" y="2544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9255985" y="3810000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时间序列预测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9255985" y="4196655"/>
            <a:ext cx="2475880" cy="619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在股票价格预测、气象预报、流量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预估等场景中，RNN能够学习历史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数据的趋势和周期性规律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255985" y="5747445"/>
            <a:ext cx="2275906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9255985" y="5880795"/>
            <a:ext cx="2275906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Architecture Patterns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RNN的输入输出模式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525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906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RNN的灵活性体现在其支持多种输入输出模式：多对一适用于分类任务，多对多适用于序列标注和翻译，不同的模式选择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决定了网络的架构设计和信息聚合方式。</a:t>
            </a:r>
            <a:endParaRPr sz="16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230636"/>
            <a:ext cx="3605799" cy="41701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2306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95151" y="252591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95151" y="3106936"/>
            <a:ext cx="3129669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多对一模式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5151" y="3545086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输入完整序列后仅在最后一个时间步产生输出，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适用于文本分类、情感分析等整体判断任务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95151" y="4111823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最终隐藏状态聚合了整个序列的信息，相当于对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整个输入做了一个全局特征提取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95151" y="5833170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695151" y="5976045"/>
            <a:ext cx="3129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Classification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91428" y="2230636"/>
            <a:ext cx="3605948" cy="41701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4291428" y="2230636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4529493" y="252591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3499" y="3500"/>
                </a:moveTo>
                <a:lnTo>
                  <a:pt x="2500" y="3500"/>
                </a:lnTo>
                <a:lnTo>
                  <a:pt x="3999" y="1750"/>
                </a:lnTo>
                <a:lnTo>
                  <a:pt x="5499" y="3500"/>
                </a:lnTo>
                <a:lnTo>
                  <a:pt x="4499" y="3500"/>
                </a:lnTo>
                <a:lnTo>
                  <a:pt x="4499" y="5500"/>
                </a:lnTo>
                <a:lnTo>
                  <a:pt x="3499" y="5500"/>
                </a:lnTo>
                <a:lnTo>
                  <a:pt x="3499" y="3500"/>
                </a:lnTo>
                <a:moveTo>
                  <a:pt x="6499" y="6500"/>
                </a:moveTo>
                <a:lnTo>
                  <a:pt x="7499" y="6500"/>
                </a:lnTo>
                <a:lnTo>
                  <a:pt x="5999" y="8250"/>
                </a:lnTo>
                <a:lnTo>
                  <a:pt x="4499" y="6500"/>
                </a:lnTo>
                <a:lnTo>
                  <a:pt x="5499" y="6500"/>
                </a:lnTo>
                <a:lnTo>
                  <a:pt x="5499" y="4500"/>
                </a:lnTo>
                <a:lnTo>
                  <a:pt x="6499" y="4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4529493" y="3106936"/>
            <a:ext cx="312981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多对多模式（同步）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529493" y="3545086"/>
            <a:ext cx="3367883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每个时间步都有对应的输出，适用于词性标注、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命名实体识别等序列标注任务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29493" y="4111823"/>
            <a:ext cx="3367883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输入和输出序列长度相同，网络需要同时维护时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序记忆并做出逐步决策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529493" y="5833170"/>
            <a:ext cx="312981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4529493" y="5976045"/>
            <a:ext cx="3129817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Sequence Labeling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5918" y="2230636"/>
            <a:ext cx="3605799" cy="41701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8125918" y="223063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8363984" y="252591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6936" y="4211"/>
                </a:moveTo>
                <a:lnTo>
                  <a:pt x="7893" y="4211"/>
                </a:lnTo>
                <a:lnTo>
                  <a:pt x="9998" y="10000"/>
                </a:lnTo>
                <a:lnTo>
                  <a:pt x="8965" y="10000"/>
                </a:lnTo>
                <a:lnTo>
                  <a:pt x="8391" y="8421"/>
                </a:lnTo>
                <a:lnTo>
                  <a:pt x="6429" y="8421"/>
                </a:lnTo>
                <a:lnTo>
                  <a:pt x="5855" y="10000"/>
                </a:lnTo>
                <a:lnTo>
                  <a:pt x="4832" y="10000"/>
                </a:lnTo>
                <a:lnTo>
                  <a:pt x="6936" y="4211"/>
                </a:lnTo>
                <a:moveTo>
                  <a:pt x="2870" y="0"/>
                </a:moveTo>
                <a:lnTo>
                  <a:pt x="3827" y="0"/>
                </a:lnTo>
                <a:lnTo>
                  <a:pt x="3827" y="1053"/>
                </a:lnTo>
                <a:lnTo>
                  <a:pt x="6697" y="1053"/>
                </a:lnTo>
                <a:lnTo>
                  <a:pt x="6697" y="2105"/>
                </a:lnTo>
                <a:lnTo>
                  <a:pt x="5750" y="2105"/>
                </a:lnTo>
                <a:cubicBezTo>
                  <a:pt x="5374" y="3347"/>
                  <a:pt x="4796" y="4452"/>
                  <a:pt x="4018" y="5421"/>
                </a:cubicBezTo>
                <a:cubicBezTo>
                  <a:pt x="4362" y="5765"/>
                  <a:pt x="4736" y="6063"/>
                  <a:pt x="5138" y="6316"/>
                </a:cubicBezTo>
                <a:lnTo>
                  <a:pt x="4774" y="7305"/>
                </a:lnTo>
                <a:cubicBezTo>
                  <a:pt x="4264" y="6989"/>
                  <a:pt x="3785" y="6610"/>
                  <a:pt x="3339" y="6168"/>
                </a:cubicBezTo>
                <a:cubicBezTo>
                  <a:pt x="2465" y="7038"/>
                  <a:pt x="1476" y="7663"/>
                  <a:pt x="373" y="8042"/>
                </a:cubicBezTo>
                <a:lnTo>
                  <a:pt x="124" y="7021"/>
                </a:lnTo>
                <a:cubicBezTo>
                  <a:pt x="1062" y="6698"/>
                  <a:pt x="1910" y="6165"/>
                  <a:pt x="2669" y="5421"/>
                </a:cubicBezTo>
                <a:cubicBezTo>
                  <a:pt x="2121" y="4740"/>
                  <a:pt x="1671" y="3986"/>
                  <a:pt x="1320" y="3158"/>
                </a:cubicBezTo>
                <a:lnTo>
                  <a:pt x="2392" y="3158"/>
                </a:lnTo>
                <a:cubicBezTo>
                  <a:pt x="2660" y="3705"/>
                  <a:pt x="2975" y="4210"/>
                  <a:pt x="3339" y="4674"/>
                </a:cubicBezTo>
                <a:cubicBezTo>
                  <a:pt x="3938" y="3916"/>
                  <a:pt x="4404" y="3059"/>
                  <a:pt x="4736" y="2105"/>
                </a:cubicBezTo>
                <a:lnTo>
                  <a:pt x="0" y="2105"/>
                </a:lnTo>
                <a:lnTo>
                  <a:pt x="0" y="1053"/>
                </a:lnTo>
                <a:lnTo>
                  <a:pt x="2870" y="1053"/>
                </a:lnTo>
                <a:lnTo>
                  <a:pt x="2870" y="0"/>
                </a:lnTo>
                <a:moveTo>
                  <a:pt x="8008" y="7368"/>
                </a:moveTo>
                <a:lnTo>
                  <a:pt x="7415" y="5726"/>
                </a:lnTo>
                <a:lnTo>
                  <a:pt x="6812" y="7368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8363984" y="3106936"/>
            <a:ext cx="3129669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编码器-解码器模式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63984" y="3545086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编码器处理输入序列并压缩为上下文向量，解码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器据此生成不同长度的输出序列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363984" y="4111823"/>
            <a:ext cx="3367734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经典应用于机器翻译场景，输入和输出序列长度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可以不同，架构灵活度高</a:t>
            </a:r>
            <a:endParaRPr sz="1100" b="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363984" y="5833170"/>
            <a:ext cx="3129669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8363984" y="5976045"/>
            <a:ext cx="3129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Encoder-Decoder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5638283" y="2598837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1F3F5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04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124562" y="3032224"/>
            <a:ext cx="9939829" cy="7124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100" b="1" i="0" strike="noStrike"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RNN的训练挑战与应对策略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735200" y="3973265"/>
            <a:ext cx="8718553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1F3F5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深入分析梯度消失与梯度爆炸问题，理解BPTT算法的核心困境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4901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RNN · VANISHING GRADIENT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3342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梯度消失问题详解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49561"/>
            <a:ext cx="9522" cy="53131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278136"/>
            <a:ext cx="11608072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梯度消失是RNN训练的核心难题，源于反向传播过程中梯度的连乘效应——当循环权重矩阵特征值小于1时，梯度随时间步数指数衰减，导致网络无</a:t>
            </a:r>
            <a:endParaRPr lang="en-US" sz="1100"/>
          </a:p>
          <a:p>
            <a:pPr algn="l"/>
            <a:r>
              <a:rPr sz="13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法有效学习长距离依赖关系。</a:t>
            </a:r>
            <a:endParaRPr sz="13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1933278"/>
            <a:ext cx="5570732" cy="216708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1933278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657061" y="2142828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919677" y="2133303"/>
            <a:ext cx="4908166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BPTT连乘效应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919677" y="2495253"/>
            <a:ext cx="4908166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梯度反向传播需经过多个时间步，每步乘以循环权重矩阵的转置，形成梯度连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乘链。随着时间步增加，连乘项数累积，梯度传递路径变长。</a:t>
            </a:r>
            <a:endParaRPr sz="1100" b="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57061" y="3652689"/>
            <a:ext cx="517078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>
            <a:off x="643520" y="3771751"/>
            <a:ext cx="133317" cy="1333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9050" y="6104"/>
                </a:moveTo>
                <a:lnTo>
                  <a:pt x="8311" y="6844"/>
                </a:lnTo>
                <a:lnTo>
                  <a:pt x="7571" y="6104"/>
                </a:lnTo>
                <a:lnTo>
                  <a:pt x="8311" y="5365"/>
                </a:lnTo>
                <a:cubicBezTo>
                  <a:pt x="8644" y="5031"/>
                  <a:pt x="8870" y="4642"/>
                  <a:pt x="8988" y="4198"/>
                </a:cubicBezTo>
                <a:cubicBezTo>
                  <a:pt x="9106" y="3753"/>
                  <a:pt x="9106" y="3307"/>
                  <a:pt x="8988" y="2859"/>
                </a:cubicBezTo>
                <a:cubicBezTo>
                  <a:pt x="8870" y="2411"/>
                  <a:pt x="8644" y="2021"/>
                  <a:pt x="8311" y="1688"/>
                </a:cubicBezTo>
                <a:cubicBezTo>
                  <a:pt x="7977" y="1354"/>
                  <a:pt x="7587" y="1128"/>
                  <a:pt x="7139" y="1010"/>
                </a:cubicBezTo>
                <a:cubicBezTo>
                  <a:pt x="6691" y="892"/>
                  <a:pt x="6245" y="892"/>
                  <a:pt x="5801" y="1010"/>
                </a:cubicBezTo>
                <a:cubicBezTo>
                  <a:pt x="5356" y="1128"/>
                  <a:pt x="4967" y="1354"/>
                  <a:pt x="4634" y="1688"/>
                </a:cubicBezTo>
                <a:lnTo>
                  <a:pt x="3895" y="2427"/>
                </a:lnTo>
                <a:lnTo>
                  <a:pt x="3156" y="1688"/>
                </a:lnTo>
                <a:lnTo>
                  <a:pt x="3895" y="948"/>
                </a:lnTo>
                <a:cubicBezTo>
                  <a:pt x="4360" y="482"/>
                  <a:pt x="4912" y="166"/>
                  <a:pt x="5551" y="0"/>
                </a:cubicBezTo>
                <a:cubicBezTo>
                  <a:pt x="6161" y="-160"/>
                  <a:pt x="6776" y="-160"/>
                  <a:pt x="7394" y="0"/>
                </a:cubicBezTo>
                <a:cubicBezTo>
                  <a:pt x="8032" y="166"/>
                  <a:pt x="8584" y="482"/>
                  <a:pt x="9050" y="948"/>
                </a:cubicBezTo>
                <a:cubicBezTo>
                  <a:pt x="9515" y="1413"/>
                  <a:pt x="9831" y="1965"/>
                  <a:pt x="9998" y="2604"/>
                </a:cubicBezTo>
                <a:cubicBezTo>
                  <a:pt x="10158" y="3222"/>
                  <a:pt x="10158" y="3836"/>
                  <a:pt x="9998" y="4448"/>
                </a:cubicBezTo>
                <a:cubicBezTo>
                  <a:pt x="9831" y="5086"/>
                  <a:pt x="9515" y="5638"/>
                  <a:pt x="9050" y="6104"/>
                </a:cubicBezTo>
                <a:moveTo>
                  <a:pt x="6103" y="7573"/>
                </a:moveTo>
                <a:lnTo>
                  <a:pt x="6842" y="8313"/>
                </a:lnTo>
                <a:lnTo>
                  <a:pt x="6103" y="9052"/>
                </a:lnTo>
                <a:cubicBezTo>
                  <a:pt x="5637" y="9517"/>
                  <a:pt x="5085" y="9833"/>
                  <a:pt x="4447" y="10000"/>
                </a:cubicBezTo>
                <a:cubicBezTo>
                  <a:pt x="3836" y="10160"/>
                  <a:pt x="3222" y="10160"/>
                  <a:pt x="2604" y="10000"/>
                </a:cubicBezTo>
                <a:cubicBezTo>
                  <a:pt x="1965" y="9833"/>
                  <a:pt x="1413" y="9517"/>
                  <a:pt x="948" y="9052"/>
                </a:cubicBezTo>
                <a:cubicBezTo>
                  <a:pt x="482" y="8586"/>
                  <a:pt x="166" y="8034"/>
                  <a:pt x="0" y="7396"/>
                </a:cubicBezTo>
                <a:cubicBezTo>
                  <a:pt x="-160" y="6778"/>
                  <a:pt x="-160" y="6163"/>
                  <a:pt x="0" y="5552"/>
                </a:cubicBezTo>
                <a:cubicBezTo>
                  <a:pt x="166" y="4913"/>
                  <a:pt x="482" y="4361"/>
                  <a:pt x="948" y="3896"/>
                </a:cubicBezTo>
                <a:lnTo>
                  <a:pt x="1687" y="3156"/>
                </a:lnTo>
                <a:lnTo>
                  <a:pt x="2427" y="3896"/>
                </a:lnTo>
                <a:lnTo>
                  <a:pt x="1687" y="4635"/>
                </a:lnTo>
                <a:cubicBezTo>
                  <a:pt x="1353" y="4968"/>
                  <a:pt x="1128" y="5357"/>
                  <a:pt x="1010" y="5802"/>
                </a:cubicBezTo>
                <a:cubicBezTo>
                  <a:pt x="892" y="6246"/>
                  <a:pt x="892" y="6693"/>
                  <a:pt x="1010" y="7141"/>
                </a:cubicBezTo>
                <a:cubicBezTo>
                  <a:pt x="1128" y="7589"/>
                  <a:pt x="1353" y="7979"/>
                  <a:pt x="1687" y="8313"/>
                </a:cubicBezTo>
                <a:cubicBezTo>
                  <a:pt x="2020" y="8646"/>
                  <a:pt x="2411" y="8872"/>
                  <a:pt x="2859" y="8990"/>
                </a:cubicBezTo>
                <a:cubicBezTo>
                  <a:pt x="3307" y="9108"/>
                  <a:pt x="3753" y="9108"/>
                  <a:pt x="4197" y="8990"/>
                </a:cubicBezTo>
                <a:cubicBezTo>
                  <a:pt x="4641" y="8872"/>
                  <a:pt x="5030" y="8646"/>
                  <a:pt x="5364" y="8313"/>
                </a:cubicBezTo>
                <a:lnTo>
                  <a:pt x="6103" y="7573"/>
                </a:lnTo>
                <a:moveTo>
                  <a:pt x="2791" y="6469"/>
                </a:moveTo>
                <a:lnTo>
                  <a:pt x="6467" y="2792"/>
                </a:lnTo>
                <a:lnTo>
                  <a:pt x="7207" y="3531"/>
                </a:lnTo>
                <a:lnTo>
                  <a:pt x="3531" y="7208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820433" y="3764608"/>
            <a:ext cx="500740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BPTT Chain Rule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61134" y="1933278"/>
            <a:ext cx="5570732" cy="216708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6161134" y="1933278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6361109" y="2142828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623726" y="2133303"/>
            <a:ext cx="4908166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指数级衰减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623726" y="2495253"/>
            <a:ext cx="4908166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若权重矩阵最大特征值小于1，连乘结果趋近于零，远离输出层的梯度信号几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乎消失。深层网络的前层参数几乎无法获得有效更新。</a:t>
            </a:r>
            <a:endParaRPr sz="1100" b="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61109" y="3652689"/>
            <a:ext cx="517078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>
            <a:off x="6347569" y="3771751"/>
            <a:ext cx="133317" cy="1333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5316"/>
                </a:moveTo>
                <a:lnTo>
                  <a:pt x="4999" y="10000"/>
                </a:lnTo>
                <a:lnTo>
                  <a:pt x="9998" y="5316"/>
                </a:lnTo>
                <a:lnTo>
                  <a:pt x="8869" y="4262"/>
                </a:lnTo>
                <a:lnTo>
                  <a:pt x="4999" y="7861"/>
                </a:lnTo>
                <a:lnTo>
                  <a:pt x="1129" y="4262"/>
                </a:lnTo>
                <a:lnTo>
                  <a:pt x="0" y="5316"/>
                </a:lnTo>
                <a:moveTo>
                  <a:pt x="0" y="1069"/>
                </a:moveTo>
                <a:lnTo>
                  <a:pt x="4999" y="5738"/>
                </a:lnTo>
                <a:lnTo>
                  <a:pt x="9998" y="1069"/>
                </a:lnTo>
                <a:lnTo>
                  <a:pt x="8869" y="0"/>
                </a:lnTo>
                <a:lnTo>
                  <a:pt x="4999" y="3614"/>
                </a:lnTo>
                <a:lnTo>
                  <a:pt x="1129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6524481" y="3764608"/>
            <a:ext cx="5007409" cy="15716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λ</a:t>
            </a:r>
            <a:r>
              <a:rPr sz="8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max</a:t>
            </a:r>
            <a:r>
              <a:rPr sz="9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 &lt; 1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7086" y="4233714"/>
            <a:ext cx="5570732" cy="216708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457086" y="4233714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657061" y="4443264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919677" y="4433739"/>
            <a:ext cx="4908166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长期依赖失败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919677" y="4795689"/>
            <a:ext cx="4908166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网络无法建立相隔多步的输入输出关联，如句子开头的"中国"与末尾的"中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文"之间的语义联系。模型只能捕捉短期模式，丢失全局语境。</a:t>
            </a:r>
            <a:endParaRPr sz="1100" b="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57061" y="5953125"/>
            <a:ext cx="517078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643520" y="6072188"/>
            <a:ext cx="133317" cy="1333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5499" y="2500"/>
                </a:moveTo>
                <a:lnTo>
                  <a:pt x="5499" y="5000"/>
                </a:lnTo>
                <a:lnTo>
                  <a:pt x="7498" y="5000"/>
                </a:lnTo>
                <a:lnTo>
                  <a:pt x="7498" y="6000"/>
                </a:lnTo>
                <a:lnTo>
                  <a:pt x="4499" y="6000"/>
                </a:lnTo>
                <a:lnTo>
                  <a:pt x="4499" y="2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820433" y="6065044"/>
            <a:ext cx="500740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Long-term Dependency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161134" y="4233714"/>
            <a:ext cx="5570732" cy="2167086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AutoShape 32"/>
          <p:cNvSpPr/>
          <p:nvPr/>
        </p:nvSpPr>
        <p:spPr>
          <a:xfrm>
            <a:off x="6161134" y="4233714"/>
            <a:ext cx="557073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TextBox 33"/>
          <p:cNvSpPr txBox="1"/>
          <p:nvPr/>
        </p:nvSpPr>
        <p:spPr>
          <a:xfrm>
            <a:off x="6361109" y="4443264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623726" y="4433739"/>
            <a:ext cx="4908166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传话游戏类比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6623726" y="4795689"/>
            <a:ext cx="4918433" cy="4048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信息经多人传递后严重失真，早期输入的信息在深层网络中逐渐丢失，与RNN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梯度消失原理相似。每一层的信息衰减都加剧了最终输出的偏差。</a:t>
            </a:r>
            <a:endParaRPr sz="1100" b="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361109" y="5953125"/>
            <a:ext cx="517078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AutoShape 37"/>
          <p:cNvSpPr/>
          <p:nvPr/>
        </p:nvSpPr>
        <p:spPr>
          <a:xfrm>
            <a:off x="6347569" y="6072188"/>
            <a:ext cx="133317" cy="1333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919" y="7832"/>
                </a:moveTo>
                <a:lnTo>
                  <a:pt x="3919" y="2168"/>
                </a:lnTo>
                <a:lnTo>
                  <a:pt x="2439" y="3815"/>
                </a:lnTo>
                <a:lnTo>
                  <a:pt x="871" y="3815"/>
                </a:lnTo>
                <a:lnTo>
                  <a:pt x="871" y="6185"/>
                </a:lnTo>
                <a:lnTo>
                  <a:pt x="2439" y="6185"/>
                </a:lnTo>
                <a:lnTo>
                  <a:pt x="3919" y="7832"/>
                </a:lnTo>
                <a:moveTo>
                  <a:pt x="4433" y="9941"/>
                </a:moveTo>
                <a:lnTo>
                  <a:pt x="2134" y="7370"/>
                </a:lnTo>
                <a:lnTo>
                  <a:pt x="435" y="7370"/>
                </a:lnTo>
                <a:cubicBezTo>
                  <a:pt x="319" y="7370"/>
                  <a:pt x="217" y="7312"/>
                  <a:pt x="131" y="7198"/>
                </a:cubicBezTo>
                <a:cubicBezTo>
                  <a:pt x="43" y="7083"/>
                  <a:pt x="0" y="6943"/>
                  <a:pt x="0" y="6777"/>
                </a:cubicBezTo>
                <a:lnTo>
                  <a:pt x="0" y="3223"/>
                </a:lnTo>
                <a:cubicBezTo>
                  <a:pt x="0" y="3057"/>
                  <a:pt x="43" y="2916"/>
                  <a:pt x="131" y="2802"/>
                </a:cubicBezTo>
                <a:cubicBezTo>
                  <a:pt x="217" y="2687"/>
                  <a:pt x="319" y="2630"/>
                  <a:pt x="435" y="2630"/>
                </a:cubicBezTo>
                <a:lnTo>
                  <a:pt x="2134" y="2630"/>
                </a:lnTo>
                <a:lnTo>
                  <a:pt x="4433" y="59"/>
                </a:lnTo>
                <a:cubicBezTo>
                  <a:pt x="4479" y="11"/>
                  <a:pt x="4533" y="-8"/>
                  <a:pt x="4594" y="0"/>
                </a:cubicBezTo>
                <a:cubicBezTo>
                  <a:pt x="4654" y="8"/>
                  <a:pt x="4702" y="41"/>
                  <a:pt x="4738" y="101"/>
                </a:cubicBezTo>
                <a:cubicBezTo>
                  <a:pt x="4772" y="160"/>
                  <a:pt x="4790" y="225"/>
                  <a:pt x="4790" y="296"/>
                </a:cubicBezTo>
                <a:lnTo>
                  <a:pt x="4790" y="9704"/>
                </a:lnTo>
                <a:cubicBezTo>
                  <a:pt x="4790" y="9790"/>
                  <a:pt x="4769" y="9861"/>
                  <a:pt x="4729" y="9917"/>
                </a:cubicBezTo>
                <a:cubicBezTo>
                  <a:pt x="4688" y="9972"/>
                  <a:pt x="4639" y="10000"/>
                  <a:pt x="4581" y="10000"/>
                </a:cubicBezTo>
                <a:cubicBezTo>
                  <a:pt x="4523" y="10000"/>
                  <a:pt x="4473" y="9980"/>
                  <a:pt x="4433" y="9941"/>
                </a:cubicBezTo>
                <a:moveTo>
                  <a:pt x="9998" y="2903"/>
                </a:moveTo>
                <a:lnTo>
                  <a:pt x="8456" y="5000"/>
                </a:lnTo>
                <a:lnTo>
                  <a:pt x="9998" y="7097"/>
                </a:lnTo>
                <a:lnTo>
                  <a:pt x="9380" y="7927"/>
                </a:lnTo>
                <a:lnTo>
                  <a:pt x="7838" y="5841"/>
                </a:lnTo>
                <a:lnTo>
                  <a:pt x="6297" y="7927"/>
                </a:lnTo>
                <a:lnTo>
                  <a:pt x="5687" y="7097"/>
                </a:lnTo>
                <a:lnTo>
                  <a:pt x="7229" y="5000"/>
                </a:lnTo>
                <a:lnTo>
                  <a:pt x="5687" y="2903"/>
                </a:lnTo>
                <a:lnTo>
                  <a:pt x="6297" y="2073"/>
                </a:lnTo>
                <a:lnTo>
                  <a:pt x="7838" y="4159"/>
                </a:lnTo>
                <a:lnTo>
                  <a:pt x="9380" y="207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8" name="TextBox 38"/>
          <p:cNvSpPr txBox="1"/>
          <p:nvPr/>
        </p:nvSpPr>
        <p:spPr>
          <a:xfrm>
            <a:off x="6524481" y="6065044"/>
            <a:ext cx="500740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Signal Decay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2A2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Gradient Challenges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梯度爆炸与早期应对策略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580880" y="14097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梯度爆炸是RNN训练的另一极端问题，当循环权重特征值大于1时梯度指数增长导致训练发散。虽然梯度裁剪能缓解爆炸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问题，但梯度消失仍无有效解决方案，这直接推动了后续门控循环单元的诞生。</a:t>
            </a:r>
            <a:endParaRPr sz="16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086" y="2211586"/>
            <a:ext cx="5542164" cy="199935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457086" y="2211586"/>
            <a:ext cx="554216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57061" y="2430661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293" y="0"/>
                </a:moveTo>
                <a:lnTo>
                  <a:pt x="5293" y="3750"/>
                </a:lnTo>
                <a:lnTo>
                  <a:pt x="9998" y="3750"/>
                </a:lnTo>
                <a:lnTo>
                  <a:pt x="4117" y="10000"/>
                </a:lnTo>
                <a:lnTo>
                  <a:pt x="4117" y="6250"/>
                </a:lnTo>
                <a:lnTo>
                  <a:pt x="0" y="6250"/>
                </a:lnTo>
                <a:lnTo>
                  <a:pt x="5293" y="0"/>
                </a:lnTo>
                <a:moveTo>
                  <a:pt x="7798" y="4583"/>
                </a:moveTo>
                <a:lnTo>
                  <a:pt x="4117" y="4583"/>
                </a:lnTo>
                <a:lnTo>
                  <a:pt x="4117" y="3008"/>
                </a:lnTo>
                <a:lnTo>
                  <a:pt x="2082" y="5417"/>
                </a:lnTo>
                <a:lnTo>
                  <a:pt x="5293" y="5417"/>
                </a:lnTo>
                <a:lnTo>
                  <a:pt x="5293" y="725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657061" y="2887861"/>
            <a:ext cx="514221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梯度爆炸的产生条件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57061" y="3192661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循环权重矩阵特征值大于1时，梯度连乘结果指数增长，参数更新幅度过大导致训练不稳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定</a:t>
            </a:r>
            <a:endParaRPr sz="1000" b="0" i="0" strike="noStrike">
              <a:solidFill>
                <a:srgbClr val="0A1F3D">
                  <a:alpha val="8000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57061" y="3701058"/>
            <a:ext cx="514221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657061" y="3777258"/>
            <a:ext cx="514221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特征值 &gt; 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89702" y="2211586"/>
            <a:ext cx="5542164" cy="199935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6189702" y="2211586"/>
            <a:ext cx="554216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6389677" y="2430661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803" y="3020"/>
                </a:moveTo>
                <a:lnTo>
                  <a:pt x="5111" y="4290"/>
                </a:lnTo>
                <a:lnTo>
                  <a:pt x="8546" y="930"/>
                </a:lnTo>
                <a:cubicBezTo>
                  <a:pt x="8682" y="803"/>
                  <a:pt x="8837" y="716"/>
                  <a:pt x="9011" y="670"/>
                </a:cubicBezTo>
                <a:cubicBezTo>
                  <a:pt x="9185" y="623"/>
                  <a:pt x="9360" y="623"/>
                  <a:pt x="9538" y="670"/>
                </a:cubicBezTo>
                <a:cubicBezTo>
                  <a:pt x="9715" y="716"/>
                  <a:pt x="9868" y="803"/>
                  <a:pt x="9998" y="930"/>
                </a:cubicBezTo>
                <a:lnTo>
                  <a:pt x="3803" y="6980"/>
                </a:lnTo>
                <a:cubicBezTo>
                  <a:pt x="3993" y="7293"/>
                  <a:pt x="4089" y="7631"/>
                  <a:pt x="4089" y="7995"/>
                </a:cubicBezTo>
                <a:cubicBezTo>
                  <a:pt x="4089" y="8358"/>
                  <a:pt x="3997" y="8693"/>
                  <a:pt x="3813" y="9000"/>
                </a:cubicBezTo>
                <a:cubicBezTo>
                  <a:pt x="3629" y="9306"/>
                  <a:pt x="3380" y="9550"/>
                  <a:pt x="3067" y="9730"/>
                </a:cubicBezTo>
                <a:cubicBezTo>
                  <a:pt x="2753" y="9910"/>
                  <a:pt x="2413" y="10000"/>
                  <a:pt x="2045" y="10000"/>
                </a:cubicBezTo>
                <a:cubicBezTo>
                  <a:pt x="1677" y="10000"/>
                  <a:pt x="1336" y="9910"/>
                  <a:pt x="1022" y="9730"/>
                </a:cubicBezTo>
                <a:cubicBezTo>
                  <a:pt x="708" y="9550"/>
                  <a:pt x="460" y="9306"/>
                  <a:pt x="276" y="9000"/>
                </a:cubicBezTo>
                <a:cubicBezTo>
                  <a:pt x="92" y="8693"/>
                  <a:pt x="0" y="8360"/>
                  <a:pt x="0" y="8000"/>
                </a:cubicBezTo>
                <a:cubicBezTo>
                  <a:pt x="0" y="7640"/>
                  <a:pt x="92" y="7306"/>
                  <a:pt x="276" y="7000"/>
                </a:cubicBezTo>
                <a:cubicBezTo>
                  <a:pt x="460" y="6693"/>
                  <a:pt x="708" y="6450"/>
                  <a:pt x="1022" y="6270"/>
                </a:cubicBezTo>
                <a:cubicBezTo>
                  <a:pt x="1336" y="6090"/>
                  <a:pt x="1678" y="6000"/>
                  <a:pt x="2050" y="6000"/>
                </a:cubicBezTo>
                <a:cubicBezTo>
                  <a:pt x="2421" y="6000"/>
                  <a:pt x="2767" y="6093"/>
                  <a:pt x="3087" y="6280"/>
                </a:cubicBezTo>
                <a:lnTo>
                  <a:pt x="4386" y="5000"/>
                </a:lnTo>
                <a:lnTo>
                  <a:pt x="3087" y="3720"/>
                </a:lnTo>
                <a:cubicBezTo>
                  <a:pt x="2767" y="3906"/>
                  <a:pt x="2421" y="4000"/>
                  <a:pt x="2050" y="4000"/>
                </a:cubicBezTo>
                <a:cubicBezTo>
                  <a:pt x="1678" y="4000"/>
                  <a:pt x="1336" y="3910"/>
                  <a:pt x="1022" y="3730"/>
                </a:cubicBezTo>
                <a:cubicBezTo>
                  <a:pt x="708" y="3550"/>
                  <a:pt x="460" y="3306"/>
                  <a:pt x="276" y="3000"/>
                </a:cubicBezTo>
                <a:cubicBezTo>
                  <a:pt x="92" y="2693"/>
                  <a:pt x="0" y="2360"/>
                  <a:pt x="0" y="2000"/>
                </a:cubicBezTo>
                <a:cubicBezTo>
                  <a:pt x="0" y="1640"/>
                  <a:pt x="92" y="1306"/>
                  <a:pt x="276" y="1000"/>
                </a:cubicBezTo>
                <a:cubicBezTo>
                  <a:pt x="460" y="693"/>
                  <a:pt x="708" y="450"/>
                  <a:pt x="1022" y="270"/>
                </a:cubicBezTo>
                <a:cubicBezTo>
                  <a:pt x="1336" y="90"/>
                  <a:pt x="1677" y="0"/>
                  <a:pt x="2045" y="0"/>
                </a:cubicBezTo>
                <a:cubicBezTo>
                  <a:pt x="2413" y="0"/>
                  <a:pt x="2753" y="90"/>
                  <a:pt x="3067" y="270"/>
                </a:cubicBezTo>
                <a:cubicBezTo>
                  <a:pt x="3380" y="450"/>
                  <a:pt x="3629" y="693"/>
                  <a:pt x="3813" y="1000"/>
                </a:cubicBezTo>
                <a:cubicBezTo>
                  <a:pt x="3997" y="1306"/>
                  <a:pt x="4089" y="1641"/>
                  <a:pt x="4089" y="2005"/>
                </a:cubicBezTo>
                <a:cubicBezTo>
                  <a:pt x="4089" y="2368"/>
                  <a:pt x="3993" y="2706"/>
                  <a:pt x="3803" y="3020"/>
                </a:cubicBezTo>
                <a:moveTo>
                  <a:pt x="5837" y="6410"/>
                </a:moveTo>
                <a:lnTo>
                  <a:pt x="6553" y="5710"/>
                </a:lnTo>
                <a:lnTo>
                  <a:pt x="9998" y="9070"/>
                </a:lnTo>
                <a:cubicBezTo>
                  <a:pt x="9868" y="9196"/>
                  <a:pt x="9715" y="9283"/>
                  <a:pt x="9538" y="9330"/>
                </a:cubicBezTo>
                <a:cubicBezTo>
                  <a:pt x="9360" y="9376"/>
                  <a:pt x="9185" y="9376"/>
                  <a:pt x="9011" y="9330"/>
                </a:cubicBezTo>
                <a:cubicBezTo>
                  <a:pt x="8837" y="9283"/>
                  <a:pt x="8682" y="9196"/>
                  <a:pt x="8546" y="9070"/>
                </a:cubicBezTo>
                <a:lnTo>
                  <a:pt x="5837" y="6410"/>
                </a:lnTo>
                <a:moveTo>
                  <a:pt x="2770" y="7290"/>
                </a:moveTo>
                <a:cubicBezTo>
                  <a:pt x="2674" y="7196"/>
                  <a:pt x="2564" y="7125"/>
                  <a:pt x="2438" y="7075"/>
                </a:cubicBezTo>
                <a:cubicBezTo>
                  <a:pt x="2312" y="7025"/>
                  <a:pt x="2181" y="7000"/>
                  <a:pt x="2045" y="7000"/>
                </a:cubicBezTo>
                <a:cubicBezTo>
                  <a:pt x="1861" y="7000"/>
                  <a:pt x="1690" y="7045"/>
                  <a:pt x="1533" y="7135"/>
                </a:cubicBezTo>
                <a:cubicBezTo>
                  <a:pt x="1376" y="7225"/>
                  <a:pt x="1252" y="7346"/>
                  <a:pt x="1160" y="7500"/>
                </a:cubicBezTo>
                <a:cubicBezTo>
                  <a:pt x="1068" y="7653"/>
                  <a:pt x="1022" y="7820"/>
                  <a:pt x="1022" y="8000"/>
                </a:cubicBezTo>
                <a:cubicBezTo>
                  <a:pt x="1022" y="8180"/>
                  <a:pt x="1068" y="8346"/>
                  <a:pt x="1160" y="8500"/>
                </a:cubicBezTo>
                <a:cubicBezTo>
                  <a:pt x="1252" y="8653"/>
                  <a:pt x="1376" y="8775"/>
                  <a:pt x="1533" y="8865"/>
                </a:cubicBezTo>
                <a:cubicBezTo>
                  <a:pt x="1690" y="8955"/>
                  <a:pt x="1861" y="9000"/>
                  <a:pt x="2045" y="9000"/>
                </a:cubicBezTo>
                <a:cubicBezTo>
                  <a:pt x="2229" y="9000"/>
                  <a:pt x="2399" y="8955"/>
                  <a:pt x="2556" y="8865"/>
                </a:cubicBezTo>
                <a:cubicBezTo>
                  <a:pt x="2712" y="8775"/>
                  <a:pt x="2837" y="8653"/>
                  <a:pt x="2929" y="8500"/>
                </a:cubicBezTo>
                <a:cubicBezTo>
                  <a:pt x="3021" y="8346"/>
                  <a:pt x="3067" y="8180"/>
                  <a:pt x="3067" y="8000"/>
                </a:cubicBezTo>
                <a:cubicBezTo>
                  <a:pt x="3067" y="7866"/>
                  <a:pt x="3041" y="7738"/>
                  <a:pt x="2990" y="7615"/>
                </a:cubicBezTo>
                <a:cubicBezTo>
                  <a:pt x="2939" y="7491"/>
                  <a:pt x="2866" y="7383"/>
                  <a:pt x="2770" y="7290"/>
                </a:cubicBezTo>
                <a:moveTo>
                  <a:pt x="2770" y="2710"/>
                </a:moveTo>
                <a:cubicBezTo>
                  <a:pt x="2866" y="2616"/>
                  <a:pt x="2939" y="2508"/>
                  <a:pt x="2990" y="2385"/>
                </a:cubicBezTo>
                <a:cubicBezTo>
                  <a:pt x="3041" y="2261"/>
                  <a:pt x="3067" y="2133"/>
                  <a:pt x="3067" y="2000"/>
                </a:cubicBezTo>
                <a:cubicBezTo>
                  <a:pt x="3067" y="1820"/>
                  <a:pt x="3021" y="1653"/>
                  <a:pt x="2929" y="1500"/>
                </a:cubicBezTo>
                <a:cubicBezTo>
                  <a:pt x="2837" y="1346"/>
                  <a:pt x="2712" y="1225"/>
                  <a:pt x="2556" y="1135"/>
                </a:cubicBezTo>
                <a:cubicBezTo>
                  <a:pt x="2399" y="1045"/>
                  <a:pt x="2229" y="1000"/>
                  <a:pt x="2045" y="1000"/>
                </a:cubicBezTo>
                <a:cubicBezTo>
                  <a:pt x="1861" y="1000"/>
                  <a:pt x="1690" y="1045"/>
                  <a:pt x="1533" y="1135"/>
                </a:cubicBezTo>
                <a:cubicBezTo>
                  <a:pt x="1376" y="1225"/>
                  <a:pt x="1252" y="1346"/>
                  <a:pt x="1160" y="1500"/>
                </a:cubicBezTo>
                <a:cubicBezTo>
                  <a:pt x="1068" y="1653"/>
                  <a:pt x="1022" y="1820"/>
                  <a:pt x="1022" y="2000"/>
                </a:cubicBezTo>
                <a:cubicBezTo>
                  <a:pt x="1022" y="2180"/>
                  <a:pt x="1068" y="2346"/>
                  <a:pt x="1160" y="2500"/>
                </a:cubicBezTo>
                <a:cubicBezTo>
                  <a:pt x="1252" y="2653"/>
                  <a:pt x="1376" y="2775"/>
                  <a:pt x="1533" y="2865"/>
                </a:cubicBezTo>
                <a:cubicBezTo>
                  <a:pt x="1690" y="2955"/>
                  <a:pt x="1861" y="3000"/>
                  <a:pt x="2045" y="3000"/>
                </a:cubicBezTo>
                <a:cubicBezTo>
                  <a:pt x="2181" y="3000"/>
                  <a:pt x="2312" y="2975"/>
                  <a:pt x="2438" y="2925"/>
                </a:cubicBezTo>
                <a:cubicBezTo>
                  <a:pt x="2564" y="2875"/>
                  <a:pt x="2674" y="2803"/>
                  <a:pt x="2770" y="271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6389677" y="2887861"/>
            <a:ext cx="514221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梯度裁剪的解决方案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89677" y="3192661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设定梯度范数阈值，超过阈值时按比例缩放，强制将梯度控制在合理范围内，有效防止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参数发散</a:t>
            </a:r>
            <a:endParaRPr sz="1000" b="0" i="0" strike="noStrike">
              <a:solidFill>
                <a:srgbClr val="0A1F3D">
                  <a:alpha val="8000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89677" y="3701058"/>
            <a:ext cx="514221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6389677" y="3777258"/>
            <a:ext cx="514221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范数阈值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086" y="4401443"/>
            <a:ext cx="5542164" cy="199935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457086" y="4401443"/>
            <a:ext cx="554216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657061" y="4620518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5000"/>
                </a:moveTo>
                <a:cubicBezTo>
                  <a:pt x="0" y="4557"/>
                  <a:pt x="53" y="4125"/>
                  <a:pt x="160" y="3703"/>
                </a:cubicBezTo>
                <a:cubicBezTo>
                  <a:pt x="433" y="3717"/>
                  <a:pt x="695" y="3655"/>
                  <a:pt x="945" y="3517"/>
                </a:cubicBezTo>
                <a:cubicBezTo>
                  <a:pt x="1195" y="3378"/>
                  <a:pt x="1391" y="3181"/>
                  <a:pt x="1535" y="2925"/>
                </a:cubicBezTo>
                <a:cubicBezTo>
                  <a:pt x="1678" y="2669"/>
                  <a:pt x="1745" y="2394"/>
                  <a:pt x="1735" y="2101"/>
                </a:cubicBezTo>
                <a:cubicBezTo>
                  <a:pt x="1725" y="1807"/>
                  <a:pt x="1646" y="1539"/>
                  <a:pt x="1500" y="1297"/>
                </a:cubicBezTo>
                <a:cubicBezTo>
                  <a:pt x="2113" y="667"/>
                  <a:pt x="2833" y="235"/>
                  <a:pt x="3659" y="0"/>
                </a:cubicBezTo>
                <a:cubicBezTo>
                  <a:pt x="3785" y="256"/>
                  <a:pt x="3969" y="461"/>
                  <a:pt x="4209" y="617"/>
                </a:cubicBezTo>
                <a:cubicBezTo>
                  <a:pt x="4449" y="773"/>
                  <a:pt x="4712" y="851"/>
                  <a:pt x="4999" y="851"/>
                </a:cubicBezTo>
                <a:cubicBezTo>
                  <a:pt x="5285" y="851"/>
                  <a:pt x="5549" y="773"/>
                  <a:pt x="5789" y="617"/>
                </a:cubicBezTo>
                <a:cubicBezTo>
                  <a:pt x="6029" y="461"/>
                  <a:pt x="6212" y="256"/>
                  <a:pt x="6339" y="0"/>
                </a:cubicBezTo>
                <a:cubicBezTo>
                  <a:pt x="7165" y="235"/>
                  <a:pt x="7884" y="667"/>
                  <a:pt x="8498" y="1297"/>
                </a:cubicBezTo>
                <a:cubicBezTo>
                  <a:pt x="8351" y="1539"/>
                  <a:pt x="8273" y="1807"/>
                  <a:pt x="8263" y="2101"/>
                </a:cubicBezTo>
                <a:cubicBezTo>
                  <a:pt x="8253" y="2394"/>
                  <a:pt x="8319" y="2669"/>
                  <a:pt x="8463" y="2925"/>
                </a:cubicBezTo>
                <a:cubicBezTo>
                  <a:pt x="8606" y="3181"/>
                  <a:pt x="8803" y="3378"/>
                  <a:pt x="9053" y="3517"/>
                </a:cubicBezTo>
                <a:cubicBezTo>
                  <a:pt x="9303" y="3655"/>
                  <a:pt x="9564" y="3717"/>
                  <a:pt x="9838" y="3703"/>
                </a:cubicBezTo>
                <a:cubicBezTo>
                  <a:pt x="9944" y="4125"/>
                  <a:pt x="9998" y="4557"/>
                  <a:pt x="9998" y="5000"/>
                </a:cubicBezTo>
                <a:cubicBezTo>
                  <a:pt x="9998" y="5442"/>
                  <a:pt x="9944" y="5875"/>
                  <a:pt x="9838" y="6297"/>
                </a:cubicBezTo>
                <a:cubicBezTo>
                  <a:pt x="9564" y="6283"/>
                  <a:pt x="9303" y="6345"/>
                  <a:pt x="9053" y="6483"/>
                </a:cubicBezTo>
                <a:cubicBezTo>
                  <a:pt x="8803" y="6621"/>
                  <a:pt x="8606" y="6819"/>
                  <a:pt x="8463" y="7075"/>
                </a:cubicBezTo>
                <a:cubicBezTo>
                  <a:pt x="8319" y="7331"/>
                  <a:pt x="8253" y="7605"/>
                  <a:pt x="8263" y="7899"/>
                </a:cubicBezTo>
                <a:cubicBezTo>
                  <a:pt x="8273" y="8193"/>
                  <a:pt x="8351" y="8461"/>
                  <a:pt x="8498" y="8703"/>
                </a:cubicBezTo>
                <a:cubicBezTo>
                  <a:pt x="7884" y="9332"/>
                  <a:pt x="7165" y="9764"/>
                  <a:pt x="6339" y="10000"/>
                </a:cubicBezTo>
                <a:cubicBezTo>
                  <a:pt x="6212" y="9744"/>
                  <a:pt x="6029" y="9538"/>
                  <a:pt x="5789" y="9383"/>
                </a:cubicBezTo>
                <a:cubicBezTo>
                  <a:pt x="5549" y="9227"/>
                  <a:pt x="5285" y="9149"/>
                  <a:pt x="4999" y="9149"/>
                </a:cubicBezTo>
                <a:cubicBezTo>
                  <a:pt x="4712" y="9149"/>
                  <a:pt x="4449" y="9227"/>
                  <a:pt x="4209" y="9383"/>
                </a:cubicBezTo>
                <a:cubicBezTo>
                  <a:pt x="3969" y="9538"/>
                  <a:pt x="3785" y="9744"/>
                  <a:pt x="3659" y="10000"/>
                </a:cubicBezTo>
                <a:cubicBezTo>
                  <a:pt x="2833" y="9764"/>
                  <a:pt x="2113" y="9332"/>
                  <a:pt x="1500" y="8703"/>
                </a:cubicBezTo>
                <a:cubicBezTo>
                  <a:pt x="1646" y="8461"/>
                  <a:pt x="1725" y="8193"/>
                  <a:pt x="1735" y="7899"/>
                </a:cubicBezTo>
                <a:cubicBezTo>
                  <a:pt x="1745" y="7605"/>
                  <a:pt x="1678" y="7331"/>
                  <a:pt x="1535" y="7075"/>
                </a:cubicBezTo>
                <a:cubicBezTo>
                  <a:pt x="1391" y="6819"/>
                  <a:pt x="1195" y="6621"/>
                  <a:pt x="945" y="6483"/>
                </a:cubicBezTo>
                <a:cubicBezTo>
                  <a:pt x="695" y="6345"/>
                  <a:pt x="433" y="6283"/>
                  <a:pt x="160" y="6297"/>
                </a:cubicBezTo>
                <a:cubicBezTo>
                  <a:pt x="53" y="5875"/>
                  <a:pt x="0" y="5442"/>
                  <a:pt x="0" y="5000"/>
                </a:cubicBezTo>
                <a:moveTo>
                  <a:pt x="2400" y="6556"/>
                </a:moveTo>
                <a:cubicBezTo>
                  <a:pt x="2559" y="6832"/>
                  <a:pt x="2662" y="7130"/>
                  <a:pt x="2709" y="7448"/>
                </a:cubicBezTo>
                <a:cubicBezTo>
                  <a:pt x="2755" y="7766"/>
                  <a:pt x="2745" y="8077"/>
                  <a:pt x="2679" y="8382"/>
                </a:cubicBezTo>
                <a:cubicBezTo>
                  <a:pt x="2885" y="8534"/>
                  <a:pt x="3102" y="8665"/>
                  <a:pt x="3329" y="8776"/>
                </a:cubicBezTo>
                <a:cubicBezTo>
                  <a:pt x="3555" y="8561"/>
                  <a:pt x="3812" y="8397"/>
                  <a:pt x="4099" y="8283"/>
                </a:cubicBezTo>
                <a:cubicBezTo>
                  <a:pt x="4385" y="8169"/>
                  <a:pt x="4685" y="8112"/>
                  <a:pt x="4999" y="8112"/>
                </a:cubicBezTo>
                <a:cubicBezTo>
                  <a:pt x="5312" y="8112"/>
                  <a:pt x="5612" y="8169"/>
                  <a:pt x="5899" y="8283"/>
                </a:cubicBezTo>
                <a:cubicBezTo>
                  <a:pt x="6185" y="8397"/>
                  <a:pt x="6442" y="8561"/>
                  <a:pt x="6669" y="8776"/>
                </a:cubicBezTo>
                <a:cubicBezTo>
                  <a:pt x="6895" y="8665"/>
                  <a:pt x="7112" y="8534"/>
                  <a:pt x="7319" y="8382"/>
                </a:cubicBezTo>
                <a:cubicBezTo>
                  <a:pt x="7252" y="8077"/>
                  <a:pt x="7242" y="7766"/>
                  <a:pt x="7289" y="7448"/>
                </a:cubicBezTo>
                <a:cubicBezTo>
                  <a:pt x="7335" y="7130"/>
                  <a:pt x="7437" y="6832"/>
                  <a:pt x="7593" y="6556"/>
                </a:cubicBezTo>
                <a:cubicBezTo>
                  <a:pt x="7749" y="6279"/>
                  <a:pt x="7948" y="6040"/>
                  <a:pt x="8188" y="5840"/>
                </a:cubicBezTo>
                <a:cubicBezTo>
                  <a:pt x="8428" y="5639"/>
                  <a:pt x="8691" y="5487"/>
                  <a:pt x="8978" y="5384"/>
                </a:cubicBezTo>
                <a:cubicBezTo>
                  <a:pt x="8991" y="5259"/>
                  <a:pt x="8998" y="5131"/>
                  <a:pt x="8998" y="5000"/>
                </a:cubicBezTo>
                <a:cubicBezTo>
                  <a:pt x="8998" y="4868"/>
                  <a:pt x="8991" y="4740"/>
                  <a:pt x="8978" y="4616"/>
                </a:cubicBezTo>
                <a:cubicBezTo>
                  <a:pt x="8691" y="4512"/>
                  <a:pt x="8428" y="4360"/>
                  <a:pt x="8188" y="4160"/>
                </a:cubicBezTo>
                <a:cubicBezTo>
                  <a:pt x="7948" y="3959"/>
                  <a:pt x="7749" y="3720"/>
                  <a:pt x="7593" y="3444"/>
                </a:cubicBezTo>
                <a:cubicBezTo>
                  <a:pt x="7437" y="3167"/>
                  <a:pt x="7335" y="2870"/>
                  <a:pt x="7289" y="2552"/>
                </a:cubicBezTo>
                <a:cubicBezTo>
                  <a:pt x="7242" y="2234"/>
                  <a:pt x="7252" y="1922"/>
                  <a:pt x="7319" y="1618"/>
                </a:cubicBezTo>
                <a:cubicBezTo>
                  <a:pt x="7112" y="1466"/>
                  <a:pt x="6895" y="1334"/>
                  <a:pt x="6669" y="1224"/>
                </a:cubicBezTo>
                <a:cubicBezTo>
                  <a:pt x="6442" y="1438"/>
                  <a:pt x="6185" y="1603"/>
                  <a:pt x="5899" y="1717"/>
                </a:cubicBezTo>
                <a:cubicBezTo>
                  <a:pt x="5612" y="1831"/>
                  <a:pt x="5312" y="1888"/>
                  <a:pt x="4999" y="1888"/>
                </a:cubicBezTo>
                <a:cubicBezTo>
                  <a:pt x="4685" y="1888"/>
                  <a:pt x="4385" y="1831"/>
                  <a:pt x="4099" y="1717"/>
                </a:cubicBezTo>
                <a:cubicBezTo>
                  <a:pt x="3812" y="1603"/>
                  <a:pt x="3555" y="1438"/>
                  <a:pt x="3329" y="1224"/>
                </a:cubicBezTo>
                <a:cubicBezTo>
                  <a:pt x="3102" y="1334"/>
                  <a:pt x="2885" y="1466"/>
                  <a:pt x="2679" y="1618"/>
                </a:cubicBezTo>
                <a:cubicBezTo>
                  <a:pt x="2745" y="1922"/>
                  <a:pt x="2755" y="2234"/>
                  <a:pt x="2709" y="2552"/>
                </a:cubicBezTo>
                <a:cubicBezTo>
                  <a:pt x="2662" y="2870"/>
                  <a:pt x="2561" y="3167"/>
                  <a:pt x="2405" y="3444"/>
                </a:cubicBezTo>
                <a:cubicBezTo>
                  <a:pt x="2248" y="3720"/>
                  <a:pt x="2050" y="3959"/>
                  <a:pt x="1810" y="4160"/>
                </a:cubicBezTo>
                <a:cubicBezTo>
                  <a:pt x="1570" y="4360"/>
                  <a:pt x="1306" y="4512"/>
                  <a:pt x="1020" y="4616"/>
                </a:cubicBezTo>
                <a:cubicBezTo>
                  <a:pt x="1006" y="4740"/>
                  <a:pt x="1000" y="4868"/>
                  <a:pt x="1000" y="5000"/>
                </a:cubicBezTo>
                <a:cubicBezTo>
                  <a:pt x="1000" y="5131"/>
                  <a:pt x="1006" y="5259"/>
                  <a:pt x="1020" y="5384"/>
                </a:cubicBezTo>
                <a:cubicBezTo>
                  <a:pt x="1306" y="5487"/>
                  <a:pt x="1570" y="5639"/>
                  <a:pt x="1810" y="5840"/>
                </a:cubicBezTo>
                <a:cubicBezTo>
                  <a:pt x="2050" y="6040"/>
                  <a:pt x="2246" y="6279"/>
                  <a:pt x="2400" y="6556"/>
                </a:cubicBezTo>
                <a:moveTo>
                  <a:pt x="4999" y="6556"/>
                </a:moveTo>
                <a:cubicBezTo>
                  <a:pt x="4725" y="6556"/>
                  <a:pt x="4474" y="6487"/>
                  <a:pt x="4244" y="6349"/>
                </a:cubicBezTo>
                <a:cubicBezTo>
                  <a:pt x="4014" y="6210"/>
                  <a:pt x="3832" y="6021"/>
                  <a:pt x="3699" y="5783"/>
                </a:cubicBezTo>
                <a:cubicBezTo>
                  <a:pt x="3565" y="5544"/>
                  <a:pt x="3499" y="5283"/>
                  <a:pt x="3499" y="5000"/>
                </a:cubicBezTo>
                <a:cubicBezTo>
                  <a:pt x="3499" y="4716"/>
                  <a:pt x="3565" y="4455"/>
                  <a:pt x="3699" y="4217"/>
                </a:cubicBezTo>
                <a:cubicBezTo>
                  <a:pt x="3832" y="3978"/>
                  <a:pt x="4014" y="3789"/>
                  <a:pt x="4244" y="3651"/>
                </a:cubicBezTo>
                <a:cubicBezTo>
                  <a:pt x="4474" y="3513"/>
                  <a:pt x="4725" y="3444"/>
                  <a:pt x="4999" y="3444"/>
                </a:cubicBezTo>
                <a:cubicBezTo>
                  <a:pt x="5272" y="3444"/>
                  <a:pt x="5524" y="3513"/>
                  <a:pt x="5754" y="3651"/>
                </a:cubicBezTo>
                <a:cubicBezTo>
                  <a:pt x="5984" y="3789"/>
                  <a:pt x="6165" y="3978"/>
                  <a:pt x="6299" y="4217"/>
                </a:cubicBezTo>
                <a:cubicBezTo>
                  <a:pt x="6432" y="4455"/>
                  <a:pt x="6499" y="4716"/>
                  <a:pt x="6499" y="5000"/>
                </a:cubicBezTo>
                <a:cubicBezTo>
                  <a:pt x="6499" y="5283"/>
                  <a:pt x="6432" y="5544"/>
                  <a:pt x="6299" y="5783"/>
                </a:cubicBezTo>
                <a:cubicBezTo>
                  <a:pt x="6165" y="6021"/>
                  <a:pt x="5984" y="6210"/>
                  <a:pt x="5754" y="6349"/>
                </a:cubicBezTo>
                <a:cubicBezTo>
                  <a:pt x="5524" y="6487"/>
                  <a:pt x="5272" y="6556"/>
                  <a:pt x="4999" y="6556"/>
                </a:cubicBezTo>
                <a:moveTo>
                  <a:pt x="4999" y="5519"/>
                </a:moveTo>
                <a:cubicBezTo>
                  <a:pt x="5139" y="5519"/>
                  <a:pt x="5257" y="5468"/>
                  <a:pt x="5354" y="5368"/>
                </a:cubicBezTo>
                <a:cubicBezTo>
                  <a:pt x="5450" y="5268"/>
                  <a:pt x="5499" y="5145"/>
                  <a:pt x="5499" y="5000"/>
                </a:cubicBezTo>
                <a:cubicBezTo>
                  <a:pt x="5499" y="4854"/>
                  <a:pt x="5450" y="4732"/>
                  <a:pt x="5354" y="4632"/>
                </a:cubicBezTo>
                <a:cubicBezTo>
                  <a:pt x="5257" y="4531"/>
                  <a:pt x="5139" y="4481"/>
                  <a:pt x="4999" y="4481"/>
                </a:cubicBezTo>
                <a:cubicBezTo>
                  <a:pt x="4859" y="4481"/>
                  <a:pt x="4740" y="4531"/>
                  <a:pt x="4644" y="4632"/>
                </a:cubicBezTo>
                <a:cubicBezTo>
                  <a:pt x="4547" y="4732"/>
                  <a:pt x="4499" y="4854"/>
                  <a:pt x="4499" y="5000"/>
                </a:cubicBezTo>
                <a:cubicBezTo>
                  <a:pt x="4499" y="5145"/>
                  <a:pt x="4547" y="5268"/>
                  <a:pt x="4644" y="5368"/>
                </a:cubicBezTo>
                <a:cubicBezTo>
                  <a:pt x="4740" y="5468"/>
                  <a:pt x="4859" y="5519"/>
                  <a:pt x="4999" y="5519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657061" y="5077718"/>
            <a:ext cx="514221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权重初始化的辅助策略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57061" y="5382518"/>
            <a:ext cx="534218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采用正交初始化或小方差初始化，避免初始权重过大导致训练初期即出现梯度异常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7061" y="5884664"/>
            <a:ext cx="514221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657061" y="5960864"/>
            <a:ext cx="514221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正交初始化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189702" y="4401443"/>
            <a:ext cx="5542164" cy="1999357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6189702" y="4401443"/>
            <a:ext cx="5542164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AutoShape 31"/>
          <p:cNvSpPr/>
          <p:nvPr/>
        </p:nvSpPr>
        <p:spPr>
          <a:xfrm>
            <a:off x="6389677" y="4620518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7059"/>
                </a:moveTo>
                <a:lnTo>
                  <a:pt x="1428" y="7059"/>
                </a:lnTo>
                <a:lnTo>
                  <a:pt x="1428" y="3235"/>
                </a:lnTo>
                <a:cubicBezTo>
                  <a:pt x="1428" y="2757"/>
                  <a:pt x="1525" y="2316"/>
                  <a:pt x="1719" y="1912"/>
                </a:cubicBezTo>
                <a:cubicBezTo>
                  <a:pt x="1912" y="1508"/>
                  <a:pt x="2172" y="1186"/>
                  <a:pt x="2500" y="947"/>
                </a:cubicBezTo>
                <a:cubicBezTo>
                  <a:pt x="2826" y="707"/>
                  <a:pt x="3183" y="588"/>
                  <a:pt x="3571" y="588"/>
                </a:cubicBezTo>
                <a:cubicBezTo>
                  <a:pt x="3958" y="588"/>
                  <a:pt x="4315" y="707"/>
                  <a:pt x="4642" y="947"/>
                </a:cubicBezTo>
                <a:cubicBezTo>
                  <a:pt x="4968" y="1186"/>
                  <a:pt x="5229" y="1508"/>
                  <a:pt x="5423" y="1912"/>
                </a:cubicBezTo>
                <a:cubicBezTo>
                  <a:pt x="5616" y="2316"/>
                  <a:pt x="5713" y="2757"/>
                  <a:pt x="5713" y="3235"/>
                </a:cubicBezTo>
                <a:lnTo>
                  <a:pt x="5713" y="7353"/>
                </a:lnTo>
                <a:cubicBezTo>
                  <a:pt x="5713" y="7619"/>
                  <a:pt x="5767" y="7864"/>
                  <a:pt x="5875" y="8088"/>
                </a:cubicBezTo>
                <a:cubicBezTo>
                  <a:pt x="5983" y="8312"/>
                  <a:pt x="6127" y="8490"/>
                  <a:pt x="6308" y="8624"/>
                </a:cubicBezTo>
                <a:cubicBezTo>
                  <a:pt x="6489" y="8757"/>
                  <a:pt x="6687" y="8824"/>
                  <a:pt x="6903" y="8824"/>
                </a:cubicBezTo>
                <a:cubicBezTo>
                  <a:pt x="7119" y="8824"/>
                  <a:pt x="7317" y="8757"/>
                  <a:pt x="7499" y="8624"/>
                </a:cubicBezTo>
                <a:cubicBezTo>
                  <a:pt x="7679" y="8490"/>
                  <a:pt x="7824" y="8312"/>
                  <a:pt x="7932" y="8088"/>
                </a:cubicBezTo>
                <a:cubicBezTo>
                  <a:pt x="8040" y="7864"/>
                  <a:pt x="8094" y="7619"/>
                  <a:pt x="8094" y="7353"/>
                </a:cubicBezTo>
                <a:lnTo>
                  <a:pt x="8094" y="3424"/>
                </a:lnTo>
                <a:cubicBezTo>
                  <a:pt x="7814" y="3306"/>
                  <a:pt x="7586" y="3094"/>
                  <a:pt x="7408" y="2788"/>
                </a:cubicBezTo>
                <a:cubicBezTo>
                  <a:pt x="7230" y="2482"/>
                  <a:pt x="7141" y="2141"/>
                  <a:pt x="7141" y="1765"/>
                </a:cubicBezTo>
                <a:cubicBezTo>
                  <a:pt x="7141" y="1443"/>
                  <a:pt x="7204" y="1146"/>
                  <a:pt x="7332" y="876"/>
                </a:cubicBezTo>
                <a:cubicBezTo>
                  <a:pt x="7458" y="606"/>
                  <a:pt x="7631" y="392"/>
                  <a:pt x="7851" y="235"/>
                </a:cubicBezTo>
                <a:cubicBezTo>
                  <a:pt x="8069" y="78"/>
                  <a:pt x="8309" y="0"/>
                  <a:pt x="8570" y="0"/>
                </a:cubicBezTo>
                <a:cubicBezTo>
                  <a:pt x="8830" y="0"/>
                  <a:pt x="9069" y="78"/>
                  <a:pt x="9289" y="235"/>
                </a:cubicBezTo>
                <a:cubicBezTo>
                  <a:pt x="9507" y="392"/>
                  <a:pt x="9680" y="606"/>
                  <a:pt x="9808" y="876"/>
                </a:cubicBezTo>
                <a:cubicBezTo>
                  <a:pt x="9934" y="1146"/>
                  <a:pt x="9998" y="1443"/>
                  <a:pt x="9998" y="1765"/>
                </a:cubicBezTo>
                <a:cubicBezTo>
                  <a:pt x="9998" y="2141"/>
                  <a:pt x="9909" y="2482"/>
                  <a:pt x="9731" y="2788"/>
                </a:cubicBezTo>
                <a:cubicBezTo>
                  <a:pt x="9553" y="3094"/>
                  <a:pt x="9325" y="3306"/>
                  <a:pt x="9046" y="3424"/>
                </a:cubicBezTo>
                <a:lnTo>
                  <a:pt x="9046" y="7353"/>
                </a:lnTo>
                <a:cubicBezTo>
                  <a:pt x="9046" y="7831"/>
                  <a:pt x="8949" y="8272"/>
                  <a:pt x="8755" y="8676"/>
                </a:cubicBezTo>
                <a:cubicBezTo>
                  <a:pt x="8561" y="9080"/>
                  <a:pt x="8301" y="9401"/>
                  <a:pt x="7975" y="9641"/>
                </a:cubicBezTo>
                <a:cubicBezTo>
                  <a:pt x="7647" y="9880"/>
                  <a:pt x="7290" y="10000"/>
                  <a:pt x="6903" y="10000"/>
                </a:cubicBezTo>
                <a:cubicBezTo>
                  <a:pt x="6516" y="10000"/>
                  <a:pt x="6159" y="9880"/>
                  <a:pt x="5832" y="9641"/>
                </a:cubicBezTo>
                <a:cubicBezTo>
                  <a:pt x="5505" y="9401"/>
                  <a:pt x="5245" y="9080"/>
                  <a:pt x="5051" y="8676"/>
                </a:cubicBezTo>
                <a:cubicBezTo>
                  <a:pt x="4857" y="8272"/>
                  <a:pt x="4761" y="7831"/>
                  <a:pt x="4761" y="7353"/>
                </a:cubicBezTo>
                <a:lnTo>
                  <a:pt x="4761" y="3235"/>
                </a:lnTo>
                <a:cubicBezTo>
                  <a:pt x="4761" y="2968"/>
                  <a:pt x="4707" y="2723"/>
                  <a:pt x="4599" y="2500"/>
                </a:cubicBezTo>
                <a:cubicBezTo>
                  <a:pt x="4491" y="2276"/>
                  <a:pt x="4346" y="2098"/>
                  <a:pt x="4166" y="1965"/>
                </a:cubicBezTo>
                <a:cubicBezTo>
                  <a:pt x="3984" y="1831"/>
                  <a:pt x="3786" y="1765"/>
                  <a:pt x="3571" y="1765"/>
                </a:cubicBezTo>
                <a:cubicBezTo>
                  <a:pt x="3355" y="1765"/>
                  <a:pt x="3156" y="1831"/>
                  <a:pt x="2976" y="1965"/>
                </a:cubicBezTo>
                <a:cubicBezTo>
                  <a:pt x="2794" y="2098"/>
                  <a:pt x="2650" y="2276"/>
                  <a:pt x="2542" y="2500"/>
                </a:cubicBezTo>
                <a:cubicBezTo>
                  <a:pt x="2434" y="2723"/>
                  <a:pt x="2380" y="2968"/>
                  <a:pt x="2380" y="3235"/>
                </a:cubicBezTo>
                <a:lnTo>
                  <a:pt x="2380" y="7059"/>
                </a:lnTo>
                <a:lnTo>
                  <a:pt x="3809" y="7059"/>
                </a:lnTo>
                <a:lnTo>
                  <a:pt x="1904" y="10000"/>
                </a:lnTo>
                <a:lnTo>
                  <a:pt x="0" y="7059"/>
                </a:lnTo>
                <a:moveTo>
                  <a:pt x="8570" y="2353"/>
                </a:moveTo>
                <a:cubicBezTo>
                  <a:pt x="8703" y="2353"/>
                  <a:pt x="8816" y="2296"/>
                  <a:pt x="8908" y="2182"/>
                </a:cubicBezTo>
                <a:cubicBezTo>
                  <a:pt x="9000" y="2068"/>
                  <a:pt x="9046" y="1929"/>
                  <a:pt x="9046" y="1765"/>
                </a:cubicBezTo>
                <a:cubicBezTo>
                  <a:pt x="9046" y="1600"/>
                  <a:pt x="9000" y="1461"/>
                  <a:pt x="8908" y="1347"/>
                </a:cubicBezTo>
                <a:cubicBezTo>
                  <a:pt x="8816" y="1233"/>
                  <a:pt x="8703" y="1176"/>
                  <a:pt x="8570" y="1176"/>
                </a:cubicBezTo>
                <a:cubicBezTo>
                  <a:pt x="8436" y="1176"/>
                  <a:pt x="8324" y="1233"/>
                  <a:pt x="8232" y="1347"/>
                </a:cubicBezTo>
                <a:cubicBezTo>
                  <a:pt x="8140" y="1461"/>
                  <a:pt x="8094" y="1600"/>
                  <a:pt x="8094" y="1765"/>
                </a:cubicBezTo>
                <a:cubicBezTo>
                  <a:pt x="8094" y="1929"/>
                  <a:pt x="8140" y="2068"/>
                  <a:pt x="8232" y="2182"/>
                </a:cubicBezTo>
                <a:cubicBezTo>
                  <a:pt x="8324" y="2296"/>
                  <a:pt x="8436" y="2353"/>
                  <a:pt x="8570" y="235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TextBox 32"/>
          <p:cNvSpPr txBox="1"/>
          <p:nvPr/>
        </p:nvSpPr>
        <p:spPr>
          <a:xfrm>
            <a:off x="6389677" y="5077718"/>
            <a:ext cx="514221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根本性挑战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389677" y="5382518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梯度裁剪只能治标不治本，梯度消失问题仍需从网络结构层面寻求突破，这催生了门控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0A1F3D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机制的设计思路</a:t>
            </a:r>
            <a:endParaRPr sz="1000" b="0" i="0" strike="noStrike">
              <a:solidFill>
                <a:srgbClr val="0A1F3D">
                  <a:alpha val="8000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389677" y="5890915"/>
            <a:ext cx="514221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TextBox 35"/>
          <p:cNvSpPr txBox="1"/>
          <p:nvPr/>
        </p:nvSpPr>
        <p:spPr>
          <a:xfrm>
            <a:off x="6389677" y="5967115"/>
            <a:ext cx="514221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门控机制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DDDD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BPTT Training Challenges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3342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RNN训练难题对比总结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249561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580880" y="1287661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梯度消失和梯度爆炸是RNN训练中互为镜像的两大难题，根源均在于BPTT的梯度连乘效应。梯度爆炸可通过裁剪技术有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效缓解，而梯度消失需要从网络架构层面引入门控机制等根本性解决方案。</a:t>
            </a:r>
            <a:endParaRPr sz="1600" b="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7086" y="2070498"/>
            <a:ext cx="1127478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梯度消失 vs 梯度爆炸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57086" y="2394346"/>
          <a:ext cx="11274781" cy="3730229"/>
        </p:xfrm>
        <a:graphic>
          <a:graphicData uri="http://schemas.openxmlformats.org/drawingml/2006/table">
            <a:tbl>
              <a:tblPr/>
              <a:tblGrid>
                <a:gridCol w="1574800"/>
                <a:gridCol w="4838700"/>
                <a:gridCol w="4838700"/>
              </a:tblGrid>
              <a:tr h="4445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对比维度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104775" marB="104775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梯度消失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104775" marB="104775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梯度爆炸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104775" marB="104775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产生条件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权重矩阵最大特征值 &lt; 1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权重矩阵最大特征值 &gt; 1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6477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表现形式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梯度指数衰减趋近于零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梯度指数增长趋向无穷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6477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对训练的影响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无法学习长距离依赖关系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参数更新发散、训练不稳定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6477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解决难度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困难，需改变网络结构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相对简单，梯度裁剪即可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647700">
                <a:tc>
                  <a:txBody>
                    <a:bodyPr rot="0" wrap="square"/>
                    <a:p>
                      <a:pPr algn="l">
                        <a:def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1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典型解决方案</a:t>
                      </a:r>
                      <a:endParaRPr sz="1200" b="1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门控机制（如后续LSTM架构）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200" b="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梯度裁剪 + 合理权重初始化</a:t>
                      </a:r>
                      <a:endParaRPr sz="1200" b="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52400" marR="152400" marT="95250" marB="95250" vert="horz" anchor="ctr" anchorCtr="0">
                    <a:lnL w="12700">
                      <a:solidFill>
                        <a:srgbClr val="C5CDD6">
                          <a:alpha val="100000"/>
                        </a:srgbClr>
                      </a:solidFill>
                    </a:lnL>
                    <a:lnR w="12700">
                      <a:solidFill>
                        <a:srgbClr val="C5CDD6">
                          <a:alpha val="100000"/>
                        </a:srgbClr>
                      </a:solidFill>
                    </a:lnR>
                    <a:lnT w="12700">
                      <a:solidFill>
                        <a:srgbClr val="C5CDD6">
                          <a:alpha val="100000"/>
                        </a:srgbClr>
                      </a:solidFill>
                    </a:lnT>
                    <a:lnB w="127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457086" y="6219825"/>
            <a:ext cx="1127478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A1F3D">
                    <a:alpha val="5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梯度消失和梯度爆炸同源于BPTT连乘效应，但梯度消失是RNN训练的真正瓶颈，直接推动了门控循环单元的设计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5154861" y="2373213"/>
            <a:ext cx="703409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1F3F5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Conclusion &amp; Outlook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2221001" y="2806601"/>
            <a:ext cx="7746948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总结与展望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65933" y="3865662"/>
            <a:ext cx="457086" cy="9525"/>
          </a:xfrm>
          <a:prstGeom prst="rect">
            <a:avLst/>
          </a:prstGeom>
          <a:solidFill>
            <a:srgbClr val="5B8CB8">
              <a:alpha val="8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1515659" y="4179987"/>
            <a:ext cx="9157635" cy="323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1F3F5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RNN奠定了序列建模的基础，其训练挑战推动了门控循环单元的持续演进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3728</Words>
  <Application>WPS 演示</Application>
  <PresentationFormat>On-screen Show (4:3)</PresentationFormat>
  <Paragraphs>407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Alibaba PuHuiTi 3.0 55 Regular</vt:lpstr>
      <vt:lpstr>Segoe Print</vt:lpstr>
      <vt:lpstr>FZYaYiHei GB18030L2 R</vt:lpstr>
      <vt:lpstr>Inter</vt:lpstr>
      <vt:lpstr>"FZYaYiHei GB18030L2 R", sans-serif</vt:lpstr>
      <vt:lpstr>Calibri</vt:lpstr>
      <vt:lpstr>微软雅黑</vt:lpstr>
      <vt:lpstr>Arial Unicode MS</vt:lpstr>
      <vt:lpstr>"FZYaYiHei GB18030L2 R", sans-serif</vt:lpstr>
      <vt:lpstr>Alibaba PuHuiTi 3.0 55 Regular</vt:lpstr>
      <vt:lpstr>Inter</vt:lpstr>
      <vt:lpstr>Oxford Regular</vt:lpstr>
      <vt:lpstr>方正雅意黑 GB18030L2 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熹微</cp:lastModifiedBy>
  <cp:revision>3</cp:revision>
  <dcterms:created xsi:type="dcterms:W3CDTF">2006-08-16T00:00:00Z</dcterms:created>
  <dcterms:modified xsi:type="dcterms:W3CDTF">2026-08-27T08:47:07Z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C6C3507151C645B9917595435BF51BAA_12</vt:lpwstr>
  </property>
</Properties>
</file>