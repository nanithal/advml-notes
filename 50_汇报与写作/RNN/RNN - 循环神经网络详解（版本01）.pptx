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</p:sldIdLst>
  <p:sldSz cx="12192000" cy="6858000"/>
  <p:notesSz cx="6858000" cy="9144000"/>
  <p:embeddedFontLst>
    <p:embeddedFont>
      <p:font typeface="Inter"/>
      <p:regular r:id="rId46"/>
      <p:bold r:id="rId47"/>
    </p:embeddedFont>
    <p:embeddedFont>
      <p:font typeface="FZYaYiHei GB18030L2 R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fonts/font1.fntdata" Type="http://schemas.openxmlformats.org/officeDocument/2006/relationships/font"/><Relationship Id="rId47" Target="fonts/font2.fntdata" Type="http://schemas.openxmlformats.org/officeDocument/2006/relationships/font"/><Relationship Id="rId48" Target="fonts/font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好，今天我们来深入讲解循环神经网络RNN。这是一种专门用来处理序列数据的神经网络，它让AI能够理解时间序列、自然语言这些有先后顺序的信息。接下来我会从基础概念讲起，逐步深入到LSTM和GRU等进阶结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本次课程分为四个部分：首先介绍RNN的基础概念和应用场景；然后分析RNN面临的梯度消失问题；接着深入讲解LSTM如何解决长期依赖难题；最后对比LSTM和GRU两种主流方案。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让我们先从RNN的基础概念开始，了解它为什么被设计出来，以及它的基本结构是什么样的。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传统的神经网络，比如我们常见的前馈网络，每次输入都是独立的，它没有办法记住之前看到过什么。但现实中很多数据是有时间顺序的，比如一句话里的词语、股票价格的走势、视频的连续帧。RNN就是为了解决这个问题而设计的，它通过循环连接让网络能够记住之前的信息，就像给神经网络装上了记忆功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让我们看看RNN内部是怎么工作的。在每个时间步t，RNN的隐藏状态ht由两部分决定：当前输入xt和上一时刻的隐藏状态h(t-1)。这两个信号分别经过权重矩阵变换后相加，再通过tanh激活函数，得到当前时刻的隐藏状态。这个隐藏状态就像是网络的'记忆'，它会把之前学到的信息传递给下一个时间步。公式里的Wxh是输入到隐藏层的权重，Whh是隐藏层到自身的循环权重，这个循环权重就是RNN能够记忆的关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RNN在很多领域都有重要应用。最典型的就是自然语言处理，比如文本生成——你给它一个开头，它能一个字一个字地生成完整的句子或文章。Andrej Karpathy曾经展示过RNN可以学会写莎士比亚风格的诗歌、生成看起来像模像样的代码。在机器翻译中，RNN能够理解源语言的句子结构，然后生成目标语言的翻译。此外，RNN还广泛用于语音识别、股票预测、天气预报等需要处理时间序列数据的场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了解了RNN的基本原理后，我们来看它面临的主要挑战。虽然RNN的设计很优雅，但在实际训练中却遇到了一些棘手的问题，这些问题直接限制了它的能力上限。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在训练时使用BPTT算法，也就是沿时间反向传播。问题在于，梯度在反向传播过程中需要连续乘以循环权重矩阵。如果这个矩阵的特征值小于1，梯度就会像滚雪球一样越来越小，经过多步之后几乎变成零。这意味着网络无法学习到长距离的依赖关系。举个例子，'我出生在中国，在那里度过了美好的童年，后来去了美国读大学……所以我从小就会说中文'，RNN很难把开头的'中国'和结尾的'中文'联系起来，因为中间隔了太多内容，梯度早就消失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与梯度消失相对的是梯度爆炸问题。当循环权重矩阵的特征值大于1时，梯度会指数级增长，导致参数更新幅度过大，训练变得不稳定，甚至出现NaN错误。梯度爆炸相对容易处理，常用的方法是梯度裁剪——设定一个阈值，当梯度范数超过阈值时就按比例缩放。但梯度消失问题更棘手，简单的裁剪无法解决。这就促使研究者思考：能否设计一种新的循环单元结构，让信息能够更稳定地长距离传播？这就是LSTM诞生的动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现在让我们进入本次课程的核心内容——LSTM长短期记忆网络。这是Hochreiter和Schmidhuber在1997年提出的革命性设计，它巧妙地解决了RNN的长期依赖问题，至今仍是处理序列数据的主流选择之一。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LSTM诞生于1997年，由Sepp Hochreiter和Jürgen Schmidhuber提出。他们的核心洞察是：与其让信息在循环连接中不断被非线性变换，不如设计一条'信息高速公路'——细胞状态。这条高速公路上的信息流动是线性的，梯度可以几乎无损地长距离传播。而细胞状态的更新则通过精心设计的门控机制来控制，决定什么时候该记住、什么时候该遗忘。这个设计思路非常优雅，它既保留了循环结构的时序建模能力，又解决了梯度消失的顽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让我们来看看LSTM单元的整体结构。左边是输入：当前时刻的输入xt和上一时刻的隐藏状态h(t-1)，还有上一时刻的细胞状态C(t-1)。右边是输出：当前时刻的隐藏状态ht和细胞状态Ct。内部的三个门各司其职：遗忘门决定从细胞状态中丢弃哪些旧信息，输入门决定写入哪些新信息，输出门决定从细胞状态中读取哪些信息作为输出。这三个门都使用sigmoid函数，输出0到1之间的值，实现信息的软选择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遗忘门是LSTM的第一个门控，它的作用是让网络学会'忘记'不重要的信息。具体来说，遗忘门将上一时刻的隐藏状态h(t-1)和当前输入xt拼接后，通过一个sigmoid层，输出一个0到1之间的向量ft。这个向量的每个元素对应细胞状态的一个维度，值接近0表示'完全遗忘'，接近1表示'完全保留'。比如，在处理文本时，当遇到新的主语，网络可能会选择遗忘之前主语的相关信息。这种选择性遗忘机制让LSTM能够动态管理有限的记忆容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输入门负责决定往细胞状态中写入哪些新信息。这个过程分两步：首先，sigmoid层输出输入门向量it，决定哪些维度需要更新；同时，tanh层生成候选值向量，这是可能要写入的新信息。然后，将it和候选值逐元素相乘，只保留那些被选中的候选值。最后，将这个结果加到细胞状态上，完成信息的写入。这个设计很巧妙：sigmoid决定'写不写'，tanh决定'写什么'，两者配合实现精确的信息更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输出门是LSTM的最后一道关卡，它决定从细胞状态中读取哪些信息作为当前时刻的输出。输出门同样使用sigmoid函数生成门控向量ot，然后将细胞状态Ct通过tanh函数压缩到(-1,1)区间，再与ot逐元素相乘，得到最终的隐藏状态ht。这个隐藏状态有两重作用：一方面作为当前时刻的输出传递给下游任务，另一方面传递给下一时间步参与后续计算。通过输出门的控制，LSTM可以选择性地展示细胞状态中的部分信息，而不必全部暴露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最后我们来聊聊GRU，这是LSTM的一个简化变体，以及两者的对比。GRU在保持性能的同时减少了计算复杂度，是很多实际场景的优选方案。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GRU，全称门控循环单元，是Cho等人在2014年提出的。它的核心思想是简化LSTM的结构：把遗忘门和输入门合并成一个更新门，把细胞状态和隐藏状态也合并成一个。这样，GRU只有两个门——重置门和更新门，参数数量比LSTM少了约三分之一。重置门决定如何将新输入与之前的记忆结合，更新门决定保留多少过去的记忆。虽然结构简化了，但GRU在很多任务上的表现与LSTM相当，而且训练速度更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张表格总结了LSTM和GRU的主要区别。从结构上看，LSTM有三个门和独立的细胞状态，GRU只有两个门和单一隐藏状态。参数量方面，GRU比LSTM少约25-30%，这意味着更快的训练速度和更低的内存占用。在性能上，两者在大多数任务上表现相当，没有绝对的优劣。一般来说，如果数据集很大、序列很长，LSTM可能略占优势；如果追求训练效率或模型轻量化，GRU是更好的选择。实际应用中，建议两者都尝试，通过实验结果来决定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我们系统学习了RNN及其改进方案。从基础的RNN结构，到梯度消失问题的分析，再到LSTM和GRU的详细解读。总结一下关键要点：RNN通过循环连接实现序列建模，但面临梯度消失问题；LSTM通过门控机制和细胞状态有效解决了长期依赖问题；GRU是LSTM的简化版本，在性能和效率之间取得了良好平衡。在实际项目中，建议根据任务复杂度、数据规模和计算资源来选择合适的模型。感谢大家的聆听，欢迎提问讨论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-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364264" y="2750939"/>
            <a:ext cx="946042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RNN循环神经网络详解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523494" y="3771900"/>
            <a:ext cx="7141964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从序列建模到深度记忆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258142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295289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4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课程目录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3825329"/>
            <a:ext cx="4507323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从基础概念到核心架构，系统掌握循环神经网络的关键原理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与演进脉络。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RNN基础概念与结构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5421494" y="30155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RNN的核心困境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5421494" y="429949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LSTM长短期记忆网络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5421494" y="558343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GRU与模型对比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5619684" y="2558951"/>
            <a:ext cx="656926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529497" y="2992338"/>
            <a:ext cx="9129960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RNN基础概念与结构</a:t>
            </a:r>
            <a:endParaRPr lang="en-US" sz="1100"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2142589" y="4013299"/>
            <a:ext cx="790377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理解循环连接如何让神经网络具备记忆能力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DEEP LEARNING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什么是循环神经网络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3716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循环神经网络（RNN）是一种专门处理序列数据的神经网络架构，通过引入循环连接机制，使网络能够维护内部状态并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捕获时间序列中的前后依赖关系。</a:t>
            </a:r>
            <a:endParaRPr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609448" y="2341066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940805" y="2350591"/>
            <a:ext cx="576311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序列数据的本质特征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940805" y="2610147"/>
            <a:ext cx="576311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数据元素之间存在明确的时序依赖关系，如文本中的词语顺序、时间序列中的前后关联、语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音信号的连续波形</a:t>
            </a:r>
            <a:endParaRPr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609448" y="3527673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940805" y="3537198"/>
            <a:ext cx="499937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传统神经网络的局限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940805" y="3796754"/>
            <a:ext cx="503746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标准前馈网络假设输入相互独立，无法建模序列内部的时序模式和长期依赖关系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09448" y="4603552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940805" y="4613077"/>
            <a:ext cx="485653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 的核心创新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940805" y="4872633"/>
            <a:ext cx="489462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引入隐藏状态的循环传递机制，使网络在每个时间步都能访问之前积累的信息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609448" y="5679430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940805" y="5688955"/>
            <a:ext cx="414233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信息流动的链条结构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940805" y="5948511"/>
            <a:ext cx="418043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将同一网络模块沿时间轴展开，形成从过去到未来的信息传递链条</a:t>
            </a:r>
            <a:endParaRPr lang="en-US" sz="1100"/>
          </a:p>
        </p:txBody>
      </p:sp>
      <p:pic>
        <p:nvPicPr>
          <p:cNvPr id="19" name="Picture 19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7161009" y="2954536"/>
            <a:ext cx="4570857" cy="24288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0" name="TextBox 20"/>
          <p:cNvSpPr txBox="true"/>
          <p:nvPr/>
        </p:nvSpPr>
        <p:spPr>
          <a:xfrm flipH="false" flipV="false" rot="0">
            <a:off x="7161009" y="5469136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 基本结构：输入层、隐藏层循环连接与输出层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3619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6000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7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RNN的内部计算机制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097161"/>
            <a:ext cx="9522" cy="60751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125736"/>
            <a:ext cx="11608072" cy="54188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RNN在每个时间步将当前输入与历史隐藏状态融合计算，通过循环权重矩阵Whh实现信息的跨时间步传递，隐藏状态ht既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是当前时刻的输出表示，也是传递给下一时刻的记忆载体。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1838028"/>
            <a:ext cx="3268044" cy="233853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1838028"/>
            <a:ext cx="326804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589361" y="1999953"/>
            <a:ext cx="266633" cy="266700"/>
          </a:xfrm>
          <a:custGeom>
            <a:rect b="b" l="l" r="r" t="t"/>
            <a:pathLst>
              <a:path h="10000" w="9998">
                <a:moveTo>
                  <a:pt x="2230" y="2110"/>
                </a:moveTo>
                <a:lnTo>
                  <a:pt x="1730" y="1220"/>
                </a:lnTo>
                <a:cubicBezTo>
                  <a:pt x="2176" y="833"/>
                  <a:pt x="2676" y="533"/>
                  <a:pt x="3229" y="320"/>
                </a:cubicBezTo>
                <a:cubicBezTo>
                  <a:pt x="3795" y="106"/>
                  <a:pt x="4385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526"/>
                  <a:pt x="9918" y="6036"/>
                  <a:pt x="9758" y="6530"/>
                </a:cubicBezTo>
                <a:cubicBezTo>
                  <a:pt x="9604" y="7010"/>
                  <a:pt x="9381" y="7456"/>
                  <a:pt x="9088" y="7870"/>
                </a:cubicBezTo>
                <a:lnTo>
                  <a:pt x="7498" y="5000"/>
                </a:ln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472" y="1000"/>
                  <a:pt x="3965" y="1100"/>
                  <a:pt x="3479" y="1300"/>
                </a:cubicBezTo>
                <a:cubicBezTo>
                  <a:pt x="3012" y="1493"/>
                  <a:pt x="2596" y="1763"/>
                  <a:pt x="2230" y="2110"/>
                </a:cubicBezTo>
                <a:moveTo>
                  <a:pt x="7768" y="7890"/>
                </a:moveTo>
                <a:lnTo>
                  <a:pt x="8268" y="8780"/>
                </a:lnTo>
                <a:cubicBezTo>
                  <a:pt x="7821" y="9166"/>
                  <a:pt x="7321" y="9466"/>
                  <a:pt x="6769" y="9680"/>
                </a:cubicBezTo>
                <a:cubicBezTo>
                  <a:pt x="6202" y="9893"/>
                  <a:pt x="5612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473"/>
                  <a:pt x="80" y="3963"/>
                  <a:pt x="240" y="3470"/>
                </a:cubicBezTo>
                <a:cubicBezTo>
                  <a:pt x="393" y="2990"/>
                  <a:pt x="616" y="2543"/>
                  <a:pt x="910" y="2130"/>
                </a:cubicBezTo>
                <a:lnTo>
                  <a:pt x="2499" y="5000"/>
                </a:ln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525" y="9000"/>
                  <a:pt x="6032" y="8900"/>
                  <a:pt x="6519" y="8700"/>
                </a:cubicBezTo>
                <a:cubicBezTo>
                  <a:pt x="6985" y="8506"/>
                  <a:pt x="7402" y="8236"/>
                  <a:pt x="7768" y="78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921611" y="2011859"/>
            <a:ext cx="173311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隐藏状态更新公式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18970" y="2342853"/>
            <a:ext cx="3106160" cy="377427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= tanh(W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xh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·x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+ 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·h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+ b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)，W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xh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为输入权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重、W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为循环权重、b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为偏置项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18970" y="3742284"/>
            <a:ext cx="2944275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618970" y="3828009"/>
            <a:ext cx="2944275" cy="21312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W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xh</a:t>
            </a:r>
            <a:r>
              <a:rPr b="false" i="false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 · W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hh</a:t>
            </a:r>
            <a:r>
              <a:rPr b="false" i="false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 · b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3839400" y="1838028"/>
            <a:ext cx="3268193" cy="233853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3839400" y="1838028"/>
            <a:ext cx="326819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3971676" y="1999953"/>
            <a:ext cx="266633" cy="266700"/>
          </a:xfrm>
          <a:custGeom>
            <a:rect b="b" l="l" r="r" t="t"/>
            <a:pathLst>
              <a:path h="10000" w="9998">
                <a:moveTo>
                  <a:pt x="9050" y="6104"/>
                </a:moveTo>
                <a:lnTo>
                  <a:pt x="8311" y="6844"/>
                </a:lnTo>
                <a:lnTo>
                  <a:pt x="7571" y="6104"/>
                </a:ln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3895" y="2427"/>
                </a:lnTo>
                <a:lnTo>
                  <a:pt x="3156" y="1688"/>
                </a:ln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  <a:moveTo>
                  <a:pt x="6103" y="7573"/>
                </a:moveTo>
                <a:lnTo>
                  <a:pt x="6842" y="8313"/>
                </a:ln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3156"/>
                </a:lnTo>
                <a:lnTo>
                  <a:pt x="2427" y="3896"/>
                </a:ln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6103" y="7573"/>
                </a:lnTo>
                <a:moveTo>
                  <a:pt x="2791" y="6469"/>
                </a:moveTo>
                <a:lnTo>
                  <a:pt x="6467" y="2792"/>
                </a:lnTo>
                <a:lnTo>
                  <a:pt x="7207" y="3531"/>
                </a:lnTo>
                <a:lnTo>
                  <a:pt x="3531" y="720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4303926" y="2011859"/>
            <a:ext cx="194261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循环权重的核心作用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4001285" y="2342853"/>
            <a:ext cx="3106308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hh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使上一时刻隐藏状态影响当前计算，形成信息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的时序传递链条</a:t>
            </a:r>
            <a:endParaRPr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001285" y="3742284"/>
            <a:ext cx="2944424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4001285" y="3828009"/>
            <a:ext cx="2944424" cy="21312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W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hh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flipH="false" flipV="false" rot="0">
            <a:off x="457086" y="4290864"/>
            <a:ext cx="3268044" cy="233853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457086" y="4290864"/>
            <a:ext cx="326804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589361" y="4452789"/>
            <a:ext cx="266633" cy="266700"/>
          </a:xfrm>
          <a:custGeom>
            <a:rect b="b" l="l" r="r" t="t"/>
            <a:pathLst>
              <a:path h="10000" w="9998">
                <a:moveTo>
                  <a:pt x="8998" y="1111"/>
                </a:moveTo>
                <a:lnTo>
                  <a:pt x="1000" y="1111"/>
                </a:lnTo>
                <a:lnTo>
                  <a:pt x="1000" y="8889"/>
                </a:lnTo>
                <a:lnTo>
                  <a:pt x="8998" y="8889"/>
                </a:lnTo>
                <a:lnTo>
                  <a:pt x="8998" y="1111"/>
                </a:lnTo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6499" y="3333"/>
                </a:moveTo>
                <a:lnTo>
                  <a:pt x="6499" y="2222"/>
                </a:lnTo>
                <a:lnTo>
                  <a:pt x="8248" y="3889"/>
                </a:lnTo>
                <a:lnTo>
                  <a:pt x="6499" y="5556"/>
                </a:lnTo>
                <a:lnTo>
                  <a:pt x="6499" y="4444"/>
                </a:lnTo>
                <a:lnTo>
                  <a:pt x="4499" y="4444"/>
                </a:lnTo>
                <a:lnTo>
                  <a:pt x="4499" y="3333"/>
                </a:lnTo>
                <a:lnTo>
                  <a:pt x="6499" y="3333"/>
                </a:lnTo>
                <a:moveTo>
                  <a:pt x="3499" y="6667"/>
                </a:moveTo>
                <a:lnTo>
                  <a:pt x="3499" y="7778"/>
                </a:lnTo>
                <a:lnTo>
                  <a:pt x="1750" y="6111"/>
                </a:lnTo>
                <a:lnTo>
                  <a:pt x="3499" y="4444"/>
                </a:lnTo>
                <a:lnTo>
                  <a:pt x="3499" y="5556"/>
                </a:lnTo>
                <a:lnTo>
                  <a:pt x="5499" y="5556"/>
                </a:lnTo>
                <a:lnTo>
                  <a:pt x="5499" y="6667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921611" y="4464695"/>
            <a:ext cx="130296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激活函数tanh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618970" y="4795689"/>
            <a:ext cx="3106160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将隐藏状态约束在(-1,1)区间，防止数值在多次循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环后无限增长或衰减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18970" y="6195120"/>
            <a:ext cx="2944275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618970" y="6280845"/>
            <a:ext cx="294427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(-1, 1)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 flipH="false" flipV="false" rot="0">
            <a:off x="3839400" y="4290864"/>
            <a:ext cx="3268193" cy="233853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 flipH="false" flipV="false" rot="0">
            <a:off x="3839400" y="4290864"/>
            <a:ext cx="326819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 flipH="false" flipV="false" rot="0">
            <a:off x="3971676" y="4452789"/>
            <a:ext cx="266633" cy="266700"/>
          </a:xfrm>
          <a:custGeom>
            <a:rect b="b" l="l" r="r" t="t"/>
            <a:pathLst>
              <a:path h="10000" w="9998">
                <a:moveTo>
                  <a:pt x="1000" y="5000"/>
                </a:moveTo>
                <a:lnTo>
                  <a:pt x="1000" y="8889"/>
                </a:lnTo>
                <a:lnTo>
                  <a:pt x="8998" y="8889"/>
                </a:lnTo>
                <a:lnTo>
                  <a:pt x="8998" y="5000"/>
                </a:lnTo>
                <a:lnTo>
                  <a:pt x="9998" y="5000"/>
                </a:ln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000"/>
                </a:lnTo>
                <a:lnTo>
                  <a:pt x="1000" y="5000"/>
                </a:lnTo>
                <a:moveTo>
                  <a:pt x="7998" y="3333"/>
                </a:moveTo>
                <a:lnTo>
                  <a:pt x="5499" y="3333"/>
                </a:lnTo>
                <a:lnTo>
                  <a:pt x="5499" y="7222"/>
                </a:lnTo>
                <a:lnTo>
                  <a:pt x="4499" y="7222"/>
                </a:lnTo>
                <a:lnTo>
                  <a:pt x="4499" y="3333"/>
                </a:lnTo>
                <a:lnTo>
                  <a:pt x="2000" y="3333"/>
                </a:lnTo>
                <a:lnTo>
                  <a:pt x="4999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true"/>
          <p:nvPr/>
        </p:nvSpPr>
        <p:spPr>
          <a:xfrm flipH="false" flipV="false" rot="0">
            <a:off x="4303926" y="4464695"/>
            <a:ext cx="110462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输出层计算</a:t>
            </a:r>
            <a:endParaRPr lang="en-US" sz="1100"/>
          </a:p>
        </p:txBody>
      </p:sp>
      <p:sp>
        <p:nvSpPr>
          <p:cNvPr id="32" name="TextBox 32"/>
          <p:cNvSpPr txBox="true"/>
          <p:nvPr/>
        </p:nvSpPr>
        <p:spPr>
          <a:xfrm flipH="false" flipV="false" rot="0">
            <a:off x="4001285" y="4795689"/>
            <a:ext cx="3106308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y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= W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hy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·h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+ b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y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，将隐藏状态映射到输出空间，完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成预测或分类</a:t>
            </a:r>
            <a:endParaRPr/>
          </a:p>
        </p:txBody>
      </p:sp>
      <p:sp>
        <p:nvSpPr>
          <p:cNvPr id="33" name="AutoShape 33"/>
          <p:cNvSpPr/>
          <p:nvPr/>
        </p:nvSpPr>
        <p:spPr>
          <a:xfrm flipH="false" flipV="false" rot="0">
            <a:off x="4001285" y="6195120"/>
            <a:ext cx="2944424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true"/>
          <p:nvPr/>
        </p:nvSpPr>
        <p:spPr>
          <a:xfrm flipH="false" flipV="false" rot="0">
            <a:off x="4001285" y="6280845"/>
            <a:ext cx="2944424" cy="21312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y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</a:t>
            </a:r>
            <a:r>
              <a:rPr b="false" i="false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 = W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hy</a:t>
            </a:r>
            <a:r>
              <a:rPr b="false" i="false" strike="noStrike" sz="13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·h</a:t>
            </a:r>
            <a:r>
              <a:rPr b="false" i="false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 flipH="false" flipV="false" rot="0">
            <a:off x="7298046" y="1838028"/>
            <a:ext cx="4433820" cy="479137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AutoShape 36"/>
          <p:cNvSpPr/>
          <p:nvPr/>
        </p:nvSpPr>
        <p:spPr>
          <a:xfrm flipH="false" flipV="false" rot="0">
            <a:off x="7298046" y="1838028"/>
            <a:ext cx="443382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Box 37"/>
          <p:cNvSpPr txBox="true"/>
          <p:nvPr/>
        </p:nvSpPr>
        <p:spPr>
          <a:xfrm flipH="false" flipV="false" rot="0">
            <a:off x="7555156" y="2028528"/>
            <a:ext cx="160307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RNN时序展开结构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 flipH="false" flipV="false" rot="0">
            <a:off x="7459930" y="2371428"/>
            <a:ext cx="4110051" cy="639961"/>
          </a:xfrm>
          <a:prstGeom prst="roundRect">
            <a:avLst>
              <a:gd fmla="val 12760" name="adj"/>
            </a:avLst>
          </a:prstGeom>
          <a:solidFill>
            <a:srgbClr val="5B8CB8">
              <a:alpha val="9019"/>
            </a:srgbClr>
          </a:solidFill>
          <a:ln>
            <a:headEnd type="none"/>
            <a:tailEnd type="none"/>
          </a:ln>
        </p:spPr>
      </p:sp>
      <p:sp>
        <p:nvSpPr>
          <p:cNvPr id="39" name="TextBox 39"/>
          <p:cNvSpPr txBox="true"/>
          <p:nvPr/>
        </p:nvSpPr>
        <p:spPr>
          <a:xfrm flipH="false" flipV="false" rot="0">
            <a:off x="7574201" y="2495253"/>
            <a:ext cx="388150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t-1</a:t>
            </a:r>
            <a:endParaRPr lang="en-US" sz="1100"/>
          </a:p>
        </p:txBody>
      </p:sp>
      <p:sp>
        <p:nvSpPr>
          <p:cNvPr id="40" name="TextBox 40"/>
          <p:cNvSpPr txBox="true"/>
          <p:nvPr/>
        </p:nvSpPr>
        <p:spPr>
          <a:xfrm flipH="false" flipV="false" rot="0">
            <a:off x="7574201" y="2737098"/>
            <a:ext cx="3881509" cy="16609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 x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隐藏状态 h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输出 y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 flipH="false" flipV="false" rot="0">
            <a:off x="7459930" y="3106638"/>
            <a:ext cx="4110051" cy="659011"/>
          </a:xfrm>
          <a:prstGeom prst="roundRect">
            <a:avLst>
              <a:gd fmla="val 12033" name="adj"/>
            </a:avLst>
          </a:prstGeom>
          <a:solidFill>
            <a:srgbClr val="5B8CB8">
              <a:alpha val="12941"/>
            </a:srgbClr>
          </a:solidFill>
          <a:ln w="9525">
            <a:solidFill>
              <a:srgbClr val="5B8CB8">
                <a:alpha val="90196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Box 42"/>
          <p:cNvSpPr txBox="true"/>
          <p:nvPr/>
        </p:nvSpPr>
        <p:spPr>
          <a:xfrm flipH="false" flipV="false" rot="0">
            <a:off x="7583724" y="3239988"/>
            <a:ext cx="386246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</a:t>
            </a:r>
            <a:endParaRPr lang="en-US" sz="1100"/>
          </a:p>
        </p:txBody>
      </p:sp>
      <p:sp>
        <p:nvSpPr>
          <p:cNvPr id="43" name="TextBox 43"/>
          <p:cNvSpPr txBox="true"/>
          <p:nvPr/>
        </p:nvSpPr>
        <p:spPr>
          <a:xfrm flipH="false" flipV="false" rot="0">
            <a:off x="7583724" y="3481835"/>
            <a:ext cx="3862464" cy="16609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 x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+ 历史 h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隐藏状态 h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输出 y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 flipH="false" flipV="false" rot="0">
            <a:off x="7459930" y="3860899"/>
            <a:ext cx="4110051" cy="639961"/>
          </a:xfrm>
          <a:prstGeom prst="roundRect">
            <a:avLst>
              <a:gd fmla="val 12760" name="adj"/>
            </a:avLst>
          </a:prstGeom>
          <a:solidFill>
            <a:srgbClr val="5B8CB8">
              <a:alpha val="9019"/>
            </a:srgbClr>
          </a:solidFill>
          <a:ln>
            <a:headEnd type="none"/>
            <a:tailEnd type="none"/>
          </a:ln>
        </p:spPr>
      </p:sp>
      <p:sp>
        <p:nvSpPr>
          <p:cNvPr id="45" name="TextBox 45"/>
          <p:cNvSpPr txBox="true"/>
          <p:nvPr/>
        </p:nvSpPr>
        <p:spPr>
          <a:xfrm flipH="false" flipV="false" rot="0">
            <a:off x="7574201" y="3984724"/>
            <a:ext cx="388150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t+1</a:t>
            </a:r>
            <a:endParaRPr lang="en-US" sz="1100"/>
          </a:p>
        </p:txBody>
      </p:sp>
      <p:sp>
        <p:nvSpPr>
          <p:cNvPr id="46" name="TextBox 46"/>
          <p:cNvSpPr txBox="true"/>
          <p:nvPr/>
        </p:nvSpPr>
        <p:spPr>
          <a:xfrm flipH="false" flipV="false" rot="0">
            <a:off x="7574201" y="4226570"/>
            <a:ext cx="3881509" cy="16609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 x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t+1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+ 历史 h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隐藏状态 h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t+1</a:t>
            </a:r>
            <a:r>
              <a: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→ 输出 y</a:t>
            </a:r>
            <a:r>
              <a:rPr b="false" i="false" strike="noStrike" sz="7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t+1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 flipH="false" flipV="false" rot="0">
            <a:off x="7459930" y="6177707"/>
            <a:ext cx="4110051" cy="9525"/>
          </a:xfrm>
          <a:prstGeom prst="line">
            <a:avLst/>
          </a:prstGeom>
          <a:ln w="9525">
            <a:solidFill>
              <a:srgbClr val="C5CDD6">
                <a:alpha val="63137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AutoShape 48"/>
          <p:cNvSpPr/>
          <p:nvPr/>
        </p:nvSpPr>
        <p:spPr>
          <a:xfrm flipH="false" flipV="false" rot="0">
            <a:off x="7447283" y="6313289"/>
            <a:ext cx="114271" cy="114300"/>
          </a:xfrm>
          <a:custGeom>
            <a:rect b="b" l="l" r="r" t="t"/>
            <a:pathLst>
              <a:path h="10000" w="9998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9" name="TextBox 49"/>
          <p:cNvSpPr txBox="true"/>
          <p:nvPr/>
        </p:nvSpPr>
        <p:spPr>
          <a:xfrm flipH="false" flipV="false" rot="0">
            <a:off x="7586998" y="6301532"/>
            <a:ext cx="3982984" cy="14525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隐藏状态 h</a:t>
            </a:r>
            <a:r>
              <a:rPr b="false" i="false" strike="noStrike" sz="6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通过 W</a:t>
            </a:r>
            <a:r>
              <a:rPr b="false" i="false" strike="noStrike" sz="6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hh</a:t>
            </a:r>
            <a:r>
              <a:rPr b="false" i="false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向未来时间步传递信息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APPLICATION SCENARIOS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RNN的典型应用场景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2763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80880" y="13144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RNN凭借其序列建模能力，在自然语言处理、语音识别、时间序列预测等领域展现出强大潜力，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能够完成文本生成、机器翻译、情感分析等复杂任务，是早期深度学习在序列问题上的重要突破。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116336"/>
            <a:ext cx="5551687" cy="2056507"/>
          </a:xfrm>
          <a:prstGeom prst="rect">
            <a:avLst/>
          </a:prstGeom>
          <a:solidFill>
            <a:srgbClr val="E6E9EE">
              <a:alpha val="100000"/>
            </a:srgbClr>
          </a:solidFill>
          <a:ln w="9525">
            <a:solidFill>
              <a:srgbClr val="C8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116336"/>
            <a:ext cx="555168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665542" y="2583656"/>
            <a:ext cx="266633" cy="266700"/>
          </a:xfrm>
          <a:custGeom>
            <a:rect b="b" l="l" r="r" t="t"/>
            <a:pathLst>
              <a:path h="10000" w="9998">
                <a:moveTo>
                  <a:pt x="6665" y="0"/>
                </a:moveTo>
                <a:lnTo>
                  <a:pt x="9998" y="3000"/>
                </a:ln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lnTo>
                  <a:pt x="6665" y="0"/>
                </a:lnTo>
                <a:moveTo>
                  <a:pt x="8887" y="9000"/>
                </a:moveTo>
                <a:lnTo>
                  <a:pt x="8887" y="3500"/>
                </a:lnTo>
                <a:lnTo>
                  <a:pt x="6110" y="3500"/>
                </a:lnTo>
                <a:lnTo>
                  <a:pt x="6110" y="1000"/>
                </a:lnTo>
                <a:lnTo>
                  <a:pt x="1111" y="1000"/>
                </a:lnTo>
                <a:lnTo>
                  <a:pt x="1111" y="9000"/>
                </a:lnTo>
                <a:lnTo>
                  <a:pt x="8887" y="9000"/>
                </a:lnTo>
                <a:moveTo>
                  <a:pt x="2777" y="3500"/>
                </a:moveTo>
                <a:lnTo>
                  <a:pt x="2777" y="2500"/>
                </a:lnTo>
                <a:lnTo>
                  <a:pt x="4444" y="2500"/>
                </a:lnTo>
                <a:lnTo>
                  <a:pt x="4444" y="3500"/>
                </a:lnTo>
                <a:lnTo>
                  <a:pt x="2777" y="3500"/>
                </a:lnTo>
                <a:moveTo>
                  <a:pt x="2777" y="5500"/>
                </a:moveTo>
                <a:lnTo>
                  <a:pt x="2777" y="4500"/>
                </a:lnTo>
                <a:lnTo>
                  <a:pt x="7221" y="4500"/>
                </a:lnTo>
                <a:lnTo>
                  <a:pt x="7221" y="5500"/>
                </a:lnTo>
                <a:lnTo>
                  <a:pt x="2777" y="5500"/>
                </a:lnTo>
                <a:moveTo>
                  <a:pt x="2777" y="7500"/>
                </a:moveTo>
                <a:lnTo>
                  <a:pt x="2777" y="6500"/>
                </a:lnTo>
                <a:lnTo>
                  <a:pt x="7221" y="6500"/>
                </a:lnTo>
                <a:lnTo>
                  <a:pt x="7221" y="7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1035882" y="2564606"/>
            <a:ext cx="473482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文本生成与语言建模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1035882" y="2960787"/>
            <a:ext cx="47348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RNN能够学习字符或词语的序列模式，生成连贯的文本内容，如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Karpathy展示的莎士比亚风格诗歌生成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1035882" y="3553122"/>
            <a:ext cx="473482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LANGUAGE MODEL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180179" y="2116336"/>
            <a:ext cx="5551687" cy="2056507"/>
          </a:xfrm>
          <a:prstGeom prst="rect">
            <a:avLst/>
          </a:prstGeom>
          <a:solidFill>
            <a:srgbClr val="E6E9EE">
              <a:alpha val="100000"/>
            </a:srgbClr>
          </a:solidFill>
          <a:ln w="9525">
            <a:solidFill>
              <a:srgbClr val="C8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180179" y="2116336"/>
            <a:ext cx="555168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6388636" y="2583656"/>
            <a:ext cx="266633" cy="266700"/>
          </a:xfrm>
          <a:custGeom>
            <a:rect b="b" l="l" r="r" t="t"/>
            <a:pathLst>
              <a:path h="10000" w="9998">
                <a:moveTo>
                  <a:pt x="6936" y="4211"/>
                </a:moveTo>
                <a:lnTo>
                  <a:pt x="7893" y="4211"/>
                </a:lnTo>
                <a:lnTo>
                  <a:pt x="9998" y="10000"/>
                </a:lnTo>
                <a:lnTo>
                  <a:pt x="8965" y="10000"/>
                </a:lnTo>
                <a:lnTo>
                  <a:pt x="8391" y="8421"/>
                </a:lnTo>
                <a:lnTo>
                  <a:pt x="6429" y="8421"/>
                </a:lnTo>
                <a:lnTo>
                  <a:pt x="5855" y="10000"/>
                </a:lnTo>
                <a:lnTo>
                  <a:pt x="4832" y="10000"/>
                </a:lnTo>
                <a:lnTo>
                  <a:pt x="6936" y="4211"/>
                </a:lnTo>
                <a:moveTo>
                  <a:pt x="2870" y="0"/>
                </a:moveTo>
                <a:lnTo>
                  <a:pt x="3827" y="0"/>
                </a:lnTo>
                <a:lnTo>
                  <a:pt x="3827" y="1053"/>
                </a:lnTo>
                <a:lnTo>
                  <a:pt x="6697" y="1053"/>
                </a:lnTo>
                <a:lnTo>
                  <a:pt x="6697" y="2105"/>
                </a:lnTo>
                <a:lnTo>
                  <a:pt x="5750" y="2105"/>
                </a:lnTo>
                <a:cubicBezTo>
                  <a:pt x="5374" y="3347"/>
                  <a:pt x="4796" y="4452"/>
                  <a:pt x="4018" y="5421"/>
                </a:cubicBezTo>
                <a:cubicBezTo>
                  <a:pt x="4362" y="5765"/>
                  <a:pt x="4736" y="6063"/>
                  <a:pt x="5138" y="6316"/>
                </a:cubicBezTo>
                <a:lnTo>
                  <a:pt x="4774" y="7305"/>
                </a:lnTo>
                <a:cubicBezTo>
                  <a:pt x="4264" y="6989"/>
                  <a:pt x="3785" y="6610"/>
                  <a:pt x="3339" y="6168"/>
                </a:cubicBezTo>
                <a:cubicBezTo>
                  <a:pt x="2465" y="7038"/>
                  <a:pt x="1476" y="7663"/>
                  <a:pt x="373" y="8042"/>
                </a:cubicBezTo>
                <a:lnTo>
                  <a:pt x="124" y="7021"/>
                </a:lnTo>
                <a:cubicBezTo>
                  <a:pt x="1062" y="6698"/>
                  <a:pt x="1910" y="6165"/>
                  <a:pt x="2669" y="5421"/>
                </a:cubicBezTo>
                <a:cubicBezTo>
                  <a:pt x="2121" y="4740"/>
                  <a:pt x="1671" y="3986"/>
                  <a:pt x="1320" y="3158"/>
                </a:cubicBezTo>
                <a:lnTo>
                  <a:pt x="2392" y="3158"/>
                </a:lnTo>
                <a:cubicBezTo>
                  <a:pt x="2660" y="3705"/>
                  <a:pt x="2975" y="4210"/>
                  <a:pt x="3339" y="4674"/>
                </a:cubicBezTo>
                <a:cubicBezTo>
                  <a:pt x="3938" y="3916"/>
                  <a:pt x="4404" y="3059"/>
                  <a:pt x="4736" y="2105"/>
                </a:cubicBezTo>
                <a:lnTo>
                  <a:pt x="0" y="2105"/>
                </a:lnTo>
                <a:lnTo>
                  <a:pt x="0" y="1053"/>
                </a:lnTo>
                <a:lnTo>
                  <a:pt x="2870" y="1053"/>
                </a:lnTo>
                <a:lnTo>
                  <a:pt x="2870" y="0"/>
                </a:lnTo>
                <a:moveTo>
                  <a:pt x="8008" y="7368"/>
                </a:moveTo>
                <a:lnTo>
                  <a:pt x="7415" y="5726"/>
                </a:lnTo>
                <a:lnTo>
                  <a:pt x="6812" y="736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6758977" y="2564606"/>
            <a:ext cx="473482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机器翻译任务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758977" y="2960787"/>
            <a:ext cx="47348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通过编码器-解码器架构，RNN将源语言句子编码为向量表示，再解码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生成目标语言翻译</a:t>
            </a:r>
            <a:endParaRPr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6758977" y="3553122"/>
            <a:ext cx="473482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ENCODER-DECODER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457086" y="4344293"/>
            <a:ext cx="5551687" cy="2056507"/>
          </a:xfrm>
          <a:prstGeom prst="rect">
            <a:avLst/>
          </a:prstGeom>
          <a:solidFill>
            <a:srgbClr val="E6E9EE">
              <a:alpha val="100000"/>
            </a:srgbClr>
          </a:solidFill>
          <a:ln w="9525">
            <a:solidFill>
              <a:srgbClr val="C8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57086" y="4344293"/>
            <a:ext cx="555168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665542" y="4811613"/>
            <a:ext cx="266633" cy="266700"/>
          </a:xfrm>
          <a:custGeom>
            <a:rect b="b" l="l" r="r" t="t"/>
            <a:pathLst>
              <a:path h="10000" w="9998">
                <a:moveTo>
                  <a:pt x="4999" y="909"/>
                </a:moveTo>
                <a:cubicBezTo>
                  <a:pt x="4693" y="909"/>
                  <a:pt x="4411" y="969"/>
                  <a:pt x="4155" y="1091"/>
                </a:cubicBezTo>
                <a:cubicBezTo>
                  <a:pt x="3897" y="1212"/>
                  <a:pt x="3694" y="1377"/>
                  <a:pt x="3545" y="1586"/>
                </a:cubicBezTo>
                <a:cubicBezTo>
                  <a:pt x="3395" y="1795"/>
                  <a:pt x="3321" y="2024"/>
                  <a:pt x="3321" y="2273"/>
                </a:cubicBezTo>
                <a:lnTo>
                  <a:pt x="3321" y="4091"/>
                </a:lnTo>
                <a:cubicBezTo>
                  <a:pt x="3321" y="4339"/>
                  <a:pt x="3395" y="4568"/>
                  <a:pt x="3545" y="4777"/>
                </a:cubicBezTo>
                <a:cubicBezTo>
                  <a:pt x="3694" y="4986"/>
                  <a:pt x="3897" y="5151"/>
                  <a:pt x="4155" y="5273"/>
                </a:cubicBezTo>
                <a:cubicBezTo>
                  <a:pt x="4411" y="5394"/>
                  <a:pt x="4693" y="5455"/>
                  <a:pt x="4999" y="5455"/>
                </a:cubicBezTo>
                <a:cubicBezTo>
                  <a:pt x="5305" y="5455"/>
                  <a:pt x="5586" y="5394"/>
                  <a:pt x="5843" y="5273"/>
                </a:cubicBezTo>
                <a:cubicBezTo>
                  <a:pt x="6100" y="5151"/>
                  <a:pt x="6303" y="4986"/>
                  <a:pt x="6453" y="4777"/>
                </a:cubicBezTo>
                <a:cubicBezTo>
                  <a:pt x="6602" y="4568"/>
                  <a:pt x="6677" y="4339"/>
                  <a:pt x="6677" y="4091"/>
                </a:cubicBezTo>
                <a:lnTo>
                  <a:pt x="6677" y="2273"/>
                </a:lnTo>
                <a:cubicBezTo>
                  <a:pt x="6677" y="2024"/>
                  <a:pt x="6602" y="1795"/>
                  <a:pt x="6453" y="1586"/>
                </a:cubicBezTo>
                <a:cubicBezTo>
                  <a:pt x="6303" y="1377"/>
                  <a:pt x="6100" y="1212"/>
                  <a:pt x="5843" y="1091"/>
                </a:cubicBezTo>
                <a:cubicBezTo>
                  <a:pt x="5586" y="969"/>
                  <a:pt x="5305" y="909"/>
                  <a:pt x="4999" y="909"/>
                </a:cubicBezTo>
                <a:moveTo>
                  <a:pt x="4999" y="0"/>
                </a:moveTo>
                <a:cubicBezTo>
                  <a:pt x="5505" y="0"/>
                  <a:pt x="5973" y="101"/>
                  <a:pt x="6403" y="305"/>
                </a:cubicBezTo>
                <a:cubicBezTo>
                  <a:pt x="6831" y="507"/>
                  <a:pt x="7170" y="783"/>
                  <a:pt x="7420" y="1132"/>
                </a:cubicBezTo>
                <a:cubicBezTo>
                  <a:pt x="7670" y="1480"/>
                  <a:pt x="7795" y="1861"/>
                  <a:pt x="7795" y="2273"/>
                </a:cubicBezTo>
                <a:lnTo>
                  <a:pt x="7795" y="4091"/>
                </a:lnTo>
                <a:cubicBezTo>
                  <a:pt x="7795" y="4503"/>
                  <a:pt x="7670" y="4883"/>
                  <a:pt x="7420" y="5232"/>
                </a:cubicBezTo>
                <a:cubicBezTo>
                  <a:pt x="7170" y="5580"/>
                  <a:pt x="6831" y="5856"/>
                  <a:pt x="6403" y="6059"/>
                </a:cubicBezTo>
                <a:cubicBezTo>
                  <a:pt x="5973" y="6262"/>
                  <a:pt x="5505" y="6364"/>
                  <a:pt x="4999" y="6364"/>
                </a:cubicBezTo>
                <a:cubicBezTo>
                  <a:pt x="4492" y="6364"/>
                  <a:pt x="4024" y="6262"/>
                  <a:pt x="3595" y="6059"/>
                </a:cubicBezTo>
                <a:cubicBezTo>
                  <a:pt x="3166" y="5856"/>
                  <a:pt x="2827" y="5580"/>
                  <a:pt x="2578" y="5232"/>
                </a:cubicBezTo>
                <a:cubicBezTo>
                  <a:pt x="2328" y="4883"/>
                  <a:pt x="2203" y="4503"/>
                  <a:pt x="2203" y="4091"/>
                </a:cubicBezTo>
                <a:lnTo>
                  <a:pt x="2203" y="2273"/>
                </a:lnTo>
                <a:cubicBezTo>
                  <a:pt x="2203" y="1861"/>
                  <a:pt x="2328" y="1480"/>
                  <a:pt x="2578" y="1132"/>
                </a:cubicBezTo>
                <a:cubicBezTo>
                  <a:pt x="2827" y="783"/>
                  <a:pt x="3166" y="507"/>
                  <a:pt x="3595" y="305"/>
                </a:cubicBezTo>
                <a:cubicBezTo>
                  <a:pt x="4024" y="101"/>
                  <a:pt x="4492" y="0"/>
                  <a:pt x="4999" y="0"/>
                </a:cubicBezTo>
                <a:moveTo>
                  <a:pt x="0" y="4545"/>
                </a:moveTo>
                <a:lnTo>
                  <a:pt x="1130" y="4545"/>
                </a:lnTo>
                <a:cubicBezTo>
                  <a:pt x="1219" y="5054"/>
                  <a:pt x="1444" y="5516"/>
                  <a:pt x="1806" y="5932"/>
                </a:cubicBezTo>
                <a:cubicBezTo>
                  <a:pt x="2168" y="6347"/>
                  <a:pt x="2624" y="6673"/>
                  <a:pt x="3176" y="6909"/>
                </a:cubicBezTo>
                <a:cubicBezTo>
                  <a:pt x="3742" y="7151"/>
                  <a:pt x="4350" y="7273"/>
                  <a:pt x="4999" y="7273"/>
                </a:cubicBezTo>
                <a:cubicBezTo>
                  <a:pt x="5647" y="7273"/>
                  <a:pt x="6255" y="7151"/>
                  <a:pt x="6822" y="6909"/>
                </a:cubicBezTo>
                <a:cubicBezTo>
                  <a:pt x="7373" y="6673"/>
                  <a:pt x="7830" y="6347"/>
                  <a:pt x="8192" y="5932"/>
                </a:cubicBezTo>
                <a:cubicBezTo>
                  <a:pt x="8553" y="5516"/>
                  <a:pt x="8778" y="5054"/>
                  <a:pt x="8868" y="4545"/>
                </a:cubicBezTo>
                <a:lnTo>
                  <a:pt x="9998" y="4545"/>
                </a:lnTo>
                <a:cubicBezTo>
                  <a:pt x="9916" y="5169"/>
                  <a:pt x="9666" y="5748"/>
                  <a:pt x="9249" y="6282"/>
                </a:cubicBezTo>
                <a:cubicBezTo>
                  <a:pt x="8846" y="6797"/>
                  <a:pt x="8328" y="7218"/>
                  <a:pt x="7694" y="7545"/>
                </a:cubicBezTo>
                <a:cubicBezTo>
                  <a:pt x="7038" y="7885"/>
                  <a:pt x="6326" y="8088"/>
                  <a:pt x="5558" y="8155"/>
                </a:cubicBezTo>
                <a:lnTo>
                  <a:pt x="5558" y="10000"/>
                </a:lnTo>
                <a:lnTo>
                  <a:pt x="4440" y="10000"/>
                </a:lnTo>
                <a:lnTo>
                  <a:pt x="4440" y="8155"/>
                </a:lnTo>
                <a:cubicBezTo>
                  <a:pt x="3672" y="8088"/>
                  <a:pt x="2960" y="7885"/>
                  <a:pt x="2304" y="7545"/>
                </a:cubicBezTo>
                <a:cubicBezTo>
                  <a:pt x="1670" y="7218"/>
                  <a:pt x="1151" y="6797"/>
                  <a:pt x="749" y="6282"/>
                </a:cubicBezTo>
                <a:cubicBezTo>
                  <a:pt x="331" y="5748"/>
                  <a:pt x="82" y="5169"/>
                  <a:pt x="0" y="454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1035882" y="4792563"/>
            <a:ext cx="473482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语音识别应用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1035882" y="5188744"/>
            <a:ext cx="47348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将连续的语音信号转化为文本，RNN能够捕获音频信号中的时序特征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和语言模式</a:t>
            </a:r>
            <a:endParaRPr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1035882" y="5781079"/>
            <a:ext cx="473482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SPEECH-TO-TEXT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180179" y="4344293"/>
            <a:ext cx="5551687" cy="2056507"/>
          </a:xfrm>
          <a:prstGeom prst="rect">
            <a:avLst/>
          </a:prstGeom>
          <a:solidFill>
            <a:srgbClr val="E6E9EE">
              <a:alpha val="100000"/>
            </a:srgbClr>
          </a:solidFill>
          <a:ln w="9525">
            <a:solidFill>
              <a:srgbClr val="C8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 flipH="false" flipV="false" rot="0">
            <a:off x="6180179" y="4344293"/>
            <a:ext cx="555168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 flipH="false" flipV="false" rot="0">
            <a:off x="6388636" y="4811613"/>
            <a:ext cx="266633" cy="266700"/>
          </a:xfrm>
          <a:custGeom>
            <a:rect b="b" l="l" r="r" t="t"/>
            <a:pathLst>
              <a:path h="10000" w="9998">
                <a:moveTo>
                  <a:pt x="0" y="0"/>
                </a:moveTo>
                <a:lnTo>
                  <a:pt x="1068" y="0"/>
                </a:lnTo>
                <a:lnTo>
                  <a:pt x="1068" y="8889"/>
                </a:lnTo>
                <a:lnTo>
                  <a:pt x="9613" y="8889"/>
                </a:lnTo>
                <a:lnTo>
                  <a:pt x="9613" y="10000"/>
                </a:lnTo>
                <a:lnTo>
                  <a:pt x="0" y="10000"/>
                </a:lnTo>
                <a:lnTo>
                  <a:pt x="0" y="0"/>
                </a:lnTo>
                <a:moveTo>
                  <a:pt x="6943" y="4211"/>
                </a:moveTo>
                <a:lnTo>
                  <a:pt x="9240" y="1833"/>
                </a:lnTo>
                <a:lnTo>
                  <a:pt x="9998" y="2611"/>
                </a:lnTo>
                <a:lnTo>
                  <a:pt x="6943" y="5789"/>
                </a:lnTo>
                <a:lnTo>
                  <a:pt x="5341" y="4122"/>
                </a:lnTo>
                <a:lnTo>
                  <a:pt x="3055" y="6500"/>
                </a:lnTo>
                <a:lnTo>
                  <a:pt x="2297" y="5722"/>
                </a:lnTo>
                <a:lnTo>
                  <a:pt x="5341" y="254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true"/>
          <p:nvPr/>
        </p:nvSpPr>
        <p:spPr>
          <a:xfrm flipH="false" flipV="false" rot="0">
            <a:off x="6758977" y="4792563"/>
            <a:ext cx="473482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时间序列预测</a:t>
            </a:r>
            <a:endParaRPr lang="en-US" sz="1100"/>
          </a:p>
        </p:txBody>
      </p:sp>
      <p:sp>
        <p:nvSpPr>
          <p:cNvPr id="30" name="TextBox 30"/>
          <p:cNvSpPr txBox="true"/>
          <p:nvPr/>
        </p:nvSpPr>
        <p:spPr>
          <a:xfrm flipH="false" flipV="false" rot="0">
            <a:off x="6758977" y="5188744"/>
            <a:ext cx="47348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在股票价格预测、气象预报、流量预估等场景中，RNN能够学习历史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数据的趋势和周期性规律</a:t>
            </a:r>
            <a:endParaRPr/>
          </a:p>
        </p:txBody>
      </p:sp>
      <p:sp>
        <p:nvSpPr>
          <p:cNvPr id="31" name="TextBox 31"/>
          <p:cNvSpPr txBox="true"/>
          <p:nvPr/>
        </p:nvSpPr>
        <p:spPr>
          <a:xfrm flipH="false" flipV="false" rot="0">
            <a:off x="6758977" y="5781079"/>
            <a:ext cx="473482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FORECASTING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38283" y="257800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02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859961" y="3011388"/>
            <a:ext cx="8469031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RNN的核心困境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285428" y="3994249"/>
            <a:ext cx="7618095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梯度消失与长期依赖问题的深度剖析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08 · RNN TRAINING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梯度消失问题详解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525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梯度消失是RNN训练的核心难题，源于反向传播过程中梯度的连乘效应——当循环权重矩阵特征值小于1时，梯度随时间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步数指数衰减，导致网络无法有效学习长距离依赖关系。</a:t>
            </a:r>
            <a:endParaRPr/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16188" l="0" r="0" t="16188"/>
          <a:stretch>
            <a:fillRect/>
          </a:stretch>
        </p:blipFill>
        <p:spPr>
          <a:xfrm flipH="false" flipV="false" rot="0">
            <a:off x="457086" y="2135386"/>
            <a:ext cx="4570857" cy="401776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true"/>
          <p:nvPr/>
        </p:nvSpPr>
        <p:spPr>
          <a:xfrm flipH="false" flipV="false" rot="0">
            <a:off x="457086" y="6248400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梯度信号在反向传播中的指数衰减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5332666" y="2135386"/>
            <a:ext cx="6399200" cy="99491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5332666" y="2135386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5494551" y="226144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5727558" y="2270968"/>
            <a:ext cx="584242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BPTT连乘效应：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梯度反向传播需经过多个时间步，每步乘以循环权重矩阵的转置，形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成梯度连乘链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5761185" y="2794843"/>
            <a:ext cx="580879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5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BPTT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5332666" y="3225552"/>
            <a:ext cx="6399200" cy="99491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5332666" y="3225552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5494551" y="3351610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5727558" y="3361135"/>
            <a:ext cx="584926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指数级衰减：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若权重矩阵最大特征值&lt;1，连乘结果趋近于零，远离输出层的梯度信号几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乎消失</a:t>
            </a:r>
            <a:endParaRPr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5761185" y="3885009"/>
            <a:ext cx="5808797" cy="22383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5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λ</a:t>
            </a:r>
            <a:r>
              <a:rPr b="false" i="false" strike="noStrike" sz="10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max</a:t>
            </a:r>
            <a:r>
              <a:rPr b="false" i="false" strike="noStrike" sz="15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 &lt; 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5332666" y="4315718"/>
            <a:ext cx="6399200" cy="99491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5332666" y="4315718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5494551" y="4441775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5727558" y="4451300"/>
            <a:ext cx="584242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长期依赖失败：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网络无法建立相隔多步的输入输出关联，如"中国"与"中文"的长距离语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义联系</a:t>
            </a:r>
            <a:endParaRPr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5761185" y="4975175"/>
            <a:ext cx="580879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5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Long-term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5332666" y="5405885"/>
            <a:ext cx="6399200" cy="99491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5332666" y="5405885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5494551" y="564609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5727558" y="5655617"/>
            <a:ext cx="567548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传话游戏类比：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信息经多人传递后严重失真，早期输入的信息在深层网络中逐渐丢失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5761185" y="5950892"/>
            <a:ext cx="580879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5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信息失真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Gradient Explosion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梯度爆炸与早期应对策略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梯度爆炸是RNN训练的另一极端问题，当循环权重特征值大于1时梯度指数增长导致训练发散。虽然梯度裁剪能缓解爆炸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问题，但梯度消失仍无有效解决方案，这直接推动了LSTM等门控循环单元的诞生。</a:t>
            </a:r>
            <a:endParaRPr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609448" y="2448521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921760" y="2467571"/>
            <a:ext cx="578216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梯度爆炸的产生条件：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循环权重矩阵特征值&gt;1时，梯度连乘结果指数增长，参数更新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幅度过大导致训练不稳定</a:t>
            </a:r>
            <a:endParaRPr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609448" y="3524399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921760" y="3543449"/>
            <a:ext cx="578216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梯度裁剪的解决方案：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设定梯度范数阈值，超过阈值时按比例缩放，强制将梯度控制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在合理范围内</a:t>
            </a:r>
            <a:endParaRPr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09448" y="4600278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921760" y="4619328"/>
            <a:ext cx="578216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权重初始化的辅助策略：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采用正交初始化或小方差初始化，避免初始权重导致梯度异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常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09448" y="5798047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921760" y="5817097"/>
            <a:ext cx="521839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根本性挑战：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梯度裁剪只能治标，梯度消失问题仍需从网络结构层面寻求突破</a:t>
            </a:r>
            <a:endParaRPr lang="en-US" sz="1100"/>
          </a:p>
        </p:txBody>
      </p:sp>
      <p:pic>
        <p:nvPicPr>
          <p:cNvPr id="15" name="Picture 15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7161009" y="3522613"/>
            <a:ext cx="4570857" cy="128141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6" name="TextBox 16"/>
          <p:cNvSpPr txBox="true"/>
          <p:nvPr/>
        </p:nvSpPr>
        <p:spPr>
          <a:xfrm flipH="false" flipV="false" rot="0">
            <a:off x="7161009" y="4899273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梯度裁剪：通过设定范数阈值控制梯度规模，防止参数更新发散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5638283" y="257800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03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437767" y="3011388"/>
            <a:ext cx="9313419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LSTM长短期记忆网络</a:t>
            </a:r>
            <a:endParaRPr lang="en-US" sz="1100"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2475880" y="3994249"/>
            <a:ext cx="723719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门控机制如何守护长期记忆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Deep Learning · Recurrent Networks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LSTM的诞生与核心思想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954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335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LSTM由Hochreiter和Schmidhuber于1997年提出，核心创新是引入细胞状态作为信息高速公路，通过门控机制控制信息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的读写，使梯度能够无损地长距离传播，从根本上解决了标准RNN的长期依赖问题。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298502"/>
            <a:ext cx="9522" cy="706636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618970" y="2317552"/>
            <a:ext cx="623731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History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618970" y="2555677"/>
            <a:ext cx="1111289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历史背景：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1997年Hochreiter和Schmidhuber针对RNN梯度消失问题提出LSTM架构，开创性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地引入门控记忆机制</a:t>
            </a:r>
            <a:endParaRPr/>
          </a:p>
        </p:txBody>
      </p:sp>
      <p:sp>
        <p:nvSpPr>
          <p:cNvPr id="10" name="AutoShape 10"/>
          <p:cNvSpPr/>
          <p:nvPr/>
        </p:nvSpPr>
        <p:spPr>
          <a:xfrm flipH="false" flipV="false" rot="0">
            <a:off x="457086" y="3369617"/>
            <a:ext cx="9522" cy="706636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618970" y="3388667"/>
            <a:ext cx="623731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Cell State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618970" y="3626792"/>
            <a:ext cx="1111289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细胞状态设计：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引入贯穿整个时间序列的细胞状态Ct，作为信息流动的主通道，减少非线性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变换对梯度的损耗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457086" y="4440734"/>
            <a:ext cx="9522" cy="706636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18970" y="4459784"/>
            <a:ext cx="623731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Gating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618970" y="4697909"/>
            <a:ext cx="1111289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门控机制创新：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通过遗忘门、输入门、输出门三个可控开关，精确调节信息的保留、写入和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读取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57086" y="5511850"/>
            <a:ext cx="9522" cy="706636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618970" y="5530900"/>
            <a:ext cx="623731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Gradient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18970" y="5769025"/>
            <a:ext cx="1111289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梯度传播优势：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细胞状态上的信息流动接近线性，梯度可以几乎无损地反向传播，有效学习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长期依赖</a:t>
            </a:r>
            <a:endParaRPr/>
          </a:p>
        </p:txBody>
      </p:sp>
      <p:pic>
        <p:nvPicPr>
          <p:cNvPr id="19" name="Picture 19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24" l="0" r="0" t="24"/>
          <a:stretch>
            <a:fillRect/>
          </a:stretch>
        </p:blipFill>
        <p:spPr>
          <a:xfrm flipH="false" flipV="false" rot="0">
            <a:off x="7161009" y="2610743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0" name="TextBox 20"/>
          <p:cNvSpPr txBox="true"/>
          <p:nvPr/>
        </p:nvSpPr>
        <p:spPr>
          <a:xfrm flipH="false" flipV="false" rot="0">
            <a:off x="7161009" y="5753993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Sepp Hochreiter &amp; Jürgen Schmidhuber · LSTM 提出者 · 1997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 Overview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7152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LSTM单元整体结构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LSTM单元由细胞状态和三个门控机制组成，细胞状态作为信息高速公路贯穿时间序列，遗忘门、输入门、输出门分别控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制信息的丢弃、写入和读取，形成精密的记忆管理系统。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268736"/>
            <a:ext cx="3605799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2687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657061" y="2506861"/>
            <a:ext cx="399950" cy="400050"/>
          </a:xfrm>
          <a:custGeom>
            <a:rect b="b" l="l" r="r" t="t"/>
            <a:pathLst>
              <a:path h="10000" w="9998">
                <a:moveTo>
                  <a:pt x="2277" y="3211"/>
                </a:moveTo>
                <a:cubicBezTo>
                  <a:pt x="2373" y="3574"/>
                  <a:pt x="2572" y="3870"/>
                  <a:pt x="2872" y="4100"/>
                </a:cubicBezTo>
                <a:cubicBezTo>
                  <a:pt x="3172" y="4329"/>
                  <a:pt x="3510" y="4444"/>
                  <a:pt x="3888" y="4444"/>
                </a:cubicBezTo>
                <a:lnTo>
                  <a:pt x="6110" y="4444"/>
                </a:lnTo>
                <a:cubicBezTo>
                  <a:pt x="6562" y="4444"/>
                  <a:pt x="6982" y="4544"/>
                  <a:pt x="7371" y="4744"/>
                </a:cubicBezTo>
                <a:cubicBezTo>
                  <a:pt x="7759" y="4944"/>
                  <a:pt x="8083" y="5220"/>
                  <a:pt x="8343" y="5572"/>
                </a:cubicBezTo>
                <a:cubicBezTo>
                  <a:pt x="8602" y="5924"/>
                  <a:pt x="8769" y="6314"/>
                  <a:pt x="8843" y="6744"/>
                </a:cubicBezTo>
                <a:cubicBezTo>
                  <a:pt x="9183" y="6855"/>
                  <a:pt x="9461" y="7057"/>
                  <a:pt x="9676" y="7350"/>
                </a:cubicBezTo>
                <a:cubicBezTo>
                  <a:pt x="9890" y="7642"/>
                  <a:pt x="9998" y="7970"/>
                  <a:pt x="9998" y="8333"/>
                </a:cubicBezTo>
                <a:cubicBezTo>
                  <a:pt x="9998" y="8637"/>
                  <a:pt x="9924" y="8916"/>
                  <a:pt x="9776" y="9172"/>
                </a:cubicBezTo>
                <a:cubicBezTo>
                  <a:pt x="9628" y="9428"/>
                  <a:pt x="9426" y="9630"/>
                  <a:pt x="9170" y="9778"/>
                </a:cubicBezTo>
                <a:cubicBezTo>
                  <a:pt x="8914" y="9926"/>
                  <a:pt x="8635" y="10000"/>
                  <a:pt x="8332" y="10000"/>
                </a:cubicBezTo>
                <a:cubicBezTo>
                  <a:pt x="8028" y="10000"/>
                  <a:pt x="7748" y="9926"/>
                  <a:pt x="7493" y="9778"/>
                </a:cubicBezTo>
                <a:cubicBezTo>
                  <a:pt x="7237" y="9630"/>
                  <a:pt x="7036" y="9428"/>
                  <a:pt x="6888" y="9172"/>
                </a:cubicBezTo>
                <a:cubicBezTo>
                  <a:pt x="6739" y="8916"/>
                  <a:pt x="6665" y="8637"/>
                  <a:pt x="6665" y="8333"/>
                </a:cubicBezTo>
                <a:cubicBezTo>
                  <a:pt x="6665" y="7985"/>
                  <a:pt x="6763" y="7670"/>
                  <a:pt x="6960" y="7389"/>
                </a:cubicBezTo>
                <a:cubicBezTo>
                  <a:pt x="7156" y="7107"/>
                  <a:pt x="7409" y="6907"/>
                  <a:pt x="7721" y="6789"/>
                </a:cubicBezTo>
                <a:cubicBezTo>
                  <a:pt x="7624" y="6425"/>
                  <a:pt x="7426" y="6129"/>
                  <a:pt x="7126" y="5900"/>
                </a:cubicBezTo>
                <a:cubicBezTo>
                  <a:pt x="6826" y="5670"/>
                  <a:pt x="6487" y="5556"/>
                  <a:pt x="6110" y="5556"/>
                </a:cubicBezTo>
                <a:lnTo>
                  <a:pt x="3888" y="5556"/>
                </a:lnTo>
                <a:cubicBezTo>
                  <a:pt x="3577" y="5556"/>
                  <a:pt x="3281" y="5507"/>
                  <a:pt x="2999" y="5411"/>
                </a:cubicBezTo>
                <a:cubicBezTo>
                  <a:pt x="2717" y="5315"/>
                  <a:pt x="2458" y="5178"/>
                  <a:pt x="2222" y="5000"/>
                </a:cubicBezTo>
                <a:lnTo>
                  <a:pt x="2222" y="6767"/>
                </a:lnTo>
                <a:cubicBezTo>
                  <a:pt x="2548" y="6877"/>
                  <a:pt x="2814" y="7077"/>
                  <a:pt x="3022" y="7367"/>
                </a:cubicBezTo>
                <a:cubicBezTo>
                  <a:pt x="3229" y="7655"/>
                  <a:pt x="3333" y="7977"/>
                  <a:pt x="3333" y="8333"/>
                </a:cubicBezTo>
                <a:cubicBezTo>
                  <a:pt x="3333" y="8637"/>
                  <a:pt x="3258" y="8916"/>
                  <a:pt x="3110" y="9172"/>
                </a:cubicBezTo>
                <a:cubicBezTo>
                  <a:pt x="2962" y="9428"/>
                  <a:pt x="2760" y="9630"/>
                  <a:pt x="2505" y="9778"/>
                </a:cubicBezTo>
                <a:cubicBezTo>
                  <a:pt x="2249" y="9926"/>
                  <a:pt x="1970" y="10000"/>
                  <a:pt x="1666" y="10000"/>
                </a:cubicBezTo>
                <a:cubicBezTo>
                  <a:pt x="1362" y="10000"/>
                  <a:pt x="1083" y="9926"/>
                  <a:pt x="828" y="9778"/>
                </a:cubicBezTo>
                <a:cubicBezTo>
                  <a:pt x="572" y="9630"/>
                  <a:pt x="370" y="9428"/>
                  <a:pt x="222" y="9172"/>
                </a:cubicBezTo>
                <a:cubicBezTo>
                  <a:pt x="74" y="8916"/>
                  <a:pt x="0" y="8637"/>
                  <a:pt x="0" y="8333"/>
                </a:cubicBezTo>
                <a:cubicBezTo>
                  <a:pt x="0" y="7977"/>
                  <a:pt x="103" y="7655"/>
                  <a:pt x="311" y="7367"/>
                </a:cubicBezTo>
                <a:cubicBezTo>
                  <a:pt x="518" y="7077"/>
                  <a:pt x="785" y="6877"/>
                  <a:pt x="1111" y="6767"/>
                </a:cubicBezTo>
                <a:lnTo>
                  <a:pt x="1111" y="3233"/>
                </a:lnTo>
                <a:cubicBezTo>
                  <a:pt x="785" y="3122"/>
                  <a:pt x="518" y="2922"/>
                  <a:pt x="311" y="2633"/>
                </a:cubicBezTo>
                <a:cubicBezTo>
                  <a:pt x="103" y="2344"/>
                  <a:pt x="0" y="2022"/>
                  <a:pt x="0" y="1667"/>
                </a:cubicBezTo>
                <a:cubicBezTo>
                  <a:pt x="0" y="1363"/>
                  <a:pt x="74" y="1083"/>
                  <a:pt x="222" y="828"/>
                </a:cubicBezTo>
                <a:cubicBezTo>
                  <a:pt x="370" y="572"/>
                  <a:pt x="572" y="370"/>
                  <a:pt x="828" y="222"/>
                </a:cubicBezTo>
                <a:cubicBezTo>
                  <a:pt x="1083" y="74"/>
                  <a:pt x="1362" y="0"/>
                  <a:pt x="1666" y="0"/>
                </a:cubicBezTo>
                <a:cubicBezTo>
                  <a:pt x="1970" y="0"/>
                  <a:pt x="2249" y="74"/>
                  <a:pt x="2505" y="222"/>
                </a:cubicBezTo>
                <a:cubicBezTo>
                  <a:pt x="2760" y="370"/>
                  <a:pt x="2962" y="572"/>
                  <a:pt x="3110" y="828"/>
                </a:cubicBezTo>
                <a:cubicBezTo>
                  <a:pt x="3258" y="1083"/>
                  <a:pt x="3333" y="1363"/>
                  <a:pt x="3333" y="1667"/>
                </a:cubicBezTo>
                <a:cubicBezTo>
                  <a:pt x="3333" y="2015"/>
                  <a:pt x="3234" y="2329"/>
                  <a:pt x="3038" y="2611"/>
                </a:cubicBezTo>
                <a:cubicBezTo>
                  <a:pt x="2842" y="2892"/>
                  <a:pt x="2588" y="3092"/>
                  <a:pt x="2277" y="3211"/>
                </a:cubicBezTo>
                <a:moveTo>
                  <a:pt x="1666" y="2222"/>
                </a:moveTo>
                <a:cubicBezTo>
                  <a:pt x="1822" y="2222"/>
                  <a:pt x="1953" y="2168"/>
                  <a:pt x="2061" y="2061"/>
                </a:cubicBezTo>
                <a:cubicBezTo>
                  <a:pt x="2168" y="1953"/>
                  <a:pt x="2222" y="1822"/>
                  <a:pt x="2222" y="1667"/>
                </a:cubicBezTo>
                <a:cubicBezTo>
                  <a:pt x="2222" y="1511"/>
                  <a:pt x="2168" y="1379"/>
                  <a:pt x="2061" y="1272"/>
                </a:cubicBezTo>
                <a:cubicBezTo>
                  <a:pt x="1953" y="1164"/>
                  <a:pt x="1822" y="1111"/>
                  <a:pt x="1666" y="1111"/>
                </a:cubicBezTo>
                <a:cubicBezTo>
                  <a:pt x="1510" y="1111"/>
                  <a:pt x="1379" y="1164"/>
                  <a:pt x="1272" y="1272"/>
                </a:cubicBezTo>
                <a:cubicBezTo>
                  <a:pt x="1164" y="1379"/>
                  <a:pt x="1111" y="1511"/>
                  <a:pt x="1111" y="1667"/>
                </a:cubicBezTo>
                <a:cubicBezTo>
                  <a:pt x="1111" y="1822"/>
                  <a:pt x="1164" y="1953"/>
                  <a:pt x="1272" y="2061"/>
                </a:cubicBezTo>
                <a:cubicBezTo>
                  <a:pt x="1379" y="2168"/>
                  <a:pt x="1510" y="2222"/>
                  <a:pt x="1666" y="2222"/>
                </a:cubicBezTo>
                <a:moveTo>
                  <a:pt x="1666" y="8889"/>
                </a:moveTo>
                <a:cubicBezTo>
                  <a:pt x="1822" y="8889"/>
                  <a:pt x="1953" y="8835"/>
                  <a:pt x="2061" y="8728"/>
                </a:cubicBezTo>
                <a:cubicBezTo>
                  <a:pt x="2168" y="8620"/>
                  <a:pt x="2222" y="8489"/>
                  <a:pt x="2222" y="8333"/>
                </a:cubicBezTo>
                <a:cubicBezTo>
                  <a:pt x="2222" y="8177"/>
                  <a:pt x="2168" y="8046"/>
                  <a:pt x="2061" y="7939"/>
                </a:cubicBezTo>
                <a:cubicBezTo>
                  <a:pt x="1953" y="7831"/>
                  <a:pt x="1822" y="7778"/>
                  <a:pt x="1666" y="7778"/>
                </a:cubicBezTo>
                <a:cubicBezTo>
                  <a:pt x="1510" y="7778"/>
                  <a:pt x="1379" y="7831"/>
                  <a:pt x="1272" y="7939"/>
                </a:cubicBezTo>
                <a:cubicBezTo>
                  <a:pt x="1164" y="8046"/>
                  <a:pt x="1111" y="8177"/>
                  <a:pt x="1111" y="8333"/>
                </a:cubicBezTo>
                <a:cubicBezTo>
                  <a:pt x="1111" y="8489"/>
                  <a:pt x="1164" y="8620"/>
                  <a:pt x="1272" y="8728"/>
                </a:cubicBezTo>
                <a:cubicBezTo>
                  <a:pt x="1379" y="8835"/>
                  <a:pt x="1510" y="8889"/>
                  <a:pt x="1666" y="8889"/>
                </a:cubicBezTo>
                <a:moveTo>
                  <a:pt x="8332" y="8889"/>
                </a:moveTo>
                <a:cubicBezTo>
                  <a:pt x="8487" y="8889"/>
                  <a:pt x="8618" y="8835"/>
                  <a:pt x="8726" y="8728"/>
                </a:cubicBezTo>
                <a:cubicBezTo>
                  <a:pt x="8833" y="8620"/>
                  <a:pt x="8887" y="8489"/>
                  <a:pt x="8887" y="8333"/>
                </a:cubicBezTo>
                <a:cubicBezTo>
                  <a:pt x="8887" y="8177"/>
                  <a:pt x="8833" y="8046"/>
                  <a:pt x="8726" y="7939"/>
                </a:cubicBezTo>
                <a:cubicBezTo>
                  <a:pt x="8618" y="7831"/>
                  <a:pt x="8487" y="7778"/>
                  <a:pt x="8332" y="7778"/>
                </a:cubicBezTo>
                <a:cubicBezTo>
                  <a:pt x="8176" y="7778"/>
                  <a:pt x="8044" y="7831"/>
                  <a:pt x="7937" y="7939"/>
                </a:cubicBezTo>
                <a:cubicBezTo>
                  <a:pt x="7829" y="8046"/>
                  <a:pt x="7776" y="8177"/>
                  <a:pt x="7776" y="8333"/>
                </a:cubicBezTo>
                <a:cubicBezTo>
                  <a:pt x="7776" y="8489"/>
                  <a:pt x="7829" y="8620"/>
                  <a:pt x="7937" y="8728"/>
                </a:cubicBezTo>
                <a:cubicBezTo>
                  <a:pt x="8044" y="8835"/>
                  <a:pt x="8176" y="8889"/>
                  <a:pt x="8332" y="888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57061" y="3078361"/>
            <a:ext cx="320585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输入与输出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57061" y="3789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942739" y="3799434"/>
            <a:ext cx="293460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输入信号：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当前输入xt、上一时刻隐藏状态h(t-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1)、上一时刻细胞状态C(t-1)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57061" y="43614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942739" y="4370934"/>
            <a:ext cx="292017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输出信号：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当前隐藏状态ht、更新后的细胞状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态Ct</a:t>
            </a:r>
            <a:endParaRPr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657061" y="4932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942739" y="4942434"/>
            <a:ext cx="292017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信息流向：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细胞状态从上至下贯穿，隐藏状态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横向传递给下一时间步</a:t>
            </a:r>
            <a:endParaRPr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657061" y="5808464"/>
            <a:ext cx="320585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Box 18"/>
          <p:cNvSpPr txBox="true"/>
          <p:nvPr/>
        </p:nvSpPr>
        <p:spPr>
          <a:xfrm flipH="false" flipV="false" rot="0">
            <a:off x="657061" y="5941814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I/O Flow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291428" y="2268736"/>
            <a:ext cx="3605948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4291428" y="22687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491403" y="2506861"/>
            <a:ext cx="399950" cy="400050"/>
          </a:xfrm>
          <a:custGeom>
            <a:rect b="b" l="l" r="r" t="t"/>
            <a:pathLst>
              <a:path h="10000" w="9998">
                <a:moveTo>
                  <a:pt x="0" y="2788"/>
                </a:moveTo>
                <a:lnTo>
                  <a:pt x="1000" y="2375"/>
                </a:lnTo>
                <a:lnTo>
                  <a:pt x="1000" y="8538"/>
                </a:lnTo>
                <a:lnTo>
                  <a:pt x="3529" y="7500"/>
                </a:lnTo>
                <a:lnTo>
                  <a:pt x="6529" y="8942"/>
                </a:lnTo>
                <a:lnTo>
                  <a:pt x="8998" y="7923"/>
                </a:lnTo>
                <a:lnTo>
                  <a:pt x="8998" y="1760"/>
                </a:lnTo>
                <a:lnTo>
                  <a:pt x="9648" y="1490"/>
                </a:lnTo>
                <a:cubicBezTo>
                  <a:pt x="9714" y="1464"/>
                  <a:pt x="9779" y="1464"/>
                  <a:pt x="9843" y="1490"/>
                </a:cubicBezTo>
                <a:cubicBezTo>
                  <a:pt x="9906" y="1516"/>
                  <a:pt x="9951" y="1557"/>
                  <a:pt x="9978" y="1615"/>
                </a:cubicBezTo>
                <a:cubicBezTo>
                  <a:pt x="9991" y="1647"/>
                  <a:pt x="9998" y="1679"/>
                  <a:pt x="9998" y="1712"/>
                </a:cubicBezTo>
                <a:lnTo>
                  <a:pt x="9998" y="8558"/>
                </a:lnTo>
                <a:lnTo>
                  <a:pt x="6499" y="10000"/>
                </a:lnTo>
                <a:lnTo>
                  <a:pt x="3499" y="8558"/>
                </a:lnTo>
                <a:lnTo>
                  <a:pt x="350" y="9856"/>
                </a:lnTo>
                <a:cubicBezTo>
                  <a:pt x="283" y="9881"/>
                  <a:pt x="218" y="9881"/>
                  <a:pt x="155" y="9856"/>
                </a:cubicBezTo>
                <a:cubicBezTo>
                  <a:pt x="91" y="9830"/>
                  <a:pt x="46" y="9788"/>
                  <a:pt x="20" y="9731"/>
                </a:cubicBezTo>
                <a:cubicBezTo>
                  <a:pt x="6" y="9699"/>
                  <a:pt x="0" y="9667"/>
                  <a:pt x="0" y="9635"/>
                </a:cubicBezTo>
                <a:lnTo>
                  <a:pt x="0" y="2788"/>
                </a:lnTo>
                <a:moveTo>
                  <a:pt x="7119" y="4827"/>
                </a:moveTo>
                <a:lnTo>
                  <a:pt x="4999" y="6865"/>
                </a:lnTo>
                <a:lnTo>
                  <a:pt x="2879" y="4827"/>
                </a:lnTo>
                <a:cubicBezTo>
                  <a:pt x="2493" y="4461"/>
                  <a:pt x="2233" y="4025"/>
                  <a:pt x="2100" y="3519"/>
                </a:cubicBezTo>
                <a:cubicBezTo>
                  <a:pt x="1966" y="3031"/>
                  <a:pt x="1966" y="2544"/>
                  <a:pt x="2100" y="2058"/>
                </a:cubicBezTo>
                <a:cubicBezTo>
                  <a:pt x="2233" y="1551"/>
                  <a:pt x="2491" y="1113"/>
                  <a:pt x="2874" y="745"/>
                </a:cubicBezTo>
                <a:cubicBezTo>
                  <a:pt x="3257" y="376"/>
                  <a:pt x="3712" y="128"/>
                  <a:pt x="4239" y="0"/>
                </a:cubicBezTo>
                <a:cubicBezTo>
                  <a:pt x="4745" y="-128"/>
                  <a:pt x="5252" y="-128"/>
                  <a:pt x="5759" y="0"/>
                </a:cubicBezTo>
                <a:cubicBezTo>
                  <a:pt x="6285" y="128"/>
                  <a:pt x="6740" y="376"/>
                  <a:pt x="7124" y="745"/>
                </a:cubicBezTo>
                <a:cubicBezTo>
                  <a:pt x="7506" y="1113"/>
                  <a:pt x="7764" y="1551"/>
                  <a:pt x="7898" y="2058"/>
                </a:cubicBezTo>
                <a:cubicBezTo>
                  <a:pt x="8031" y="2544"/>
                  <a:pt x="8031" y="3031"/>
                  <a:pt x="7898" y="3519"/>
                </a:cubicBezTo>
                <a:cubicBezTo>
                  <a:pt x="7764" y="4025"/>
                  <a:pt x="7505" y="4461"/>
                  <a:pt x="7119" y="4827"/>
                </a:cubicBezTo>
                <a:moveTo>
                  <a:pt x="3589" y="4144"/>
                </a:moveTo>
                <a:lnTo>
                  <a:pt x="4999" y="5510"/>
                </a:lnTo>
                <a:lnTo>
                  <a:pt x="6409" y="4144"/>
                </a:lnTo>
                <a:cubicBezTo>
                  <a:pt x="6669" y="3900"/>
                  <a:pt x="6844" y="3614"/>
                  <a:pt x="6934" y="3284"/>
                </a:cubicBezTo>
                <a:cubicBezTo>
                  <a:pt x="7024" y="2953"/>
                  <a:pt x="7024" y="2623"/>
                  <a:pt x="6934" y="2293"/>
                </a:cubicBezTo>
                <a:cubicBezTo>
                  <a:pt x="6844" y="1963"/>
                  <a:pt x="6670" y="1674"/>
                  <a:pt x="6414" y="1428"/>
                </a:cubicBezTo>
                <a:cubicBezTo>
                  <a:pt x="6157" y="1181"/>
                  <a:pt x="5857" y="1014"/>
                  <a:pt x="5514" y="928"/>
                </a:cubicBezTo>
                <a:cubicBezTo>
                  <a:pt x="5170" y="841"/>
                  <a:pt x="4827" y="841"/>
                  <a:pt x="4484" y="928"/>
                </a:cubicBezTo>
                <a:cubicBezTo>
                  <a:pt x="4140" y="1014"/>
                  <a:pt x="3840" y="1181"/>
                  <a:pt x="3584" y="1428"/>
                </a:cubicBezTo>
                <a:cubicBezTo>
                  <a:pt x="3327" y="1674"/>
                  <a:pt x="3154" y="1963"/>
                  <a:pt x="3064" y="2293"/>
                </a:cubicBezTo>
                <a:cubicBezTo>
                  <a:pt x="2974" y="2623"/>
                  <a:pt x="2974" y="2953"/>
                  <a:pt x="3064" y="3284"/>
                </a:cubicBezTo>
                <a:cubicBezTo>
                  <a:pt x="3154" y="3614"/>
                  <a:pt x="3329" y="3900"/>
                  <a:pt x="3589" y="414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4491403" y="3078361"/>
            <a:ext cx="3205998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细胞状态通道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4491403" y="3789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4777081" y="3799434"/>
            <a:ext cx="292031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信息高速公路：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细胞状态Ct以近似线性方式传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递，减少梯度损耗</a:t>
            </a:r>
            <a:endParaRPr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4491403" y="43614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26" name="TextBox 26"/>
          <p:cNvSpPr txBox="true"/>
          <p:nvPr/>
        </p:nvSpPr>
        <p:spPr>
          <a:xfrm flipH="false" flipV="false" rot="0">
            <a:off x="4777081" y="4370934"/>
            <a:ext cx="292031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受控更新：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仅在门控位置进行加法和点乘操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作，保持信息流稳定性</a:t>
            </a:r>
            <a:endParaRPr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4491403" y="4932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4777081" y="4942434"/>
            <a:ext cx="292031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长期记忆载体：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重要信息可在细胞状态中保存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数十甚至数百个时间步</a:t>
            </a:r>
            <a:endParaRPr/>
          </a:p>
        </p:txBody>
      </p:sp>
      <p:sp>
        <p:nvSpPr>
          <p:cNvPr id="29" name="AutoShape 29"/>
          <p:cNvSpPr/>
          <p:nvPr/>
        </p:nvSpPr>
        <p:spPr>
          <a:xfrm flipH="false" flipV="false" rot="0">
            <a:off x="4491403" y="5808464"/>
            <a:ext cx="3205998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true"/>
          <p:nvPr/>
        </p:nvSpPr>
        <p:spPr>
          <a:xfrm flipH="false" flipV="false" rot="0">
            <a:off x="4491403" y="5941814"/>
            <a:ext cx="320599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Cell State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 flipH="false" flipV="false" rot="0">
            <a:off x="8125918" y="2268736"/>
            <a:ext cx="3605799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 flipH="false" flipV="false" rot="0">
            <a:off x="8125918" y="22687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AutoShape 33"/>
          <p:cNvSpPr/>
          <p:nvPr/>
        </p:nvSpPr>
        <p:spPr>
          <a:xfrm flipH="false" flipV="false" rot="0">
            <a:off x="8325894" y="2506861"/>
            <a:ext cx="399950" cy="400050"/>
          </a:xfrm>
          <a:custGeom>
            <a:rect b="b" l="l" r="r" t="t"/>
            <a:pathLst>
              <a:path h="10000" w="9998">
                <a:moveTo>
                  <a:pt x="555" y="3333"/>
                </a:moveTo>
                <a:lnTo>
                  <a:pt x="1666" y="3333"/>
                </a:lnTo>
                <a:lnTo>
                  <a:pt x="1666" y="2857"/>
                </a:lnTo>
                <a:cubicBezTo>
                  <a:pt x="1666" y="2343"/>
                  <a:pt x="1818" y="1863"/>
                  <a:pt x="2122" y="1419"/>
                </a:cubicBezTo>
                <a:cubicBezTo>
                  <a:pt x="2418" y="987"/>
                  <a:pt x="2818" y="644"/>
                  <a:pt x="3322" y="390"/>
                </a:cubicBezTo>
                <a:cubicBezTo>
                  <a:pt x="3840" y="130"/>
                  <a:pt x="4399" y="0"/>
                  <a:pt x="4999" y="0"/>
                </a:cubicBezTo>
                <a:cubicBezTo>
                  <a:pt x="5599" y="0"/>
                  <a:pt x="6158" y="130"/>
                  <a:pt x="6676" y="390"/>
                </a:cubicBezTo>
                <a:cubicBezTo>
                  <a:pt x="7180" y="644"/>
                  <a:pt x="7580" y="987"/>
                  <a:pt x="7876" y="1419"/>
                </a:cubicBezTo>
                <a:cubicBezTo>
                  <a:pt x="8180" y="1863"/>
                  <a:pt x="8332" y="2343"/>
                  <a:pt x="8332" y="2857"/>
                </a:cubicBezTo>
                <a:lnTo>
                  <a:pt x="8332" y="3333"/>
                </a:lnTo>
                <a:lnTo>
                  <a:pt x="9443" y="3333"/>
                </a:lnTo>
                <a:cubicBezTo>
                  <a:pt x="9598" y="3333"/>
                  <a:pt x="9729" y="3379"/>
                  <a:pt x="9837" y="3471"/>
                </a:cubicBezTo>
                <a:cubicBezTo>
                  <a:pt x="9944" y="3563"/>
                  <a:pt x="9998" y="3676"/>
                  <a:pt x="9998" y="3810"/>
                </a:cubicBezTo>
                <a:lnTo>
                  <a:pt x="9998" y="9524"/>
                </a:lnTo>
                <a:cubicBezTo>
                  <a:pt x="9998" y="9657"/>
                  <a:pt x="9944" y="9770"/>
                  <a:pt x="9837" y="9862"/>
                </a:cubicBezTo>
                <a:cubicBezTo>
                  <a:pt x="9729" y="9954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4"/>
                  <a:pt x="161" y="9862"/>
                </a:cubicBezTo>
                <a:cubicBezTo>
                  <a:pt x="53" y="9770"/>
                  <a:pt x="0" y="9657"/>
                  <a:pt x="0" y="9524"/>
                </a:cubicBezTo>
                <a:lnTo>
                  <a:pt x="0" y="3810"/>
                </a:lnTo>
                <a:cubicBezTo>
                  <a:pt x="0" y="3676"/>
                  <a:pt x="53" y="3563"/>
                  <a:pt x="161" y="3471"/>
                </a:cubicBezTo>
                <a:cubicBezTo>
                  <a:pt x="268" y="3379"/>
                  <a:pt x="399" y="3333"/>
                  <a:pt x="555" y="3333"/>
                </a:cubicBezTo>
                <a:moveTo>
                  <a:pt x="8887" y="9048"/>
                </a:moveTo>
                <a:lnTo>
                  <a:pt x="8887" y="4286"/>
                </a:lnTo>
                <a:lnTo>
                  <a:pt x="1111" y="4286"/>
                </a:lnTo>
                <a:lnTo>
                  <a:pt x="1111" y="9048"/>
                </a:lnTo>
                <a:lnTo>
                  <a:pt x="8887" y="9048"/>
                </a:lnTo>
                <a:moveTo>
                  <a:pt x="4444" y="8095"/>
                </a:moveTo>
                <a:lnTo>
                  <a:pt x="4444" y="7019"/>
                </a:lnTo>
                <a:cubicBezTo>
                  <a:pt x="4273" y="6930"/>
                  <a:pt x="4138" y="6813"/>
                  <a:pt x="4038" y="6667"/>
                </a:cubicBezTo>
                <a:cubicBezTo>
                  <a:pt x="3938" y="6521"/>
                  <a:pt x="3888" y="6362"/>
                  <a:pt x="3888" y="6190"/>
                </a:cubicBezTo>
                <a:cubicBezTo>
                  <a:pt x="3888" y="6018"/>
                  <a:pt x="3938" y="5860"/>
                  <a:pt x="4038" y="5714"/>
                </a:cubicBezTo>
                <a:cubicBezTo>
                  <a:pt x="4138" y="5568"/>
                  <a:pt x="4273" y="5452"/>
                  <a:pt x="4444" y="5367"/>
                </a:cubicBezTo>
                <a:cubicBezTo>
                  <a:pt x="4614" y="5281"/>
                  <a:pt x="4799" y="5238"/>
                  <a:pt x="4999" y="5238"/>
                </a:cubicBezTo>
                <a:cubicBezTo>
                  <a:pt x="5199" y="5238"/>
                  <a:pt x="5384" y="5281"/>
                  <a:pt x="5554" y="5367"/>
                </a:cubicBezTo>
                <a:cubicBezTo>
                  <a:pt x="5724" y="5452"/>
                  <a:pt x="5860" y="5568"/>
                  <a:pt x="5960" y="5714"/>
                </a:cubicBezTo>
                <a:cubicBezTo>
                  <a:pt x="6060" y="5860"/>
                  <a:pt x="6110" y="6018"/>
                  <a:pt x="6110" y="6190"/>
                </a:cubicBezTo>
                <a:cubicBezTo>
                  <a:pt x="6110" y="6362"/>
                  <a:pt x="6060" y="6521"/>
                  <a:pt x="5960" y="6667"/>
                </a:cubicBezTo>
                <a:cubicBezTo>
                  <a:pt x="5860" y="6813"/>
                  <a:pt x="5724" y="6930"/>
                  <a:pt x="5554" y="7019"/>
                </a:cubicBezTo>
                <a:lnTo>
                  <a:pt x="5554" y="8095"/>
                </a:lnTo>
                <a:lnTo>
                  <a:pt x="4444" y="8095"/>
                </a:lnTo>
                <a:moveTo>
                  <a:pt x="2777" y="2857"/>
                </a:moveTo>
                <a:lnTo>
                  <a:pt x="2777" y="3333"/>
                </a:lnTo>
                <a:lnTo>
                  <a:pt x="7221" y="3333"/>
                </a:lnTo>
                <a:lnTo>
                  <a:pt x="7221" y="2857"/>
                </a:lnTo>
                <a:cubicBezTo>
                  <a:pt x="7221" y="2514"/>
                  <a:pt x="7121" y="2197"/>
                  <a:pt x="6921" y="1905"/>
                </a:cubicBezTo>
                <a:cubicBezTo>
                  <a:pt x="6721" y="1613"/>
                  <a:pt x="6450" y="1381"/>
                  <a:pt x="6110" y="1210"/>
                </a:cubicBezTo>
                <a:cubicBezTo>
                  <a:pt x="5769" y="1038"/>
                  <a:pt x="5399" y="952"/>
                  <a:pt x="4999" y="952"/>
                </a:cubicBezTo>
                <a:cubicBezTo>
                  <a:pt x="4599" y="952"/>
                  <a:pt x="4228" y="1038"/>
                  <a:pt x="3888" y="1210"/>
                </a:cubicBezTo>
                <a:cubicBezTo>
                  <a:pt x="3547" y="1381"/>
                  <a:pt x="3277" y="1613"/>
                  <a:pt x="3077" y="1905"/>
                </a:cubicBezTo>
                <a:cubicBezTo>
                  <a:pt x="2877" y="2197"/>
                  <a:pt x="2777" y="2514"/>
                  <a:pt x="2777" y="285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true"/>
          <p:nvPr/>
        </p:nvSpPr>
        <p:spPr>
          <a:xfrm flipH="false" flipV="false" rot="0">
            <a:off x="8325894" y="3078361"/>
            <a:ext cx="320585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三个门控机制</a:t>
            </a:r>
            <a:endParaRPr lang="en-US" sz="1100"/>
          </a:p>
        </p:txBody>
      </p:sp>
      <p:sp>
        <p:nvSpPr>
          <p:cNvPr id="35" name="TextBox 35"/>
          <p:cNvSpPr txBox="true"/>
          <p:nvPr/>
        </p:nvSpPr>
        <p:spPr>
          <a:xfrm flipH="false" flipV="false" rot="0">
            <a:off x="8325894" y="3789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36" name="TextBox 36"/>
          <p:cNvSpPr txBox="true"/>
          <p:nvPr/>
        </p:nvSpPr>
        <p:spPr>
          <a:xfrm flipH="false" flipV="false" rot="0">
            <a:off x="8611572" y="3799434"/>
            <a:ext cx="292017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遗忘门 ft：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sigmoid输出0~1，决定丢弃细胞状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态中的哪些旧信息</a:t>
            </a:r>
            <a:endParaRPr/>
          </a:p>
        </p:txBody>
      </p:sp>
      <p:sp>
        <p:nvSpPr>
          <p:cNvPr id="37" name="TextBox 37"/>
          <p:cNvSpPr txBox="true"/>
          <p:nvPr/>
        </p:nvSpPr>
        <p:spPr>
          <a:xfrm flipH="false" flipV="false" rot="0">
            <a:off x="8325894" y="43614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38" name="TextBox 38"/>
          <p:cNvSpPr txBox="true"/>
          <p:nvPr/>
        </p:nvSpPr>
        <p:spPr>
          <a:xfrm flipH="false" flipV="false" rot="0">
            <a:off x="8611572" y="4370934"/>
            <a:ext cx="292017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输入门 it：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sigmoid输出0~1，结合候选值决定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写入哪些新信息</a:t>
            </a:r>
            <a:endParaRPr/>
          </a:p>
        </p:txBody>
      </p:sp>
      <p:sp>
        <p:nvSpPr>
          <p:cNvPr id="39" name="TextBox 39"/>
          <p:cNvSpPr txBox="true"/>
          <p:nvPr/>
        </p:nvSpPr>
        <p:spPr>
          <a:xfrm flipH="false" flipV="false" rot="0">
            <a:off x="8325894" y="4932909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40" name="TextBox 40"/>
          <p:cNvSpPr txBox="true"/>
          <p:nvPr/>
        </p:nvSpPr>
        <p:spPr>
          <a:xfrm flipH="false" flipV="false" rot="0">
            <a:off x="8611572" y="4942434"/>
            <a:ext cx="294695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输出门 ot：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sigmoid输出0~1，控制从细胞状态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读取多少信息作为输出</a:t>
            </a:r>
            <a:endParaRPr/>
          </a:p>
        </p:txBody>
      </p:sp>
      <p:sp>
        <p:nvSpPr>
          <p:cNvPr id="41" name="AutoShape 41"/>
          <p:cNvSpPr/>
          <p:nvPr/>
        </p:nvSpPr>
        <p:spPr>
          <a:xfrm flipH="false" flipV="false" rot="0">
            <a:off x="8325894" y="5808464"/>
            <a:ext cx="320585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Box 42"/>
          <p:cNvSpPr txBox="true"/>
          <p:nvPr/>
        </p:nvSpPr>
        <p:spPr>
          <a:xfrm flipH="false" flipV="false" rot="0">
            <a:off x="8325894" y="5941814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3 Gates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· FORGET GATE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遗忘门：选择性丢弃机制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遗忘门通过sigmoid函数输出0到1之间的门控向量，对细胞状态的每个维度进行独立的保留或丢弃决策，使网络能够主动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遗忘不再相关的历史信息，为新信息的写入腾出空间。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92536"/>
            <a:ext cx="6421370" cy="98062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618970" y="2430363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931282" y="2439888"/>
            <a:ext cx="5785288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计算公式：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= σ(W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·[h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t−1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, x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] + b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)，将隐藏状态和输入拼接后通过 sigmoid 层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885604" y="2725638"/>
            <a:ext cx="583096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σ(…)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457086" y="3268415"/>
            <a:ext cx="6421370" cy="98062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618970" y="3506241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931282" y="3515766"/>
            <a:ext cx="5785288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门控向量含义：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的每个元素在 0~1 之间，对应细胞状态各维度的保留比例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885604" y="3801516"/>
            <a:ext cx="583096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0 → 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457086" y="4344293"/>
            <a:ext cx="6421370" cy="98062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618970" y="4467969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931282" y="4477494"/>
            <a:ext cx="578528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点乘操作：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t−1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⊙ f</a:t>
            </a:r>
            <a:r>
              <a:rPr b="false" i="false" strike="noStrike" sz="8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，细胞状态每个元素乘以对应门控值，接近 0 的被遗忘，接近 1 的被保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留</a:t>
            </a:r>
            <a:endParaRPr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885604" y="4991844"/>
            <a:ext cx="583096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57086" y="5420172"/>
            <a:ext cx="6421370" cy="98062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618970" y="5672286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931282" y="5681811"/>
            <a:ext cx="57852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语义理解：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处理文本时遇到新主语，可能遗忘旧主语的性别、单复数等属性信息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885604" y="5967561"/>
            <a:ext cx="583096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主语切换</a:t>
            </a:r>
            <a:endParaRPr lang="en-US" sz="1100"/>
          </a:p>
        </p:txBody>
      </p:sp>
      <p:pic>
        <p:nvPicPr>
          <p:cNvPr id="23" name="Picture 2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4" l="0" r="0" t="4"/>
          <a:stretch>
            <a:fillRect/>
          </a:stretch>
        </p:blipFill>
        <p:spPr>
          <a:xfrm flipH="false" flipV="false" rot="0">
            <a:off x="7145089" y="3361878"/>
            <a:ext cx="4586778" cy="16217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4" name="TextBox 24"/>
          <p:cNvSpPr txBox="true"/>
          <p:nvPr/>
        </p:nvSpPr>
        <p:spPr>
          <a:xfrm flipH="false" flipV="false" rot="0">
            <a:off x="7145089" y="5078909"/>
            <a:ext cx="458677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遗忘门结构与计算过程示意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· GATE MECHANISM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输入门：新信息写入机制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输入门通过sigmoid门控和tanh候选值的配合，实现信息的选择性写入——sigmoid决定哪些维度需要更新，tanh生成待写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入的新信息，两者逐元素相乘后加到细胞状态，完成记忆的精确更新。</a:t>
            </a:r>
            <a:endParaRPr/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457086" y="2194321"/>
            <a:ext cx="4570857" cy="393799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true"/>
          <p:nvPr/>
        </p:nvSpPr>
        <p:spPr>
          <a:xfrm flipH="false" flipV="false" rot="0">
            <a:off x="457086" y="6227564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输入门与候选值生成计算过程示意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5332666" y="2173486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D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5332666" y="2173486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5513596" y="2448074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5746603" y="2467124"/>
            <a:ext cx="348498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输入门计算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5746603" y="2729954"/>
            <a:ext cx="3523071" cy="17740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i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σ(W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i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·[h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, x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] + b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i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)，sigmoid 输出决定哪些维度需要更新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5332666" y="3249365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D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5332666" y="3249365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5513596" y="352395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5746603" y="3543003"/>
            <a:ext cx="366234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候选值生成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5746603" y="3805833"/>
            <a:ext cx="3700431" cy="17740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C̃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tanh(W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c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·[h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, x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] + b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c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)，tanh 层生成 -1~1 之间的候选信息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5332666" y="4325243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D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5332666" y="4325243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5513596" y="4599831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5746603" y="4618881"/>
            <a:ext cx="332205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选择性写入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5746603" y="4881711"/>
            <a:ext cx="3360146" cy="17740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i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⊙ C̃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，只有被输入门选中的候选值才会被写入细胞状态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5332666" y="5401122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D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5332666" y="5401122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5513596" y="5675710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5746603" y="5694760"/>
            <a:ext cx="34357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细胞状态更新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5746603" y="5957590"/>
            <a:ext cx="3473822" cy="17740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C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f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⊙ C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+ i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⊙ C̃</a:t>
            </a:r>
            <a:r>
              <a:rPr b="false" i="false" strike="noStrike" sz="7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，综合遗忘和输入两步操作完成更新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OUTPUT GATE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输出门：信息读取与隐藏状态生成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输出门通过sigmoid门控控制从细胞状态中读取的信息量，将细胞状态经tanh压缩后与门控向量逐元素相乘，生成当前时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刻的隐藏状态。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73486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73486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638015" y="2489895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923694" y="2480370"/>
            <a:ext cx="2459217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o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 = σ(W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o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·[h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, x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] + b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o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)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923694" y="2694682"/>
            <a:ext cx="249730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sigmoid输出决定读取细胞状态的哪些部分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457086" y="3249365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457086" y="3249365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38015" y="3565773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923694" y="3556248"/>
            <a:ext cx="2984895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tanh(C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) → (-1, 1)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923694" y="3770560"/>
            <a:ext cx="302298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将细胞状态值约束到(-1,1)区间，防止数值范围过大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457086" y="4325243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457086" y="4325243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38015" y="4641652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923694" y="4632127"/>
            <a:ext cx="2399701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h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 = o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 ⊙ tanh(C</a:t>
            </a:r>
            <a:r>
              <a:rPr b="true" i="false" strike="noStrike" sz="8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true" i="false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)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923694" y="4846439"/>
            <a:ext cx="24377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门控向量与压缩后的细胞状态逐元素相乘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457086" y="5401122"/>
            <a:ext cx="6399200" cy="999678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457086" y="5401122"/>
            <a:ext cx="9522" cy="999678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638015" y="5717530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923694" y="5708005"/>
            <a:ext cx="373866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双重作用</a:t>
            </a:r>
            <a:endParaRPr lang="en-US" sz="1100"/>
          </a:p>
        </p:txBody>
      </p:sp>
      <p:sp>
        <p:nvSpPr>
          <p:cNvPr id="26" name="TextBox 26"/>
          <p:cNvSpPr txBox="true"/>
          <p:nvPr/>
        </p:nvSpPr>
        <p:spPr>
          <a:xfrm flipH="false" flipV="false" rot="0">
            <a:off x="923694" y="5922317"/>
            <a:ext cx="3776760" cy="17740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</a:t>
            </a:r>
            <a:r>
              <a:rPr b="false" i="false" strike="noStrike" sz="7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既是当前时刻的输出表示，也参与下一时间步的所有门控计算</a:t>
            </a:r>
            <a:endParaRPr lang="en-US" sz="1100"/>
          </a:p>
        </p:txBody>
      </p:sp>
      <p:pic>
        <p:nvPicPr>
          <p:cNvPr id="27" name="Picture 27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24" l="0" r="0" t="24"/>
          <a:stretch>
            <a:fillRect/>
          </a:stretch>
        </p:blipFill>
        <p:spPr>
          <a:xfrm flipH="false" flipV="false" rot="0">
            <a:off x="7161009" y="2644973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8" name="TextBox 28"/>
          <p:cNvSpPr txBox="true"/>
          <p:nvPr/>
        </p:nvSpPr>
        <p:spPr>
          <a:xfrm flipH="false" flipV="false" rot="0">
            <a:off x="7161009" y="6250334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输出门与隐藏状态生成计算过程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03169" y="2517577"/>
            <a:ext cx="65857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04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850438" y="3003352"/>
            <a:ext cx="8488075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GRU与模型对比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313996" y="4024312"/>
            <a:ext cx="7560959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简化结构与性能权衡的工程考量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C8CCD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Gated Recurrent Unit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5247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GRU门控循环单元详解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314450"/>
            <a:ext cx="9522" cy="628650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80880" y="1352550"/>
            <a:ext cx="11608072" cy="5524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GRU由Cho等人于2014年提出，通过将LSTM的遗忘门与输入门合并为更新门、细胞状态与隐藏状态合并为单一状态，在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保持相近性能的同时显著减少参数数量和计算复杂度。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095500"/>
            <a:ext cx="11274781" cy="9525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276475"/>
            <a:ext cx="3605799" cy="41243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457086" y="2276475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657061" y="2514600"/>
            <a:ext cx="320585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重置门 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57061" y="2884141"/>
            <a:ext cx="1316204" cy="340519"/>
          </a:xfrm>
          <a:prstGeom prst="rect">
            <a:avLst/>
          </a:prstGeom>
          <a:solidFill>
            <a:srgbClr val="F1F3F5">
              <a:alpha val="70196"/>
            </a:srgbClr>
          </a:solidFill>
          <a:ln w="9525">
            <a:solidFill>
              <a:srgbClr val="C5CDD6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761810" y="2969866"/>
            <a:ext cx="1211456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r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σ(W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r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·[h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, x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])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57061" y="3737521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780854" y="3766096"/>
            <a:ext cx="328203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决定如何结合新输入与历史记忆，通过 sigmoid 函数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输出 0–1 之间的门控值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657061" y="4923235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780854" y="4951810"/>
            <a:ext cx="328203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接近 0 时忽略历史信息，接近 1 时完整保留历史状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57061" y="5824538"/>
            <a:ext cx="320585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57061" y="5986462"/>
            <a:ext cx="320585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RESET GATE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4291428" y="2276475"/>
            <a:ext cx="3605948" cy="41243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291428" y="2276475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4491403" y="2514600"/>
            <a:ext cx="3205998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更新门 z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4491403" y="2884141"/>
            <a:ext cx="1357866" cy="340519"/>
          </a:xfrm>
          <a:prstGeom prst="rect">
            <a:avLst/>
          </a:prstGeom>
          <a:solidFill>
            <a:srgbClr val="F1F3F5">
              <a:alpha val="70196"/>
            </a:srgbClr>
          </a:solidFill>
          <a:ln w="9525">
            <a:solidFill>
              <a:srgbClr val="C5CDD6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4596152" y="2969866"/>
            <a:ext cx="1253117" cy="17918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z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σ(W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z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·[h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, x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])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 flipH="false" flipV="false" rot="0">
            <a:off x="4491403" y="3737521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4615197" y="3766096"/>
            <a:ext cx="3282179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控制新旧信息的混合比例，决定多少旧状态被保留、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多少新候选被采纳</a:t>
            </a:r>
            <a:endParaRPr/>
          </a:p>
        </p:txBody>
      </p:sp>
      <p:sp>
        <p:nvSpPr>
          <p:cNvPr id="27" name="AutoShape 27"/>
          <p:cNvSpPr/>
          <p:nvPr/>
        </p:nvSpPr>
        <p:spPr>
          <a:xfrm flipH="false" flipV="false" rot="0">
            <a:off x="4491403" y="4923235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true"/>
          <p:nvPr/>
        </p:nvSpPr>
        <p:spPr>
          <a:xfrm flipH="false" flipV="false" rot="0">
            <a:off x="4615197" y="4951810"/>
            <a:ext cx="3282179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相当于 LSTM 遗忘门和输入门的组合，一次性完成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遗忘和更新操作</a:t>
            </a:r>
            <a:endParaRPr/>
          </a:p>
        </p:txBody>
      </p:sp>
      <p:sp>
        <p:nvSpPr>
          <p:cNvPr id="29" name="AutoShape 29"/>
          <p:cNvSpPr/>
          <p:nvPr/>
        </p:nvSpPr>
        <p:spPr>
          <a:xfrm flipH="false" flipV="false" rot="0">
            <a:off x="4491403" y="5824538"/>
            <a:ext cx="3205998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true"/>
          <p:nvPr/>
        </p:nvSpPr>
        <p:spPr>
          <a:xfrm flipH="false" flipV="false" rot="0">
            <a:off x="4491403" y="5986462"/>
            <a:ext cx="320599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UPDATE GATE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 flipH="false" flipV="false" rot="0">
            <a:off x="8125918" y="2276475"/>
            <a:ext cx="3605799" cy="41243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 flipH="false" flipV="false" rot="0">
            <a:off x="8125918" y="2276475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TextBox 33"/>
          <p:cNvSpPr txBox="true"/>
          <p:nvPr/>
        </p:nvSpPr>
        <p:spPr>
          <a:xfrm flipH="false" flipV="false" rot="0">
            <a:off x="8325894" y="2514600"/>
            <a:ext cx="320585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隐藏状态更新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 flipH="false" flipV="false" rot="0">
            <a:off x="8325894" y="2884141"/>
            <a:ext cx="1752608" cy="340519"/>
          </a:xfrm>
          <a:prstGeom prst="rect">
            <a:avLst/>
          </a:prstGeom>
          <a:solidFill>
            <a:srgbClr val="F1F3F5">
              <a:alpha val="70196"/>
            </a:srgbClr>
          </a:solidFill>
          <a:ln w="9525">
            <a:solidFill>
              <a:srgbClr val="C5CDD6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35"/>
          <p:cNvSpPr txBox="true"/>
          <p:nvPr/>
        </p:nvSpPr>
        <p:spPr>
          <a:xfrm flipH="false" flipV="false" rot="0">
            <a:off x="8430642" y="2937718"/>
            <a:ext cx="1647859" cy="22026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h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= (1-z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)⊙h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t-1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 + z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⊙h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~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~</a:t>
            </a:r>
            <a:r>
              <a:rPr b="false" i="false" strike="noStrike" sz="800">
                <a:ln/>
                <a:solidFill>
                  <a:srgbClr val="0A1F3D">
                    <a:alpha val="70196"/>
                  </a:srgbClr>
                </a:solidFill>
                <a:latin typeface="Inter"/>
                <a:ea typeface="Inter"/>
                <a:cs typeface="Inter"/>
              </a:rPr>
              <a:t>t</a:t>
            </a:r>
            <a:endParaRPr/>
          </a:p>
        </p:txBody>
      </p:sp>
      <p:sp>
        <p:nvSpPr>
          <p:cNvPr id="36" name="AutoShape 36"/>
          <p:cNvSpPr/>
          <p:nvPr/>
        </p:nvSpPr>
        <p:spPr>
          <a:xfrm flipH="false" flipV="false" rot="0">
            <a:off x="8325894" y="3737521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Box 37"/>
          <p:cNvSpPr txBox="true"/>
          <p:nvPr/>
        </p:nvSpPr>
        <p:spPr>
          <a:xfrm flipH="false" flipV="false" rot="0">
            <a:off x="8449687" y="3726656"/>
            <a:ext cx="3282031" cy="40511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候选状态 h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~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~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= tanh(W·[r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⊙h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t-1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, x</a:t>
            </a:r>
            <a:r>
              <a:rPr b="false" i="false" strike="noStrike" sz="7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])，重置门控制历史信息的使用程度</a:t>
            </a:r>
            <a:endParaRPr/>
          </a:p>
        </p:txBody>
      </p:sp>
      <p:sp>
        <p:nvSpPr>
          <p:cNvPr id="38" name="AutoShape 38"/>
          <p:cNvSpPr/>
          <p:nvPr/>
        </p:nvSpPr>
        <p:spPr>
          <a:xfrm flipH="false" flipV="false" rot="0">
            <a:off x="8325894" y="4923235"/>
            <a:ext cx="9522" cy="426541"/>
          </a:xfrm>
          <a:prstGeom prst="line">
            <a:avLst/>
          </a:prstGeom>
          <a:ln w="952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TextBox 39"/>
          <p:cNvSpPr txBox="true"/>
          <p:nvPr/>
        </p:nvSpPr>
        <p:spPr>
          <a:xfrm flipH="false" flipV="false" rot="0">
            <a:off x="8449687" y="4951810"/>
            <a:ext cx="328203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最终通过线性插值融合新旧状态，无需独立的细胞状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态即可实现长期记忆</a:t>
            </a:r>
            <a:endParaRPr/>
          </a:p>
        </p:txBody>
      </p:sp>
      <p:sp>
        <p:nvSpPr>
          <p:cNvPr id="40" name="AutoShape 40"/>
          <p:cNvSpPr/>
          <p:nvPr/>
        </p:nvSpPr>
        <p:spPr>
          <a:xfrm flipH="false" flipV="false" rot="0">
            <a:off x="8325894" y="5824538"/>
            <a:ext cx="320585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TextBox 41"/>
          <p:cNvSpPr txBox="true"/>
          <p:nvPr/>
        </p:nvSpPr>
        <p:spPr>
          <a:xfrm flipH="false" flipV="false" rot="0">
            <a:off x="8325894" y="5986462"/>
            <a:ext cx="320585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STATE UPDATE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 Comparison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LSTM与GRU对比分析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LSTM和GRU各有优劣，LSTM结构更复杂、表达能力更强，适合长序列和复杂任务；GRU结构简洁、训练高效，适合资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源受限或追求快速迭代的场景。实际选择应基于具体任务需求和实验验证。</a:t>
            </a:r>
            <a:endParaRPr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457086" y="2221111"/>
            <a:ext cx="1127478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LSTM vs GRU 核心对比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true"/>
          </p:cNvGraphicFramePr>
          <p:nvPr/>
        </p:nvGraphicFramePr>
        <p:xfrm>
          <a:off x="457086" y="2617291"/>
          <a:ext cx="11274781" cy="3508028"/>
        </p:xfrm>
        <a:graphic>
          <a:graphicData uri="http://schemas.openxmlformats.org/drawingml/2006/table">
            <a:tbl>
              <a:tblPr/>
              <a:tblGrid>
                <a:gridCol w="2476500"/>
                <a:gridCol w="4394200"/>
                <a:gridCol w="4394200"/>
              </a:tblGrid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对比维度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LSTM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GRU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门控数量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3个（遗忘门、输入门、输出门）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2个（重置门、更新门）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状态变量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细胞状态Ct + 隐藏状态ht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单一隐藏状态ht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参数量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4 × (n² + nm + n)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3 × (n² + nm + n)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计算复杂度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较高，每步6次矩阵乘法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较低，每步4次矩阵乘法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长期依赖能力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强，细胞状态提供稳定的梯度通道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较强，但长序列可能略逊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训练速度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较慢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较快，约提升20-30%</a:t>
                      </a:r>
                      <a:endParaRPr/>
                    </a:p>
                  </a:txBody>
                  <a:tcPr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9"/>
          <p:cNvSpPr txBox="true"/>
          <p:nvPr/>
        </p:nvSpPr>
        <p:spPr>
          <a:xfrm flipH="false" flipV="false" rot="0">
            <a:off x="457086" y="6234112"/>
            <a:ext cx="1127478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摘要：LSTM结构更复杂但长期依赖能力更强，GRU更简洁高效，两者在多数任务上性能相当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D0D0D0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2386235" y="2766120"/>
            <a:ext cx="741648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课程总结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031442" y="3787080"/>
            <a:ext cx="8126067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从RNN到LSTM/GRU，掌握序列建模的核心技术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