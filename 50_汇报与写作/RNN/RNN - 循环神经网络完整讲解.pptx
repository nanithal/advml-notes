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</p:sldMasterIdLst>
  <p:notesMasterIdLst>
    <p:notesMasterId r:id="rId7"/>
  </p:notesMasterIdLst>
  <p:sldIdLst>
    <p:sldId id="256" r:id="rId6"/>
    <p:sldId id="257" r:id="rId8"/>
    <p:sldId id="258" r:id="rId9"/>
    <p:sldId id="259" r:id="rId10"/>
    <p:sldId id="272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75" r:id="rId19"/>
    <p:sldId id="267" r:id="rId20"/>
    <p:sldId id="270" r:id="rId21"/>
    <p:sldId id="271" r:id="rId22"/>
    <p:sldId id="268" r:id="rId23"/>
    <p:sldId id="269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默认节" id="{8773ad54-7739-4938-bd80-a2b72efdc763}">
          <p14:sldIdLst>
            <p14:sldId id="256"/>
            <p14:sldId id="257"/>
            <p14:sldId id="258"/>
            <p14:sldId id="259"/>
            <p14:sldId id="272"/>
            <p14:sldId id="260"/>
            <p14:sldId id="261"/>
            <p14:sldId id="262"/>
            <p14:sldId id="263"/>
            <p14:sldId id="264"/>
            <p14:sldId id="265"/>
            <p14:sldId id="266"/>
            <p14:sldId id="275"/>
            <p14:sldId id="267"/>
            <p14:sldId id="270"/>
            <p14:sldId id="271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40" userDrawn="1">
          <p15:clr>
            <a:srgbClr val="747775"/>
          </p15:clr>
        </p15:guide>
        <p15:guide id="2" pos="2896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0"/>
        <p:guide pos="2896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来深入探讨循环神经网络（RNN）。作为深度学习中处理序列数据的核心模型，RNN在自然语言处理、时间序列预测等领域有着广泛的应用。这一页是我们的课程封面，接下来我们将从原理出发，一步步推导其背后的数学公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大家好，今天我们将深入探讨循环神经网络（RNN）的核心内容。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会从序列数据的特性出发，理解为什么需要RNN。接着，我们将深入解析RNN的核心结构和隐藏状态的传递机制。然后，我们会推导前向传播的公式，夯实数学基础。随后，我们会讨论输出层的设计和损失函数的选择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第二部分，我们将深入学习随时间反向传播（BPTT）算法，并探讨RNN训练中常见的梯度消失和梯度爆炸问题及其解决方案。最后，我们会介绍LSTM和GRU这两种重要的门控变体，并结合实际应用场景，通过代码实现来巩固所学知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这一页我们来回顾一下什么是序列数据。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首先，从定义上来看，序列数据最核心的特征就是“有序”。数据点之间不是孤立的，而是存在明确的先后顺序，这个顺序本身就携带了非常重要的信息。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在数学上，我们通常用一个有序的向量列表来表示它，也就是 X 等于 x1, x2 直到 xT，其中 T 代表序列的长度。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我们生活中常见的序列数据非常多，比如我们说的一句话，这是文本序列；股票市场每天的价格波动，这是金融时序数据；还有语音信号、传感器采集的温度数据等等。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它有两个非常关键的性质：一是顺序敏感，打乱顺序，意思就完全变了；二是上下文依赖，后面发生的事情往往依赖于前面发生的事情。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右边的图展示了一个典型的序列结构，从 x1 到 xT，每一个时间步 t 都紧密相连，构成了一个完整的时间链条。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这一页我们来探讨为什么需要循环神经网络（RNN）。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传统的全连接神经网络在处理序列数据时存在明显的痛点：它要求输入是固定长度的，这对于长度不一的句子或语音信号来说非常不友好；同时，它独立处理每一个输入，忽略了数据之间的顺序关系；而且，由于没有参数共享机制，随着序列变长，参数量会急剧增加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RNN 通过引入“隐藏状态”解决了这些问题。它就像一个记忆单元，保存着历史信息，让网络能够理解上下文。同时，权值共享机制大大减少了参数量，并且天然支持变长序列的输入。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大家看底部的这个公式，它简洁地概括了 RNN 的核心思想：当前时刻的状态，既取决于当前的输入，也取决于上一时刻的状态。这正是 RNN 能够处理序列数据的关键所在。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这一页我们来探讨为什么需要循环神经网络（RNN）。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传统的全连接神经网络在处理序列数据时存在明显的痛点：它要求输入是固定长度的，这对于长度不一的句子或语音信号来说非常不友好；同时，它独立处理每一个输入，忽略了数据之间的顺序关系；而且，由于没有参数共享机制，随着序列变长，参数量会急剧增加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RNN 通过引入“隐藏状态”解决了这些问题。它就像一个记忆单元，保存着历史信息，让网络能够理解上下文。同时，权值共享机制大大减少了参数量，并且天然支持变长序列的输入。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大家看底部的这个公式，它简洁地概括了 RNN 的核心思想：当前时刻的状态，既取决于当前的输入，也取决于上一时刻的状态。这正是 RNN 能够处理序列数据的关键所在。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这一页我们深入了解RNN的基本结构。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左侧展示了RNN的四个核心组成部分：输入层、隐藏状态、输出层以及权值共享机制。其中，隐藏状态 h_t 是RNN的灵魂，它像一个记忆容器，承载了从序列开始到当前时刻的所有信息。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右侧的图解直观地展示了单个RNN单元的工作原理：它接收当前时刻的输入 x_t 和上一时刻的隐藏状态 h_{t-1}，经过计算后，不仅输出当前的预测结果 y_t，还会生成新的隐藏状态 h_t 传递给下一个时间步。这种循环机制使得RNN能够处理序列数据。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这一页我们深入探讨RNN的核心——前向传播公式。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大家看到的这个公式是RNN中隐藏状态更新的关键。它告诉我们，当前时刻的隐藏状态h_t是如何计算出来的。它由三个部分组成：前一时刻的隐藏状态h_{t-1}、当前的输入x_t，以及偏置项。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首先，W_h是隐藏状态的权重矩阵，它决定了我们如何利用过去的信息；W_x是输入权重矩阵，负责处理当前的输入信号；而b_h作为偏置项，为模型提供了必要的灵活性。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最后，我们使用tanh作为激活函数，将结果压缩到-1到1之间，这有助于解决梯度消失的问题，并保证输出的稳定性。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这一页我们来深入了解输出层的数学表达。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首先看上方的核心公式，y_t等于权重矩阵W_y乘以隐藏层状态h_t，再加上偏置项b_y。这个公式的作用是将模型学到的隐藏层特征，线性映射到输出空间。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接下来，根据任务类型的不同，输出层的处理方式也有所区别：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左边是分类任务，比如我们常见的文本分类。这时候我们需要使用Softmax函数，将输出值转化为概率分布，确保所有类别的概率之和为1，这样模型就能给出每个类别的置信度。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右边是回归任务，比如预测未来的气温或者股价。这种情况下，我们不需要激活函数，直接输出线性层的结果即可，因为我们需要的是一个具体的连续数值，而不是概率。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这一页我们来深入理解RNN的核心——按时间步展开的结构。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大家看中间的示意图，这是一个典型的RNN按时间步展开的过程。我们可以看到，从左到右依次是t=1, t=2, t=3三个时刻。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首先，每个时刻都有一个输入x_t，比如x1、x2、x3。这些输入被送入一个RNN单元，这个单元会产生输出y_t，比如y1、y2、y3。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最关键的是，这个RNN单元在所有时间步中是同一个！它的参数U、W、V是完全共享的，这就是RNN的“参数共享”机制。这不仅减少了模型的参数量，还保证了模型对时间序列的一致性理解。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另外，大家注意虚线箭头，这代表隐藏状态h的传递。h_t不仅依赖于当前的输入x_t，还依赖于上一个时刻的隐藏状态h_{t-1}。这种结构让RNN具备了记忆能力。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最后，这种展开的视角告诉我们，RNN本质上可以看作一个深度等于序列长度的前馈网络，而且这个深度是动态变化的，这正是RNN能够处理任意长度序列的关键。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这一页我们通过一个具体的数值示例来深入理解RNN的前向传播过程。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首先看左侧的参数设定：我们设定输入维度为2，隐藏层维度也为2。在t=1时刻，输入向量x1是[1, 2]，初始的隐藏状态h0是全零向量。同时，我们定义了权重矩阵Wx和Wh，以及偏置项bh。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右侧展示了具体的计算步骤：第一步，计算隐层的输入z1，这是一个线性变换的过程；第二步，将z1输入tanh激活函数，得到新的隐藏状态h1；第三步，通过输出层的线性变换得到最终的输出y1。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通过这个具体的数值计算，大家可以清晰地看到信息是如何在网络中流动和变换的。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各位好，这一页我们来深入理解循环神经网络中的损失函数。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首先看单时刻的损失。在分类任务中，我们通常使用交叉熵损失，它能很好地衡量预测概率分布与真实标签之间的差异。而在回归任务中，均方误差（MSE）则是更常用的选择，用于预测连续数值。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整个序列的总损失。公式中的T代表序列的总长度，我们对每个时间步的损失取平均值，这样可以避免因为序列长短不同而导致损失值的量级差异过大。我们的训练目标就是通过反向传播算法，不断调整模型的参数，来最小化这个总损失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最后需要特别注意的是，在一些特定任务中，比如文本分类，我们只关心最后一个时刻的输出，因此只在最后一个时间步计算损失，中间时刻的损失会被忽略。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这一页我们深入探讨RNN的训练机制——随时间反向传播，也就是BPTT。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BPTT的核心思想是将RNN按时间步展开，变成一个深度的前馈网络，然后像普通神经网络一样反向传播梯度。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大家看中间的公式，循环权重Wh的梯度是所有时间步梯度的总和，这意味着它的梯度计算需要回溯整个序列。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下方的三个卡片分别展示了三个关键权重的梯度来源：Wx只看当前输入，Wy只看当前输出，而Wh则贯穿整个时间轴。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最后，底部的红色警示框提醒我们，正是因为Wh的梯度需要跨越时间步累加，当序列很长时，连乘效应会导致梯度要么消失要么爆炸，这是我们训练RNN时必须解决的问题。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这一页我们深入探讨RNN的核心——前向传播公式。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大家看到的这个公式是RNN中隐藏状态更新的关键。它告诉我们，当前时刻的隐藏状态h_t是如何计算出来的。它由三个部分组成：前一时刻的隐藏状态h_{t-1}、当前的输入x_t，以及偏置项。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首先，W_h是隐藏状态的权重矩阵，它决定了我们如何利用过去的信息；W_x是输入权重矩阵，负责处理当前的输入信号；而b_h作为偏置项，为模型提供了必要的灵活性。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最后，我们使用tanh作为激活函数，将结果压缩到-1到1之间，这有助于解决梯度消失的问题，并保证输出的稳定性。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大家好，这一页我们深入探讨RNN训练中常见的两个问题：梯度消失和梯度爆炸。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首先看上方的核心公式，这是RNN中梯度的链式法则推导。我们可以看到，梯度的计算涉及到权重矩阵和激活函数导数的连乘。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左边是梯度消失的情况：因为tanh函数的导数最大不超过1，且在大部分区域趋近于0。当这个小于1的因子经过多层连乘后，梯度会呈指数级衰减，导致深层网络的参数无法更新，模型学不到长距离的依赖关系。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右边是梯度爆炸：这通常是因为权重矩阵的特征值大于1，连乘后梯度变得非常大，导致参数更新幅度过大，损失函数剧烈震荡，甚至出现NaN值，训练崩溃。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针对这两个问题，我们有相应的解决策略：对于梯度爆炸，最常用的是梯度裁剪；对于梯度消失，我们通常采用改进的网络结构，比如接下来要讲的LSTM和GRU。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这一页我们来探讨RNN的实际应用场景以及如何用PyTorch快速实现。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列出了RNN最核心的四个应用领域：首先是自然语言处理，这是RNN最经典的战场，无论是语言模型还是机器翻译都离不开它；其次是时序预测，比如预测股票价格或天气变化；第三是语音处理，包括语音识别和合成；最后是序列标注，比如给句子中的每个词打上词性标签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右侧展示了一段标准的PyTorch代码。我们可以看到，定义一个RNN非常简单，只需要指定输入维度、隐藏层维度和层数。这里的关键参数是batch_first=True，它让我们的数据维度更符合直觉。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值得注意的是，PyTorch的API设计非常统一，如果你想尝试LSTM或GRU，只需要把nn.RNN换成nn.LSTM或nn.GRU即可，代码的其他部分完全不需要改动。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总结一下RNN的优缺点。首先，RNN的核心优势在于它天然适配序列数据，能够处理变长的输入输出，并且通过权值共享极大地减少了参数量。同时，它能够利用隐藏状态来记忆上下文信息，这对于理解文本的语义连贯性至关重要。此外，它的结构非常灵活，能够适应多种任务模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而，RNN也存在明显的局限性。最著名的问题就是梯度消失，这使得它很难学习到长距离的依赖关系。另外，由于其循环结构，RNN的计算是串行的，无法并行化，这在处理大规模数据时会成为瓶颈。在现代深度学习中，Transformer架构凭借其并行计算能力和全局注意力机制，已经在大多数NLP任务上超越了传统的RNN。因此，在实际工程应用中，我们更多会选择改进的循环网络如LSTM、GRU，或者直接使用Transformer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以上就是关于RNN的全部内容，感谢大家的观看。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这一页我们深入探讨LSTM的核心——门控机制的数学表达。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首先是遗忘门（Forget Gate），它决定了上一时刻的细胞状态有多少信息需要被遗忘，公式中使用Sigmoid函数输出0到1之间的值。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接着是输入门（Input Gate），它控制着当前输入的信息有多少需要被写入到细胞状态中，同样由Sigmoid函数控制。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然后是细胞状态的更新，这是LSTM的核心，通过遗忘门保留旧信息，通过输入门加入新信息，实现记忆的迭代。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最后是输出门（Output Gate），它决定了当前时刻的输出值，结合了当前的细胞状态和门控信号，生成最终的隐藏状态。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这一页我们来深入了解GRU（门控循环单元），它是LSTM的一种简化变体。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GRU最大的特点是简化了门控结构。它将LSTM中的遗忘门和输入门合并成了一个“更新门”，同时移除了独立的细胞状态，仅保留隐藏状态。这种设计减少了约三分之一的参数数量，使得模型训练速度更快，也更不容易过拟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我们来看中间的三个核心机制：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更新门（Update Gate）：它决定了要保留多少历史信息，以及要加入多少新信息，起到了平衡新旧记忆的作用。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重置门（Reset Gate）：它控制着是否要“忘记”过去的信息，帮助模型更好地捕捉短期依赖。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3. 状态更新：基于重置门生成候选状态，再通过更新门对新旧状态进行线性插值，完成最终的状态更新。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最后，在底部的对比中我们可以看到，虽然LSTM的表达能力更强，但GRU凭借其轻量级的结构，在训练效率和小数据集表现上往往更具优势。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0" Type="http://schemas.openxmlformats.org/officeDocument/2006/relationships/notesSlide" Target="../notesSlides/notesSlide2.xml"/><Relationship Id="rId3" Type="http://schemas.openxmlformats.org/officeDocument/2006/relationships/tags" Target="../tags/tag3.xml"/><Relationship Id="rId29" Type="http://schemas.openxmlformats.org/officeDocument/2006/relationships/slideLayout" Target="../slideLayouts/slideLayout12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6.svg"/><Relationship Id="rId7" Type="http://schemas.openxmlformats.org/officeDocument/2006/relationships/image" Target="../media/image25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0.svg"/><Relationship Id="rId7" Type="http://schemas.openxmlformats.org/officeDocument/2006/relationships/image" Target="../media/image39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4.svg"/><Relationship Id="rId7" Type="http://schemas.openxmlformats.org/officeDocument/2006/relationships/image" Target="../media/image53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Relationship Id="rId3" Type="http://schemas.openxmlformats.org/officeDocument/2006/relationships/image" Target="../media/image49.png"/><Relationship Id="rId2" Type="http://schemas.openxmlformats.org/officeDocument/2006/relationships/image" Target="../media/image48.svg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4" Type="http://schemas.openxmlformats.org/officeDocument/2006/relationships/image" Target="../media/image59.svg"/><Relationship Id="rId3" Type="http://schemas.openxmlformats.org/officeDocument/2006/relationships/image" Target="../media/image58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0.png"/><Relationship Id="rId8" Type="http://schemas.openxmlformats.org/officeDocument/2006/relationships/image" Target="../media/image69.svg"/><Relationship Id="rId7" Type="http://schemas.openxmlformats.org/officeDocument/2006/relationships/image" Target="../media/image68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65.svg"/><Relationship Id="rId3" Type="http://schemas.openxmlformats.org/officeDocument/2006/relationships/image" Target="../media/image64.png"/><Relationship Id="rId2" Type="http://schemas.openxmlformats.org/officeDocument/2006/relationships/image" Target="../media/image63.svg"/><Relationship Id="rId12" Type="http://schemas.openxmlformats.org/officeDocument/2006/relationships/notesSlide" Target="../notesSlides/notesSlide15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71.svg"/><Relationship Id="rId1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0.png"/><Relationship Id="rId8" Type="http://schemas.openxmlformats.org/officeDocument/2006/relationships/image" Target="../media/image79.svg"/><Relationship Id="rId7" Type="http://schemas.openxmlformats.org/officeDocument/2006/relationships/image" Target="../media/image78.png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4" Type="http://schemas.openxmlformats.org/officeDocument/2006/relationships/image" Target="../media/image75.svg"/><Relationship Id="rId3" Type="http://schemas.openxmlformats.org/officeDocument/2006/relationships/image" Target="../media/image74.png"/><Relationship Id="rId2" Type="http://schemas.openxmlformats.org/officeDocument/2006/relationships/image" Target="../media/image73.svg"/><Relationship Id="rId18" Type="http://schemas.openxmlformats.org/officeDocument/2006/relationships/notesSlide" Target="../notesSlides/notesSlide16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87.svg"/><Relationship Id="rId15" Type="http://schemas.openxmlformats.org/officeDocument/2006/relationships/image" Target="../media/image86.png"/><Relationship Id="rId14" Type="http://schemas.openxmlformats.org/officeDocument/2006/relationships/image" Target="../media/image85.svg"/><Relationship Id="rId13" Type="http://schemas.openxmlformats.org/officeDocument/2006/relationships/image" Target="../media/image84.png"/><Relationship Id="rId12" Type="http://schemas.openxmlformats.org/officeDocument/2006/relationships/image" Target="../media/image83.svg"/><Relationship Id="rId11" Type="http://schemas.openxmlformats.org/officeDocument/2006/relationships/image" Target="../media/image82.png"/><Relationship Id="rId10" Type="http://schemas.openxmlformats.org/officeDocument/2006/relationships/image" Target="../media/image81.svg"/><Relationship Id="rId1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2032000" cy="2032000"/>
          </a:xfrm>
          <a:prstGeom prst="triangle">
            <a:avLst/>
          </a:prstGeom>
          <a:solidFill>
            <a:srgbClr val="3D2B7A">
              <a:alpha val="100000"/>
            </a:srgbClr>
          </a:solidFill>
          <a:ln cap="flat" cmpd="sng">
            <a:solidFill>
              <a:srgbClr val="29186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0" y="4826000"/>
            <a:ext cx="2032000" cy="2032000"/>
          </a:xfrm>
          <a:prstGeom prst="triangle">
            <a:avLst/>
          </a:prstGeom>
          <a:solidFill>
            <a:srgbClr val="3D2B7A">
              <a:alpha val="100000"/>
            </a:srgbClr>
          </a:solidFill>
          <a:ln cap="flat" cmpd="sng">
            <a:solidFill>
              <a:srgbClr val="29186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RNN 循环神经网络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556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6B6B8A"/>
                </a:solidFill>
                <a:latin typeface="Inter"/>
                <a:ea typeface="Inter"/>
                <a:cs typeface="Inter"/>
                <a:sym typeface="Inter"/>
              </a:rPr>
              <a:t>Recurrent Neural Network — 从原理到公式推导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34000" y="4572000"/>
            <a:ext cx="1524000" cy="50800"/>
          </a:xfrm>
          <a:prstGeom prst="roundRect">
            <a:avLst>
              <a:gd name="adj" fmla="val 0"/>
            </a:avLst>
          </a:prstGeom>
          <a:solidFill>
            <a:srgbClr val="FF7A59">
              <a:alpha val="100000"/>
            </a:srgbClr>
          </a:solidFill>
          <a:ln cap="flat" cmpd="sng">
            <a:solidFill>
              <a:srgbClr val="E65B3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571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A9AB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深度学习 · 序列模型专题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/ 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39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7A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508000" y="1905000"/>
            <a:ext cx="508000" cy="508000"/>
          </a:xfrm>
          <a:prstGeom prst="ellipse">
            <a:avLst/>
          </a:prstGeom>
          <a:solidFill>
            <a:srgbClr val="3D2B7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508000" y="1905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1143000" y="1905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序列数据与RNN动机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1143000" y="2349500"/>
            <a:ext cx="457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8A8A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探索序列数据的时序特性，剖析传统神经网络处理序列问题的局限，理解循环神经网络诞生的核心动机。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508000" y="2984500"/>
            <a:ext cx="508000" cy="508000"/>
          </a:xfrm>
          <a:prstGeom prst="ellipse">
            <a:avLst/>
          </a:prstGeom>
          <a:solidFill>
            <a:srgbClr val="3D2B7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508000" y="29845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1143000" y="2984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RNN核心结构与隐藏状态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1143000" y="3429000"/>
            <a:ext cx="457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8A8A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拆解RNN的基础单元结构，深入理解隐藏状态如何在时间步间传递信息，构建对循环机制的直观认知。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508000" y="4064000"/>
            <a:ext cx="508000" cy="508000"/>
          </a:xfrm>
          <a:prstGeom prst="ellipse">
            <a:avLst/>
          </a:prstGeom>
          <a:solidFill>
            <a:srgbClr val="3D2B7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508000" y="4064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1143000" y="4064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前向传播公式推导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1143000" y="4508500"/>
            <a:ext cx="457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8A8A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一步步推导RNN的前向计算流程，掌握输入层、隐藏层与输出层的数值传递逻辑，夯实数学基础。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508000" y="5143500"/>
            <a:ext cx="508000" cy="508000"/>
          </a:xfrm>
          <a:prstGeom prst="ellipse">
            <a:avLst/>
          </a:prstGeom>
          <a:solidFill>
            <a:srgbClr val="3D2B7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4"/>
            </p:custDataLst>
          </p:nvPr>
        </p:nvSpPr>
        <p:spPr>
          <a:xfrm>
            <a:off x="508000" y="51435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5"/>
            </p:custDataLst>
          </p:nvPr>
        </p:nvSpPr>
        <p:spPr>
          <a:xfrm>
            <a:off x="1143000" y="5143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输出层与损失函数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6"/>
            </p:custDataLst>
          </p:nvPr>
        </p:nvSpPr>
        <p:spPr>
          <a:xfrm>
            <a:off x="1143000" y="5588000"/>
            <a:ext cx="457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8A8A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设计适配任务的输出层架构，详解损失函数的定义方式，掌握模型误差计算与反向传播的起点逻辑。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17"/>
            </p:custDataLst>
          </p:nvPr>
        </p:nvSpPr>
        <p:spPr>
          <a:xfrm>
            <a:off x="6096000" y="1905000"/>
            <a:ext cx="508000" cy="508000"/>
          </a:xfrm>
          <a:prstGeom prst="ellipse">
            <a:avLst/>
          </a:prstGeom>
          <a:solidFill>
            <a:srgbClr val="3D2B7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>
            <p:custDataLst>
              <p:tags r:id="rId18"/>
            </p:custDataLst>
          </p:nvPr>
        </p:nvSpPr>
        <p:spPr>
          <a:xfrm>
            <a:off x="6096000" y="1905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19"/>
            </p:custDataLst>
          </p:nvPr>
        </p:nvSpPr>
        <p:spPr>
          <a:xfrm>
            <a:off x="6731000" y="1905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BPTT随时间反向传播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20"/>
            </p:custDataLst>
          </p:nvPr>
        </p:nvSpPr>
        <p:spPr>
          <a:xfrm>
            <a:off x="6731000" y="2349500"/>
            <a:ext cx="495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8A8A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深入解析随时间反向传播（BPTT）算法，理解梯度在时间维度上的反向传递过程与参数更新机制。</a:t>
            </a: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21"/>
            </p:custDataLst>
          </p:nvPr>
        </p:nvSpPr>
        <p:spPr>
          <a:xfrm>
            <a:off x="6096000" y="2984500"/>
            <a:ext cx="508000" cy="508000"/>
          </a:xfrm>
          <a:prstGeom prst="ellipse">
            <a:avLst/>
          </a:prstGeom>
          <a:solidFill>
            <a:srgbClr val="3D2B7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>
            <p:custDataLst>
              <p:tags r:id="rId22"/>
            </p:custDataLst>
          </p:nvPr>
        </p:nvSpPr>
        <p:spPr>
          <a:xfrm>
            <a:off x="6096000" y="29845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6" name="AutoShape 26"/>
          <p:cNvSpPr/>
          <p:nvPr>
            <p:custDataLst>
              <p:tags r:id="rId23"/>
            </p:custDataLst>
          </p:nvPr>
        </p:nvSpPr>
        <p:spPr>
          <a:xfrm>
            <a:off x="6731000" y="2984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梯度消失与梯度爆炸</a:t>
            </a:r>
            <a:endParaRPr lang="en-US" sz="1100"/>
          </a:p>
        </p:txBody>
      </p:sp>
      <p:sp>
        <p:nvSpPr>
          <p:cNvPr id="27" name="AutoShape 27"/>
          <p:cNvSpPr/>
          <p:nvPr>
            <p:custDataLst>
              <p:tags r:id="rId24"/>
            </p:custDataLst>
          </p:nvPr>
        </p:nvSpPr>
        <p:spPr>
          <a:xfrm>
            <a:off x="6731000" y="3429000"/>
            <a:ext cx="495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8A8A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剖析RNN训练中梯度异常的成因，探讨梯度裁剪、权重初始化等缓解策略，保障模型的稳定训练。</a:t>
            </a:r>
            <a:endParaRPr lang="en-US" sz="1100"/>
          </a:p>
        </p:txBody>
      </p:sp>
      <p:sp>
        <p:nvSpPr>
          <p:cNvPr id="32" name="AutoShape 32"/>
          <p:cNvSpPr/>
          <p:nvPr>
            <p:custDataLst>
              <p:tags r:id="rId25"/>
            </p:custDataLst>
          </p:nvPr>
        </p:nvSpPr>
        <p:spPr>
          <a:xfrm>
            <a:off x="6125845" y="4064000"/>
            <a:ext cx="508000" cy="508000"/>
          </a:xfrm>
          <a:prstGeom prst="ellipse">
            <a:avLst/>
          </a:prstGeom>
          <a:solidFill>
            <a:srgbClr val="3D2B7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>
            <p:custDataLst>
              <p:tags r:id="rId26"/>
            </p:custDataLst>
          </p:nvPr>
        </p:nvSpPr>
        <p:spPr>
          <a:xfrm>
            <a:off x="6096000" y="4064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34" name="AutoShape 34"/>
          <p:cNvSpPr/>
          <p:nvPr>
            <p:custDataLst>
              <p:tags r:id="rId27"/>
            </p:custDataLst>
          </p:nvPr>
        </p:nvSpPr>
        <p:spPr>
          <a:xfrm>
            <a:off x="6731000" y="4127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应用场景与代码实现</a:t>
            </a:r>
            <a:endParaRPr lang="en-US" sz="1100"/>
          </a:p>
        </p:txBody>
      </p:sp>
      <p:sp>
        <p:nvSpPr>
          <p:cNvPr id="35" name="AutoShape 35"/>
          <p:cNvSpPr/>
          <p:nvPr>
            <p:custDataLst>
              <p:tags r:id="rId28"/>
            </p:custDataLst>
          </p:nvPr>
        </p:nvSpPr>
        <p:spPr>
          <a:xfrm>
            <a:off x="6731000" y="4572000"/>
            <a:ext cx="495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8A8A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探索RNN在文本生成、情感分析等领域的应用，通过实战代码掌握模型的构建、训练与部署全流程。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0"/>
          </a:xfrm>
          <a:prstGeom prst="roundRect">
            <a:avLst>
              <a:gd name="adj" fmla="val 0"/>
            </a:avLst>
          </a:prstGeom>
          <a:solidFill>
            <a:srgbClr val="3D2B7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127000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序列数据是什么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270000"/>
            <a:ext cx="2984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DD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1460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79500" y="14351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核心定义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98500" y="1905000"/>
            <a:ext cx="266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样本中的数据点并非独立存在，而是存在明确的先后顺序。这种顺序本身携带关键的语义信息，是序列数据区别于普通独立样本的本质特征。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619500" y="1270000"/>
            <a:ext cx="2984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DD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000" y="1460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191000" y="14351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数学表达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810000" y="1905000"/>
            <a:ext cx="266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通常表示为有序向量序列：</a:t>
            </a:r>
            <a:b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 = [x₁, x₂, ..., x_T]</a:t>
            </a:r>
            <a:b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其中 T 代表序列的总长度，每个 x_t 为对应时刻 t 的特征向量，承载着该时刻的状态信息。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08000" y="3810000"/>
            <a:ext cx="2984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DD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500" y="4000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079500" y="39751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典型场景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98500" y="4445000"/>
            <a:ext cx="266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广泛存在于现实世界中：</a:t>
            </a:r>
            <a:b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文本处理：句子中的单词序列</a:t>
            </a:r>
            <a:b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金融分析：股票价格的时间序列</a:t>
            </a:r>
            <a:b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语音识别：语音信号的帧序列</a:t>
            </a:r>
            <a:b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物联网：传感器采集的时序数据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19500" y="3810000"/>
            <a:ext cx="2984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DD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10000" y="4000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191000" y="39751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核心特性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810000" y="4445000"/>
            <a:ext cx="266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en-US" sz="13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顺序敏感：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打乱顺序会导致语义完全失效（如“我爱你”≠“你爱我”）。</a:t>
            </a:r>
            <a:b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en-US" sz="13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上下文依赖：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当前状态往往依赖于历史信息，具有长短期记忆效应。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858000" y="1270000"/>
            <a:ext cx="4826000" cy="488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DD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112000" y="1524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有序向量列表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112000" y="2413000"/>
            <a:ext cx="762000" cy="635000"/>
          </a:xfrm>
          <a:prstGeom prst="roundRect">
            <a:avLst>
              <a:gd name="adj" fmla="val 0"/>
            </a:avLst>
          </a:prstGeom>
          <a:solidFill>
            <a:srgbClr val="3D2B7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112000" y="2413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x₁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500" y="2603500"/>
            <a:ext cx="254000" cy="254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255000" y="2413000"/>
            <a:ext cx="762000" cy="635000"/>
          </a:xfrm>
          <a:prstGeom prst="roundRect">
            <a:avLst>
              <a:gd name="adj" fmla="val 0"/>
            </a:avLst>
          </a:prstGeom>
          <a:solidFill>
            <a:srgbClr val="3D2B7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255000" y="2413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x₂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80500" y="2603500"/>
            <a:ext cx="254000" cy="254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9398000" y="2413000"/>
            <a:ext cx="762000" cy="635000"/>
          </a:xfrm>
          <a:prstGeom prst="roundRect">
            <a:avLst>
              <a:gd name="adj" fmla="val 0"/>
            </a:avLst>
          </a:prstGeom>
          <a:solidFill>
            <a:srgbClr val="3D2B7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9398000" y="2413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x₃</a:t>
            </a:r>
            <a:endParaRPr lang="en-US" sz="1100"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23500" y="2603500"/>
            <a:ext cx="254000" cy="254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10541000" y="2413000"/>
            <a:ext cx="762000" cy="635000"/>
          </a:xfrm>
          <a:prstGeom prst="roundRect">
            <a:avLst>
              <a:gd name="adj" fmla="val 0"/>
            </a:avLst>
          </a:prstGeom>
          <a:solidFill>
            <a:srgbClr val="3D2B7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10541000" y="2413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x_T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112000" y="3302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t=1          t=2          t=3          ...          t=T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-10110">
            <a:off x="7112009" y="3930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7112000" y="4191000"/>
            <a:ext cx="4318000" cy="1778000"/>
          </a:xfrm>
          <a:prstGeom prst="roundRect">
            <a:avLst>
              <a:gd name="adj" fmla="val 0"/>
            </a:avLst>
          </a:prstGeom>
          <a:solidFill>
            <a:srgbClr val="3D2B7A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7239000" y="4381500"/>
            <a:ext cx="406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7A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直观理解：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序列数据就像一条不断流淌的河流，每一个数据点都是河流中的一滴水。它不仅包含了当前时刻的信息，更重要的是，它保留了从过去到现在的演变轨迹，这种时间上的关联性是序列分析的核心价值所在。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0"/>
          </a:xfrm>
          <a:prstGeom prst="roundRect">
            <a:avLst>
              <a:gd name="adj" fmla="val 0"/>
            </a:avLst>
          </a:prstGeom>
          <a:solidFill>
            <a:srgbClr val="3D2B7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为什么需要 RNN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397000"/>
            <a:ext cx="5461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D2B7A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98500" y="1587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传统全连接网络的痛点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2159000"/>
            <a:ext cx="203200" cy="203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952500" y="21336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输入长度固定，无法灵活处理句子、语音等变长序列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2667000"/>
            <a:ext cx="203200" cy="203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952500" y="26416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孤立处理每个时刻输入，完全忽略上下文的顺序依赖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3175000"/>
            <a:ext cx="203200" cy="203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952500" y="31496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特征无法共享，序列越长参数量越庞大，训练效率低下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397000"/>
            <a:ext cx="5461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D2B7A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13500" y="1587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RNN 的核心改进思路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500" y="2159000"/>
            <a:ext cx="203200" cy="203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667500" y="21336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引入隐藏状态 hₜ，像“记忆”一样存储历史信息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500" y="2667000"/>
            <a:ext cx="203200" cy="203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667500" y="26416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权值共享机制，同一套参数处理所有时间步，参数量少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500" y="3175000"/>
            <a:ext cx="203200" cy="203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667500" y="31496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天然适配变长序列，无需对输入数据进行统一截断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08000" y="4318000"/>
            <a:ext cx="11176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08000" y="4318000"/>
            <a:ext cx="50800" cy="1778000"/>
          </a:xfrm>
          <a:prstGeom prst="roundRect">
            <a:avLst>
              <a:gd name="adj" fmla="val 0"/>
            </a:avLst>
          </a:prstGeom>
          <a:solidFill>
            <a:srgbClr val="FF7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" y="457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D2B7A"/>
                </a:solidFill>
                <a:latin typeface="Inter"/>
                <a:ea typeface="Inter"/>
                <a:cs typeface="Inter"/>
                <a:sym typeface="Inter"/>
              </a:rPr>
              <a:t>hₜ = f(hₜ₋₁, xₜ)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270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核心思想解读：当前时刻的状态 hₜ 由两部分决定 —— 上一时刻的隐藏状态 hₜ₋₁（历史记忆）和当前时刻的输入 xₜ。这种循环结构让网络能够捕捉序列数据中的时间依赖关系，从而理解上下文。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0"/>
          </a:xfrm>
          <a:prstGeom prst="roundRect">
            <a:avLst>
              <a:gd name="adj" fmla="val 0"/>
            </a:avLst>
          </a:prstGeom>
          <a:solidFill>
            <a:srgbClr val="3D2B7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为什么需要 RNN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397000"/>
            <a:ext cx="5461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D2B7A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98500" y="1587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传统全连接网络的痛点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2159000"/>
            <a:ext cx="203200" cy="203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952500" y="21336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输入长度固定，无法灵活处理句子、语音等变长序列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2667000"/>
            <a:ext cx="203200" cy="203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952500" y="26416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孤立处理每个时刻输入，完全忽略上下文的顺序依赖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3175000"/>
            <a:ext cx="203200" cy="203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952500" y="31496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特征无法共享，序列越长参数量越庞大，训练效率低下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397000"/>
            <a:ext cx="5461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D2B7A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13500" y="1587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RNN 的核心改进思路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500" y="2159000"/>
            <a:ext cx="203200" cy="203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667500" y="21336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引入隐藏状态 hₜ，像“记忆”一样存储历史信息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500" y="2667000"/>
            <a:ext cx="203200" cy="203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667500" y="26416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权值共享机制，同一套参数处理所有时间步，参数量少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500" y="3175000"/>
            <a:ext cx="203200" cy="203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667500" y="31496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天然适配变长序列，无需对输入数据进行统一截断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08000" y="4318000"/>
            <a:ext cx="11176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08000" y="4318000"/>
            <a:ext cx="50800" cy="1778000"/>
          </a:xfrm>
          <a:prstGeom prst="roundRect">
            <a:avLst>
              <a:gd name="adj" fmla="val 0"/>
            </a:avLst>
          </a:prstGeom>
          <a:solidFill>
            <a:srgbClr val="FF7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" y="457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D2B7A"/>
                </a:solidFill>
                <a:latin typeface="Inter"/>
                <a:ea typeface="Inter"/>
                <a:cs typeface="Inter"/>
                <a:sym typeface="Inter"/>
              </a:rPr>
              <a:t>hₜ = f(hₜ₋₁, xₜ)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270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核心思想解读：当前时刻的状态 hₜ 由两部分决定 —— 上一时刻的隐藏状态 hₜ₋₁（历史记忆）和当前时刻的输入 xₜ。这种循环结构让网络能够捕捉序列数据中的时间依赖关系，从而理解上下文。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0"/>
          </a:xfrm>
          <a:prstGeom prst="roundRect">
            <a:avLst>
              <a:gd name="adj" fmla="val 0"/>
            </a:avLst>
          </a:prstGeom>
          <a:solidFill>
            <a:srgbClr val="2E319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RNN 基本结构与隐藏状态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270000"/>
            <a:ext cx="6096000" cy="1079500"/>
          </a:xfrm>
          <a:prstGeom prst="roundRect">
            <a:avLst>
              <a:gd name="adj" fmla="val 0"/>
            </a:avLst>
          </a:prstGeom>
          <a:solidFill>
            <a:srgbClr val="2E319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1460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143000" y="1397000"/>
            <a:ext cx="533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E319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输入层 (x_t)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 t 时刻的输入向量，维度对应输入特征的数量，是模型感知外部序列信息的窗口，决定了输入层的维度规模。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476500"/>
            <a:ext cx="6096000" cy="1079500"/>
          </a:xfrm>
          <a:prstGeom prst="roundRect">
            <a:avLst>
              <a:gd name="adj" fmla="val 0"/>
            </a:avLst>
          </a:prstGeom>
          <a:solidFill>
            <a:srgbClr val="2E319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26670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43000" y="2603500"/>
            <a:ext cx="533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E319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隐藏状态 (h_t) - 核心记忆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RNN的「记忆」载体，编码了从初始时刻到当前 t 的所有历史信息，是模型捕捉</a:t>
            </a:r>
            <a:r>
              <a:rPr lang="en-US" sz="1300" b="0" i="0" u="none" strike="noStrike">
                <a:solidFill>
                  <a:srgbClr val="FF7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序列依赖关系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的关键所在。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08000" y="3683000"/>
            <a:ext cx="6096000" cy="1079500"/>
          </a:xfrm>
          <a:prstGeom prst="roundRect">
            <a:avLst>
              <a:gd name="adj" fmla="val 0"/>
            </a:avLst>
          </a:prstGeom>
          <a:solidFill>
            <a:srgbClr val="2E319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500" y="3873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143000" y="3810000"/>
            <a:ext cx="533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E319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输出层 (y_t)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基于当前隐藏状态生成的预测结果，反映模型对当前时刻的判断或输出，通常由全连接层或特定激活函数生成。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08000" y="4889500"/>
            <a:ext cx="6096000" cy="1079500"/>
          </a:xfrm>
          <a:prstGeom prst="roundRect">
            <a:avLst>
              <a:gd name="adj" fmla="val 0"/>
            </a:avLst>
          </a:prstGeom>
          <a:solidFill>
            <a:srgbClr val="2E319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500" y="5080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143000" y="5016500"/>
            <a:ext cx="533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E319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权值共享机制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参数矩阵 U(输入权重)、W(循环权重)、V(输出权重) 在所有时间步中共享，极大减少参数量，防止过拟合。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858000" y="1274445"/>
            <a:ext cx="48260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1E1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985000" y="1460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319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RNN 单元循环机制图解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636000" y="2476500"/>
            <a:ext cx="1397000" cy="1397000"/>
          </a:xfrm>
          <a:prstGeom prst="ellipse">
            <a:avLst/>
          </a:prstGeom>
          <a:solidFill>
            <a:srgbClr val="2E3192">
              <a:alpha val="10000"/>
            </a:srgbClr>
          </a:solidFill>
          <a:ln w="25400" cap="flat" cmpd="sng">
            <a:solidFill>
              <a:srgbClr val="2E319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636000" y="2921000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E319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RNN</a:t>
            </a:r>
            <a:br>
              <a:rPr lang="en-US" sz="1400" b="1" i="0" u="none" strike="noStrike">
                <a:solidFill>
                  <a:srgbClr val="2E319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1" i="0" u="none" strike="noStrike">
                <a:solidFill>
                  <a:srgbClr val="2E319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Cell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302500" y="3035300"/>
            <a:ext cx="762000" cy="279400"/>
          </a:xfrm>
          <a:prstGeom prst="rightArrow">
            <a:avLst/>
          </a:prstGeom>
          <a:solidFill>
            <a:srgbClr val="FF7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239000" y="3365500"/>
            <a:ext cx="88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7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x_t</a:t>
            </a:r>
            <a:br>
              <a:rPr lang="en-US" sz="1300" b="0" i="0" u="none" strike="noStrike">
                <a:solidFill>
                  <a:srgbClr val="FF7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7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(输入)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131300" y="1905000"/>
            <a:ext cx="279400" cy="508000"/>
          </a:xfrm>
          <a:prstGeom prst="downArrow">
            <a:avLst/>
          </a:prstGeom>
          <a:solidFill>
            <a:srgbClr val="2E319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525000" y="20320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E319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h_{t-1}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0223500" y="3035300"/>
            <a:ext cx="762000" cy="279400"/>
          </a:xfrm>
          <a:prstGeom prst="rightArrow">
            <a:avLst/>
          </a:prstGeom>
          <a:solidFill>
            <a:srgbClr val="FF7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10160000" y="3365500"/>
            <a:ext cx="88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7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y_t</a:t>
            </a:r>
            <a:br>
              <a:rPr lang="en-US" sz="1300" b="0" i="0" u="none" strike="noStrike">
                <a:solidFill>
                  <a:srgbClr val="FF7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7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(输出)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194800" y="4000500"/>
            <a:ext cx="279400" cy="508000"/>
          </a:xfrm>
          <a:prstGeom prst="downArrow">
            <a:avLst/>
          </a:prstGeom>
          <a:solidFill>
            <a:srgbClr val="2E319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9525000" y="40640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E319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h_t (传至t+1)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112000" y="4699000"/>
            <a:ext cx="4318000" cy="1079500"/>
          </a:xfrm>
          <a:prstGeom prst="roundRect">
            <a:avLst>
              <a:gd name="adj" fmla="val 0"/>
            </a:avLst>
          </a:prstGeom>
          <a:solidFill>
            <a:srgbClr val="FF7F5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7239000" y="4826000"/>
            <a:ext cx="406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7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关键特性：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隐藏状态 h_t 是连接过去与现在的桥梁，它既用于计算当前时刻的输出，又作为“记忆”传递给下一时刻，实现了序列信息的动态流转。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D2B7A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FF7A59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38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前向传播公式 · 隐藏状态更新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1397000"/>
            <a:ext cx="11430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3D2B7A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1714500"/>
            <a:ext cx="11176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600" b="0" i="0" u="none" strike="noStrike">
                <a:solidFill>
                  <a:srgbClr val="3D2B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hₜ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3600" b="0" i="0" u="none" strike="noStrike">
                <a:solidFill>
                  <a:srgbClr val="FF7A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=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3600" b="0" i="0" u="none" strike="noStrike">
                <a:solidFill>
                  <a:srgbClr val="3D2B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tanh( W</a:t>
            </a:r>
            <a:r>
              <a:rPr lang="en-US" sz="2000" b="0" i="0" u="none" strike="noStrike">
                <a:solidFill>
                  <a:srgbClr val="3D2B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hh</a:t>
            </a:r>
            <a:r>
              <a:rPr lang="en-US" sz="3600" b="0" i="0" u="none" strike="noStrike">
                <a:solidFill>
                  <a:srgbClr val="3D2B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· hₜ₋₁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3600" b="0" i="0" u="none" strike="noStrike">
                <a:solidFill>
                  <a:srgbClr val="FF7A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+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3600" b="0" i="0" u="none" strike="noStrike">
                <a:solidFill>
                  <a:srgbClr val="3D2B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</a:t>
            </a:r>
            <a:r>
              <a:rPr lang="en-US" sz="2000" b="0" i="0" u="none" strike="noStrike">
                <a:solidFill>
                  <a:srgbClr val="3D2B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xh</a:t>
            </a:r>
            <a:r>
              <a:rPr lang="en-US" sz="3600" b="0" i="0" u="none" strike="noStrike">
                <a:solidFill>
                  <a:srgbClr val="3D2B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· xₜ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3600" b="0" i="0" u="none" strike="noStrike">
                <a:solidFill>
                  <a:srgbClr val="FF7A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+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3600" b="0" i="0" u="none" strike="noStrike">
                <a:solidFill>
                  <a:srgbClr val="3D2B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</a:t>
            </a:r>
            <a:r>
              <a:rPr lang="en-US" sz="2000" b="0" i="0" u="none" strike="noStrike">
                <a:solidFill>
                  <a:srgbClr val="3D2B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xh</a:t>
            </a:r>
            <a:r>
              <a:rPr lang="en-US" sz="3600" b="0" i="0" u="none" strike="noStrike">
                <a:solidFill>
                  <a:srgbClr val="3D2B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)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1"/>
            </p:custDataLst>
          </p:nvPr>
        </p:nvSpPr>
        <p:spPr>
          <a:xfrm>
            <a:off x="381000" y="3810000"/>
            <a:ext cx="3632200" cy="1714500"/>
          </a:xfrm>
          <a:prstGeom prst="roundRect">
            <a:avLst>
              <a:gd name="adj" fmla="val 0"/>
            </a:avLst>
          </a:prstGeom>
          <a:solidFill>
            <a:srgbClr val="3D2B7A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508000" y="3937000"/>
            <a:ext cx="33782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</a:t>
            </a:r>
            <a:r>
              <a:rPr lang="en-US" sz="10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hh</a:t>
            </a:r>
            <a:r>
              <a:rPr lang="en-US" sz="18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隐藏状态权重矩阵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5555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维度为 [hidden_size × hidden_size]，负责捕捉历史信息对当前状态的影响，是记忆传递的核心参数。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4216400" y="3821430"/>
            <a:ext cx="3632200" cy="1714500"/>
          </a:xfrm>
          <a:prstGeom prst="roundRect">
            <a:avLst>
              <a:gd name="adj" fmla="val 0"/>
            </a:avLst>
          </a:prstGeom>
          <a:solidFill>
            <a:srgbClr val="3D2B7A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4406900" y="3937000"/>
            <a:ext cx="33782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</a:t>
            </a:r>
            <a:r>
              <a:rPr lang="en-US" sz="10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xh</a:t>
            </a:r>
            <a:r>
              <a:rPr lang="en-US" sz="18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输入权重矩阵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5555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维度为 [hidden_size × input_size]，将当前时刻的外部输入特征转化为内部状态空间的向量表示。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8178800" y="3810000"/>
            <a:ext cx="3632200" cy="1714500"/>
          </a:xfrm>
          <a:prstGeom prst="roundRect">
            <a:avLst>
              <a:gd name="adj" fmla="val 0"/>
            </a:avLst>
          </a:prstGeom>
          <a:solidFill>
            <a:srgbClr val="3D2B7A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8305800" y="3937000"/>
            <a:ext cx="33782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</a:t>
            </a:r>
            <a:r>
              <a:rPr lang="en-US" sz="10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xh</a:t>
            </a:r>
            <a:r>
              <a:rPr lang="en-US" sz="18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偏置向量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5555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维度为 [hidden_size]，为模型提供必要的偏移量，增强非线性表达能力，避免输出完全依赖输入。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81000" y="56515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6B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tanh 激活函数将输出值压缩至 (-1, 1) 区间，有效缓解梯度消失问题；初始隐藏状态 h₀ 通常被初始化为全零向量，作为序列计算的起点。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0"/>
          </a:xfrm>
          <a:prstGeom prst="roundRect">
            <a:avLst>
              <a:gd name="adj" fmla="val 0"/>
            </a:avLst>
          </a:prstGeom>
          <a:solidFill>
            <a:srgbClr val="3D2B7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81000" y="152400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输出层公式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270000"/>
            <a:ext cx="11176000" cy="1651000"/>
          </a:xfrm>
          <a:prstGeom prst="roundRect">
            <a:avLst>
              <a:gd name="adj" fmla="val 0"/>
            </a:avLst>
          </a:prstGeom>
          <a:solidFill>
            <a:srgbClr val="3D2B7A">
              <a:alpha val="6000"/>
            </a:srgbClr>
          </a:solidFill>
          <a:ln w="12700" cap="flat" cmpd="sng">
            <a:solidFill>
              <a:srgbClr val="3D2B7A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08000" y="14605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0" i="0" u="none" strike="noStrike">
                <a:solidFill>
                  <a:srgbClr val="3D2B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yₜ = W</a:t>
            </a:r>
            <a:r>
              <a:rPr lang="en-US" sz="2000" b="0" i="0" u="none" strike="noStrike">
                <a:solidFill>
                  <a:srgbClr val="3D2B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hy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3600" b="1" i="0" u="none" strike="noStrike">
                <a:solidFill>
                  <a:srgbClr val="FF7F5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3600" b="0" i="0" u="none" strike="noStrike">
                <a:solidFill>
                  <a:srgbClr val="3D2B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hₜ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3600" b="1" i="0" u="none" strike="noStrike">
                <a:solidFill>
                  <a:srgbClr val="FF7F5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+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3600" b="0" i="0" u="none" strike="noStrike">
                <a:solidFill>
                  <a:srgbClr val="3D2B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</a:t>
            </a:r>
            <a:r>
              <a:rPr lang="en-US" sz="2000" b="0" i="0" u="none" strike="noStrike">
                <a:solidFill>
                  <a:srgbClr val="3D2B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hy</a:t>
            </a:r>
            <a:endParaRPr lang="en-US" sz="2000" b="0" i="0" u="none" strike="noStrike">
              <a:solidFill>
                <a:srgbClr val="3D2B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参数解析：Wᵧ 为输出权重矩阵（维度：输出类别数 × 隐藏层维度），bᵧ 为输出偏置项，负责将隐藏层状态 hₜ 线性映射到输出空间。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3302000"/>
            <a:ext cx="5461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D2B7A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98500" y="3492500"/>
            <a:ext cx="508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7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分类任务（文本分类 / 情感分析）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8594">
            <a:off x="698508" y="39941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D2B7A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98500" y="4127500"/>
            <a:ext cx="508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D2B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ŷₜ = softmax(yₜ) = exp(yₜᵢ) / Σⱼ exp(yₜⱼ)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98500" y="4826000"/>
            <a:ext cx="508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 Softmax 激活函数将原始输出转化为</a:t>
            </a:r>
            <a:r>
              <a:rPr lang="en-US" sz="14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概率分布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，确保所有类别概率之和为 1。常用于判断文本情感倾向、图像分类等场景，输出结果代表模型对各类别的置信度。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3302000"/>
            <a:ext cx="5461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D2B7A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13500" y="3492500"/>
            <a:ext cx="508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7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回归任务（时序预测 / 数值回归）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8594">
            <a:off x="6413508" y="39941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D2B7A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13500" y="4127500"/>
            <a:ext cx="508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D2B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ŷₜ = yₜ （直接输出连续数值）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13500" y="4826000"/>
            <a:ext cx="508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无需额外激活函数，直接输出线性层的计算结果作为预测值。适用于预测连续型变量，如股票价格走势、未来气温变化、商品销量预估等场景，输出值即为最终的预测数值。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0"/>
          </a:xfrm>
          <a:prstGeom prst="roundRect">
            <a:avLst>
              <a:gd name="adj" fmla="val 0"/>
            </a:avLst>
          </a:prstGeom>
          <a:solidFill>
            <a:srgbClr val="2D2A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81000" y="190500"/>
            <a:ext cx="1143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RNN 按时间步展开（Unfold）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2032000"/>
            <a:ext cx="762000" cy="571500"/>
          </a:xfrm>
          <a:prstGeom prst="roundRect">
            <a:avLst>
              <a:gd name="adj" fmla="val 0"/>
            </a:avLst>
          </a:prstGeom>
          <a:solidFill>
            <a:srgbClr val="2D2A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x₁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114549">
            <a:off x="1333606" y="23050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96A0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6" name="AutoShape 6"/>
          <p:cNvSpPr/>
          <p:nvPr/>
        </p:nvSpPr>
        <p:spPr>
          <a:xfrm>
            <a:off x="1778000" y="1968500"/>
            <a:ext cx="952500" cy="952500"/>
          </a:xfrm>
          <a:prstGeom prst="ellipse">
            <a:avLst/>
          </a:prstGeom>
          <a:solidFill>
            <a:srgbClr val="2D2A56">
              <a:alpha val="10000"/>
            </a:srgbClr>
          </a:solidFill>
          <a:ln w="25400" cap="flat" cmpd="sng">
            <a:solidFill>
              <a:srgbClr val="2D2A5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2A5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RNN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U,W,V</a:t>
            </a:r>
            <a:endParaRPr lang="en-US" sz="1200" b="0" i="0" u="none" strike="noStrike">
              <a:solidFill>
                <a:srgbClr val="64646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114549">
            <a:off x="2794106" y="23050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96A0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8" name="AutoShape 8"/>
          <p:cNvSpPr/>
          <p:nvPr/>
        </p:nvSpPr>
        <p:spPr>
          <a:xfrm>
            <a:off x="3238500" y="2032000"/>
            <a:ext cx="762000" cy="571500"/>
          </a:xfrm>
          <a:prstGeom prst="roundRect">
            <a:avLst>
              <a:gd name="adj" fmla="val 0"/>
            </a:avLst>
          </a:prstGeom>
          <a:solidFill>
            <a:srgbClr val="FF7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y₁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879600" y="14605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64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h₀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198012">
            <a:off x="2152650" y="1854387"/>
            <a:ext cx="215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96A0">
                <a:alpha val="100000"/>
              </a:srgbClr>
            </a:solidFill>
            <a:prstDash val="dash"/>
            <a:round/>
            <a:headEnd type="none" w="lg" len="lg"/>
            <a:tailEnd type="arrow" w="sm" len="sm"/>
          </a:ln>
        </p:spPr>
      </p:cxnSp>
      <p:sp>
        <p:nvSpPr>
          <p:cNvPr id="11" name="AutoShape 11"/>
          <p:cNvSpPr/>
          <p:nvPr/>
        </p:nvSpPr>
        <p:spPr>
          <a:xfrm>
            <a:off x="508000" y="3302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8788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t=1 时刻 · 共享参数层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191000" y="2032000"/>
            <a:ext cx="762000" cy="571500"/>
          </a:xfrm>
          <a:prstGeom prst="roundRect">
            <a:avLst>
              <a:gd name="adj" fmla="val 0"/>
            </a:avLst>
          </a:prstGeom>
          <a:solidFill>
            <a:srgbClr val="2D2A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14549">
            <a:off x="5016606" y="23050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96A0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14" name="AutoShape 14"/>
          <p:cNvSpPr/>
          <p:nvPr/>
        </p:nvSpPr>
        <p:spPr>
          <a:xfrm>
            <a:off x="5461000" y="1968500"/>
            <a:ext cx="952500" cy="952500"/>
          </a:xfrm>
          <a:prstGeom prst="ellipse">
            <a:avLst/>
          </a:prstGeom>
          <a:solidFill>
            <a:srgbClr val="2D2A56">
              <a:alpha val="10000"/>
            </a:srgbClr>
          </a:solidFill>
          <a:ln w="25400" cap="flat" cmpd="sng">
            <a:solidFill>
              <a:srgbClr val="2D2A5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2A5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RNN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U,W,V</a:t>
            </a:r>
            <a:endParaRPr lang="en-US" sz="1200" b="0" i="0" u="none" strike="noStrike">
              <a:solidFill>
                <a:srgbClr val="64646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-114549">
            <a:off x="6477106" y="23050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96A0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16" name="AutoShape 16"/>
          <p:cNvSpPr/>
          <p:nvPr/>
        </p:nvSpPr>
        <p:spPr>
          <a:xfrm>
            <a:off x="6921500" y="2032000"/>
            <a:ext cx="762000" cy="571500"/>
          </a:xfrm>
          <a:prstGeom prst="roundRect">
            <a:avLst>
              <a:gd name="adj" fmla="val 0"/>
            </a:avLst>
          </a:prstGeom>
          <a:solidFill>
            <a:srgbClr val="FF7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989">
            <a:off x="2730515" y="2432050"/>
            <a:ext cx="273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96A0">
                <a:alpha val="100000"/>
              </a:srgbClr>
            </a:solidFill>
            <a:prstDash val="dash"/>
            <a:round/>
            <a:headEnd type="none" w="lg" len="lg"/>
            <a:tailEnd type="arrow" w="sm" len="sm"/>
          </a:ln>
        </p:spPr>
      </p:cxnSp>
      <p:sp>
        <p:nvSpPr>
          <p:cNvPr id="18" name="AutoShape 18"/>
          <p:cNvSpPr/>
          <p:nvPr/>
        </p:nvSpPr>
        <p:spPr>
          <a:xfrm>
            <a:off x="4191000" y="3302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8788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t=2 时刻 · 重复计算单元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874000" y="2032000"/>
            <a:ext cx="762000" cy="571500"/>
          </a:xfrm>
          <a:prstGeom prst="roundRect">
            <a:avLst>
              <a:gd name="adj" fmla="val 0"/>
            </a:avLst>
          </a:prstGeom>
          <a:solidFill>
            <a:srgbClr val="2D2A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x₃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14549">
            <a:off x="8699606" y="23050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96A0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1" name="AutoShape 21"/>
          <p:cNvSpPr/>
          <p:nvPr/>
        </p:nvSpPr>
        <p:spPr>
          <a:xfrm>
            <a:off x="9144000" y="1968500"/>
            <a:ext cx="952500" cy="952500"/>
          </a:xfrm>
          <a:prstGeom prst="ellipse">
            <a:avLst/>
          </a:prstGeom>
          <a:solidFill>
            <a:srgbClr val="2D2A56">
              <a:alpha val="10000"/>
            </a:srgbClr>
          </a:solidFill>
          <a:ln w="25400" cap="flat" cmpd="sng">
            <a:solidFill>
              <a:srgbClr val="2D2A5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2A5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RNN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U,W,V</a:t>
            </a:r>
            <a:endParaRPr lang="en-US" sz="1200" b="0" i="0" u="none" strike="noStrike">
              <a:solidFill>
                <a:srgbClr val="64646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2" name="Connector 22"/>
          <p:cNvCxnSpPr/>
          <p:nvPr/>
        </p:nvCxnSpPr>
        <p:spPr>
          <a:xfrm rot="-114549">
            <a:off x="10160106" y="23050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96A0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3" name="AutoShape 23"/>
          <p:cNvSpPr/>
          <p:nvPr/>
        </p:nvSpPr>
        <p:spPr>
          <a:xfrm>
            <a:off x="10604500" y="2032000"/>
            <a:ext cx="762000" cy="571500"/>
          </a:xfrm>
          <a:prstGeom prst="roundRect">
            <a:avLst>
              <a:gd name="adj" fmla="val 0"/>
            </a:avLst>
          </a:prstGeom>
          <a:solidFill>
            <a:srgbClr val="FF7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y₃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5989">
            <a:off x="6413515" y="2432050"/>
            <a:ext cx="273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96A0">
                <a:alpha val="100000"/>
              </a:srgbClr>
            </a:solidFill>
            <a:prstDash val="dash"/>
            <a:round/>
            <a:headEnd type="none" w="lg" len="lg"/>
            <a:tailEnd type="arrow" w="sm" len="sm"/>
          </a:ln>
        </p:spPr>
      </p:cxnSp>
      <p:sp>
        <p:nvSpPr>
          <p:cNvPr id="25" name="AutoShape 25"/>
          <p:cNvSpPr/>
          <p:nvPr/>
        </p:nvSpPr>
        <p:spPr>
          <a:xfrm>
            <a:off x="7874000" y="3302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8788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t=3 时刻 · 直至序列结束...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08000" y="4572000"/>
            <a:ext cx="3683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47625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1079500" y="47625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A5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核心机制：参数共享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98500" y="5143500"/>
            <a:ext cx="330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无论序列多长，RNN仅使用同一套权重矩阵（U, W, V）进行计算。这极大地减少了模型参数量，防止过拟合，并确保了时间上的一致性。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4254500" y="4572000"/>
            <a:ext cx="3683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000" y="47625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4826000" y="47625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A5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结构视角：深度前馈网络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4445000" y="5143500"/>
            <a:ext cx="330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时间步展开后，RNN等价于一个深度等于序列长度T的前馈神经网络。每一层代表一个时间步的计算，信息随时间轴逐层向前传递。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001000" y="4572000"/>
            <a:ext cx="3683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4762500"/>
            <a:ext cx="304800" cy="3048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8572500" y="47625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A5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优势：变长序列适配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191500" y="5143500"/>
            <a:ext cx="330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网络的“深度”由输入序列的实际长度决定，而非固定值。这使得RNN能够灵活处理任意长度的输入序列（如长短不一的句子）。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0"/>
          </a:xfrm>
          <a:prstGeom prst="roundRect">
            <a:avLst>
              <a:gd name="adj" fmla="val 0"/>
            </a:avLst>
          </a:prstGeom>
          <a:solidFill>
            <a:srgbClr val="3A2E7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前向传播 · 数值示例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243330"/>
            <a:ext cx="5461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460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A2E7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模型参数设定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814">
            <a:off x="762008" y="1898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20955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143000" y="2057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基础配置：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输入维度=2，隐藏维度=2，时刻 t=1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27305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143000" y="2692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输入与初始：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x₁ = [1, 2]^T，初始隐层 h₀ = [0, 0]^T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33655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143000" y="3327400"/>
            <a:ext cx="482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权重与偏置：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W</a:t>
            </a:r>
            <a:r>
              <a:rPr lang="en-US" sz="900" b="0" i="0" u="none" strike="noStrike">
                <a:solidFill>
                  <a:srgbClr val="50505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xh</a:t>
            </a:r>
            <a:r>
              <a:rPr lang="en-US" sz="1300" b="0" i="0" u="none" strike="noStrike">
                <a:solidFill>
                  <a:srgbClr val="50505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 = [[0.1, 0.2], [0.3, 0.4]]     W</a:t>
            </a:r>
            <a:r>
              <a:rPr lang="en-US" sz="900" b="0" i="0" u="none" strike="noStrike">
                <a:solidFill>
                  <a:srgbClr val="50505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hy</a:t>
            </a:r>
            <a:r>
              <a:rPr lang="en-US" sz="1300" b="0" i="0" u="none" strike="noStrike">
                <a:solidFill>
                  <a:srgbClr val="50505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 = [[0.5, 0.1], [0.2, 0.3]]</a:t>
            </a:r>
            <a:endParaRPr lang="en-US" sz="1300" b="0" i="0" u="none" strike="noStrike">
              <a:solidFill>
                <a:srgbClr val="505050"/>
              </a:solidFill>
              <a:latin typeface="Arial" panose="020B0604020202020204" pitchFamily="34" charset="0"/>
              <a:ea typeface="Inter"/>
              <a:cs typeface="Arial" panose="020B0604020202020204" pitchFamily="34" charset="0"/>
              <a:sym typeface="Inter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偏置项 bₕ = [0.1, 0.1]^T</a:t>
            </a:r>
            <a:endParaRPr lang="en-US" sz="1300" b="0" i="0" u="none" strike="noStrike">
              <a:solidFill>
                <a:srgbClr val="505050"/>
              </a:solidFill>
              <a:latin typeface="Arial" panose="020B0604020202020204" pitchFamily="34" charset="0"/>
              <a:ea typeface="Inter"/>
              <a:cs typeface="Arial" panose="020B0604020202020204" pitchFamily="34" charset="0"/>
              <a:sym typeface="Inter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1270000"/>
            <a:ext cx="5461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1460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A2E7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前向计算推演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8814">
            <a:off x="6477008" y="1898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477000" y="2032000"/>
            <a:ext cx="5080000" cy="952500"/>
          </a:xfrm>
          <a:prstGeom prst="roundRect">
            <a:avLst>
              <a:gd name="adj" fmla="val 0"/>
            </a:avLst>
          </a:prstGeom>
          <a:solidFill>
            <a:srgbClr val="3A2E7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604000" y="20955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A2E7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1：计算隐层输入 z₁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z₁ = W</a:t>
            </a:r>
            <a:r>
              <a:rPr lang="en-US" sz="800" b="0" i="0" u="none" strike="noStrike">
                <a:solidFill>
                  <a:srgbClr val="50505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hh</a:t>
            </a:r>
            <a:r>
              <a:rPr lang="en-US" sz="1400" b="0" i="0" u="none" strike="noStrike">
                <a:solidFill>
                  <a:srgbClr val="50505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·h₀ + W</a:t>
            </a:r>
            <a:r>
              <a:rPr lang="en-US" sz="900" b="0" i="0" u="none" strike="noStrike">
                <a:solidFill>
                  <a:srgbClr val="50505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xh</a:t>
            </a:r>
            <a:r>
              <a:rPr lang="en-US" sz="1400" b="0" i="0" u="none" strike="noStrike">
                <a:solidFill>
                  <a:srgbClr val="50505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·x₁ + b</a:t>
            </a:r>
            <a:r>
              <a:rPr lang="en-US" sz="900" b="0" i="0" u="none" strike="noStrike">
                <a:solidFill>
                  <a:srgbClr val="50505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xh</a:t>
            </a:r>
            <a:r>
              <a:rPr lang="en-US" sz="1400" b="0" i="0" u="none" strike="noStrike">
                <a:solidFill>
                  <a:srgbClr val="50505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 = [0.6, 1.2]^T</a:t>
            </a:r>
            <a:endParaRPr lang="en-US" sz="1400" b="0" i="0" u="none" strike="noStrike">
              <a:solidFill>
                <a:srgbClr val="505050"/>
              </a:solidFill>
              <a:latin typeface="Arial" panose="020B0604020202020204" pitchFamily="34" charset="0"/>
              <a:ea typeface="Inter"/>
              <a:cs typeface="Arial" panose="020B0604020202020204" pitchFamily="34" charset="0"/>
              <a:sym typeface="Inter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FF7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结果：[0.6, 1.2]^T</a:t>
            </a:r>
            <a:endParaRPr lang="en-US" sz="1400" b="1" i="0" u="none" strike="noStrike">
              <a:solidFill>
                <a:srgbClr val="FF7F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477000" y="3048000"/>
            <a:ext cx="5080000" cy="952500"/>
          </a:xfrm>
          <a:prstGeom prst="roundRect">
            <a:avLst>
              <a:gd name="adj" fmla="val 0"/>
            </a:avLst>
          </a:prstGeom>
          <a:solidFill>
            <a:srgbClr val="3A2E7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604000" y="31115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A2E7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2：激活函数 tanh 处理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h₁ = tanh(z</a:t>
            </a:r>
            <a:r>
              <a:rPr lang="en-US" sz="900" b="0" i="0" u="none" strike="noStrike">
                <a:solidFill>
                  <a:srgbClr val="50505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1</a:t>
            </a:r>
            <a:r>
              <a:rPr lang="en-US" sz="1400" b="0" i="0" u="none" strike="noStrike">
                <a:solidFill>
                  <a:srgbClr val="50505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) = [tanh(0.6), tanh(1.2)]</a:t>
            </a:r>
            <a:endParaRPr lang="en-US" sz="1400" b="0" i="0" u="none" strike="noStrike">
              <a:solidFill>
                <a:srgbClr val="505050"/>
              </a:solidFill>
              <a:latin typeface="Arial" panose="020B0604020202020204" pitchFamily="34" charset="0"/>
              <a:ea typeface="Inter"/>
              <a:cs typeface="Arial" panose="020B0604020202020204" pitchFamily="34" charset="0"/>
              <a:sym typeface="Inter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FF7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结果：[0.537, 0.834]^T</a:t>
            </a:r>
            <a:endParaRPr lang="en-US" sz="1400" b="1" i="0" u="none" strike="noStrike">
              <a:solidFill>
                <a:srgbClr val="FF7F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477000" y="4064000"/>
            <a:ext cx="5080000" cy="952500"/>
          </a:xfrm>
          <a:prstGeom prst="roundRect">
            <a:avLst>
              <a:gd name="adj" fmla="val 0"/>
            </a:avLst>
          </a:prstGeom>
          <a:solidFill>
            <a:srgbClr val="3A2E7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604000" y="41275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A2E7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3：输出层线性变换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y₁ = W</a:t>
            </a:r>
            <a:r>
              <a:rPr lang="en-US" sz="900" b="0" i="0" u="none" strike="noStrike">
                <a:solidFill>
                  <a:srgbClr val="50505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hy</a:t>
            </a:r>
            <a:r>
              <a:rPr lang="en-US" sz="1400" b="0" i="0" u="none" strike="noStrike">
                <a:solidFill>
                  <a:srgbClr val="50505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·h₁ (Wᵧ=单位矩阵, bᵧ=0)</a:t>
            </a:r>
            <a:endParaRPr lang="en-US" sz="1400" b="0" i="0" u="none" strike="noStrike">
              <a:solidFill>
                <a:srgbClr val="505050"/>
              </a:solidFill>
              <a:latin typeface="Arial" panose="020B0604020202020204" pitchFamily="34" charset="0"/>
              <a:ea typeface="Inter"/>
              <a:cs typeface="Arial" panose="020B0604020202020204" pitchFamily="34" charset="0"/>
              <a:sym typeface="Inter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FF7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结果：[0.537, 0.834]^T</a:t>
            </a:r>
            <a:endParaRPr lang="en-US" sz="1400" b="1" i="0" u="none" strike="noStrike">
              <a:solidFill>
                <a:srgbClr val="FF7F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508000" y="5588000"/>
            <a:ext cx="11176000" cy="825500"/>
          </a:xfrm>
          <a:prstGeom prst="roundRect">
            <a:avLst>
              <a:gd name="adj" fmla="val 0"/>
            </a:avLst>
          </a:prstGeom>
          <a:solidFill>
            <a:srgbClr val="EDEC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500" y="58166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143000" y="5689600"/>
            <a:ext cx="1041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数值参考：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tanh(0.6) ≈ 0.537，tanh(1.2) ≈ 0.834。tanh 激活函数将输出值映射到 (-1, 1) 区间，有助于缓解梯度消失问题，增强模型对非线性特征的捕捉能力。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889000"/>
          </a:xfrm>
          <a:prstGeom prst="roundRect">
            <a:avLst>
              <a:gd name="adj" fmla="val 0"/>
            </a:avLst>
          </a:prstGeom>
          <a:solidFill>
            <a:srgbClr val="3D2B7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81000" y="127000"/>
            <a:ext cx="1143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损失函数公式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1000" y="1143000"/>
            <a:ext cx="11430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35000" y="1270000"/>
            <a:ext cx="1092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单时刻损失 (Single-Time Loss)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1778000"/>
            <a:ext cx="5397500" cy="1143000"/>
          </a:xfrm>
          <a:prstGeom prst="roundRect">
            <a:avLst>
              <a:gd name="adj" fmla="val 0"/>
            </a:avLst>
          </a:prstGeom>
          <a:solidFill>
            <a:srgbClr val="3D2B7A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1841500"/>
            <a:ext cx="5143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分类任务 · 交叉熵损失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 ₜ= -Σᵢ y ᵢ · log (ŷᵢ)</a:t>
            </a:r>
            <a:endParaRPr lang="en-US" sz="1500" b="1" i="0" u="none" strike="noStrike">
              <a:solidFill>
                <a:srgbClr val="3D2B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衡量预测概率分布与真实标签的差异，值越小代表预测越精准，适用于多分类场景。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159500" y="1778000"/>
            <a:ext cx="5397500" cy="1143000"/>
          </a:xfrm>
          <a:prstGeom prst="roundRect">
            <a:avLst>
              <a:gd name="adj" fmla="val 0"/>
            </a:avLst>
          </a:prstGeom>
          <a:solidFill>
            <a:srgbClr val="3D2B7A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286500" y="1841500"/>
            <a:ext cx="5143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回归任务 · 均方误差 (MSE)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5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 ₜ = ( ŷ  - y )²</a:t>
            </a:r>
            <a:endParaRPr lang="en-US" sz="1500" b="1" i="0" u="none" strike="noStrike">
              <a:solidFill>
                <a:srgbClr val="3D2B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计算预测值与真实值的平方差，对异常值较为敏感，常用于连续数值的预测任务。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81000" y="3302000"/>
            <a:ext cx="11430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35000" y="3429000"/>
            <a:ext cx="1092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整个序列的总损失 (Total Sequence Loss)</a:t>
            </a:r>
            <a:r>
              <a:rPr lang="zh-CN" altLang="en-US" sz="18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（前向传播中</a:t>
            </a:r>
            <a:r>
              <a:rPr lang="zh-CN" altLang="en-US" sz="18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计算）</a:t>
            </a:r>
            <a:endParaRPr lang="zh-CN" altLang="en-US" sz="1800" b="1" i="0" u="none" strike="noStrike">
              <a:solidFill>
                <a:srgbClr val="3D2B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35000" y="38735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 = (1/T) ·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3200" b="1" i="0" u="none" strike="noStrike">
                <a:solidFill>
                  <a:srgbClr val="FF7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Σ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32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ₜLₜ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" y="4572000"/>
            <a:ext cx="3556000" cy="825500"/>
          </a:xfrm>
          <a:prstGeom prst="roundRect">
            <a:avLst>
              <a:gd name="adj" fmla="val 0"/>
            </a:avLst>
          </a:prstGeom>
          <a:solidFill>
            <a:srgbClr val="FF7F5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48006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143000" y="4635500"/>
            <a:ext cx="304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序列长度定义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 代表时间序列的总步数，是计算平均损失的基数，确保损失值稳定。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318000" y="4572000"/>
            <a:ext cx="3556000" cy="825500"/>
          </a:xfrm>
          <a:prstGeom prst="roundRect">
            <a:avLst>
              <a:gd name="adj" fmla="val 0"/>
            </a:avLst>
          </a:prstGeom>
          <a:solidFill>
            <a:srgbClr val="FF7F5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000" y="48006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826000" y="4635500"/>
            <a:ext cx="304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平均损失计算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对所有时刻的损失取算术平均，消除序列长度对损失量级的影响。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001000" y="4572000"/>
            <a:ext cx="3556000" cy="825500"/>
          </a:xfrm>
          <a:prstGeom prst="roundRect">
            <a:avLst>
              <a:gd name="adj" fmla="val 0"/>
            </a:avLst>
          </a:prstGeom>
          <a:solidFill>
            <a:srgbClr val="FF7F5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8000" y="48006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509000" y="4635500"/>
            <a:ext cx="304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模型优化目标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通过反向传播最小化总损失 L，迭代更新权重 W 与偏置 b。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381000" y="5588000"/>
            <a:ext cx="11430000" cy="889000"/>
          </a:xfrm>
          <a:prstGeom prst="roundRect">
            <a:avLst>
              <a:gd name="adj" fmla="val 0"/>
            </a:avLst>
          </a:prstGeom>
          <a:solidFill>
            <a:srgbClr val="3D2B7A">
              <a:alpha val="8000"/>
            </a:srgbClr>
          </a:solidFill>
          <a:ln w="12700" cap="flat" cmpd="sng">
            <a:solidFill>
              <a:srgbClr val="3D2B7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571500" y="56896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特殊场景说明：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对于“序列到单个值”的任务（如文本分类），仅在序列最后时刻 t=T 计算损失，中间时刻不计算，以确保模型聚焦于最终的全局输出结果。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889000"/>
          </a:xfrm>
          <a:prstGeom prst="roundRect">
            <a:avLst>
              <a:gd name="adj" fmla="val 0"/>
            </a:avLst>
          </a:prstGeom>
          <a:solidFill>
            <a:srgbClr val="4A3A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1905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 BPTT · 随时间反向传播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143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BPTT (Backpropagation Through Time) 是训练循环神经网络（RNN）的核心算法：将RNN按时间步展开为全连接前馈网络，随后沿时间轴从最后一个时刻向前反向传播，计算并累加各时刻的梯度以更新共享权重。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036445"/>
            <a:ext cx="11176000" cy="889000"/>
          </a:xfrm>
          <a:prstGeom prst="roundRect">
            <a:avLst>
              <a:gd name="adj" fmla="val 0"/>
            </a:avLst>
          </a:prstGeom>
          <a:solidFill>
            <a:srgbClr val="4A3A8E">
              <a:alpha val="8000"/>
            </a:srgbClr>
          </a:solidFill>
          <a:ln w="12700" cap="flat" cmpd="sng">
            <a:solidFill>
              <a:srgbClr val="4A3A8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98500" y="2222500"/>
            <a:ext cx="1079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3A8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核心梯度累积公式：∂L/∂Wₕ = Σₜ₌₁(∂Lₜ/∂Wₕ) —— 所有时间步的梯度累加，而非独立计算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3175000"/>
            <a:ext cx="3556000" cy="1778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3365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079500" y="33655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W</a:t>
            </a:r>
            <a:r>
              <a:rPr lang="en-US" sz="12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xh</a:t>
            </a:r>
            <a:r>
              <a:rPr lang="en-US" sz="16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输入权重梯度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98500" y="3810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梯度仅依赖当前时刻的输入 xₜ 与隐藏层的局部交互，不受历史时刻影响。计算路径短，无长期依赖带来的不稳定性。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18000" y="3175000"/>
            <a:ext cx="3556000" cy="1778000"/>
          </a:xfrm>
          <a:prstGeom prst="roundRect">
            <a:avLst>
              <a:gd name="adj" fmla="val 0"/>
            </a:avLst>
          </a:prstGeom>
          <a:solidFill>
            <a:srgbClr val="F59E0B">
              <a:alpha val="8000"/>
            </a:srgbClr>
          </a:solidFill>
          <a:ln w="12700" cap="flat" cmpd="sng">
            <a:solidFill>
              <a:srgbClr val="F59E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8500" y="3365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889500" y="33655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4530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W</a:t>
            </a:r>
            <a:r>
              <a:rPr lang="en-US" sz="1200" b="1" i="0" u="none" strike="noStrike">
                <a:solidFill>
                  <a:srgbClr val="B4530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hh</a:t>
            </a:r>
            <a:r>
              <a:rPr lang="en-US" sz="1600" b="1" i="0" u="none" strike="noStrike">
                <a:solidFill>
                  <a:srgbClr val="B4530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循环权重梯度 (核心)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08500" y="3810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权重在时间步间共享，梯度需沿时间轴反向回传并累加所有时刻的贡献。这是BPTT的核心，也是梯度消失或爆炸现象的根源。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3175000"/>
            <a:ext cx="3556000" cy="1778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3365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699500" y="33655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W</a:t>
            </a:r>
            <a:r>
              <a:rPr lang="en-US" sz="12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hy </a:t>
            </a:r>
            <a:r>
              <a:rPr lang="en-US" sz="16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输出权重梯度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18500" y="3810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仅由当前时刻的输出层损失直接驱动，无需跨时间步传递。计算过程简单独立，仅与当前预测误差相关，路径最直接。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08000" y="5207000"/>
            <a:ext cx="11176000" cy="1270000"/>
          </a:xfrm>
          <a:prstGeom prst="roundRect">
            <a:avLst>
              <a:gd name="adj" fmla="val 0"/>
            </a:avLst>
          </a:prstGeom>
          <a:solidFill>
            <a:srgbClr val="FFF0EE">
              <a:alpha val="100000"/>
            </a:srgbClr>
          </a:solidFill>
          <a:ln w="12700" cap="flat" cmpd="sng">
            <a:solidFill>
              <a:srgbClr val="FF7F5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500" y="5397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143000" y="5397500"/>
            <a:ext cx="1028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关键挑战：梯度消失与爆炸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98500" y="5778500"/>
            <a:ext cx="1079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78350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由于 Wₕ 在所有时间步共享，梯度计算涉及多个雅克比矩阵的连乘。当序列过长时，若矩阵特征值小于1，梯度会指数级衰减（消失）；若大于1，则会指数级放大（爆炸），导致模型难以收敛，这是训练长序列RNN的核心难题。</a:t>
            </a:r>
            <a:endParaRPr lang="en-US" sz="1100"/>
          </a:p>
        </p:txBody>
      </p:sp>
      <p:sp>
        <p:nvSpPr>
          <p:cNvPr id="24" name="AutoShape 6"/>
          <p:cNvSpPr/>
          <p:nvPr/>
        </p:nvSpPr>
        <p:spPr>
          <a:xfrm>
            <a:off x="956945" y="4074795"/>
            <a:ext cx="8700770" cy="6057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8" name="文本框 27"/>
          <p:cNvSpPr txBox="1"/>
          <p:nvPr/>
        </p:nvSpPr>
        <p:spPr>
          <a:xfrm>
            <a:off x="3742055" y="2265045"/>
            <a:ext cx="1071245" cy="242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b="1">
                <a:solidFill>
                  <a:srgbClr val="4A3A8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D2B7A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FF7A59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7315" y="31115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 </a:t>
            </a:r>
            <a:r>
              <a:rPr lang="zh-CN" altLang="en-US" sz="28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隐藏层参数</a:t>
            </a:r>
            <a:r>
              <a:rPr lang="zh-CN" altLang="en-US" sz="28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更新</a:t>
            </a:r>
            <a:endParaRPr lang="zh-CN" altLang="en-US" sz="2800" b="1" i="0" u="none" strike="noStrike">
              <a:solidFill>
                <a:srgbClr val="3D2B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313055" y="735965"/>
            <a:ext cx="11430000" cy="5638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3D2B7A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/>
              <a:t>针对 </a:t>
            </a:r>
            <a:r>
              <a:rPr lang="en-US" altLang="zh-CN"/>
              <a:t>RNN </a:t>
            </a:r>
            <a:r>
              <a:rPr lang="zh-CN" altLang="en-US"/>
              <a:t>隐藏层参数</a:t>
            </a:r>
            <a:r>
              <a:rPr lang="en-US" altLang="zh-CN"/>
              <a:t>Wxh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zh-CN">
                <a:ea typeface="宋体" panose="02010600030101010101" pitchFamily="2" charset="-122"/>
              </a:rPr>
              <a:t>Whh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zh-CN">
                <a:ea typeface="宋体" panose="02010600030101010101" pitchFamily="2" charset="-122"/>
              </a:rPr>
              <a:t>bxh</a:t>
            </a:r>
            <a:r>
              <a:rPr lang="zh-CN" altLang="en-US"/>
              <a:t>的梯度推导，核心难点在于：</a:t>
            </a:r>
            <a:r>
              <a:rPr lang="en-US" altLang="zh-CN"/>
              <a:t>ht</a:t>
            </a:r>
            <a:r>
              <a:rPr lang="zh-CN" altLang="en-US"/>
              <a:t>不仅影响当前的输出 </a:t>
            </a:r>
            <a:r>
              <a:rPr lang="en-US" altLang="zh-CN"/>
              <a:t>yt，</a:t>
            </a:r>
            <a:r>
              <a:rPr lang="zh-CN" altLang="en-US"/>
              <a:t>还会作为下一时刻的输入影响</a:t>
            </a:r>
            <a:r>
              <a:rPr lang="en-US" altLang="zh-CN"/>
              <a:t>ht+1...。</a:t>
            </a:r>
            <a:endParaRPr lang="en-US" altLang="zh-CN"/>
          </a:p>
          <a:p>
            <a:pPr algn="l">
              <a:defRPr/>
            </a:pPr>
            <a:r>
              <a:rPr lang="zh-CN"/>
              <a:t>那么</a:t>
            </a:r>
            <a:r>
              <a:rPr lang="zh-CN" altLang="en-US"/>
              <a:t>根据多元函数链式法则，损失 </a:t>
            </a:r>
            <a:r>
              <a:rPr lang="en-US" altLang="zh-CN"/>
              <a:t>L </a:t>
            </a:r>
            <a:r>
              <a:rPr lang="zh-CN" altLang="en-US"/>
              <a:t>对 </a:t>
            </a:r>
            <a:r>
              <a:rPr lang="en-US" altLang="zh-CN"/>
              <a:t>z_t </a:t>
            </a:r>
            <a:r>
              <a:rPr lang="zh-CN" altLang="en-US"/>
              <a:t>的影响有两条路径：</a:t>
            </a:r>
            <a:endParaRPr lang="zh-CN" altLang="en-US"/>
          </a:p>
          <a:p>
            <a:pPr algn="l">
              <a:defRPr/>
            </a:pPr>
            <a:r>
              <a:rPr lang="zh-CN" altLang="en-US"/>
              <a:t>路径一（当前路径）：通过当前时刻的输出影响当前损失</a:t>
            </a:r>
            <a:endParaRPr lang="zh-CN" altLang="en-US"/>
          </a:p>
          <a:p>
            <a:pPr algn="l">
              <a:defRPr/>
            </a:pPr>
            <a:r>
              <a:rPr lang="zh-CN" altLang="en-US"/>
              <a:t>路径二（未来路径）：通过下一时刻的隐状态影响后续所有损失</a:t>
            </a:r>
            <a:endParaRPr lang="zh-CN" altLang="en-US"/>
          </a:p>
          <a:p>
            <a:pPr algn="l">
              <a:defRPr/>
            </a:pPr>
            <a:endParaRPr lang="zh-CN" altLang="en-US"/>
          </a:p>
          <a:p>
            <a:pPr algn="l">
              <a:defRPr/>
            </a:pPr>
          </a:p>
          <a:p>
            <a:pPr algn="l">
              <a:defRPr/>
            </a:pPr>
          </a:p>
          <a:p>
            <a:pPr algn="l">
              <a:defRPr/>
            </a:pPr>
          </a:p>
          <a:p>
            <a:pPr algn="l">
              <a:defRPr/>
            </a:pPr>
          </a:p>
          <a:p>
            <a:pPr algn="l">
              <a:defRPr/>
            </a:pPr>
            <a:r>
              <a:rPr lang="zh-CN" altLang="en-US"/>
              <a:t>对于第一项来说，即为正常的通过损失函数对参数</a:t>
            </a:r>
            <a:r>
              <a:rPr lang="zh-CN" altLang="en-US"/>
              <a:t>求导</a:t>
            </a:r>
            <a:endParaRPr lang="zh-CN" altLang="en-US"/>
          </a:p>
          <a:p>
            <a:pPr algn="l">
              <a:defRPr/>
            </a:pPr>
            <a:r>
              <a:rPr lang="zh-CN" altLang="en-US"/>
              <a:t>对于第二项来说，由于计算未来</a:t>
            </a:r>
            <a:r>
              <a:rPr lang="en-US" altLang="zh-CN"/>
              <a:t>t</a:t>
            </a:r>
            <a:r>
              <a:rPr lang="zh-CN" altLang="en-US"/>
              <a:t>的损失对当前</a:t>
            </a:r>
            <a:r>
              <a:rPr lang="en-US" altLang="zh-CN"/>
              <a:t>t</a:t>
            </a:r>
            <a:r>
              <a:rPr lang="zh-CN" altLang="en-US"/>
              <a:t>的</a:t>
            </a:r>
            <a:r>
              <a:rPr lang="en-US" altLang="zh-CN"/>
              <a:t>ht</a:t>
            </a:r>
            <a:r>
              <a:rPr lang="zh-CN" altLang="en-US"/>
              <a:t>求导时，都需要通过函数关系式乘一次偏导，那么当</a:t>
            </a:r>
            <a:r>
              <a:rPr lang="en-US" altLang="zh-CN"/>
              <a:t>t</a:t>
            </a:r>
            <a:r>
              <a:rPr lang="zh-CN" altLang="en-US"/>
              <a:t>够大时，此时将会发生梯度</a:t>
            </a:r>
            <a:r>
              <a:rPr lang="zh-CN" altLang="en-US"/>
              <a:t>爆炸</a:t>
            </a:r>
            <a:endParaRPr lang="zh-CN" altLang="en-US"/>
          </a:p>
        </p:txBody>
      </p:sp>
      <p:sp>
        <p:nvSpPr>
          <p:cNvPr id="6" name="AutoShape 6"/>
          <p:cNvSpPr/>
          <p:nvPr/>
        </p:nvSpPr>
        <p:spPr>
          <a:xfrm>
            <a:off x="567055" y="1714500"/>
            <a:ext cx="11176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085" y="3324860"/>
            <a:ext cx="4010025" cy="101473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508000" y="3937000"/>
            <a:ext cx="33782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3"/>
            </p:custDataLst>
          </p:nvPr>
        </p:nvSpPr>
        <p:spPr>
          <a:xfrm>
            <a:off x="4406900" y="3937000"/>
            <a:ext cx="33782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4"/>
            </p:custDataLst>
          </p:nvPr>
        </p:nvSpPr>
        <p:spPr>
          <a:xfrm>
            <a:off x="8305800" y="3937000"/>
            <a:ext cx="33782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81000" y="56515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889000"/>
          </a:xfrm>
          <a:prstGeom prst="roundRect">
            <a:avLst>
              <a:gd name="adj" fmla="val 0"/>
            </a:avLst>
          </a:prstGeom>
          <a:solidFill>
            <a:srgbClr val="3D2B7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81000" y="190500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11 梯度消失与梯度爆炸 · 公式推导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143000"/>
            <a:ext cx="11176000" cy="1079500"/>
          </a:xfrm>
          <a:prstGeom prst="roundRect">
            <a:avLst>
              <a:gd name="adj" fmla="val 0"/>
            </a:avLst>
          </a:prstGeom>
          <a:solidFill>
            <a:srgbClr val="3D2B7A">
              <a:alpha val="6000"/>
            </a:srgbClr>
          </a:solidFill>
          <a:ln w="12700" cap="flat" cmpd="sng">
            <a:solidFill>
              <a:srgbClr val="3D2B7A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35000" y="13335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∂h_t/∂h_k = Π_{i=k+1}^{t} (W_h^T · diag(tanh'(z_i)))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2413000"/>
            <a:ext cx="5397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F444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2603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079500" y="2565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梯度消失 (Vanishing Gradient)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8703">
            <a:off x="698508" y="3041650"/>
            <a:ext cx="501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98500" y="3149600"/>
            <a:ext cx="508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导数衰减：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tanh’(z) ≤ 1，且在饱和区梯度趋近于0；</a:t>
            </a:r>
            <a:b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连乘效应：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多层网络中，多个小于1的因子连乘导致梯度指数级衰减；</a:t>
            </a:r>
            <a:b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后果：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深层网络的早期层梯度几乎为0，无法有效更新权重，长距离依赖关系难以被模型捕捉。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86500" y="2413000"/>
            <a:ext cx="5397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59E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603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858000" y="2565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梯度爆炸 (Exploding Gradient)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8703">
            <a:off x="6477008" y="3041650"/>
            <a:ext cx="501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77000" y="3149600"/>
            <a:ext cx="508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参数失控：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权重矩阵 W_h 的特征值大于 1，导致梯度放大；</a:t>
            </a:r>
            <a:b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指数增长：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连乘效应使梯度随层数增加呈指数级增大；</a:t>
            </a:r>
            <a:b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后果：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参数更新幅度过大，Loss 剧烈震荡甚至出现 NaN，模型训练直接崩溃。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08000" y="5016500"/>
            <a:ext cx="11176000" cy="1460500"/>
          </a:xfrm>
          <a:prstGeom prst="roundRect">
            <a:avLst>
              <a:gd name="adj" fmla="val 0"/>
            </a:avLst>
          </a:prstGeom>
          <a:solidFill>
            <a:srgbClr val="3D2B7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500" y="5207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079500" y="52070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关键应对策略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98500" y="5651500"/>
            <a:ext cx="5334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5689600"/>
            <a:ext cx="520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梯度爆炸 → 梯度裁剪 (Gradient Clipping)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设定阈值，若梯度范数 ||g|| 超过阈值，则按比例缩放：g = g · (threshold / ||g||)，限制参数更新幅度。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159500" y="5651500"/>
            <a:ext cx="5334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223000" y="5689600"/>
            <a:ext cx="520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梯度消失 → 门控机制与残差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 LSTM/GRU 门控结构（下页详述），或使用 ReLU 激活函数、残差连接(Residual)来缓解梯度衰减。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889000"/>
          </a:xfrm>
          <a:prstGeom prst="roundRect">
            <a:avLst>
              <a:gd name="adj" fmla="val 0"/>
            </a:avLst>
          </a:prstGeom>
          <a:solidFill>
            <a:srgbClr val="2D24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12应用场景与代码实现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206500"/>
            <a:ext cx="546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24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典型应用场景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841500"/>
            <a:ext cx="5461000" cy="10414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1841500"/>
            <a:ext cx="76200" cy="10414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2032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19304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自然语言处理 (NLP)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涵盖语言模型预训练、文本分类、命名实体识别(NER)及端到端机器翻译，是处理序列文本的核心架构。</a:t>
            </a:r>
            <a:endParaRPr lang="en-US" sz="13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08000" y="2984500"/>
            <a:ext cx="5461000" cy="10414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08000" y="2984500"/>
            <a:ext cx="76200" cy="10414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3175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33500" y="30734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时序序列预测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基于历史数据预测未来趋势，广泛应用于金融股价分析、气象预报、能源消耗及服务器流量负载预警。</a:t>
            </a:r>
            <a:endParaRPr lang="en-US" sz="13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08000" y="4127500"/>
            <a:ext cx="5461000" cy="1041400"/>
          </a:xfrm>
          <a:prstGeom prst="roundRect">
            <a:avLst>
              <a:gd name="adj" fmla="val 0"/>
            </a:avLst>
          </a:prstGeom>
          <a:solidFill>
            <a:srgbClr val="F59E0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08000" y="4127500"/>
            <a:ext cx="76200" cy="10414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4318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33500" y="42164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语音信号处理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处理语音波形的时序特征，实现语音识别(ASR)、语音合成(TTS)、声纹识别及语音情感分析等任务。</a:t>
            </a:r>
            <a:endParaRPr lang="en-US" sz="13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508000" y="5270500"/>
            <a:ext cx="5461000" cy="1041400"/>
          </a:xfrm>
          <a:prstGeom prst="roundRect">
            <a:avLst>
              <a:gd name="adj" fmla="val 0"/>
            </a:avLst>
          </a:prstGeom>
          <a:solidFill>
            <a:srgbClr val="8B5C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508000" y="5270500"/>
            <a:ext cx="76200" cy="10414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5461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333500" y="53594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序列标注任务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对序列中每个元素进行分类标注，如POS词性标注、中文分词、句法依存分析及事件抽取等。</a:t>
            </a:r>
            <a:endParaRPr lang="en-US" sz="13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223000" y="1206500"/>
            <a:ext cx="546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24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PyTorch 核心实现示例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1841500"/>
            <a:ext cx="5461000" cy="2667000"/>
          </a:xfrm>
          <a:prstGeom prst="roundRect">
            <a:avLst>
              <a:gd name="adj" fmla="val 0"/>
            </a:avLst>
          </a:prstGeom>
          <a:solidFill>
            <a:srgbClr val="2D2440">
              <a:alpha val="100000"/>
            </a:srgbClr>
          </a:solidFill>
          <a:ln w="12700" cap="flat" cmpd="sng">
            <a:solidFill>
              <a:srgbClr val="2D244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413500" y="1968500"/>
            <a:ext cx="5080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import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E5C07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torch.nn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as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E06C7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nn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C07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rnn = nn.RNN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(input_size=10, hidden_size=20, num_layers=2, batch_first=True)</a:t>
            </a:r>
            <a:endParaRPr lang="en-US" sz="1300" b="0" i="0" u="none" strike="noStrike">
              <a:solidFill>
                <a:srgbClr val="ABB2B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C637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输入形状: [batch_size, seq_len, input_size]</a:t>
            </a:r>
            <a:endParaRPr lang="en-US" sz="1300" b="0" i="0" u="none" strike="noStrike">
              <a:solidFill>
                <a:srgbClr val="5C637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C07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x = torch.randn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(3, 5, 10)</a:t>
            </a:r>
            <a:endParaRPr lang="en-US" sz="1300" b="0" i="0" u="none" strike="noStrike">
              <a:solidFill>
                <a:srgbClr val="ABB2B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C07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out, h_n = rnn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(x)</a:t>
            </a:r>
            <a:endParaRPr lang="en-US" sz="1300" b="0" i="0" u="none" strike="noStrike">
              <a:solidFill>
                <a:srgbClr val="ABB2B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C637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输出形状: out → [3, 5, 20], h_n → [2, 3, 20]</a:t>
            </a:r>
            <a:endParaRPr lang="en-US" sz="1300" b="0" i="0" u="none" strike="noStrike">
              <a:solidFill>
                <a:srgbClr val="5C637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223000" y="4826000"/>
            <a:ext cx="5461000" cy="1397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3500" y="5016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794500" y="4953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 兼容性提示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LSTM 和 GRU 的调用方式与 RNN 完全一致。只需将 `nn.RNN` 替换为 `nn.LSTM` 或 `nn.GRU`，即可无缝切换模型结构，无需修改输入输出逻辑。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0"/>
          </a:xfrm>
          <a:prstGeom prst="roundRect">
            <a:avLst>
              <a:gd name="adj" fmla="val 0"/>
            </a:avLst>
          </a:prstGeom>
          <a:solidFill>
            <a:srgbClr val="3D2B7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254000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13总结 · RNN 的优缺点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397000"/>
            <a:ext cx="53975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08000" y="1397000"/>
            <a:ext cx="76200" cy="3937000"/>
          </a:xfrm>
          <a:prstGeom prst="roundRect">
            <a:avLst>
              <a:gd name="adj" fmla="val 0"/>
            </a:avLst>
          </a:prstGeom>
          <a:solidFill>
            <a:srgbClr val="2ECC7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25500" y="1587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ECC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核心优势：序列建模的天然基石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046">
            <a:off x="825508" y="2089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ECC7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5500" y="2286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06500" y="22606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天然适配序列数据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专为时序数据设计，完美支持变长输入输出，无需额外处理即可捕捉语音、文本的时序特性。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500" y="2984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206500" y="29591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极致的参数效率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利用权值共享机制大幅减少参数量，模型复杂度远低于全连接网络，降低训练成本与过拟合风险。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" y="3683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206500" y="36576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动态上下文记忆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通过隐藏状态持续编码历史信息，有效捕捉序列中的上下文依赖，理解语义前后关联。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5500" y="4381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206500" y="43561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灵活的输入输出模式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支持多对一（情感分析）、一对多（文本生成）、多对多（机器翻译）等多种任务形态。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86500" y="1397000"/>
            <a:ext cx="53975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286500" y="1397000"/>
            <a:ext cx="76200" cy="3937000"/>
          </a:xfrm>
          <a:prstGeom prst="roundRect">
            <a:avLst>
              <a:gd name="adj" fmla="val 0"/>
            </a:avLst>
          </a:prstGeom>
          <a:solidFill>
            <a:srgbClr val="FF7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604000" y="1587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7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局限性：亟待解决的核心痛点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9046">
            <a:off x="6604008" y="2089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7F5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2286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22606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长距离依赖学习困难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原始结构存在严重的梯度消失/爆炸问题，难以有效建模长文本或长序列中的远距离依赖关系。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0" y="2984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985000" y="29591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并行计算能力受限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基于循环的串行计算模式无法利用GPU并行加速，导致训练耗时显著增加，难以处理海量数据。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04000" y="36830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985000" y="36576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性能被现代架构超越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在大多数NLP任务上，Transformer凭借全局注意力机制，在效果和效率上已全面超越传统RNN。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04000" y="43815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985000" y="43561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工程应用的局限性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实际生产环境中，通常优先选择LSTM/GRU等改进型循环网络，或直接使用Transformer架构。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0" y="558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D2B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感谢观看 · RNN 循环神经网络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0" y="61595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A9AB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序列模型专题 · 从原理到公式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0"/>
          </a:xfrm>
          <a:prstGeom prst="roundRect">
            <a:avLst>
              <a:gd name="adj" fmla="val 0"/>
            </a:avLst>
          </a:prstGeom>
          <a:solidFill>
            <a:srgbClr val="3A2E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254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11 LSTM · 门控机制公式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270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LSTM 通过三个核心门控（遗忘门、输入门、输出门）和细胞状态 \(C_t\) 解决循环神经网络的长距离依赖问题，实现对历史信息的选择性遗忘、更新与输出。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222500"/>
            <a:ext cx="11176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2E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2222500"/>
            <a:ext cx="76200" cy="952500"/>
          </a:xfrm>
          <a:prstGeom prst="roundRect">
            <a:avLst>
              <a:gd name="adj" fmla="val 0"/>
            </a:avLst>
          </a:prstGeom>
          <a:solidFill>
            <a:srgbClr val="FF7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3876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7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遗忘门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794000" y="2413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\(f_t = \sigma(W_f \cdot [h_{t-1}, x_t] + b_f)\)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0" y="23495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决定丢弃旧记忆：Sigmoid输出0-1值，0代表完全遗忘，1代表完全保留，筛选历史信息。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8000" y="3302000"/>
            <a:ext cx="11176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2E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08000" y="3302000"/>
            <a:ext cx="76200" cy="952500"/>
          </a:xfrm>
          <a:prstGeom prst="roundRect">
            <a:avLst>
              <a:gd name="adj" fmla="val 0"/>
            </a:avLst>
          </a:prstGeom>
          <a:solidFill>
            <a:srgbClr val="FF7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34671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7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输入门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794000" y="34925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\(i_t = \sigma(W_i \cdot [h_{t-1}, x_t] + b_i)\)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0" y="3429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决定写入新信息：控制候选状态 \(\tilde{C}_t\) 的更新权重，配合tanh生成新的候选记忆单元。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08000" y="4381500"/>
            <a:ext cx="11176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2E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08000" y="4381500"/>
            <a:ext cx="76200" cy="952500"/>
          </a:xfrm>
          <a:prstGeom prst="roundRect">
            <a:avLst>
              <a:gd name="adj" fmla="val 0"/>
            </a:avLst>
          </a:prstGeom>
          <a:solidFill>
            <a:srgbClr val="FF7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5466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7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状态更新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794000" y="4572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\(C_t = f_t \odot C_{t-1} + i_t \odot \tilde{C}_t\)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0" y="45085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细胞状态迭代：通过逐元素相乘(⊙)融合旧状态与新候选，实现长期记忆的持续传递与更新。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08000" y="5461000"/>
            <a:ext cx="11176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2E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08000" y="5461000"/>
            <a:ext cx="76200" cy="952500"/>
          </a:xfrm>
          <a:prstGeom prst="roundRect">
            <a:avLst>
              <a:gd name="adj" fmla="val 0"/>
            </a:avLst>
          </a:prstGeom>
          <a:solidFill>
            <a:srgbClr val="FF7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" y="56261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7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输出门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2794000" y="56515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\(h_t = o_t \odot \tanh(C_t)\)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0" y="5588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生成当前输出：基于更新后的细胞状态，通过Sigmoid门控筛选输出内容，得到最终隐藏状态。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889000"/>
          </a:xfrm>
          <a:prstGeom prst="roundRect">
            <a:avLst>
              <a:gd name="adj" fmla="val 0"/>
            </a:avLst>
          </a:prstGeom>
          <a:solidFill>
            <a:srgbClr val="3A2E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 GRU · LSTM 的简化版本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2065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GRU 将遗忘门和输入门合并为更新门，去掉独立的细胞状态 C_t，仅保留隐藏状态 h_t。这种简化设计大幅减少了参数数量，不仅降低了计算开销，还解决了梯度消失问题，实现更快的训练与收敛。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286000"/>
            <a:ext cx="3556000" cy="2222500"/>
          </a:xfrm>
          <a:prstGeom prst="roundRect">
            <a:avLst>
              <a:gd name="adj" fmla="val 0"/>
            </a:avLst>
          </a:prstGeom>
          <a:solidFill>
            <a:srgbClr val="3A2E6B">
              <a:alpha val="5000"/>
            </a:srgbClr>
          </a:solidFill>
          <a:ln w="12700" cap="flat" cmpd="sng">
            <a:solidFill>
              <a:srgbClr val="3A2E6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35000" y="24384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A2E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更新门 (Update Gate)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" y="2857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A5AC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z_t = σ(W_z·[h_{t-1}, x_t] + b_z)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34290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核心阀门，决定保留多少历史隐藏状态（旧信息），以及引入多少当前输入信息（新信息），平衡长期记忆与短期输入。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18000" y="2286000"/>
            <a:ext cx="3556000" cy="2222500"/>
          </a:xfrm>
          <a:prstGeom prst="roundRect">
            <a:avLst>
              <a:gd name="adj" fmla="val 0"/>
            </a:avLst>
          </a:prstGeom>
          <a:solidFill>
            <a:srgbClr val="3A2E6B">
              <a:alpha val="5000"/>
            </a:srgbClr>
          </a:solidFill>
          <a:ln w="12700" cap="flat" cmpd="sng">
            <a:solidFill>
              <a:srgbClr val="3A2E6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24384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A2E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重置门 (Reset Gate)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2857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A5AC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r_t = σ(W_r·[h_{t-1}, x_t] + b_r)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45000" y="34290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选择性“遗忘”机制，决定忽略多少过去的信息。重置门关闭时，模型能有效切断历史依赖，专注于捕捉短期序列特征。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2286000"/>
            <a:ext cx="3556000" cy="2222500"/>
          </a:xfrm>
          <a:prstGeom prst="roundRect">
            <a:avLst>
              <a:gd name="adj" fmla="val 0"/>
            </a:avLst>
          </a:prstGeom>
          <a:solidFill>
            <a:srgbClr val="3A2E6B">
              <a:alpha val="5000"/>
            </a:srgbClr>
          </a:solidFill>
          <a:ln w="12700" cap="flat" cmpd="sng">
            <a:solidFill>
              <a:srgbClr val="3A2E6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255000" y="24384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A2E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状态更新 (State Update)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55000" y="2857500"/>
            <a:ext cx="330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6A5AC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h̃_t = tanh(W·[r_t⊙h_{t-1},x_t])</a:t>
            </a:r>
            <a:br>
              <a:rPr lang="en-US" sz="1300" b="1" i="0" u="none" strike="noStrike">
                <a:solidFill>
                  <a:srgbClr val="6A5AC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300" b="1" i="0" u="none" strike="noStrike">
                <a:solidFill>
                  <a:srgbClr val="6A5AC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h_t = (1-z_t)⊙h_{t-1} + z_t⊙h̃_t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55000" y="3556000"/>
            <a:ext cx="330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基于重置门生成候选状态，再利用更新门对历史状态与候选状态进行线性插值，完成隐藏状态的高效迭代更新。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08000" y="4889500"/>
            <a:ext cx="5461000" cy="1524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98500" y="50165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 LSTM：更复杂的结构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98500" y="5461000"/>
            <a:ext cx="508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包含输入、遗忘、输出3个门控，维护独立的细胞状态 C_t。表达能力极强，适合极长序列建模，但参数量大，计算成本高，在小数据集场景下易发生过拟合。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4889500"/>
            <a:ext cx="5461000" cy="1524000"/>
          </a:xfrm>
          <a:prstGeom prst="roundRect">
            <a:avLst>
              <a:gd name="adj" fmla="val 0"/>
            </a:avLst>
          </a:prstGeom>
          <a:solidFill>
            <a:srgbClr val="6A5ACD">
              <a:alpha val="8000"/>
            </a:srgbClr>
          </a:solidFill>
          <a:ln w="12700" cap="flat" cmpd="sng">
            <a:solidFill>
              <a:srgbClr val="6A5AC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13500" y="50165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A2E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GRU 优势：轻量高效的选择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13500" y="5461000"/>
            <a:ext cx="508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简化为2个核心门控，移除独立细胞状态，参数量减少约1/3。训练速度更快，收敛更稳定，在中小规模数据集上的泛化性能往往优于LSTM，是轻量级序列任务的首选。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2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3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4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5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6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7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8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9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10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11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12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13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14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15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16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17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18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19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20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21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22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23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24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25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26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27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28.xml><?xml version="1.0" encoding="utf-8"?>
<p:tagLst xmlns:p="http://schemas.openxmlformats.org/presentationml/2006/main">
  <p:tag name="KSO_WM_DIAGRAM_VIRTUALLY_FRAME" val="{&quot;height&quot;:335,&quot;left&quot;:40,&quot;top&quot;:150,&quot;width&quot;:880}"/>
</p:tagLst>
</file>

<file path=ppt/tags/tag29.xml><?xml version="1.0" encoding="utf-8"?>
<p:tagLst xmlns:p="http://schemas.openxmlformats.org/presentationml/2006/main">
  <p:tag name="KSO_WM_DIAGRAM_VIRTUALLY_FRAME" val="{&quot;height&quot;:135.9,&quot;left&quot;:30,&quot;top&quot;:300,&quot;width&quot;:900}"/>
</p:tagLst>
</file>

<file path=ppt/tags/tag30.xml><?xml version="1.0" encoding="utf-8"?>
<p:tagLst xmlns:p="http://schemas.openxmlformats.org/presentationml/2006/main">
  <p:tag name="KSO_WM_DIAGRAM_VIRTUALLY_FRAME" val="{&quot;height&quot;:135.9,&quot;left&quot;:30,&quot;top&quot;:300,&quot;width&quot;:900}"/>
</p:tagLst>
</file>

<file path=ppt/tags/tag31.xml><?xml version="1.0" encoding="utf-8"?>
<p:tagLst xmlns:p="http://schemas.openxmlformats.org/presentationml/2006/main">
  <p:tag name="KSO_WM_DIAGRAM_VIRTUALLY_FRAME" val="{&quot;height&quot;:135.9,&quot;left&quot;:30,&quot;top&quot;:300,&quot;width&quot;:900}"/>
</p:tagLst>
</file>

<file path=ppt/tags/tag32.xml><?xml version="1.0" encoding="utf-8"?>
<p:tagLst xmlns:p="http://schemas.openxmlformats.org/presentationml/2006/main">
  <p:tag name="KSO_WM_DIAGRAM_VIRTUALLY_FRAME" val="{&quot;height&quot;:135.9,&quot;left&quot;:30,&quot;top&quot;:300,&quot;width&quot;:900}"/>
</p:tagLst>
</file>

<file path=ppt/tags/tag33.xml><?xml version="1.0" encoding="utf-8"?>
<p:tagLst xmlns:p="http://schemas.openxmlformats.org/presentationml/2006/main">
  <p:tag name="KSO_WM_DIAGRAM_VIRTUALLY_FRAME" val="{&quot;height&quot;:135.9,&quot;left&quot;:30,&quot;top&quot;:300,&quot;width&quot;:900}"/>
</p:tagLst>
</file>

<file path=ppt/tags/tag34.xml><?xml version="1.0" encoding="utf-8"?>
<p:tagLst xmlns:p="http://schemas.openxmlformats.org/presentationml/2006/main">
  <p:tag name="KSO_WM_DIAGRAM_VIRTUALLY_FRAME" val="{&quot;height&quot;:135.9,&quot;left&quot;:30,&quot;top&quot;:300,&quot;width&quot;:900}"/>
</p:tagLst>
</file>

<file path=ppt/tags/tag35.xml><?xml version="1.0" encoding="utf-8"?>
<p:tagLst xmlns:p="http://schemas.openxmlformats.org/presentationml/2006/main">
  <p:tag name="KSO_WM_DIAGRAM_VIRTUALLY_FRAME" val="{&quot;height&quot;:135,&quot;left&quot;:24.85,&quot;top&quot;:300,&quot;width&quot;:905.15}"/>
</p:tagLst>
</file>

<file path=ppt/tags/tag36.xml><?xml version="1.0" encoding="utf-8"?>
<p:tagLst xmlns:p="http://schemas.openxmlformats.org/presentationml/2006/main">
  <p:tag name="KSO_WM_DIAGRAM_VIRTUALLY_FRAME" val="{&quot;height&quot;:135,&quot;left&quot;:30,&quot;top&quot;:300,&quot;width&quot;:900}"/>
</p:tagLst>
</file>

<file path=ppt/tags/tag37.xml><?xml version="1.0" encoding="utf-8"?>
<p:tagLst xmlns:p="http://schemas.openxmlformats.org/presentationml/2006/main">
  <p:tag name="KSO_WM_DIAGRAM_VIRTUALLY_FRAME" val="{&quot;height&quot;:135,&quot;left&quot;:24.85,&quot;top&quot;:300,&quot;width&quot;:905.1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7309</Words>
  <Application>WPS 演示</Application>
  <PresentationFormat/>
  <Paragraphs>454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18</vt:i4>
      </vt:variant>
    </vt:vector>
  </HeadingPairs>
  <TitlesOfParts>
    <vt:vector size="38" baseType="lpstr">
      <vt:lpstr>Arial</vt:lpstr>
      <vt:lpstr>宋体</vt:lpstr>
      <vt:lpstr>Wingdings</vt:lpstr>
      <vt:lpstr>Arial</vt:lpstr>
      <vt:lpstr>Noto Sans SC</vt:lpstr>
      <vt:lpstr>Inter</vt:lpstr>
      <vt:lpstr>Segoe Print</vt:lpstr>
      <vt:lpstr>Times New Roman</vt:lpstr>
      <vt:lpstr>Consolas</vt:lpstr>
      <vt:lpstr>微软雅黑</vt:lpstr>
      <vt:lpstr>Arial Unicode MS</vt:lpstr>
      <vt:lpstr>Consolas</vt:lpstr>
      <vt:lpstr>Inter</vt:lpstr>
      <vt:lpstr>Times New Roman</vt:lpstr>
      <vt:lpstr>MS PGothic</vt:lpstr>
      <vt:lpstr>汉仪旗黑 Lenovo 60S</vt:lpstr>
      <vt:lpstr>Office 主题​​</vt:lpstr>
      <vt:lpstr>默认主题</vt:lpstr>
      <vt:lpstr>1_默认主题</vt:lpstr>
      <vt:lpstr>3_默认主题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熹微</cp:lastModifiedBy>
  <cp:revision>5</cp:revision>
  <dcterms:created xsi:type="dcterms:W3CDTF">2026-08-27T08:55:00Z</dcterms:created>
  <dcterms:modified xsi:type="dcterms:W3CDTF">2026-08-27T15:02:49Z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{"Label":"1","ContentProducer":"001191110102MACQD9K64010000","ProduceID":"7678625512398998470","ReservedCode1":"","ContentPropagator":"","PropagateID":"","ReservedCode2":""}</vt:lpwstr>
  </property>
  <property fmtid="{D5CDD505-2E9C-101B-9397-08002B2CF9AE}" pid="3" name="KSOProductBuildVer">
    <vt:lpwstr>2052-12.1.0.28043</vt:lpwstr>
  </property>
  <property fmtid="{D5CDD505-2E9C-101B-9397-08002B2CF9AE}" pid="4" name="ICV">
    <vt:lpwstr>B89DDD0C2B14481D9D20F39BD8837D64_12</vt:lpwstr>
  </property>
</Properties>
</file>