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SVRG：随机方差缩减梯度算法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Stochastic Variance Reduced Gradient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内容：算法动机、数学推导、无偏性证明、方差界、收敛性证明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随机优化背景</a:t>
            </a:r>
          </a:p>
          <a:p>
            <a:pPr>
              <a:defRPr sz="1800"/>
            </a:pPr>
            <a:r>
              <a:t>2. SGD的问题</a:t>
            </a:r>
          </a:p>
          <a:p>
            <a:pPr>
              <a:defRPr sz="1800"/>
            </a:pPr>
            <a:r>
              <a:t>3. SVRG核心思想</a:t>
            </a:r>
          </a:p>
          <a:p>
            <a:pPr>
              <a:defRPr sz="1800"/>
            </a:pPr>
            <a:r>
              <a:t>4. 梯度估计性质证明</a:t>
            </a:r>
          </a:p>
          <a:p>
            <a:pPr>
              <a:defRPr sz="1800"/>
            </a:pPr>
            <a:r>
              <a:t>5. 方差缩减理论</a:t>
            </a:r>
          </a:p>
          <a:p>
            <a:pPr>
              <a:defRPr sz="1800"/>
            </a:pPr>
            <a:r>
              <a:t>6. 收敛性证明</a:t>
            </a:r>
          </a:p>
          <a:p>
            <a:pPr>
              <a:defRPr sz="1800"/>
            </a:pPr>
            <a:r>
              <a:t>7. 复杂度分析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有限和优化问题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机器学习常见目标：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min_x F(x)=1/n Σ_{i=1}^n f_i(x)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其中每个f_i代表一个样本损失。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例如：逻辑回归、深度学习中的经验风险最小化。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Batch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梯度：</a:t>
            </a:r>
          </a:p>
          <a:p>
            <a:pPr>
              <a:defRPr sz="1800"/>
            </a:pPr>
            <a:r>
              <a:t>∇F(x)=1/n Σ∇f_i(x)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更新：</a:t>
            </a:r>
          </a:p>
          <a:p>
            <a:pPr>
              <a:defRPr sz="1800"/>
            </a:pPr>
            <a:r>
              <a:t>x_{k+1}=x_k-η∇F(x_k)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优点：稳定</a:t>
            </a:r>
          </a:p>
          <a:p>
            <a:pPr>
              <a:defRPr sz="1800"/>
            </a:pPr>
            <a:r>
              <a:t>缺点：每一步需要遍历全部数据O(n)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随机梯度下降SGD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随机选择样本i：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x_{k+1}=x_k-η∇f_i(x_k)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满足：</a:t>
            </a:r>
          </a:p>
          <a:p>
            <a:pPr>
              <a:defRPr sz="1800"/>
            </a:pPr>
            <a:r>
              <a:t>E[∇f_i(x)]=∇F(x)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但是：</a:t>
            </a:r>
          </a:p>
          <a:p>
            <a:pPr>
              <a:defRPr sz="1800"/>
            </a:pPr>
            <a:r>
              <a:t>Var(∇f_i(x))较大，导致震荡。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SVRG提出动机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目标：保持SGD低成本，同时降低梯度方差。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核心思想：</a:t>
            </a:r>
          </a:p>
          <a:p>
            <a:pPr>
              <a:defRPr sz="1800"/>
            </a:pPr>
            <a:r>
              <a:t>利用一个历史参考点x~保存准确梯度信息。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SVRG梯度估计公式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定义：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v_i(x)=∇f_i(x)-∇f_i(x~)+∇F(x~)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其中：</a:t>
            </a:r>
          </a:p>
          <a:p>
            <a:pPr>
              <a:defRPr sz="1800"/>
            </a:pPr>
            <a:r>
              <a:t>∇F(x~)=1/nΣ∇f_i(x~)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更新：</a:t>
            </a:r>
          </a:p>
          <a:p>
            <a:pPr>
              <a:defRPr sz="1800"/>
            </a:pPr>
            <a:r>
              <a:t>x←x-ηv_i(x)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证明1：SVRG无偏性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计算期望：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E[v_i(x)]</a:t>
            </a:r>
          </a:p>
          <a:p>
            <a:pPr>
              <a:defRPr sz="1800"/>
            </a:pPr>
            <a:r>
              <a:t>=E[∇f_i(x)]-E[∇f_i(x~)]+∇F(x~)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=∇F(x)-∇F(x~)+∇F(x~)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=∇F(x)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因此SVRG保持正确下降方向。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证明2：方差缩减直觉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SGD方差：</a:t>
            </a:r>
          </a:p>
          <a:p>
            <a:pPr>
              <a:defRPr sz="1800"/>
            </a:pPr>
            <a:r>
              <a:t>E||∇f_i(x)-∇F(x)||²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SVRG：</a:t>
            </a:r>
          </a:p>
          <a:p>
            <a:pPr>
              <a:defRPr sz="1800"/>
            </a:pPr>
            <a:r>
              <a:t>E||v_i(x)-∇F(x)||²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因为x接近x~时：</a:t>
            </a:r>
          </a:p>
          <a:p>
            <a:pPr>
              <a:defRPr sz="1800"/>
            </a:pPr>
            <a:r>
              <a:t>∇f_i(x)-∇f_i(x~)≈0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方差自然降低。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关键数学假设：L-smooth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定义：</a:t>
            </a:r>
          </a:p>
          <a:p>
            <a:pPr>
              <a:defRPr sz="1800"/>
            </a:pPr>
            <a:r>
              <a:t>||∇f_i(x)-∇f_i(y)||≤L||x-y||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进一步有：</a:t>
            </a:r>
          </a:p>
          <a:p>
            <a:pPr>
              <a:defRPr sz="1800"/>
            </a:pPr>
            <a:r>
              <a:t>||∇f_i(x)-∇f_i(y)||²</a:t>
            </a:r>
          </a:p>
          <a:p>
            <a:pPr>
              <a:defRPr sz="1800"/>
            </a:pPr>
            <a:r>
              <a:t>≤2L(f_i(x)-f_i(y)-&lt;∇f_i(y),x-y&gt;)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方差界证明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由Jensen不等式：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E||v-∇F(x)||²</a:t>
            </a:r>
          </a:p>
          <a:p>
            <a:pPr>
              <a:defRPr sz="1800"/>
            </a:pPr>
            <a:r>
              <a:t>≤E||∇f_i(x)-∇f_i(x~)||²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利用smooth性质：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≤4L(F(x)-F*+F(x~)-F*)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SVRG完整算法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输入：x0, epoch数S, 内循环次数m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s=0,...S:</a:t>
            </a:r>
          </a:p>
          <a:p>
            <a:pPr>
              <a:defRPr sz="1800"/>
            </a:pPr>
            <a:r>
              <a:t>1. 设置x~=当前点</a:t>
            </a:r>
          </a:p>
          <a:p>
            <a:pPr>
              <a:defRPr sz="1800"/>
            </a:pPr>
            <a:r>
              <a:t>2. 计算全梯度μ=∇F(x~)</a:t>
            </a:r>
          </a:p>
          <a:p>
            <a:pPr>
              <a:defRPr sz="1800"/>
            </a:pPr>
            <a:r>
              <a:t>3. 随机采样i</a:t>
            </a:r>
          </a:p>
          <a:p>
            <a:pPr>
              <a:defRPr sz="1800"/>
            </a:pPr>
            <a:r>
              <a:t>4. v=∇f_i(x)-∇f_i(x~)+μ</a:t>
            </a:r>
          </a:p>
          <a:p>
            <a:pPr>
              <a:defRPr sz="1800"/>
            </a:pPr>
            <a:r>
              <a:t>5. x=x-ηv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收敛证明目标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证明：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E[F(x_s)-F*]≤ρ^s(F(x_0)-F*)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其中ρ&lt;1。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即epoch级线性收敛。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下降引理推导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L-smooth函数满足：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F(x+)≤F(x)+&lt;∇F(x),x+-x&gt;+L/2||x+-x||²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代入：</a:t>
            </a:r>
          </a:p>
          <a:p>
            <a:pPr>
              <a:defRPr sz="1800"/>
            </a:pPr>
            <a:r>
              <a:t>x+=x-ηv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继续推导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得到：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E[F(x+)]≤F(x)-η||∇F(x)||²</a:t>
            </a:r>
          </a:p>
          <a:p>
            <a:pPr>
              <a:defRPr sz="1800"/>
            </a:pPr>
            <a:r>
              <a:t>+Lη²/2 E||v||²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关键变成控制第二项。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强凸条件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若F是μ-strongly convex：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||∇F(x)||²≥2μ(F(x)-F*)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将梯度范数转换为函数差。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线性收敛结果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最终得到：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E[F(x_s)-F*]≤ρ^s(F(x_0)-F*)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ρ=(某个由η,L,μ,m决定的常数)&lt;1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复杂度分析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每个epoch：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计算全梯度：O(n)</a:t>
            </a:r>
          </a:p>
          <a:p>
            <a:pPr>
              <a:defRPr sz="1800"/>
            </a:pPr>
            <a:r>
              <a:t>内循环：O(m)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总复杂度：</a:t>
            </a:r>
          </a:p>
          <a:p>
            <a:pPr>
              <a:defRPr sz="1800"/>
            </a:pPr>
            <a:r>
              <a:t>O((n+m)log(1/ε))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相比GD降低计算成本。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SVRG与其他算法比较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GD：低方差，高成本</a:t>
            </a:r>
          </a:p>
          <a:p>
            <a:pPr>
              <a:defRPr sz="1800"/>
            </a:pPr>
            <a:r>
              <a:t>SGD：低成本，高方差</a:t>
            </a:r>
          </a:p>
          <a:p>
            <a:pPr>
              <a:defRPr sz="1800"/>
            </a:pPr>
            <a:r>
              <a:t>SVRG：低方差+低成本</a:t>
            </a:r>
          </a:p>
          <a:p>
            <a:pPr>
              <a:defRPr sz="1800"/>
            </a:pPr>
            <a:r>
              <a:t>SAGA：存储更多历史梯度</a:t>
            </a:r>
          </a:p>
          <a:p>
            <a:pPr>
              <a:defRPr sz="1800"/>
            </a:pPr>
            <a:r>
              <a:t>SARAH：递归估计梯度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核心公式：</a:t>
            </a:r>
          </a:p>
          <a:p>
            <a:pPr>
              <a:defRPr sz="1800"/>
            </a:pPr>
            <a:r>
              <a:t>v=∇f_i(x)-∇f_i(x~)+∇F(x~)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核心贡献：</a:t>
            </a:r>
          </a:p>
          <a:p>
            <a:pPr>
              <a:defRPr sz="1800"/>
            </a:pPr>
            <a:r>
              <a:t>1. 无偏</a:t>
            </a:r>
          </a:p>
          <a:p>
            <a:pPr>
              <a:defRPr sz="1800"/>
            </a:pPr>
            <a:r>
              <a:t>2. 方差降低</a:t>
            </a:r>
          </a:p>
          <a:p>
            <a:pPr>
              <a:defRPr sz="1800"/>
            </a:pPr>
            <a:r>
              <a:t>3. 强凸情况下线性收敛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