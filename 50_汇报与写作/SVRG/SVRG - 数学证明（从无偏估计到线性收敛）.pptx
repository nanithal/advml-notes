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presProps.xml" Type="http://schemas.openxmlformats.org/officeDocument/2006/relationships/pres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notesSlides/notesSlide12.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大家好，今天我将为大家深入剖析SVRG算法的数学证明过程。</a:t>
            </a:r>
          </a:p>
          <a:p>
            <a:pPr algn="l" marL="0" indent="0">
              <a:lnSpc>
                <a:spcPct val="100000"/>
              </a:lnSpc>
            </a:pPr>
            <a:r>
              <a:rPr lang="en-US" b="false" i="false" strike="noStrike" u="none" sz="1400">
                <a:solidFill>
                  <a:srgbClr val="000000"/>
                </a:solidFill>
              </a:rPr>
              <a:t>SVRG，即随机方差缩减梯度算法，是解决大规模机器学习优化问题的利器。它的核心优势在于通过引入控制变量技术，有效降低了随机梯度的方差，从而实现了线性收敛速度。</a:t>
            </a:r>
          </a:p>
          <a:p>
            <a:pPr algn="l" marL="0" indent="0">
              <a:lnSpc>
                <a:spcPct val="100000"/>
              </a:lnSpc>
            </a:pPr>
            <a:r>
              <a:rPr lang="en-US" b="false" i="false" strike="noStrike" u="none" sz="1400">
                <a:solidFill>
                  <a:srgbClr val="000000"/>
                </a:solidFill>
              </a:rPr>
              <a:t>今天的汇报将沿着“无偏性-方差界-单步递推-线性收敛”这一逻辑链条展开，最终我们将推导出其核心的梯度复杂度结果：O((n + κ) log(1/ε))。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在开始证明之前，我们需要明确两个关键的数学假设，这是后续分析的基础。</a:t>
            </a:r>
          </a:p>
          <a:p>
            <a:pPr algn="l" marL="0" indent="0">
              <a:lnSpc>
                <a:spcPct val="100000"/>
              </a:lnSpc>
            </a:pPr>
            <a:r>
              <a:rPr lang="en-US" b="false" i="false" strike="noStrike" u="none" sz="1400">
                <a:solidFill>
                  <a:srgbClr val="000000"/>
                </a:solidFill>
              </a:rPr>
              <a:t>首先是目标函数的定义，它是所有个体损失函数的平均值。</a:t>
            </a:r>
          </a:p>
          <a:p>
            <a:pPr algn="l" marL="0" indent="0">
              <a:lnSpc>
                <a:spcPct val="100000"/>
              </a:lnSpc>
            </a:pPr>
            <a:r>
              <a:rPr lang="en-US" b="false" i="false" strike="noStrike" u="none" sz="1400">
                <a:solidFill>
                  <a:srgbClr val="000000"/>
                </a:solidFill>
              </a:rPr>
              <a:t>第一个假设是L-光滑性，它限制了梯度变化的剧烈程度，保证了函数不会太“陡峭”。</a:t>
            </a:r>
          </a:p>
          <a:p>
            <a:pPr algn="l" marL="0" indent="0">
              <a:lnSpc>
                <a:spcPct val="100000"/>
              </a:lnSpc>
            </a:pPr>
            <a:r>
              <a:rPr lang="en-US" b="false" i="false" strike="noStrike" u="none" sz="1400">
                <a:solidFill>
                  <a:srgbClr val="000000"/>
                </a:solidFill>
              </a:rPr>
              <a:t>第二个假设是μ-强凸性，这保证了函数有唯一的极小值点，这是快速收敛的关键。</a:t>
            </a:r>
          </a:p>
          <a:p>
            <a:pPr algn="l" marL="0" indent="0">
              <a:lnSpc>
                <a:spcPct val="100000"/>
              </a:lnSpc>
            </a:pPr>
            <a:r>
              <a:rPr lang="en-US" b="false" i="false" strike="noStrike" u="none" sz="1400">
                <a:solidFill>
                  <a:srgbClr val="000000"/>
                </a:solidFill>
              </a:rPr>
              <a:t>右侧的条件数κ反映了问题的难易程度，它是L与μ的比值。</a:t>
            </a:r>
          </a:p>
          <a:p>
            <a:pPr algn="l" marL="0" indent="0">
              <a:lnSpc>
                <a:spcPct val="100000"/>
              </a:lnSpc>
            </a:pPr>
            <a:r>
              <a:rPr lang="en-US" b="false" i="false" strike="noStrike" u="none" sz="1400">
                <a:solidFill>
                  <a:srgbClr val="000000"/>
                </a:solidFill>
              </a:rPr>
              <a:t>最后，请大家记住，强凸性是实现线性收敛的关键，如果没有这个条件，我们的算法收敛速度会大打折扣。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这一页我们来深入理解SVRG的核心——如何构造一个低方差的梯度估计器。</a:t>
            </a:r>
          </a:p>
          <a:p>
            <a:pPr algn="l" marL="0" indent="0">
              <a:lnSpc>
                <a:spcPct val="100000"/>
              </a:lnSpc>
            </a:pPr>
            <a:r>
              <a:rPr lang="en-US" b="false" i="false" strike="noStrike" u="none" sz="1400">
                <a:solidFill>
                  <a:srgbClr val="000000"/>
                </a:solidFill>
              </a:rPr>
              <a:t>大家看左边，传统的SGD虽然简单，但它的梯度方差非常大，这导致了训练过程中的剧烈震荡。而右边展示的SVRG梯度公式，就是为了解决这个问题。</a:t>
            </a:r>
          </a:p>
          <a:p>
            <a:pPr algn="l" marL="0" indent="0">
              <a:lnSpc>
                <a:spcPct val="100000"/>
              </a:lnSpc>
            </a:pPr>
            <a:r>
              <a:rPr lang="en-US" b="false" i="false" strike="noStrike" u="none" sz="1400">
                <a:solidFill>
                  <a:srgbClr val="000000"/>
                </a:solidFill>
              </a:rPr>
              <a:t>这个公式看起来有点复杂，我们拆解一下：</a:t>
            </a:r>
          </a:p>
          <a:p>
            <a:pPr algn="l" marL="0" indent="0">
              <a:lnSpc>
                <a:spcPct val="100000"/>
              </a:lnSpc>
            </a:pPr>
            <a:r>
              <a:rPr lang="en-US" b="false" i="false" strike="noStrike" u="none" sz="1400">
                <a:solidFill>
                  <a:srgbClr val="000000"/>
                </a:solidFill>
              </a:rPr>
              <a:t>首先，x̃是一个“快照点”，它在一个epoch内是固定不变的，这是我们的基准。然后，我们计算了三个部分：当前迭代的随机梯度，减去快照点上的随机梯度，再加上快照点上的全梯度。</a:t>
            </a:r>
          </a:p>
          <a:p>
            <a:pPr algn="l" marL="0" indent="0">
              <a:lnSpc>
                <a:spcPct val="100000"/>
              </a:lnSpc>
            </a:pPr>
            <a:r>
              <a:rPr lang="en-US" b="false" i="false" strike="noStrike" u="none" sz="1400">
                <a:solidFill>
                  <a:srgbClr val="000000"/>
                </a:solidFill>
              </a:rPr>
              <a:t>这里的关键在于，通过减去快照点的随机梯度，我们抵消掉了大部分的随机噪声，从而得到一个方差极低的梯度估计。同时，全梯度只在每个epoch开始时算一次，所以计算成本并没有显著增加。</a:t>
            </a:r>
          </a:p>
          <a:p>
            <a:pPr algn="l" marL="0" indent="0">
              <a:lnSpc>
                <a:spcPct val="100000"/>
              </a:lnSpc>
            </a:pPr>
            <a:r>
              <a:rPr lang="en-US" b="false" i="false" strike="noStrike" u="none" sz="1400">
                <a:solidFill>
                  <a:srgbClr val="000000"/>
                </a:solidFill>
              </a:rPr>
              <a:t>请大家记住这个公式，因为它是我们后续所有分析和证明的基础。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这一页我们来证明为什么 vₜ 是真实梯度的无偏估计。</a:t>
            </a:r>
          </a:p>
          <a:p>
            <a:pPr algn="l" marL="0" indent="0">
              <a:lnSpc>
                <a:spcPct val="100000"/>
              </a:lnSpc>
            </a:pPr>
            <a:r>
              <a:rPr lang="en-US" b="false" i="false" strike="noStrike" u="none" sz="1400">
                <a:solidFill>
                  <a:srgbClr val="000000"/>
                </a:solidFill>
              </a:rPr>
              <a:t>首先，我们明确需要证明的命题：在给定 xₜ₋₁ 和 x̃ 的条件下，vₜ 的期望等于真实梯度。</a:t>
            </a:r>
          </a:p>
          <a:p>
            <a:pPr algn="l" marL="0" indent="0">
              <a:lnSpc>
                <a:spcPct val="100000"/>
              </a:lnSpc>
            </a:pPr>
            <a:r>
              <a:rPr lang="en-US" b="false" i="false" strike="noStrike" u="none" sz="1400">
                <a:solidFill>
                  <a:srgbClr val="000000"/>
                </a:solidFill>
              </a:rPr>
              <a:t>证明过程分为三步：首先将 vₜ 的期望形式展开；然后利用均匀采样的性质，将单样本梯度的期望转化为全样本梯度的均值；最后代入化简，我们发现中间的偏差项被抵消，从而得到无偏的结论。</a:t>
            </a:r>
          </a:p>
          <a:p>
            <a:pPr algn="l" marL="0" indent="0">
              <a:lnSpc>
                <a:spcPct val="100000"/>
              </a:lnSpc>
            </a:pPr>
            <a:r>
              <a:rPr lang="en-US" b="false" i="false" strike="noStrike" u="none" sz="1400">
                <a:solidFill>
                  <a:srgbClr val="000000"/>
                </a:solidFill>
              </a:rPr>
              <a:t>这里的关键在于，x̃ 是一个固定的参考点，其梯度是常数，不随随机采样而变化，这保证了估计的无偏性。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这一页我们来探讨一个关键的方差界，它是理解 SVRG 算法收敛性的核心。</a:t>
            </a:r>
          </a:p>
          <a:p>
            <a:pPr algn="l" marL="0" indent="0">
              <a:lnSpc>
                <a:spcPct val="100000"/>
              </a:lnSpc>
            </a:pPr>
            <a:r>
              <a:rPr lang="en-US" b="false" i="false" strike="noStrike" u="none" sz="1400">
                <a:solidFill>
                  <a:srgbClr val="000000"/>
                </a:solidFill>
              </a:rPr>
              <a:t>首先，请看上方的引理。在函数满足 L-光滑的条件下，随机梯度估计的方差可以被一个包含当前点和快照点到最优解函数值差距的项所控制。</a:t>
            </a:r>
          </a:p>
          <a:p>
            <a:pPr algn="l" marL="0" indent="0">
              <a:lnSpc>
                <a:spcPct val="100000"/>
              </a:lnSpc>
            </a:pPr>
            <a:r>
              <a:rPr lang="en-US" b="false" i="false" strike="noStrike" u="none" sz="1400">
                <a:solidFill>
                  <a:srgbClr val="000000"/>
                </a:solidFill>
              </a:rPr>
              <a:t>这个结论的证明分为三步：首先，我们通过变量替换，将随机梯度的偏差转化为两个随机变量的差；其次，利用基本的方差性质和不等式，将交叉项进行放缩；最后，利用函数的光滑性，将梯度的范数期望转化为函数值的差距。</a:t>
            </a:r>
          </a:p>
          <a:p>
            <a:pPr algn="l" marL="0" indent="0">
              <a:lnSpc>
                <a:spcPct val="100000"/>
              </a:lnSpc>
            </a:pPr>
            <a:r>
              <a:rPr lang="en-US" b="false" i="false" strike="noStrike" u="none" sz="1400">
                <a:solidFill>
                  <a:srgbClr val="000000"/>
                </a:solidFill>
              </a:rPr>
              <a:t>这个界的最重要的意义在于：当迭代点和快照点都逼近最优解时，方差会趋于零。这就是所谓的“方差消失”，它保证了 SVRG 能够达到线性收敛速度，而不像普通的 SGD 那样受限于方差的影响。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这一页我们来推导随机梯度下降的期望距离递推关系。</a:t>
            </a:r>
          </a:p>
          <a:p>
            <a:pPr algn="l" marL="0" indent="0">
              <a:lnSpc>
                <a:spcPct val="100000"/>
              </a:lnSpc>
            </a:pPr>
            <a:r>
              <a:rPr lang="en-US" b="false" i="false" strike="noStrike" u="none" sz="1400">
                <a:solidFill>
                  <a:srgbClr val="000000"/>
                </a:solidFill>
              </a:rPr>
              <a:t>首先，我们从参数更新的基本公式出发，x_t等于x_{t-1}减去学习率乘以随机梯度v_t。</a:t>
            </a:r>
          </a:p>
          <a:p>
            <a:pPr algn="l" marL="0" indent="0">
              <a:lnSpc>
                <a:spcPct val="100000"/>
              </a:lnSpc>
            </a:pPr>
            <a:r>
              <a:rPr lang="en-US" b="false" i="false" strike="noStrike" u="none" sz="1400">
                <a:solidFill>
                  <a:srgbClr val="000000"/>
                </a:solidFill>
              </a:rPr>
              <a:t>我们的目标是证明期望距离平方的收敛性。首先，我们对E||x_t - x*||^2进行代数展开，得到三项。</a:t>
            </a:r>
          </a:p>
          <a:p>
            <a:pPr algn="l" marL="0" indent="0">
              <a:lnSpc>
                <a:spcPct val="100000"/>
              </a:lnSpc>
            </a:pPr>
            <a:r>
              <a:rPr lang="en-US" b="false" i="false" strike="noStrike" u="none" sz="1400">
                <a:solidFill>
                  <a:srgbClr val="000000"/>
                </a:solidFill>
              </a:rPr>
              <a:t>接下来，我们利用两个关键的不等式：一是利用强凸性将梯度内积转化为函数值的差距，二是对随机梯度的方差进行分解，将其拆分为真实梯度的平方和随机误差的期望。</a:t>
            </a:r>
          </a:p>
          <a:p>
            <a:pPr algn="l" marL="0" indent="0">
              <a:lnSpc>
                <a:spcPct val="100000"/>
              </a:lnSpc>
            </a:pPr>
            <a:r>
              <a:rPr lang="en-US" b="false" i="false" strike="noStrike" u="none" sz="1400">
                <a:solidFill>
                  <a:srgbClr val="000000"/>
                </a:solidFill>
              </a:rPr>
              <a:t>最后，我们将这些代入并整理，得到了这个关键的递推不等式。这个不等式的意义在于，它把所有的误差项都归结为“函数值差距”和“距离平方”这两个核心指标，为我们后续分析收敛速率提供了基础。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这一页我们来深入探讨内循环的累积效应。</a:t>
            </a:r>
          </a:p>
          <a:p>
            <a:pPr algn="l" marL="0" indent="0">
              <a:lnSpc>
                <a:spcPct val="100000"/>
              </a:lnSpc>
            </a:pPr>
            <a:r>
              <a:rPr lang="en-US" b="false" i="false" strike="noStrike" u="none" sz="1400">
                <a:solidFill>
                  <a:srgbClr val="000000"/>
                </a:solidFill>
              </a:rPr>
              <a:t>大家看屏幕上方的公式，这是我们将内循环的每一步递推关系进行累加后得到的核心不等式。这个公式非常关键，它将 m 步的局部更新转化为了一个关于初始点 x̃ 和终点 xₘ 的全局关系。</a:t>
            </a:r>
          </a:p>
          <a:p>
            <a:pPr algn="l" marL="0" indent="0">
              <a:lnSpc>
                <a:spcPct val="100000"/>
              </a:lnSpc>
            </a:pPr>
            <a:r>
              <a:rPr lang="en-US" b="false" i="false" strike="noStrike" u="none" sz="1400">
                <a:solidFill>
                  <a:srgbClr val="000000"/>
                </a:solidFill>
              </a:rPr>
              <a:t>在实际应用中，我们有两种常见的选择来利用这个结果：</a:t>
            </a:r>
          </a:p>
          <a:p>
            <a:pPr algn="l" marL="0" indent="0">
              <a:lnSpc>
                <a:spcPct val="100000"/>
              </a:lnSpc>
            </a:pPr>
            <a:r>
              <a:rPr lang="en-US" b="false" i="false" strike="noStrike" u="none" sz="1400">
                <a:solidFill>
                  <a:srgbClr val="000000"/>
                </a:solidFill>
              </a:rPr>
              <a:t>第一种是最简单直接的，直接将内循环的最后一步结果作为下一轮的起点，也就是 x̃_next = xₘ。这种方式计算效率高，适合对速度要求高的场景。</a:t>
            </a:r>
          </a:p>
          <a:p>
            <a:pPr algn="l" marL="0" indent="0">
              <a:lnSpc>
                <a:spcPct val="100000"/>
              </a:lnSpc>
            </a:pPr>
            <a:r>
              <a:rPr lang="en-US" b="false" i="false" strike="noStrike" u="none" sz="1400">
                <a:solidFill>
                  <a:srgbClr val="000000"/>
                </a:solidFill>
              </a:rPr>
              <a:t>第二种是更精细的加权平均策略。通过对所有中间迭代点取平均，我们可以利用函数的凸性，得到一个更优的输出点，这有助于减少方差，让收敛过程更加平稳。</a:t>
            </a:r>
          </a:p>
          <a:p>
            <a:pPr algn="l" marL="0" indent="0">
              <a:lnSpc>
                <a:spcPct val="100000"/>
              </a:lnSpc>
            </a:pPr>
            <a:r>
              <a:rPr lang="en-US" b="false" i="false" strike="noStrike" u="none" sz="1400">
                <a:solidFill>
                  <a:srgbClr val="000000"/>
                </a:solidFill>
              </a:rPr>
              <a:t>总的来说，这一步的核心思想就是“压缩”，把多次小步的更新“打包”成一个宏观的大步，从而让我们能够在更高的层面上分析算法的收敛速度。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这一页我们深入探讨误差是如何随着epoch的推进而收缩的。</a:t>
            </a:r>
          </a:p>
          <a:p>
            <a:pPr algn="l" marL="0" indent="0">
              <a:lnSpc>
                <a:spcPct val="100000"/>
              </a:lnSpc>
            </a:pPr>
            <a:r>
              <a:rPr lang="en-US" b="false" i="false" strike="noStrike" u="none" sz="1400">
                <a:solidFill>
                  <a:srgbClr val="000000"/>
                </a:solidFill>
              </a:rPr>
              <a:t>首先，请看顶部的核心递推公式，它展示了期望误差是如何从一个epoch传递到下一个epoch的，其中ρ是一个小于1的收缩因子，这保证了误差不会发散，而是逐渐减小。</a:t>
            </a:r>
          </a:p>
          <a:p>
            <a:pPr algn="l" marL="0" indent="0">
              <a:lnSpc>
                <a:spcPct val="100000"/>
              </a:lnSpc>
            </a:pPr>
            <a:r>
              <a:rPr lang="en-US" b="false" i="false" strike="noStrike" u="none" sz="1400">
                <a:solidFill>
                  <a:srgbClr val="000000"/>
                </a:solidFill>
              </a:rPr>
              <a:t>为了实现这一收敛过程，我们需要合理选择参数。通常，我们会将步长设置为1/(4L)，这里的L是Lipschitz常数；同时，批量大小m与条件数κ相关，这有助于保证梯度估计的准确性。</a:t>
            </a:r>
          </a:p>
          <a:p>
            <a:pPr algn="l" marL="0" indent="0">
              <a:lnSpc>
                <a:spcPct val="100000"/>
              </a:lnSpc>
            </a:pPr>
            <a:r>
              <a:rPr lang="en-US" b="false" i="false" strike="noStrike" u="none" sz="1400">
                <a:solidFill>
                  <a:srgbClr val="000000"/>
                </a:solidFill>
              </a:rPr>
              <a:t>通过递推，我们可以得出累积误差界，如中间的公式所示，误差随着epoch数s呈指数级下降。这意味着，要达到我们想要的精度ε，只需要对数级别的epoch数量，这体现了算法的高效性。</a:t>
            </a:r>
          </a:p>
          <a:p>
            <a:pPr algn="l" marL="0" indent="0">
              <a:lnSpc>
                <a:spcPct val="100000"/>
              </a:lnSpc>
            </a:pPr>
            <a:r>
              <a:rPr lang="en-US" b="false" i="false" strike="noStrike" u="none" sz="1400">
                <a:solidFill>
                  <a:srgbClr val="000000"/>
                </a:solidFill>
              </a:rPr>
              <a:t>最后，请大家记住这个核心洞察：这种线性收敛特性是在强凸和光滑条件下能够达到的最优速率，它保证了我们的算法能够快速收敛到最优解。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这一页我们深入探讨SVRG算法的复杂度来源。</a:t>
            </a:r>
          </a:p>
          <a:p>
            <a:pPr algn="l" marL="0" indent="0">
              <a:lnSpc>
                <a:spcPct val="100000"/>
              </a:lnSpc>
            </a:pPr>
            <a:r>
              <a:rPr lang="en-US" b="false" i="false" strike="noStrike" u="none" sz="1400">
                <a:solidFill>
                  <a:srgbClr val="000000"/>
                </a:solidFill>
              </a:rPr>
              <a:t>首先看左边，我们拆解了每个Epoch的成本：它由两部分组成，一是计算一次全梯度的开销，这需要遍历n个样本；二是内循环的m步迭代，每步需要两次梯度计算。</a:t>
            </a:r>
          </a:p>
          <a:p>
            <a:pPr algn="l" marL="0" indent="0">
              <a:lnSpc>
                <a:spcPct val="100000"/>
              </a:lnSpc>
            </a:pPr>
            <a:r>
              <a:rPr lang="en-US" b="false" i="false" strike="noStrike" u="none" sz="1400">
                <a:solidFill>
                  <a:srgbClr val="000000"/>
                </a:solidFill>
              </a:rPr>
              <a:t>将这些成本结合起来，我们得到了最终的复杂度公式：O((n + κ) log(1/ε))。这里的关键在于，n和κ是相加的关系，而不是相乘。</a:t>
            </a:r>
          </a:p>
          <a:p>
            <a:pPr algn="l" marL="0" indent="0">
              <a:lnSpc>
                <a:spcPct val="100000"/>
              </a:lnSpc>
            </a:pPr>
            <a:r>
              <a:rPr lang="en-US" b="false" i="false" strike="noStrike" u="none" sz="1400">
                <a:solidFill>
                  <a:srgbClr val="000000"/>
                </a:solidFill>
              </a:rPr>
              <a:t>看右边的对比表，传统的梯度下降GD是n乘以κ，当n很大时，计算量会急剧增加。而SGD虽然单次快，但它是次线性收敛的。相比之下，SVRG保持了线性收敛的速度，同时避免了n和κ的乘积开销，这让它在处理大规模数据时具有巨大的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各位好，这一页我们来梳理一下证明中用到的五个核心不等式。</a:t>
            </a:r>
          </a:p>
          <a:p>
            <a:pPr algn="l" marL="0" indent="0">
              <a:lnSpc>
                <a:spcPct val="100000"/>
              </a:lnSpc>
            </a:pPr>
            <a:r>
              <a:rPr lang="en-US" b="false" i="false" strike="noStrike" u="none" sz="1400">
                <a:solidFill>
                  <a:srgbClr val="000000"/>
                </a:solidFill>
              </a:rPr>
              <a:t>首先是无偏性假设，它保证了我们的随机梯度在期望意义上是准确的，这是收敛的基础。</a:t>
            </a:r>
          </a:p>
          <a:p>
            <a:pPr algn="l" marL="0" indent="0">
              <a:lnSpc>
                <a:spcPct val="100000"/>
              </a:lnSpc>
            </a:pPr>
            <a:r>
              <a:rPr lang="en-US" b="false" i="false" strike="noStrike" u="none" sz="1400">
                <a:solidFill>
                  <a:srgbClr val="000000"/>
                </a:solidFill>
              </a:rPr>
              <a:t>其次是梯度方差界，它量化了随机梯度的波动范围，确保噪声不会太大。</a:t>
            </a:r>
          </a:p>
          <a:p>
            <a:pPr algn="l" marL="0" indent="0">
              <a:lnSpc>
                <a:spcPct val="100000"/>
              </a:lnSpc>
            </a:pPr>
            <a:r>
              <a:rPr lang="en-US" b="false" i="false" strike="noStrike" u="none" sz="1400">
                <a:solidFill>
                  <a:srgbClr val="000000"/>
                </a:solidFill>
              </a:rPr>
              <a:t>第三是强凸性下界，它为我们提供了函数值下降的理论下限，是证明收敛速率的关键。</a:t>
            </a:r>
          </a:p>
          <a:p>
            <a:pPr algn="l" marL="0" indent="0">
              <a:lnSpc>
                <a:spcPct val="100000"/>
              </a:lnSpc>
            </a:pPr>
            <a:r>
              <a:rPr lang="en-US" b="false" i="false" strike="noStrike" u="none" sz="1400">
                <a:solidFill>
                  <a:srgbClr val="000000"/>
                </a:solidFill>
              </a:rPr>
              <a:t>第四是L-光滑性上界，它限制了函数变化的剧烈程度，保证了梯度不会突变。</a:t>
            </a:r>
          </a:p>
          <a:p>
            <a:pPr algn="l" marL="0" indent="0">
              <a:lnSpc>
                <a:spcPct val="100000"/>
              </a:lnSpc>
            </a:pPr>
            <a:r>
              <a:rPr lang="en-US" b="false" i="false" strike="noStrike" u="none" sz="1400">
                <a:solidFill>
                  <a:srgbClr val="000000"/>
                </a:solidFill>
              </a:rPr>
              <a:t>最后是方差分解恒等式，它将随机梯度的二阶矩分解为信号部分和噪声部分，这是分析算法稳定性的核心工具。</a:t>
            </a:r>
          </a:p>
          <a:p>
            <a:pPr algn="l" marL="0" indent="0">
              <a:lnSpc>
                <a:spcPct val="100000"/>
              </a:lnSpc>
            </a:pPr>
            <a:r>
              <a:rPr lang="en-US" b="false" i="false" strike="noStrike" u="none" sz="1400">
                <a:solidFill>
                  <a:srgbClr val="000000"/>
                </a:solidFill>
              </a:rPr>
              <a:t>这五个工具共同构成了证明的基石，它们的组合使用使得我们能够从随机的迭代过程中推导出确定的收敛结果。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大家好，这一页我们来深入探讨为什么SVRG能够实现线性收敛。</a:t>
            </a:r>
          </a:p>
          <a:p>
            <a:pPr algn="l" marL="0" indent="0">
              <a:lnSpc>
                <a:spcPct val="100000"/>
              </a:lnSpc>
            </a:pPr>
            <a:r>
              <a:rPr lang="en-US" b="false" i="false" strike="noStrike" u="none" sz="1400">
                <a:solidFill>
                  <a:srgbClr val="000000"/>
                </a:solidFill>
              </a:rPr>
              <a:t>首先，我们需要明确三个关键要素：</a:t>
            </a:r>
          </a:p>
          <a:p>
            <a:pPr algn="l" marL="0" indent="0">
              <a:lnSpc>
                <a:spcPct val="100000"/>
              </a:lnSpc>
            </a:pPr>
            <a:r>
              <a:rPr lang="en-US" b="false" i="false" strike="noStrike" u="none" sz="1400">
                <a:solidFill>
                  <a:srgbClr val="000000"/>
                </a:solidFill>
              </a:rPr>
              <a:t>第一是无偏性。这是收敛的前提，它保证了我们的梯度估计在数学期望上是准确的，不会因为随机性而产生系统性的偏差，让算法始终朝着正确的方向前进。</a:t>
            </a:r>
          </a:p>
          <a:p>
            <a:pPr algn="l" marL="0" indent="0">
              <a:lnSpc>
                <a:spcPct val="100000"/>
              </a:lnSpc>
            </a:pPr>
            <a:r>
              <a:rPr lang="en-US" b="false" i="false" strike="noStrike" u="none" sz="1400">
                <a:solidFill>
                  <a:srgbClr val="000000"/>
                </a:solidFill>
              </a:rPr>
              <a:t>第二是方差缩减机制。这是SVRG的核心创新，它通过周期性地计算全梯度来修正偏差，使得随机梯度的噪声不再是固定的，而是随着迭代的进行逐渐衰减，最终消失。</a:t>
            </a:r>
          </a:p>
          <a:p>
            <a:pPr algn="l" marL="0" indent="0">
              <a:lnSpc>
                <a:spcPct val="100000"/>
              </a:lnSpc>
            </a:pPr>
            <a:r>
              <a:rPr lang="en-US" b="false" i="false" strike="noStrike" u="none" sz="1400">
                <a:solidFill>
                  <a:srgbClr val="000000"/>
                </a:solidFill>
              </a:rPr>
              <a:t>第三是目标函数的结构特性。强凸性保证了函数有唯一的最小值，并且提供了足够的“拉力”让解向最优值靠近；而L-光滑性则限制了梯度的变化幅度，防止步长过大导致震荡。</a:t>
            </a:r>
          </a:p>
          <a:p>
            <a:pPr algn="l" marL="0" indent="0">
              <a:lnSpc>
                <a:spcPct val="100000"/>
              </a:lnSpc>
            </a:pPr>
            <a:r>
              <a:rPr lang="en-US" b="false" i="false" strike="noStrike" u="none" sz="1400">
                <a:solidFill>
                  <a:srgbClr val="000000"/>
                </a:solidFill>
              </a:rPr>
              <a:t>正是这三者的结合，使得SVRG不仅拥有了和全梯度下降一样的线性收敛速度，还保持了随机梯度下降的低计算成本优势。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这一页我们对整个数学证明进行了总结。首先回顾了证明的六个关键步骤：从无偏性的证明开始，推导方差界，建立单步递推关系，通过epoch求和，最终证明线性收敛并得出复杂度结论。</a:t>
            </a:r>
          </a:p>
          <a:p>
            <a:pPr algn="l" marL="0" indent="0">
              <a:lnSpc>
                <a:spcPct val="100000"/>
              </a:lnSpc>
            </a:pPr>
            <a:r>
              <a:rPr lang="en-US" b="false" i="false" strike="noStrike" u="none" sz="1400">
                <a:solidFill>
                  <a:srgbClr val="000000"/>
                </a:solidFill>
              </a:rPr>
              <a:t>中间部分列出了三个最核心的公式，分别是梯度估计的校正公式、关键的方差上界不等式，以及最终的复杂度结论。这些公式是理解整个算法收敛性的基础。</a:t>
            </a:r>
          </a:p>
          <a:p>
            <a:pPr algn="l" marL="0" indent="0">
              <a:lnSpc>
                <a:spcPct val="100000"/>
              </a:lnSpc>
            </a:pPr>
            <a:r>
              <a:rPr lang="en-US" b="false" i="false" strike="noStrike" u="none" sz="1400">
                <a:solidFill>
                  <a:srgbClr val="000000"/>
                </a:solidFill>
              </a:rPr>
              <a:t>最后，我们强调了三个容易被忽略的细节：加权平均输出的重要性、常数项的处理以及收缩因子的作用。这些细节往往是证明严谨性的关键。</a:t>
            </a:r>
          </a:p>
          <a:p>
            <a:pPr algn="l" marL="0" indent="0">
              <a:lnSpc>
                <a:spcPct val="100000"/>
              </a:lnSpc>
            </a:pPr>
            <a:r>
              <a:rPr lang="en-US" b="false" i="false" strike="noStrike" u="none" sz="1400">
                <a:solidFill>
                  <a:srgbClr val="000000"/>
                </a:solidFill>
              </a:rPr>
              <a:t>现在进入问答环节，大家有什么问题可以随时提出。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11" Target="../media/image25.pn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3810000" cy="3810000"/>
          </a:xfrm>
          <a:prstGeom prst="ellipse">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0" y="4445000"/>
            <a:ext cx="5080000" cy="5080000"/>
          </a:xfrm>
          <a:prstGeom prst="ellipse">
            <a:avLst/>
          </a:prstGeom>
          <a:solidFill>
            <a:srgbClr val="D4A574">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016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400">
                <a:solidFill>
                  <a:srgbClr val="1B4332"/>
                </a:solidFill>
                <a:latin typeface="Noto Sans SC"/>
                <a:ea typeface="Noto Sans SC"/>
                <a:cs typeface="Noto Sans SC"/>
                <a:sym typeface="Noto Sans SC"/>
              </a:rPr>
              <a:t>SVRG 的数学证明：从无偏估计到线性收敛</a:t>
            </a:r>
            <a:endParaRPr lang="en-US" sz="1100"/>
          </a:p>
        </p:txBody>
      </p:sp>
      <p:sp>
        <p:nvSpPr>
          <p:cNvPr name="AutoShape 5" id="5"/>
          <p:cNvSpPr/>
          <p:nvPr/>
        </p:nvSpPr>
        <p:spPr>
          <a:xfrm rot="0" flipH="false" flipV="false">
            <a:off x="0" y="2413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200">
                <a:solidFill>
                  <a:srgbClr val="555555"/>
                </a:solidFill>
                <a:latin typeface="Noto Sans SC"/>
                <a:ea typeface="Noto Sans SC"/>
                <a:cs typeface="Noto Sans SC"/>
                <a:sym typeface="Noto Sans SC"/>
              </a:rPr>
              <a:t>控制变量如何让随机梯度“安静下来”</a:t>
            </a:r>
            <a:endParaRPr lang="en-US" sz="1100"/>
          </a:p>
        </p:txBody>
      </p:sp>
      <p:sp>
        <p:nvSpPr>
          <p:cNvPr name="AutoShape 6" id="6"/>
          <p:cNvSpPr/>
          <p:nvPr/>
        </p:nvSpPr>
        <p:spPr>
          <a:xfrm rot="0" flipH="false" flipV="false">
            <a:off x="1016000" y="3429000"/>
            <a:ext cx="2095500" cy="762000"/>
          </a:xfrm>
          <a:prstGeom prst="roundRect">
            <a:avLst>
              <a:gd name="adj" fmla="val 0"/>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无偏性</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238500" y="3657600"/>
            <a:ext cx="304800" cy="304800"/>
          </a:xfrm>
          <a:prstGeom prst="rect">
            <a:avLst/>
          </a:prstGeom>
        </p:spPr>
      </p:pic>
      <p:sp>
        <p:nvSpPr>
          <p:cNvPr name="AutoShape 8" id="8"/>
          <p:cNvSpPr/>
          <p:nvPr/>
        </p:nvSpPr>
        <p:spPr>
          <a:xfrm rot="0" flipH="false" flipV="false">
            <a:off x="3683000" y="3429000"/>
            <a:ext cx="2095500" cy="762000"/>
          </a:xfrm>
          <a:prstGeom prst="roundRect">
            <a:avLst>
              <a:gd name="adj" fmla="val 0"/>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方差界</a:t>
            </a:r>
            <a:endParaRPr lang="en-US" sz="1100"/>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905500" y="3657600"/>
            <a:ext cx="304800" cy="304800"/>
          </a:xfrm>
          <a:prstGeom prst="rect">
            <a:avLst/>
          </a:prstGeom>
        </p:spPr>
      </p:pic>
      <p:sp>
        <p:nvSpPr>
          <p:cNvPr name="AutoShape 10" id="10"/>
          <p:cNvSpPr/>
          <p:nvPr/>
        </p:nvSpPr>
        <p:spPr>
          <a:xfrm rot="0" flipH="false" flipV="false">
            <a:off x="6350000" y="3429000"/>
            <a:ext cx="2095500" cy="762000"/>
          </a:xfrm>
          <a:prstGeom prst="roundRect">
            <a:avLst>
              <a:gd name="adj" fmla="val 0"/>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单步递推</a:t>
            </a:r>
            <a:endParaRPr lang="en-US" sz="1100"/>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572500" y="3657600"/>
            <a:ext cx="304800" cy="304800"/>
          </a:xfrm>
          <a:prstGeom prst="rect">
            <a:avLst/>
          </a:prstGeom>
        </p:spPr>
      </p:pic>
      <p:sp>
        <p:nvSpPr>
          <p:cNvPr name="AutoShape 12" id="12"/>
          <p:cNvSpPr/>
          <p:nvPr/>
        </p:nvSpPr>
        <p:spPr>
          <a:xfrm rot="0" flipH="false" flipV="false">
            <a:off x="9017000" y="3429000"/>
            <a:ext cx="2095500" cy="762000"/>
          </a:xfrm>
          <a:prstGeom prst="roundRect">
            <a:avLst>
              <a:gd name="adj" fmla="val 0"/>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线性收敛</a:t>
            </a:r>
            <a:endParaRPr lang="en-US" sz="1100"/>
          </a:p>
        </p:txBody>
      </p:sp>
      <p:sp>
        <p:nvSpPr>
          <p:cNvPr name="AutoShape 13" id="13"/>
          <p:cNvSpPr/>
          <p:nvPr/>
        </p:nvSpPr>
        <p:spPr>
          <a:xfrm rot="0" flipH="false" flipV="false">
            <a:off x="0" y="457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888888"/>
                </a:solidFill>
                <a:latin typeface="Noto Sans SC"/>
                <a:ea typeface="Noto Sans SC"/>
                <a:cs typeface="Noto Sans SC"/>
                <a:sym typeface="Noto Sans SC"/>
              </a:rPr>
              <a:t>汇报人：张三 | 日期：2024年5月</a:t>
            </a:r>
            <a:endParaRPr lang="en-US" sz="1100"/>
          </a:p>
        </p:txBody>
      </p:sp>
      <p:sp>
        <p:nvSpPr>
          <p:cNvPr name="AutoShape 14" id="14"/>
          <p:cNvSpPr/>
          <p:nvPr/>
        </p:nvSpPr>
        <p:spPr>
          <a:xfrm rot="0" flipH="false" flipV="false">
            <a:off x="1016000" y="5334000"/>
            <a:ext cx="10160000" cy="889000"/>
          </a:xfrm>
          <a:prstGeom prst="roundRect">
            <a:avLst>
              <a:gd name="adj" fmla="val 0"/>
            </a:avLst>
          </a:prstGeom>
          <a:solidFill>
            <a:srgbClr val="F5F5F5">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1B4332"/>
                </a:solidFill>
                <a:latin typeface="Noto Sans SC"/>
                <a:ea typeface="Noto Sans SC"/>
                <a:cs typeface="Noto Sans SC"/>
                <a:sym typeface="Noto Sans SC"/>
              </a:rPr>
              <a:t>核心结果：O((n + κ) log(1/ε)) 的梯度复杂度</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4445000"/>
            <a:ext cx="3810000" cy="3810000"/>
          </a:xfrm>
          <a:prstGeom prst="ellipse">
            <a:avLst/>
          </a:prstGeom>
          <a:solidFill>
            <a:srgbClr val="D4A574">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635000"/>
            <a:ext cx="1905000" cy="1905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证明之前：我们需要哪些假设？</a:t>
            </a:r>
            <a:endParaRPr lang="en-US" sz="1100"/>
          </a:p>
        </p:txBody>
      </p:sp>
      <p:sp>
        <p:nvSpPr>
          <p:cNvPr name="AutoShape 5" id="5"/>
          <p:cNvSpPr/>
          <p:nvPr/>
        </p:nvSpPr>
        <p:spPr>
          <a:xfrm rot="0" flipH="false" flipV="false">
            <a:off x="508000" y="1206500"/>
            <a:ext cx="1524000" cy="25400"/>
          </a:xfrm>
          <a:prstGeom prst="roundRect">
            <a:avLst>
              <a:gd name="adj" fmla="val 0"/>
            </a:avLst>
          </a:prstGeom>
          <a:solidFill>
            <a:srgbClr val="D4A57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6350000" cy="1079500"/>
          </a:xfrm>
          <a:prstGeom prst="roundRect">
            <a:avLst>
              <a:gd name="adj" fmla="val 0"/>
            </a:avLst>
          </a:prstGeom>
          <a:solidFill>
            <a:srgbClr val="F8F8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1803400"/>
            <a:ext cx="6096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333333"/>
                </a:solidFill>
                <a:latin typeface="Times New Roman"/>
                <a:ea typeface="Times New Roman"/>
                <a:cs typeface="Times New Roman"/>
                <a:sym typeface="Times New Roman"/>
              </a:rPr>
              <a:t>f(x) = (1/n) Σᵢ₌₁ⁿ fᵢ(x)</a:t>
            </a:r>
            <a:endParaRPr lang="en-US" sz="1100"/>
          </a:p>
        </p:txBody>
      </p:sp>
      <p:sp>
        <p:nvSpPr>
          <p:cNvPr name="AutoShape 8" id="8"/>
          <p:cNvSpPr/>
          <p:nvPr/>
        </p:nvSpPr>
        <p:spPr>
          <a:xfrm rot="0" flipH="false" flipV="false">
            <a:off x="508000" y="2984500"/>
            <a:ext cx="635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B4332"/>
                </a:solidFill>
                <a:latin typeface="Noto Sans SC"/>
                <a:ea typeface="Noto Sans SC"/>
                <a:cs typeface="Noto Sans SC"/>
                <a:sym typeface="Noto Sans SC"/>
              </a:rPr>
              <a:t>01. 假设 1（L-光滑）</a:t>
            </a:r>
            <a:endParaRPr lang="en-US" sz="1100"/>
          </a:p>
        </p:txBody>
      </p:sp>
      <p:sp>
        <p:nvSpPr>
          <p:cNvPr name="AutoShape 9" id="9"/>
          <p:cNvSpPr/>
          <p:nvPr/>
        </p:nvSpPr>
        <p:spPr>
          <a:xfrm rot="0" flipH="false" flipV="false">
            <a:off x="508000" y="3429000"/>
            <a:ext cx="6350000" cy="698500"/>
          </a:xfrm>
          <a:prstGeom prst="roundRect">
            <a:avLst>
              <a:gd name="adj" fmla="val 0"/>
            </a:avLst>
          </a:prstGeom>
          <a:solidFill>
            <a:srgbClr val="F8F8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 y="3556000"/>
            <a:ext cx="609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505050"/>
                </a:solidFill>
                <a:latin typeface="Times New Roman"/>
                <a:ea typeface="Times New Roman"/>
                <a:cs typeface="Times New Roman"/>
                <a:sym typeface="Times New Roman"/>
              </a:rPr>
              <a:t>‖∇fᵢ(x) − ∇fᵢ(y)‖ ≤ L‖x − y‖</a:t>
            </a:r>
            <a:endParaRPr lang="en-US" sz="1100"/>
          </a:p>
        </p:txBody>
      </p:sp>
      <p:sp>
        <p:nvSpPr>
          <p:cNvPr name="AutoShape 11" id="11"/>
          <p:cNvSpPr/>
          <p:nvPr/>
        </p:nvSpPr>
        <p:spPr>
          <a:xfrm rot="0" flipH="false" flipV="false">
            <a:off x="508000" y="4191000"/>
            <a:ext cx="635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666666"/>
                </a:solidFill>
                <a:latin typeface="Noto Sans SC"/>
                <a:ea typeface="Noto Sans SC"/>
                <a:cs typeface="Noto Sans SC"/>
                <a:sym typeface="Noto Sans SC"/>
              </a:rPr>
              <a:t>说明：个体损失函数与整体目标函数的梯度变化受 Lipschitz 常数 L 约束，确保梯度不会剧烈震荡，为步长选择提供了理论依据。</a:t>
            </a:r>
            <a:endParaRPr lang="en-US" sz="1100"/>
          </a:p>
        </p:txBody>
      </p:sp>
      <p:sp>
        <p:nvSpPr>
          <p:cNvPr name="AutoShape 12" id="12"/>
          <p:cNvSpPr/>
          <p:nvPr/>
        </p:nvSpPr>
        <p:spPr>
          <a:xfrm rot="0" flipH="false" flipV="false">
            <a:off x="508000" y="4889500"/>
            <a:ext cx="635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B4332"/>
                </a:solidFill>
                <a:latin typeface="Noto Sans SC"/>
                <a:ea typeface="Noto Sans SC"/>
                <a:cs typeface="Noto Sans SC"/>
                <a:sym typeface="Noto Sans SC"/>
              </a:rPr>
              <a:t>02. 假设 2（μ-强凸）</a:t>
            </a:r>
            <a:endParaRPr lang="en-US" sz="1100"/>
          </a:p>
        </p:txBody>
      </p:sp>
      <p:sp>
        <p:nvSpPr>
          <p:cNvPr name="AutoShape 13" id="13"/>
          <p:cNvSpPr/>
          <p:nvPr/>
        </p:nvSpPr>
        <p:spPr>
          <a:xfrm rot="0" flipH="false" flipV="false">
            <a:off x="508000" y="5334000"/>
            <a:ext cx="6350000" cy="698500"/>
          </a:xfrm>
          <a:prstGeom prst="roundRect">
            <a:avLst>
              <a:gd name="adj" fmla="val 0"/>
            </a:avLst>
          </a:prstGeom>
          <a:solidFill>
            <a:srgbClr val="F8F8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5000" y="5461000"/>
            <a:ext cx="609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505050"/>
                </a:solidFill>
                <a:latin typeface="Times New Roman"/>
                <a:ea typeface="Times New Roman"/>
                <a:cs typeface="Times New Roman"/>
                <a:sym typeface="Times New Roman"/>
              </a:rPr>
              <a:t>f(y) ≥ f(x) + ⟨∇f(x), y−x⟩ + (μ/2)‖y−x‖²</a:t>
            </a:r>
            <a:endParaRPr lang="en-US" sz="1100"/>
          </a:p>
        </p:txBody>
      </p:sp>
      <p:sp>
        <p:nvSpPr>
          <p:cNvPr name="AutoShape 15" id="15"/>
          <p:cNvSpPr/>
          <p:nvPr/>
        </p:nvSpPr>
        <p:spPr>
          <a:xfrm rot="0" flipH="false" flipV="false">
            <a:off x="7239000" y="1651000"/>
            <a:ext cx="4445000" cy="1079500"/>
          </a:xfrm>
          <a:prstGeom prst="roundRect">
            <a:avLst>
              <a:gd name="adj" fmla="val 0"/>
            </a:avLst>
          </a:prstGeom>
          <a:solidFill>
            <a:srgbClr val="F8F8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366000" y="1803400"/>
            <a:ext cx="4191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1B4332"/>
                </a:solidFill>
                <a:latin typeface="Times New Roman"/>
                <a:ea typeface="Times New Roman"/>
                <a:cs typeface="Times New Roman"/>
                <a:sym typeface="Times New Roman"/>
              </a:rPr>
              <a:t>κ = L / μ</a:t>
            </a:r>
            <a:endParaRPr lang="en-US" sz="1100"/>
          </a:p>
        </p:txBody>
      </p:sp>
      <p:sp>
        <p:nvSpPr>
          <p:cNvPr name="AutoShape 17" id="17"/>
          <p:cNvSpPr/>
          <p:nvPr/>
        </p:nvSpPr>
        <p:spPr>
          <a:xfrm rot="0" flipH="false" flipV="false">
            <a:off x="7239000" y="29210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666666"/>
                </a:solidFill>
                <a:latin typeface="Noto Sans SC"/>
                <a:ea typeface="Noto Sans SC"/>
                <a:cs typeface="Noto Sans SC"/>
                <a:sym typeface="Noto Sans SC"/>
              </a:rPr>
              <a:t>条件数 κ 衡量了优化问题的“病态”程度。κ 值越小，函数的几何结构越“圆润”，优化算法收敛速度越快；反之则收敛越困难。</a:t>
            </a:r>
            <a:endParaRPr lang="en-US" sz="1100"/>
          </a:p>
        </p:txBody>
      </p:sp>
      <p:sp>
        <p:nvSpPr>
          <p:cNvPr name="AutoShape 18" id="18"/>
          <p:cNvSpPr/>
          <p:nvPr/>
        </p:nvSpPr>
        <p:spPr>
          <a:xfrm rot="0" flipH="false" flipV="false">
            <a:off x="7239000" y="4000500"/>
            <a:ext cx="4445000" cy="2222500"/>
          </a:xfrm>
          <a:prstGeom prst="roundRect">
            <a:avLst>
              <a:gd name="adj" fmla="val 0"/>
            </a:avLst>
          </a:prstGeom>
          <a:solidFill>
            <a:srgbClr val="E8F0E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239000" y="4000500"/>
            <a:ext cx="50800" cy="2222500"/>
          </a:xfrm>
          <a:prstGeom prst="roundRect">
            <a:avLst>
              <a:gd name="adj" fmla="val 0"/>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429500" y="4191000"/>
            <a:ext cx="41275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B4332"/>
                </a:solidFill>
                <a:latin typeface="Noto Sans SC"/>
                <a:ea typeface="Noto Sans SC"/>
                <a:cs typeface="Noto Sans SC"/>
                <a:sym typeface="Noto Sans SC"/>
              </a:rPr>
              <a:t>💡 核心讲解重点：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333333"/>
                </a:solidFill>
                <a:latin typeface="Noto Sans SC"/>
                <a:ea typeface="Noto Sans SC"/>
                <a:cs typeface="Noto Sans SC"/>
                <a:sym typeface="Noto Sans SC"/>
              </a:rPr>
              <a:t>强凸性与 L-光滑性是获得</a:t>
            </a:r>
            <a:r>
              <a:rPr lang="en-US" b="true" i="false" strike="noStrike" u="none" sz="1500">
                <a:solidFill>
                  <a:srgbClr val="333333"/>
                </a:solidFill>
                <a:latin typeface="Noto Sans SC"/>
                <a:ea typeface="Noto Sans SC"/>
                <a:cs typeface="Noto Sans SC"/>
                <a:sym typeface="Noto Sans SC"/>
              </a:rPr>
              <a:t>线性收敛</a:t>
            </a:r>
            <a:r>
              <a:rPr lang="en-US" b="false" i="false" strike="noStrike" u="none" sz="1500">
                <a:solidFill>
                  <a:srgbClr val="333333"/>
                </a:solidFill>
                <a:latin typeface="Noto Sans SC"/>
                <a:ea typeface="Noto Sans SC"/>
                <a:cs typeface="Noto Sans SC"/>
                <a:sym typeface="Noto Sans SC"/>
              </a:rPr>
              <a:t>的关键“入场券”。若仅满足光滑性而缺乏强凸性，SVRG 等算法的收敛速率将退化为</a:t>
            </a:r>
            <a:r>
              <a:rPr lang="en-US" b="true" i="false" strike="noStrike" u="none" sz="1500">
                <a:solidFill>
                  <a:srgbClr val="333333"/>
                </a:solidFill>
                <a:latin typeface="Noto Sans SC"/>
                <a:ea typeface="Noto Sans SC"/>
                <a:cs typeface="Noto Sans SC"/>
                <a:sym typeface="Noto Sans SC"/>
              </a:rPr>
              <a:t>次线性（O(1/t)）</a:t>
            </a:r>
            <a:r>
              <a:rPr lang="en-US" b="false" i="false" strike="noStrike" u="none" sz="1500">
                <a:solidFill>
                  <a:srgbClr val="333333"/>
                </a:solidFill>
                <a:latin typeface="Noto Sans SC"/>
                <a:ea typeface="Noto Sans SC"/>
                <a:cs typeface="Noto Sans SC"/>
                <a:sym typeface="Noto Sans SC"/>
              </a:rPr>
              <a:t>，无法高效逼近最优解。</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715000"/>
            <a:ext cx="1905000" cy="1905000"/>
          </a:xfrm>
          <a:prstGeom prst="ellipse">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构造一个低方差的梯度估计器</a:t>
            </a:r>
            <a:endParaRPr lang="en-US" sz="1100"/>
          </a:p>
        </p:txBody>
      </p:sp>
      <p:sp>
        <p:nvSpPr>
          <p:cNvPr name="AutoShape 5" id="5"/>
          <p:cNvSpPr/>
          <p:nvPr/>
        </p:nvSpPr>
        <p:spPr>
          <a:xfrm rot="0" flipH="false" flipV="false">
            <a:off x="508000" y="1270000"/>
            <a:ext cx="1524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778000"/>
            <a:ext cx="5334000" cy="1905000"/>
          </a:xfrm>
          <a:prstGeom prst="roundRect">
            <a:avLst>
              <a:gd name="adj" fmla="val 0"/>
            </a:avLst>
          </a:prstGeom>
          <a:solidFill>
            <a:srgbClr val="F5F5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968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SGD 梯度 (随机梯度下降)</a:t>
            </a:r>
            <a:endParaRPr lang="en-US" sz="1100"/>
          </a:p>
        </p:txBody>
      </p:sp>
      <p:sp>
        <p:nvSpPr>
          <p:cNvPr name="AutoShape 8" id="8"/>
          <p:cNvSpPr/>
          <p:nvPr/>
        </p:nvSpPr>
        <p:spPr>
          <a:xfrm rot="0" flipH="false" flipV="false">
            <a:off x="762000" y="24765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555555"/>
                </a:solidFill>
                <a:latin typeface="Times New Roman"/>
                <a:ea typeface="Times New Roman"/>
                <a:cs typeface="Times New Roman"/>
                <a:sym typeface="Times New Roman"/>
              </a:rPr>
              <a:t>∇fᵢ(x)</a:t>
            </a:r>
            <a:endParaRPr lang="en-US" sz="1100"/>
          </a:p>
        </p:txBody>
      </p:sp>
      <p:sp>
        <p:nvSpPr>
          <p:cNvPr name="AutoShape 9" id="9"/>
          <p:cNvSpPr/>
          <p:nvPr/>
        </p:nvSpPr>
        <p:spPr>
          <a:xfrm rot="0" flipH="false" flipV="false">
            <a:off x="762000" y="3048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666666"/>
                </a:solidFill>
                <a:latin typeface="Noto Sans SC"/>
                <a:ea typeface="Noto Sans SC"/>
                <a:cs typeface="Noto Sans SC"/>
                <a:sym typeface="Noto Sans SC"/>
              </a:rPr>
              <a:t>特性：计算简单且无偏，但受随机采样影响，梯度方差极高，导致收敛路径震荡剧烈，难以快速收敛。</a:t>
            </a:r>
            <a:endParaRPr lang="en-US" sz="1100"/>
          </a:p>
        </p:txBody>
      </p:sp>
      <p:sp>
        <p:nvSpPr>
          <p:cNvPr name="AutoShape 10" id="10"/>
          <p:cNvSpPr/>
          <p:nvPr/>
        </p:nvSpPr>
        <p:spPr>
          <a:xfrm rot="0" flipH="false" flipV="false">
            <a:off x="6096000" y="1778000"/>
            <a:ext cx="5588000" cy="1905000"/>
          </a:xfrm>
          <a:prstGeom prst="roundRect">
            <a:avLst>
              <a:gd name="adj" fmla="val 0"/>
            </a:avLst>
          </a:prstGeom>
          <a:solidFill>
            <a:srgbClr val="1B4332">
              <a:alpha val="5000"/>
            </a:srgbClr>
          </a:solidFill>
          <a:ln w="25400" cmpd="sng" cap="flat">
            <a:solidFill>
              <a:srgbClr val="1B4332">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0" y="19685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B4332"/>
                </a:solidFill>
                <a:latin typeface="Noto Sans SC"/>
                <a:ea typeface="Noto Sans SC"/>
                <a:cs typeface="Noto Sans SC"/>
                <a:sym typeface="Noto Sans SC"/>
              </a:rPr>
              <a:t>SVRG 梯度 (低方差改进)</a:t>
            </a:r>
            <a:endParaRPr lang="en-US" sz="1100"/>
          </a:p>
        </p:txBody>
      </p:sp>
      <p:sp>
        <p:nvSpPr>
          <p:cNvPr name="AutoShape 12" id="12"/>
          <p:cNvSpPr/>
          <p:nvPr/>
        </p:nvSpPr>
        <p:spPr>
          <a:xfrm rot="0" flipH="false" flipV="false">
            <a:off x="6350000" y="2413000"/>
            <a:ext cx="508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1B4332"/>
                </a:solidFill>
                <a:latin typeface="Times New Roman"/>
                <a:ea typeface="Times New Roman"/>
                <a:cs typeface="Times New Roman"/>
                <a:sym typeface="Times New Roman"/>
              </a:rPr>
              <a:t>vₜ = ∇fᵢₜ(xₜ₋₁) − ∇fᵢₜ(x̃) + ∇f(x̃)</a:t>
            </a:r>
            <a:endParaRPr lang="en-US" sz="1100"/>
          </a:p>
        </p:txBody>
      </p:sp>
      <p:sp>
        <p:nvSpPr>
          <p:cNvPr name="AutoShape 13" id="13"/>
          <p:cNvSpPr/>
          <p:nvPr/>
        </p:nvSpPr>
        <p:spPr>
          <a:xfrm rot="0" flipH="false" flipV="false">
            <a:off x="6350000" y="31115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666666"/>
                </a:solidFill>
                <a:latin typeface="Noto Sans SC"/>
                <a:ea typeface="Noto Sans SC"/>
                <a:cs typeface="Noto Sans SC"/>
                <a:sym typeface="Noto Sans SC"/>
              </a:rPr>
              <a:t>改进：通过引入“快照点”机制抵消随机梯度的方差，在保持计算效率的同时，实现低方差的无偏估计。</a:t>
            </a:r>
            <a:endParaRPr lang="en-US" sz="1100"/>
          </a:p>
        </p:txBody>
      </p:sp>
      <p:sp>
        <p:nvSpPr>
          <p:cNvPr name="AutoShape 14" id="14"/>
          <p:cNvSpPr/>
          <p:nvPr/>
        </p:nvSpPr>
        <p:spPr>
          <a:xfrm rot="0" flipH="false" flipV="false">
            <a:off x="508000" y="3937000"/>
            <a:ext cx="3556000" cy="1270000"/>
          </a:xfrm>
          <a:prstGeom prst="roundRect">
            <a:avLst>
              <a:gd name="adj" fmla="val 0"/>
            </a:avLst>
          </a:prstGeom>
          <a:solidFill>
            <a:srgbClr val="F9FB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4127500"/>
            <a:ext cx="304800" cy="304800"/>
          </a:xfrm>
          <a:prstGeom prst="rect">
            <a:avLst/>
          </a:prstGeom>
        </p:spPr>
      </p:pic>
      <p:sp>
        <p:nvSpPr>
          <p:cNvPr name="AutoShape 16" id="16"/>
          <p:cNvSpPr/>
          <p:nvPr/>
        </p:nvSpPr>
        <p:spPr>
          <a:xfrm rot="0" flipH="false" flipV="false">
            <a:off x="1079500" y="41275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快照点 x̃：基准锚点</a:t>
            </a:r>
            <a:endParaRPr lang="en-US" sz="1100"/>
          </a:p>
        </p:txBody>
      </p:sp>
      <p:sp>
        <p:nvSpPr>
          <p:cNvPr name="AutoShape 17" id="17"/>
          <p:cNvSpPr/>
          <p:nvPr/>
        </p:nvSpPr>
        <p:spPr>
          <a:xfrm rot="0" flipH="false" flipV="false">
            <a:off x="698500" y="45085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555555"/>
                </a:solidFill>
                <a:latin typeface="Noto Sans SC"/>
                <a:ea typeface="Noto Sans SC"/>
                <a:cs typeface="Noto Sans SC"/>
                <a:sym typeface="Noto Sans SC"/>
              </a:rPr>
              <a:t>在一个完整的 epoch 内保持固定，不随迭代变化，作为计算梯度差值的基准，是实现方差抵消的关键锚点。</a:t>
            </a:r>
            <a:endParaRPr lang="en-US" sz="1100"/>
          </a:p>
        </p:txBody>
      </p:sp>
      <p:sp>
        <p:nvSpPr>
          <p:cNvPr name="AutoShape 18" id="18"/>
          <p:cNvSpPr/>
          <p:nvPr/>
        </p:nvSpPr>
        <p:spPr>
          <a:xfrm rot="0" flipH="false" flipV="false">
            <a:off x="4318000" y="3937000"/>
            <a:ext cx="3556000" cy="1270000"/>
          </a:xfrm>
          <a:prstGeom prst="roundRect">
            <a:avLst>
              <a:gd name="adj" fmla="val 0"/>
            </a:avLst>
          </a:prstGeom>
          <a:solidFill>
            <a:srgbClr val="F9FB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4127500"/>
            <a:ext cx="304800" cy="304800"/>
          </a:xfrm>
          <a:prstGeom prst="rect">
            <a:avLst/>
          </a:prstGeom>
        </p:spPr>
      </p:pic>
      <p:sp>
        <p:nvSpPr>
          <p:cNvPr name="AutoShape 20" id="20"/>
          <p:cNvSpPr/>
          <p:nvPr/>
        </p:nvSpPr>
        <p:spPr>
          <a:xfrm rot="0" flipH="false" flipV="false">
            <a:off x="4889500" y="41275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全梯度 ∇f(x̃)：低频计算</a:t>
            </a:r>
            <a:endParaRPr lang="en-US" sz="1100"/>
          </a:p>
        </p:txBody>
      </p:sp>
      <p:sp>
        <p:nvSpPr>
          <p:cNvPr name="AutoShape 21" id="21"/>
          <p:cNvSpPr/>
          <p:nvPr/>
        </p:nvSpPr>
        <p:spPr>
          <a:xfrm rot="0" flipH="false" flipV="false">
            <a:off x="4508500" y="45085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555555"/>
                </a:solidFill>
                <a:latin typeface="Noto Sans SC"/>
                <a:ea typeface="Noto Sans SC"/>
                <a:cs typeface="Noto Sans SC"/>
                <a:sym typeface="Noto Sans SC"/>
              </a:rPr>
              <a:t>仅在每个 epoch 开始时计算一次，其开销被分摊到整个 epoch 的所有迭代中，保证了算法的高效性。</a:t>
            </a:r>
            <a:endParaRPr lang="en-US" sz="1100"/>
          </a:p>
        </p:txBody>
      </p:sp>
      <p:sp>
        <p:nvSpPr>
          <p:cNvPr name="AutoShape 22" id="22"/>
          <p:cNvSpPr/>
          <p:nvPr/>
        </p:nvSpPr>
        <p:spPr>
          <a:xfrm rot="0" flipH="false" flipV="false">
            <a:off x="8128000" y="3937000"/>
            <a:ext cx="3556000" cy="1270000"/>
          </a:xfrm>
          <a:prstGeom prst="roundRect">
            <a:avLst>
              <a:gd name="adj" fmla="val 0"/>
            </a:avLst>
          </a:prstGeom>
          <a:solidFill>
            <a:srgbClr val="F9FB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4127500"/>
            <a:ext cx="304800" cy="304800"/>
          </a:xfrm>
          <a:prstGeom prst="rect">
            <a:avLst/>
          </a:prstGeom>
        </p:spPr>
      </p:pic>
      <p:sp>
        <p:nvSpPr>
          <p:cNvPr name="AutoShape 24" id="24"/>
          <p:cNvSpPr/>
          <p:nvPr/>
        </p:nvSpPr>
        <p:spPr>
          <a:xfrm rot="0" flipH="false" flipV="false">
            <a:off x="8699500" y="41275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随机索引 iₜ：方差抵消</a:t>
            </a:r>
            <a:endParaRPr lang="en-US" sz="1100"/>
          </a:p>
        </p:txBody>
      </p:sp>
      <p:sp>
        <p:nvSpPr>
          <p:cNvPr name="AutoShape 25" id="25"/>
          <p:cNvSpPr/>
          <p:nvPr/>
        </p:nvSpPr>
        <p:spPr>
          <a:xfrm rot="0" flipH="false" flipV="false">
            <a:off x="8318500" y="45085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555555"/>
                </a:solidFill>
                <a:latin typeface="Noto Sans SC"/>
                <a:ea typeface="Noto Sans SC"/>
                <a:cs typeface="Noto Sans SC"/>
                <a:sym typeface="Noto Sans SC"/>
              </a:rPr>
              <a:t>每次迭代随机选取样本，通过“当前梯度 - 快照梯度”的相减操作，有效抵消掉随机噪声，保留真实梯度方向。</a:t>
            </a:r>
            <a:endParaRPr lang="en-US" sz="1100"/>
          </a:p>
        </p:txBody>
      </p:sp>
      <p:sp>
        <p:nvSpPr>
          <p:cNvPr name="AutoShape 26" id="26"/>
          <p:cNvSpPr/>
          <p:nvPr/>
        </p:nvSpPr>
        <p:spPr>
          <a:xfrm rot="0" flipH="false" flipV="false">
            <a:off x="508000" y="5461000"/>
            <a:ext cx="11176000" cy="1016000"/>
          </a:xfrm>
          <a:prstGeom prst="roundRect">
            <a:avLst>
              <a:gd name="adj" fmla="val 0"/>
            </a:avLst>
          </a:prstGeom>
          <a:solidFill>
            <a:srgbClr val="E8F0E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508000" y="5461000"/>
            <a:ext cx="76200" cy="1016000"/>
          </a:xfrm>
          <a:prstGeom prst="roundRect">
            <a:avLst>
              <a:gd name="adj" fmla="val 0"/>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62000" y="5588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1B4332"/>
                </a:solidFill>
                <a:latin typeface="Noto Sans SC"/>
                <a:ea typeface="Noto Sans SC"/>
                <a:cs typeface="Noto Sans SC"/>
                <a:sym typeface="Noto Sans SC"/>
              </a:rPr>
              <a:t>讲解重点：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333333"/>
                </a:solidFill>
                <a:latin typeface="Noto Sans SC"/>
                <a:ea typeface="Noto Sans SC"/>
                <a:cs typeface="Noto Sans SC"/>
                <a:sym typeface="Noto Sans SC"/>
              </a:rPr>
              <a:t>该估计器的核心逻辑是“当前随机梯度 − 快照随机梯度 + 快照全梯度”。这种结构巧妙地利用了快照点的固定性来抵消随机梯度中的方差项，是后续收敛性证明和优化分析的基础，所有理论推导都将围绕这一核心公式展开。</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E6B325">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为什么 vₜ 是 ∇f(xₜ₋₁) 的无偏估计？</a:t>
            </a:r>
            <a:endParaRPr lang="en-US" sz="1100"/>
          </a:p>
        </p:txBody>
      </p:sp>
      <p:sp>
        <p:nvSpPr>
          <p:cNvPr name="AutoShape 5" id="5"/>
          <p:cNvSpPr/>
          <p:nvPr/>
        </p:nvSpPr>
        <p:spPr>
          <a:xfrm rot="0" flipH="false" flipV="false">
            <a:off x="508000" y="1206500"/>
            <a:ext cx="1524000" cy="50800"/>
          </a:xfrm>
          <a:prstGeom prst="roundRect">
            <a:avLst>
              <a:gd name="adj" fmla="val 0"/>
            </a:avLst>
          </a:prstGeom>
          <a:solidFill>
            <a:srgbClr val="E6B32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11176000" cy="889000"/>
          </a:xfrm>
          <a:prstGeom prst="roundRect">
            <a:avLst>
              <a:gd name="adj" fmla="val 0"/>
            </a:avLst>
          </a:prstGeom>
          <a:solidFill>
            <a:srgbClr val="FBF5EE">
              <a:alpha val="100000"/>
            </a:srgbClr>
          </a:solidFill>
          <a:ln w="12700" cmpd="sng" cap="flat">
            <a:solidFill>
              <a:srgbClr val="E6B325">
                <a:alpha val="5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714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333333"/>
                </a:solidFill>
                <a:latin typeface="Times New Roman"/>
                <a:ea typeface="Times New Roman"/>
                <a:cs typeface="Times New Roman"/>
                <a:sym typeface="Times New Roman"/>
              </a:rPr>
              <a:t>要证：Eᵢₜ[vₜ | xₜ₋₁, x̃] = ∇f(xₜ₋₁)</a:t>
            </a:r>
            <a:endParaRPr lang="en-US" sz="1100"/>
          </a:p>
        </p:txBody>
      </p:sp>
      <p:sp>
        <p:nvSpPr>
          <p:cNvPr name="AutoShape 8" id="8"/>
          <p:cNvSpPr/>
          <p:nvPr/>
        </p:nvSpPr>
        <p:spPr>
          <a:xfrm rot="0" flipH="false" flipV="false">
            <a:off x="508000" y="2603500"/>
            <a:ext cx="11176000" cy="762000"/>
          </a:xfrm>
          <a:prstGeom prst="roundRect">
            <a:avLst>
              <a:gd name="adj" fmla="val 0"/>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7686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B4332"/>
                </a:solidFill>
                <a:latin typeface="Times New Roman"/>
                <a:ea typeface="Times New Roman"/>
                <a:cs typeface="Times New Roman"/>
                <a:sym typeface="Times New Roman"/>
              </a:rPr>
              <a:t>Step 1: E[vₜ] = E[∇fᵢₜ(xₜ₋₁)] − E[∇fᵢₜ(x̃)] + ∇f(x̃)</a:t>
            </a:r>
            <a:endParaRPr lang="en-US" sz="1100"/>
          </a:p>
        </p:txBody>
      </p:sp>
      <p:sp>
        <p:nvSpPr>
          <p:cNvPr name="AutoShape 10" id="10"/>
          <p:cNvSpPr/>
          <p:nvPr/>
        </p:nvSpPr>
        <p:spPr>
          <a:xfrm rot="0" flipH="false" flipV="false">
            <a:off x="508000" y="3492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66666"/>
                </a:solidFill>
                <a:latin typeface="Noto Sans SC"/>
                <a:ea typeface="Noto Sans SC"/>
                <a:cs typeface="Noto Sans SC"/>
                <a:sym typeface="Noto Sans SC"/>
              </a:rPr>
              <a:t>由于采样下标 iₜ 在 {1, …, n} 上服从均匀随机分布，其单样本梯度的期望等价于全样本梯度均值：</a:t>
            </a:r>
            <a:endParaRPr lang="en-US" sz="1100"/>
          </a:p>
        </p:txBody>
      </p:sp>
      <p:sp>
        <p:nvSpPr>
          <p:cNvPr name="AutoShape 11" id="11"/>
          <p:cNvSpPr/>
          <p:nvPr/>
        </p:nvSpPr>
        <p:spPr>
          <a:xfrm rot="0" flipH="false" flipV="false">
            <a:off x="508000" y="3937000"/>
            <a:ext cx="5461000" cy="952500"/>
          </a:xfrm>
          <a:prstGeom prst="roundRect">
            <a:avLst>
              <a:gd name="adj" fmla="val 0"/>
            </a:avLst>
          </a:prstGeom>
          <a:solidFill>
            <a:srgbClr val="E6F7EF">
              <a:alpha val="100000"/>
            </a:srgbClr>
          </a:solidFill>
          <a:ln w="12700" cmpd="sng" cap="flat">
            <a:solidFill>
              <a:srgbClr val="A5D6A7">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98500" y="40894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2E7D32"/>
                </a:solidFill>
                <a:latin typeface="Times New Roman"/>
                <a:ea typeface="Times New Roman"/>
                <a:cs typeface="Times New Roman"/>
                <a:sym typeface="Times New Roman"/>
              </a:rPr>
              <a:t>E[∇fᵢₜ(xₜ₋₁)] = (1/n) Σ ∇fᵢ(xₜ₋₁) = ∇f(xₜ₋₁)</a:t>
            </a:r>
            <a:endParaRPr lang="en-US" sz="1100"/>
          </a:p>
        </p:txBody>
      </p:sp>
      <p:sp>
        <p:nvSpPr>
          <p:cNvPr name="AutoShape 13" id="13"/>
          <p:cNvSpPr/>
          <p:nvPr/>
        </p:nvSpPr>
        <p:spPr>
          <a:xfrm rot="0" flipH="false" flipV="false">
            <a:off x="6223000" y="3937000"/>
            <a:ext cx="5461000" cy="952500"/>
          </a:xfrm>
          <a:prstGeom prst="roundRect">
            <a:avLst>
              <a:gd name="adj" fmla="val 0"/>
            </a:avLst>
          </a:prstGeom>
          <a:solidFill>
            <a:srgbClr val="E6F7EF">
              <a:alpha val="100000"/>
            </a:srgbClr>
          </a:solidFill>
          <a:ln w="12700" cmpd="sng" cap="flat">
            <a:solidFill>
              <a:srgbClr val="A5D6A7">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13500" y="40894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2E7D32"/>
                </a:solidFill>
                <a:latin typeface="Times New Roman"/>
                <a:ea typeface="Times New Roman"/>
                <a:cs typeface="Times New Roman"/>
                <a:sym typeface="Times New Roman"/>
              </a:rPr>
              <a:t>E[∇fᵢₜ(x̃)] = (1/n) Σ ∇fᵢ(x̃) = ∇f(x̃)</a:t>
            </a:r>
            <a:endParaRPr lang="en-US" sz="1100"/>
          </a:p>
        </p:txBody>
      </p:sp>
      <p:sp>
        <p:nvSpPr>
          <p:cNvPr name="AutoShape 15" id="15"/>
          <p:cNvSpPr/>
          <p:nvPr/>
        </p:nvSpPr>
        <p:spPr>
          <a:xfrm rot="0" flipH="false" flipV="false">
            <a:off x="508000" y="5016500"/>
            <a:ext cx="11176000" cy="698500"/>
          </a:xfrm>
          <a:prstGeom prst="roundRect">
            <a:avLst>
              <a:gd name="adj" fmla="val 0"/>
            </a:avLst>
          </a:prstGeom>
          <a:solidFill>
            <a:srgbClr val="FEF3C7">
              <a:alpha val="100000"/>
            </a:srgbClr>
          </a:solidFill>
          <a:ln w="12700" cmpd="sng" cap="flat">
            <a:solidFill>
              <a:srgbClr val="F5B700">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51816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854D0E"/>
                </a:solidFill>
                <a:latin typeface="Times New Roman"/>
                <a:ea typeface="Times New Roman"/>
                <a:cs typeface="Times New Roman"/>
                <a:sym typeface="Times New Roman"/>
              </a:rPr>
              <a:t>代入化简：E[vₜ] = ∇f(xₜ₋₁) − ∇f(x̃) + ∇f(x̃) = ∇f(xₜ₋₁) ∎</a:t>
            </a:r>
            <a:endParaRPr lang="en-US" sz="1100"/>
          </a:p>
        </p:txBody>
      </p:sp>
      <p:sp>
        <p:nvSpPr>
          <p:cNvPr name="AutoShape 17" id="17"/>
          <p:cNvSpPr/>
          <p:nvPr/>
        </p:nvSpPr>
        <p:spPr>
          <a:xfrm rot="0" flipH="false" flipV="false">
            <a:off x="508000" y="5842000"/>
            <a:ext cx="11176000" cy="762000"/>
          </a:xfrm>
          <a:prstGeom prst="roundRect">
            <a:avLst>
              <a:gd name="adj" fmla="val 0"/>
            </a:avLst>
          </a:prstGeom>
          <a:solidFill>
            <a:srgbClr val="D6EAD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98500" y="59436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B4332"/>
                </a:solidFill>
                <a:latin typeface="Noto Sans SC"/>
                <a:ea typeface="Noto Sans SC"/>
                <a:cs typeface="Noto Sans SC"/>
                <a:sym typeface="Noto Sans SC"/>
              </a:rPr>
              <a:t>💡 核心解读：</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151"/>
                </a:solidFill>
                <a:latin typeface="Noto Sans SC"/>
                <a:ea typeface="Noto Sans SC"/>
                <a:cs typeface="Noto Sans SC"/>
                <a:sym typeface="Noto Sans SC"/>
              </a:rPr>
              <a:t>∇f(x̃) 是确定性常数，对期望无随机贡献。它作为“锚点”抵消了随机项的偏差，确保了估计量的无偏性，这是随机梯度下降（SGD）类算法收敛的理论基石。</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1B4332"/>
                </a:solidFill>
                <a:latin typeface="Noto Sans SC"/>
                <a:ea typeface="Noto Sans SC"/>
                <a:cs typeface="Noto Sans SC"/>
                <a:sym typeface="Noto Sans SC"/>
              </a:rPr>
              <a:t>E[‖vₜ − ∇f(xₜ₋₁)‖²] 能被什么控制？</a:t>
            </a:r>
            <a:endParaRPr lang="en-US" sz="1100"/>
          </a:p>
        </p:txBody>
      </p:sp>
      <p:sp>
        <p:nvSpPr>
          <p:cNvPr name="AutoShape 5" id="5"/>
          <p:cNvSpPr/>
          <p:nvPr/>
        </p:nvSpPr>
        <p:spPr>
          <a:xfrm rot="0" flipH="false" flipV="false">
            <a:off x="508000" y="1206500"/>
            <a:ext cx="1016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11176000" cy="1333500"/>
          </a:xfrm>
          <a:prstGeom prst="roundRect">
            <a:avLst>
              <a:gd name="adj" fmla="val 0"/>
            </a:avLst>
          </a:prstGeom>
          <a:solidFill>
            <a:srgbClr val="1B4332">
              <a:alpha val="5000"/>
            </a:srgbClr>
          </a:solidFill>
          <a:ln cmpd="sng" cap="flat">
            <a:solidFill>
              <a:srgbClr val="0D2A1D">
                <a:alpha val="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1524000"/>
            <a:ext cx="76200" cy="1333500"/>
          </a:xfrm>
          <a:prstGeom prst="roundRect">
            <a:avLst>
              <a:gd name="adj" fmla="val 0"/>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1625600"/>
            <a:ext cx="1079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B4332"/>
                </a:solidFill>
                <a:latin typeface="Noto Sans SC"/>
                <a:ea typeface="Noto Sans SC"/>
                <a:cs typeface="Noto Sans SC"/>
                <a:sym typeface="Noto Sans SC"/>
              </a:rPr>
              <a:t>引理（方差界）：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800">
                <a:solidFill>
                  <a:srgbClr val="333333"/>
                </a:solidFill>
                <a:latin typeface="Times New Roman"/>
                <a:ea typeface="Times New Roman"/>
                <a:cs typeface="Times New Roman"/>
                <a:sym typeface="Times New Roman"/>
              </a:rPr>
              <a:t>在目标函数 f(·) 满足 L-Lipschitz 光滑性假设下，随机梯度估计的方差满足：</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800">
                <a:solidFill>
                  <a:srgbClr val="1B4332"/>
                </a:solidFill>
                <a:latin typeface="Times New Roman"/>
                <a:ea typeface="Times New Roman"/>
                <a:cs typeface="Times New Roman"/>
                <a:sym typeface="Times New Roman"/>
              </a:rPr>
              <a:t>E[‖vₜ − ∇f(xₜ₋₁)‖²] ≤ 4L [ f(xₜ₋₁) − f(x*) + f(x̃) − f(x*) ]</a:t>
            </a:r>
          </a:p>
        </p:txBody>
      </p:sp>
      <p:sp>
        <p:nvSpPr>
          <p:cNvPr name="AutoShape 9" id="9"/>
          <p:cNvSpPr/>
          <p:nvPr/>
        </p:nvSpPr>
        <p:spPr>
          <a:xfrm rot="0" flipH="false" flipV="false">
            <a:off x="508000" y="3175000"/>
            <a:ext cx="3556000" cy="1841500"/>
          </a:xfrm>
          <a:prstGeom prst="roundRect">
            <a:avLst>
              <a:gd name="adj" fmla="val 0"/>
            </a:avLst>
          </a:prstGeom>
          <a:solidFill>
            <a:srgbClr val="F5F7F6">
              <a:alpha val="100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 y="3302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D4AF37"/>
                </a:solidFill>
                <a:latin typeface="Noto Sans SC"/>
                <a:ea typeface="Noto Sans SC"/>
                <a:cs typeface="Noto Sans SC"/>
                <a:sym typeface="Noto Sans SC"/>
              </a:rPr>
              <a:t>01 变量替换转化</a:t>
            </a:r>
            <a:endParaRPr lang="en-US" sz="1100"/>
          </a:p>
        </p:txBody>
      </p:sp>
      <p:sp>
        <p:nvSpPr>
          <p:cNvPr name="AutoShape 11" id="11"/>
          <p:cNvSpPr/>
          <p:nvPr/>
        </p:nvSpPr>
        <p:spPr>
          <a:xfrm rot="0" flipH="false" flipV="false">
            <a:off x="635000" y="37465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505050"/>
                </a:solidFill>
                <a:latin typeface="Times New Roman"/>
                <a:ea typeface="Times New Roman"/>
                <a:cs typeface="Times New Roman"/>
                <a:sym typeface="Times New Roman"/>
              </a:rPr>
              <a:t>令 a = ∇fᵢₜ(xₜ₋₁) − ∇fᵢₜ(x*), b = ∇fᵢₜ(x̃) − ∇fᵢₜ(x*)。则：</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vₜ − ∇f(xₜ₋₁) = a − b − E[a − b]。</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将原方差转化为中心化随机变量的范数期望。</a:t>
            </a:r>
            <a:endParaRPr lang="en-US" sz="1100"/>
          </a:p>
        </p:txBody>
      </p:sp>
      <p:sp>
        <p:nvSpPr>
          <p:cNvPr name="AutoShape 12" id="12"/>
          <p:cNvSpPr/>
          <p:nvPr/>
        </p:nvSpPr>
        <p:spPr>
          <a:xfrm rot="0" flipH="false" flipV="false">
            <a:off x="4318000" y="3175000"/>
            <a:ext cx="3556000" cy="1841500"/>
          </a:xfrm>
          <a:prstGeom prst="roundRect">
            <a:avLst>
              <a:gd name="adj" fmla="val 0"/>
            </a:avLst>
          </a:prstGeom>
          <a:solidFill>
            <a:srgbClr val="F5F7F6">
              <a:alpha val="100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45000" y="3302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D4AF37"/>
                </a:solidFill>
                <a:latin typeface="Noto Sans SC"/>
                <a:ea typeface="Noto Sans SC"/>
                <a:cs typeface="Noto Sans SC"/>
                <a:sym typeface="Noto Sans SC"/>
              </a:rPr>
              <a:t>02 利用基本不等式</a:t>
            </a:r>
            <a:endParaRPr lang="en-US" sz="1100"/>
          </a:p>
        </p:txBody>
      </p:sp>
      <p:sp>
        <p:nvSpPr>
          <p:cNvPr name="AutoShape 14" id="14"/>
          <p:cNvSpPr/>
          <p:nvPr/>
        </p:nvSpPr>
        <p:spPr>
          <a:xfrm rot="0" flipH="false" flipV="false">
            <a:off x="4445000" y="37465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505050"/>
                </a:solidFill>
                <a:latin typeface="Times New Roman"/>
                <a:ea typeface="Times New Roman"/>
                <a:cs typeface="Times New Roman"/>
                <a:sym typeface="Times New Roman"/>
              </a:rPr>
              <a:t>利用方差性质 E‖X−EX‖² ≤ E‖X‖²，结合平行四边形法则：</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E[‖vₜ−∇f(xₜ₋₁)‖²] ≤ 2E‖a‖² + 2E‖b‖²。</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将交叉项分离，简化为独立项的期望之和。</a:t>
            </a:r>
            <a:endParaRPr lang="en-US" sz="1100"/>
          </a:p>
        </p:txBody>
      </p:sp>
      <p:sp>
        <p:nvSpPr>
          <p:cNvPr name="AutoShape 15" id="15"/>
          <p:cNvSpPr/>
          <p:nvPr/>
        </p:nvSpPr>
        <p:spPr>
          <a:xfrm rot="0" flipH="false" flipV="false">
            <a:off x="8128000" y="3175000"/>
            <a:ext cx="3556000" cy="1841500"/>
          </a:xfrm>
          <a:prstGeom prst="roundRect">
            <a:avLst>
              <a:gd name="adj" fmla="val 0"/>
            </a:avLst>
          </a:prstGeom>
          <a:solidFill>
            <a:srgbClr val="F5F7F6">
              <a:alpha val="100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255000" y="3302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D4AF37"/>
                </a:solidFill>
                <a:latin typeface="Noto Sans SC"/>
                <a:ea typeface="Noto Sans SC"/>
                <a:cs typeface="Noto Sans SC"/>
                <a:sym typeface="Noto Sans SC"/>
              </a:rPr>
              <a:t>03 结合 L-光滑性</a:t>
            </a:r>
            <a:endParaRPr lang="en-US" sz="1100"/>
          </a:p>
        </p:txBody>
      </p:sp>
      <p:sp>
        <p:nvSpPr>
          <p:cNvPr name="AutoShape 17" id="17"/>
          <p:cNvSpPr/>
          <p:nvPr/>
        </p:nvSpPr>
        <p:spPr>
          <a:xfrm rot="0" flipH="false" flipV="false">
            <a:off x="8255000" y="37465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505050"/>
                </a:solidFill>
                <a:latin typeface="Times New Roman"/>
                <a:ea typeface="Times New Roman"/>
                <a:cs typeface="Times New Roman"/>
                <a:sym typeface="Times New Roman"/>
              </a:rPr>
              <a:t>由梯度 Lipschitz 连续性质：</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E‖a‖² ≤ 2L[f(xₜ₋₁)−f(x*)],</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E‖b‖² ≤ 2L[f(x̃)−f(x*)].</a:t>
            </a:r>
            <a:r>
              <a:rPr lang="en-US" b="false" i="false" strike="noStrike" u="none" sz="1600">
                <a:solidFill>
                  <a:srgbClr val="505050"/>
                </a:solidFill>
                <a:latin typeface="Times New Roman"/>
                <a:ea typeface="Times New Roman"/>
                <a:cs typeface="Times New Roman"/>
                <a:sym typeface="Times New Roman"/>
              </a:rPr>
              <a:t/>
            </a:r>
            <a:br>
              <a:rPr lang="en-US" b="false" i="false" strike="noStrike" u="none" sz="1600">
                <a:solidFill>
                  <a:srgbClr val="505050"/>
                </a:solidFill>
                <a:latin typeface="Times New Roman"/>
                <a:ea typeface="Times New Roman"/>
                <a:cs typeface="Times New Roman"/>
                <a:sym typeface="Times New Roman"/>
              </a:rPr>
            </a:br>
            <a:r>
              <a:rPr lang="en-US" b="false" i="false" strike="noStrike" u="none" sz="1600">
                <a:solidFill>
                  <a:srgbClr val="505050"/>
                </a:solidFill>
                <a:latin typeface="Times New Roman"/>
                <a:ea typeface="Times New Roman"/>
                <a:cs typeface="Times New Roman"/>
                <a:sym typeface="Times New Roman"/>
              </a:rPr>
              <a:t>将梯度范数转化为函数值差距的线性形式。</a:t>
            </a:r>
            <a:endParaRPr lang="en-US" sz="1100"/>
          </a:p>
        </p:txBody>
      </p:sp>
      <p:sp>
        <p:nvSpPr>
          <p:cNvPr name="AutoShape 18" id="18"/>
          <p:cNvSpPr/>
          <p:nvPr/>
        </p:nvSpPr>
        <p:spPr>
          <a:xfrm rot="0" flipH="false" flipV="false">
            <a:off x="508000" y="5334000"/>
            <a:ext cx="11176000" cy="1143000"/>
          </a:xfrm>
          <a:prstGeom prst="roundRect">
            <a:avLst>
              <a:gd name="adj" fmla="val 0"/>
            </a:avLst>
          </a:prstGeom>
          <a:solidFill>
            <a:srgbClr val="1B4332">
              <a:alpha val="8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5524500"/>
            <a:ext cx="304800" cy="304800"/>
          </a:xfrm>
          <a:prstGeom prst="rect">
            <a:avLst/>
          </a:prstGeom>
        </p:spPr>
      </p:pic>
      <p:sp>
        <p:nvSpPr>
          <p:cNvPr name="AutoShape 20" id="20"/>
          <p:cNvSpPr/>
          <p:nvPr/>
        </p:nvSpPr>
        <p:spPr>
          <a:xfrm rot="0" flipH="false" flipV="false">
            <a:off x="1143000" y="54610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1B4332"/>
                </a:solidFill>
                <a:latin typeface="Noto Sans SC"/>
                <a:ea typeface="Noto Sans SC"/>
                <a:cs typeface="Noto Sans SC"/>
                <a:sym typeface="Noto Sans SC"/>
              </a:rPr>
              <a:t>核心洞察：方差消失机制</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33333"/>
                </a:solidFill>
                <a:latin typeface="Noto Sans SC"/>
                <a:ea typeface="Noto Sans SC"/>
                <a:cs typeface="Noto Sans SC"/>
                <a:sym typeface="Noto Sans SC"/>
              </a:rPr>
              <a:t>— 该界表明，当迭代点 xₜ₋₁ 和快照点 x̃ 逼近最优解 x* 时，方差项会趋于零。这与 SGD 的固定方差形成鲜明对比，是 SVRG 算法能够实现线性收敛速度的核心原因，也是其优于传统 SGD 的关键所在。</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D4AF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1B4332"/>
                </a:solidFill>
                <a:latin typeface="Noto Sans SC"/>
                <a:ea typeface="Noto Sans SC"/>
                <a:cs typeface="Noto Sans SC"/>
                <a:sym typeface="Noto Sans SC"/>
              </a:rPr>
              <a:t>把方差界代入参数更新，得到期望距离的递推</a:t>
            </a:r>
            <a:endParaRPr lang="en-US" sz="1100"/>
          </a:p>
        </p:txBody>
      </p:sp>
      <p:sp>
        <p:nvSpPr>
          <p:cNvPr name="AutoShape 5" id="5"/>
          <p:cNvSpPr/>
          <p:nvPr/>
        </p:nvSpPr>
        <p:spPr>
          <a:xfrm rot="0" flipH="false" flipV="false">
            <a:off x="508000" y="1270000"/>
            <a:ext cx="1524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11176000" cy="825500"/>
          </a:xfrm>
          <a:prstGeom prst="roundRect">
            <a:avLst>
              <a:gd name="adj" fmla="val 0"/>
            </a:avLst>
          </a:prstGeom>
          <a:solidFill>
            <a:srgbClr val="1B4332">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18034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01 参数更新规则</a:t>
            </a:r>
            <a:endParaRPr lang="en-US" sz="1100"/>
          </a:p>
        </p:txBody>
      </p:sp>
      <p:sp>
        <p:nvSpPr>
          <p:cNvPr name="AutoShape 8" id="8"/>
          <p:cNvSpPr/>
          <p:nvPr/>
        </p:nvSpPr>
        <p:spPr>
          <a:xfrm rot="0" flipH="false" flipV="false">
            <a:off x="2921000" y="1803400"/>
            <a:ext cx="863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333333"/>
                </a:solidFill>
                <a:latin typeface="Times New Roman"/>
                <a:ea typeface="Times New Roman"/>
                <a:cs typeface="Times New Roman"/>
                <a:sym typeface="Times New Roman"/>
              </a:rPr>
              <a:t>xₜ = xₜ₋₁ − η vₜ （其中 vₜ 为随机梯度估计）</a:t>
            </a:r>
            <a:endParaRPr lang="en-US" sz="1100"/>
          </a:p>
        </p:txBody>
      </p:sp>
      <p:sp>
        <p:nvSpPr>
          <p:cNvPr name="AutoShape 9" id="9"/>
          <p:cNvSpPr/>
          <p:nvPr/>
        </p:nvSpPr>
        <p:spPr>
          <a:xfrm rot="0" flipH="false" flipV="false">
            <a:off x="508000" y="2603500"/>
            <a:ext cx="5461000" cy="1079500"/>
          </a:xfrm>
          <a:prstGeom prst="roundRect">
            <a:avLst>
              <a:gd name="adj" fmla="val 0"/>
            </a:avLst>
          </a:prstGeom>
          <a:solidFill>
            <a:srgbClr val="F0F2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 y="27305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推导目标：建立期望距离递推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核心任务是对期望距离平方 E‖xₜ − x*‖² 进行展开，将其转化为关于前一步状态的表达式，为后续收敛性分析奠定基础。</a:t>
            </a:r>
          </a:p>
        </p:txBody>
      </p:sp>
      <p:sp>
        <p:nvSpPr>
          <p:cNvPr name="AutoShape 11" id="11"/>
          <p:cNvSpPr/>
          <p:nvPr/>
        </p:nvSpPr>
        <p:spPr>
          <a:xfrm rot="0" flipH="false" flipV="false">
            <a:off x="6223000" y="2603500"/>
            <a:ext cx="5461000" cy="1079500"/>
          </a:xfrm>
          <a:prstGeom prst="roundRect">
            <a:avLst>
              <a:gd name="adj" fmla="val 0"/>
            </a:avLst>
          </a:prstGeom>
          <a:solidFill>
            <a:srgbClr val="F0F2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0" y="27305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第一步代数展开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600">
                <a:solidFill>
                  <a:srgbClr val="333333"/>
                </a:solidFill>
                <a:latin typeface="Times New Roman"/>
                <a:ea typeface="Times New Roman"/>
                <a:cs typeface="Times New Roman"/>
                <a:sym typeface="Times New Roman"/>
              </a:rPr>
              <a:t>E‖xₜ − x*‖² = ‖xₜ₋₁ − x*‖² − 2η⟨xₜ₋₁ − x*, ∇f(xₜ₋₁)⟩ + η²E‖vₜ‖²</a:t>
            </a:r>
          </a:p>
        </p:txBody>
      </p:sp>
      <p:sp>
        <p:nvSpPr>
          <p:cNvPr name="AutoShape 13" id="13"/>
          <p:cNvSpPr/>
          <p:nvPr/>
        </p:nvSpPr>
        <p:spPr>
          <a:xfrm rot="0" flipH="false" flipV="false">
            <a:off x="508000" y="3810000"/>
            <a:ext cx="5461000" cy="1079500"/>
          </a:xfrm>
          <a:prstGeom prst="roundRect">
            <a:avLst>
              <a:gd name="adj" fmla="val 0"/>
            </a:avLst>
          </a:prstGeom>
          <a:solidFill>
            <a:srgbClr val="F0F2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5000" y="39370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利用强凸性放缩梯度内积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600">
                <a:solidFill>
                  <a:srgbClr val="333333"/>
                </a:solidFill>
                <a:latin typeface="Times New Roman"/>
                <a:ea typeface="Times New Roman"/>
                <a:cs typeface="Times New Roman"/>
                <a:sym typeface="Times New Roman"/>
              </a:rPr>
              <a:t>⟨xₜ₋₁ − x*, ∇f(xₜ₋₁)⟩ ≥ f(xₜ₋₁) − f(x*) + (μ/2)‖xₜ₋₁ − x*‖²</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66666"/>
                </a:solidFill>
                <a:latin typeface="Noto Sans SC"/>
                <a:ea typeface="Noto Sans SC"/>
                <a:cs typeface="Noto Sans SC"/>
                <a:sym typeface="Noto Sans SC"/>
              </a:rPr>
              <a:t>将梯度信息转化为函数值差距，建立优化的下界。</a:t>
            </a:r>
          </a:p>
        </p:txBody>
      </p:sp>
      <p:sp>
        <p:nvSpPr>
          <p:cNvPr name="AutoShape 15" id="15"/>
          <p:cNvSpPr/>
          <p:nvPr/>
        </p:nvSpPr>
        <p:spPr>
          <a:xfrm rot="0" flipH="false" flipV="false">
            <a:off x="6223000" y="3810000"/>
            <a:ext cx="5461000" cy="1079500"/>
          </a:xfrm>
          <a:prstGeom prst="roundRect">
            <a:avLst>
              <a:gd name="adj" fmla="val 0"/>
            </a:avLst>
          </a:prstGeom>
          <a:solidFill>
            <a:srgbClr val="F0F2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39370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随机梯度方差分解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600">
                <a:solidFill>
                  <a:srgbClr val="333333"/>
                </a:solidFill>
                <a:latin typeface="Times New Roman"/>
                <a:ea typeface="Times New Roman"/>
                <a:cs typeface="Times New Roman"/>
                <a:sym typeface="Times New Roman"/>
              </a:rPr>
              <a:t>E‖vₜ‖² = ‖∇f(xₜ₋₁)‖² + E‖vₜ − ∇f(xₜ₋₁)‖²</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66666"/>
                </a:solidFill>
                <a:latin typeface="Noto Sans SC"/>
                <a:ea typeface="Noto Sans SC"/>
                <a:cs typeface="Noto Sans SC"/>
                <a:sym typeface="Noto Sans SC"/>
              </a:rPr>
              <a:t>分离真实梯度项与随机误差项，引入方差界进行控制。</a:t>
            </a:r>
          </a:p>
        </p:txBody>
      </p:sp>
      <p:sp>
        <p:nvSpPr>
          <p:cNvPr name="AutoShape 17" id="17"/>
          <p:cNvSpPr/>
          <p:nvPr/>
        </p:nvSpPr>
        <p:spPr>
          <a:xfrm rot="0" flipH="false" flipV="false">
            <a:off x="508000" y="5016500"/>
            <a:ext cx="11176000" cy="825500"/>
          </a:xfrm>
          <a:prstGeom prst="roundRect">
            <a:avLst>
              <a:gd name="adj" fmla="val 0"/>
            </a:avLst>
          </a:prstGeom>
          <a:solidFill>
            <a:srgbClr val="D4AF37">
              <a:alpha val="8000"/>
            </a:srgbClr>
          </a:solidFill>
          <a:ln w="25400" cmpd="sng" cap="flat">
            <a:solidFill>
              <a:srgbClr val="D4AF37">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 y="5143500"/>
            <a:ext cx="1092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B8860B"/>
                </a:solidFill>
                <a:latin typeface="Noto Sans SC"/>
                <a:ea typeface="Noto Sans SC"/>
                <a:cs typeface="Noto Sans SC"/>
                <a:sym typeface="Noto Sans SC"/>
              </a:rPr>
              <a:t>最终递推不等式：</a:t>
            </a:r>
            <a:r>
              <a:rPr lang="en-US" b="false" i="false" strike="noStrike" u="none" sz="1600">
                <a:solidFill>
                  <a:srgbClr val="1F2329"/>
                </a:solidFill>
                <a:latin typeface="Noto Sans SC"/>
                <a:ea typeface="Noto Sans SC"/>
                <a:cs typeface="Noto Sans SC"/>
                <a:sym typeface="Noto Sans SC"/>
              </a:rPr>
              <a:t> </a:t>
            </a:r>
            <a:r>
              <a:rPr lang="en-US" b="true" i="false" strike="noStrike" u="none" sz="1600">
                <a:solidFill>
                  <a:srgbClr val="1B4332"/>
                </a:solidFill>
                <a:latin typeface="Times New Roman"/>
                <a:ea typeface="Times New Roman"/>
                <a:cs typeface="Times New Roman"/>
                <a:sym typeface="Times New Roman"/>
              </a:rPr>
              <a:t>E‖xₜ − x*‖² ≤ ‖xₜ₋₁ − x*‖² − 2η(1 − 2Lη)[f(xₜ₋₁) − f(x*)] + 4Lη²[f(x̃) − f(x*)]</a:t>
            </a:r>
            <a:endParaRPr lang="en-US" sz="1100"/>
          </a:p>
        </p:txBody>
      </p:sp>
      <p:sp>
        <p:nvSpPr>
          <p:cNvPr name="AutoShape 19" id="19"/>
          <p:cNvSpPr/>
          <p:nvPr/>
        </p:nvSpPr>
        <p:spPr>
          <a:xfrm rot="0" flipH="false" flipV="false">
            <a:off x="508000" y="5905500"/>
            <a:ext cx="11176000" cy="635000"/>
          </a:xfrm>
          <a:prstGeom prst="roundRect">
            <a:avLst>
              <a:gd name="adj" fmla="val 0"/>
            </a:avLst>
          </a:prstGeom>
          <a:solidFill>
            <a:srgbClr val="1B43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6070600"/>
            <a:ext cx="304800" cy="304800"/>
          </a:xfrm>
          <a:prstGeom prst="rect">
            <a:avLst/>
          </a:prstGeom>
        </p:spPr>
      </p:pic>
      <p:sp>
        <p:nvSpPr>
          <p:cNvPr name="AutoShape 21" id="21"/>
          <p:cNvSpPr/>
          <p:nvPr/>
        </p:nvSpPr>
        <p:spPr>
          <a:xfrm rot="0" flipH="false" flipV="false">
            <a:off x="1143000" y="5994400"/>
            <a:ext cx="1041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B4332"/>
                </a:solidFill>
                <a:latin typeface="Noto Sans SC"/>
                <a:ea typeface="Noto Sans SC"/>
                <a:cs typeface="Noto Sans SC"/>
                <a:sym typeface="Noto Sans SC"/>
              </a:rPr>
              <a:t>核心洞察：</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151"/>
                </a:solidFill>
                <a:latin typeface="Noto Sans SC"/>
                <a:ea typeface="Noto Sans SC"/>
                <a:cs typeface="Noto Sans SC"/>
                <a:sym typeface="Noto Sans SC"/>
              </a:rPr>
              <a:t>该递推式将所有迭代误差统一收敛到两类核心度量——“目标函数次优间隙”与“到最优解的距离平方”，将复杂的随机梯度更新转化为可分析的收敛不等式。</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4445000"/>
            <a:ext cx="3810000" cy="3810000"/>
          </a:xfrm>
          <a:prstGeom prst="ellipse">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635000"/>
            <a:ext cx="1905000" cy="1905000"/>
          </a:xfrm>
          <a:prstGeom prst="ellipse">
            <a:avLst/>
          </a:prstGeom>
          <a:solidFill>
            <a:srgbClr val="D4AF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内循环的 m 步如何累积？</a:t>
            </a:r>
            <a:endParaRPr lang="en-US" sz="1100"/>
          </a:p>
        </p:txBody>
      </p:sp>
      <p:sp>
        <p:nvSpPr>
          <p:cNvPr name="AutoShape 5" id="5"/>
          <p:cNvSpPr/>
          <p:nvPr/>
        </p:nvSpPr>
        <p:spPr>
          <a:xfrm rot="0" flipH="false" flipV="false">
            <a:off x="508000" y="1206500"/>
            <a:ext cx="1524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1117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555555"/>
                </a:solidFill>
                <a:latin typeface="Noto Sans SC"/>
                <a:ea typeface="Noto Sans SC"/>
                <a:cs typeface="Noto Sans SC"/>
                <a:sym typeface="Noto Sans SC"/>
              </a:rPr>
              <a:t>内循环从初始点 x₀ = x̃ 出发，执行 m 步梯度迭代后得到 xₘ。对 t = 1, …, m 的单步递推不等式进行累加求和，可推导出描述整体累积效果的核心不等式：</a:t>
            </a:r>
            <a:endParaRPr lang="en-US" sz="1100"/>
          </a:p>
        </p:txBody>
      </p:sp>
      <p:sp>
        <p:nvSpPr>
          <p:cNvPr name="AutoShape 7" id="7"/>
          <p:cNvSpPr/>
          <p:nvPr/>
        </p:nvSpPr>
        <p:spPr>
          <a:xfrm rot="0" flipH="false" flipV="false">
            <a:off x="508000" y="2222500"/>
            <a:ext cx="11176000" cy="1143000"/>
          </a:xfrm>
          <a:prstGeom prst="roundRect">
            <a:avLst>
              <a:gd name="adj" fmla="val 0"/>
            </a:avLst>
          </a:prstGeom>
          <a:solidFill>
            <a:srgbClr val="F5F5F5">
              <a:alpha val="100000"/>
            </a:srgbClr>
          </a:solidFill>
          <a:ln w="12700" cmpd="sng" cap="flat">
            <a:solidFill>
              <a:srgbClr val="E0E0E0">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 y="2349500"/>
            <a:ext cx="1092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333333"/>
                </a:solidFill>
                <a:latin typeface="Times New Roman"/>
                <a:ea typeface="Times New Roman"/>
                <a:cs typeface="Times New Roman"/>
                <a:sym typeface="Times New Roman"/>
              </a:rPr>
              <a:t>E‖xₘ − x*‖² + 2η(1 − 2Lη) Σₜ₌₁ᵐ [f(xₜ₋₁) − f(x*)] ≤ ‖x̃ − x*‖² + 4Lη²m[f(x̃) − f(x*)]</a:t>
            </a:r>
            <a:endParaRPr lang="en-US" sz="1100"/>
          </a:p>
        </p:txBody>
      </p:sp>
      <p:sp>
        <p:nvSpPr>
          <p:cNvPr name="AutoShape 9" id="9"/>
          <p:cNvSpPr/>
          <p:nvPr/>
        </p:nvSpPr>
        <p:spPr>
          <a:xfrm rot="0" flipH="false" flipV="false">
            <a:off x="508000" y="3619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关键选择：内循环输出的两种策略</a:t>
            </a:r>
            <a:endParaRPr lang="en-US" sz="1100"/>
          </a:p>
        </p:txBody>
      </p:sp>
      <p:sp>
        <p:nvSpPr>
          <p:cNvPr name="AutoShape 10" id="10"/>
          <p:cNvSpPr/>
          <p:nvPr/>
        </p:nvSpPr>
        <p:spPr>
          <a:xfrm rot="0" flipH="false" flipV="false">
            <a:off x="508000" y="4127500"/>
            <a:ext cx="5461000" cy="1333500"/>
          </a:xfrm>
          <a:prstGeom prst="roundRect">
            <a:avLst>
              <a:gd name="adj" fmla="val 0"/>
            </a:avLst>
          </a:prstGeom>
          <a:solidFill>
            <a:srgbClr val="1B4332">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98500" y="4254500"/>
            <a:ext cx="508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01 直接传递最终迭代值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C3C3C"/>
                </a:solidFill>
                <a:latin typeface="Noto Sans SC"/>
                <a:ea typeface="Noto Sans SC"/>
                <a:cs typeface="Noto Sans SC"/>
                <a:sym typeface="Noto Sans SC"/>
              </a:rPr>
              <a:t>策略：取 x̃_next = xₘ，即直接将内循环的最后一步结果作为下一轮的初始值。特点：计算简洁，无需额外存储中间变量，适合大规模分布式训练场景下的快速迭代。</a:t>
            </a:r>
          </a:p>
        </p:txBody>
      </p:sp>
      <p:sp>
        <p:nvSpPr>
          <p:cNvPr name="AutoShape 12" id="12"/>
          <p:cNvSpPr/>
          <p:nvPr/>
        </p:nvSpPr>
        <p:spPr>
          <a:xfrm rot="0" flipH="false" flipV="false">
            <a:off x="6223000" y="4127500"/>
            <a:ext cx="5461000" cy="1333500"/>
          </a:xfrm>
          <a:prstGeom prst="roundRect">
            <a:avLst>
              <a:gd name="adj" fmla="val 0"/>
            </a:avLst>
          </a:prstGeom>
          <a:solidFill>
            <a:srgbClr val="1B4332">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13500" y="4254500"/>
            <a:ext cx="508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B4332"/>
                </a:solidFill>
                <a:latin typeface="Noto Sans SC"/>
                <a:ea typeface="Noto Sans SC"/>
                <a:cs typeface="Noto Sans SC"/>
                <a:sym typeface="Noto Sans SC"/>
              </a:rPr>
              <a:t>02 平均输出与凸性利用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C3C3C"/>
                </a:solidFill>
                <a:latin typeface="Noto Sans SC"/>
                <a:ea typeface="Noto Sans SC"/>
                <a:cs typeface="Noto Sans SC"/>
                <a:sym typeface="Noto Sans SC"/>
              </a:rPr>
              <a:t>策略：取加权平均输出 x_out = (1/m) Σₜ₌₁ᵐ xₜ。利用凸性可得：f(x_out) − f(x*) ≤ (1/m) Σₜ₌₁ᵐ [f(xₜ) − f(x*)]，能有效平滑震荡，提升收敛稳定性。</a:t>
            </a:r>
          </a:p>
        </p:txBody>
      </p:sp>
      <p:sp>
        <p:nvSpPr>
          <p:cNvPr name="AutoShape 14" id="14"/>
          <p:cNvSpPr/>
          <p:nvPr/>
        </p:nvSpPr>
        <p:spPr>
          <a:xfrm rot="0" flipH="false" flipV="false">
            <a:off x="508000" y="5524500"/>
            <a:ext cx="11176000" cy="952500"/>
          </a:xfrm>
          <a:prstGeom prst="roundRect">
            <a:avLst>
              <a:gd name="adj" fmla="val 0"/>
            </a:avLst>
          </a:prstGeom>
          <a:solidFill>
            <a:srgbClr val="1B4332">
              <a:alpha val="8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98500" y="5651500"/>
            <a:ext cx="1079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B4332"/>
                </a:solidFill>
                <a:latin typeface="Noto Sans SC"/>
                <a:ea typeface="Noto Sans SC"/>
                <a:cs typeface="Noto Sans SC"/>
                <a:sym typeface="Noto Sans SC"/>
              </a:rPr>
              <a:t>核心总结：</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33333"/>
                </a:solidFill>
                <a:latin typeface="Noto Sans SC"/>
                <a:ea typeface="Noto Sans SC"/>
                <a:cs typeface="Noto Sans SC"/>
                <a:sym typeface="Noto Sans SC"/>
              </a:rPr>
              <a:t>这一步的本质是将内循环 m 步的局部累积下降，“压缩”并转化为一个从 x̃ 到 x̃_next 的全局 epoch 级递推关系。它将多层循环的微观动力学转化为宏观的单步迭代分析，是推导算法整体收敛速率的关键桥梁。</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D4AF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从 epoch 到 epoch，误差如何收缩？</a:t>
            </a:r>
            <a:endParaRPr lang="en-US" sz="1100"/>
          </a:p>
        </p:txBody>
      </p:sp>
      <p:sp>
        <p:nvSpPr>
          <p:cNvPr name="AutoShape 5" id="5"/>
          <p:cNvSpPr/>
          <p:nvPr/>
        </p:nvSpPr>
        <p:spPr>
          <a:xfrm rot="0" flipH="false" flipV="false">
            <a:off x="508000" y="1206500"/>
            <a:ext cx="1270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11176000" cy="1079500"/>
          </a:xfrm>
          <a:prstGeom prst="roundRect">
            <a:avLst>
              <a:gd name="adj" fmla="val 0"/>
            </a:avLst>
          </a:prstGeom>
          <a:solidFill>
            <a:srgbClr val="1B4332">
              <a:alpha val="5000"/>
            </a:srgbClr>
          </a:solidFill>
          <a:ln w="25400" cmpd="sng" cap="flat">
            <a:solidFill>
              <a:srgbClr val="1B4332">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1778000"/>
            <a:ext cx="10922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1B4332"/>
                </a:solidFill>
                <a:latin typeface="Times New Roman"/>
                <a:ea typeface="Times New Roman"/>
                <a:cs typeface="Times New Roman"/>
                <a:sym typeface="Times New Roman"/>
              </a:rPr>
              <a:t>E[ f(x̃ₛ₊₁) − f(x*) ] ≤ ρ · E[ f(x̃ₛ) − f(x*) ]</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400">
                <a:solidFill>
                  <a:srgbClr val="555555"/>
                </a:solidFill>
                <a:latin typeface="Noto Sans SC"/>
                <a:ea typeface="Noto Sans SC"/>
                <a:cs typeface="Noto Sans SC"/>
                <a:sym typeface="Noto Sans SC"/>
              </a:rPr>
              <a:t>其中收缩因子 ρ &lt; 1，确保了误差随迭代次数呈指数级衰减趋势</a:t>
            </a:r>
          </a:p>
        </p:txBody>
      </p:sp>
      <p:sp>
        <p:nvSpPr>
          <p:cNvPr name="AutoShape 8" id="8"/>
          <p:cNvSpPr/>
          <p:nvPr/>
        </p:nvSpPr>
        <p:spPr>
          <a:xfrm rot="0" flipH="false" flipV="false">
            <a:off x="508000" y="2921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01 / 关键参数的典型选择策略</a:t>
            </a:r>
            <a:endParaRPr lang="en-US" sz="1100"/>
          </a:p>
        </p:txBody>
      </p:sp>
      <p:sp>
        <p:nvSpPr>
          <p:cNvPr name="AutoShape 9" id="9"/>
          <p:cNvSpPr/>
          <p:nvPr/>
        </p:nvSpPr>
        <p:spPr>
          <a:xfrm rot="0" flipH="false" flipV="false">
            <a:off x="508000" y="3429000"/>
            <a:ext cx="5461000" cy="952500"/>
          </a:xfrm>
          <a:prstGeom prst="roundRect">
            <a:avLst>
              <a:gd name="adj" fmla="val 0"/>
            </a:avLst>
          </a:prstGeom>
          <a:solidFill>
            <a:srgbClr val="D4AF37">
              <a:alpha val="10000"/>
            </a:srgbClr>
          </a:solidFill>
          <a:ln w="12700" cmpd="sng" cap="flat">
            <a:solidFill>
              <a:srgbClr val="D4AF37">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3619500"/>
            <a:ext cx="304800" cy="304800"/>
          </a:xfrm>
          <a:prstGeom prst="rect">
            <a:avLst/>
          </a:prstGeom>
        </p:spPr>
      </p:pic>
      <p:sp>
        <p:nvSpPr>
          <p:cNvPr name="AutoShape 11" id="11"/>
          <p:cNvSpPr/>
          <p:nvPr/>
        </p:nvSpPr>
        <p:spPr>
          <a:xfrm rot="0" flipH="false" flipV="false">
            <a:off x="1079500" y="35560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步长设置：η = 1 / (4L)</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666666"/>
                </a:solidFill>
                <a:latin typeface="Noto Sans SC"/>
                <a:ea typeface="Noto Sans SC"/>
                <a:cs typeface="Noto Sans SC"/>
                <a:sym typeface="Noto Sans SC"/>
              </a:rPr>
              <a:t>选取常数步长或随迭代衰减的步长，平衡收敛速度与系统稳定性，避免震荡。</a:t>
            </a:r>
          </a:p>
        </p:txBody>
      </p:sp>
      <p:sp>
        <p:nvSpPr>
          <p:cNvPr name="AutoShape 12" id="12"/>
          <p:cNvSpPr/>
          <p:nvPr/>
        </p:nvSpPr>
        <p:spPr>
          <a:xfrm rot="0" flipH="false" flipV="false">
            <a:off x="6223000" y="3429000"/>
            <a:ext cx="5461000" cy="952500"/>
          </a:xfrm>
          <a:prstGeom prst="roundRect">
            <a:avLst>
              <a:gd name="adj" fmla="val 0"/>
            </a:avLst>
          </a:prstGeom>
          <a:solidFill>
            <a:srgbClr val="D4AF37">
              <a:alpha val="10000"/>
            </a:srgbClr>
          </a:solidFill>
          <a:ln w="12700" cmpd="sng" cap="flat">
            <a:solidFill>
              <a:srgbClr val="D4AF37">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3619500"/>
            <a:ext cx="304800" cy="304800"/>
          </a:xfrm>
          <a:prstGeom prst="rect">
            <a:avLst/>
          </a:prstGeom>
        </p:spPr>
      </p:pic>
      <p:sp>
        <p:nvSpPr>
          <p:cNvPr name="AutoShape 14" id="14"/>
          <p:cNvSpPr/>
          <p:nvPr/>
        </p:nvSpPr>
        <p:spPr>
          <a:xfrm rot="0" flipH="false" flipV="false">
            <a:off x="6794500" y="35560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批量大小：m = Θ(κ)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666666"/>
                </a:solidFill>
                <a:latin typeface="Noto Sans SC"/>
                <a:ea typeface="Noto Sans SC"/>
                <a:cs typeface="Noto Sans SC"/>
                <a:sym typeface="Noto Sans SC"/>
              </a:rPr>
              <a:t>κ 为条件数，合适的批量大小能保证梯度估计的无偏性与精度。</a:t>
            </a:r>
          </a:p>
        </p:txBody>
      </p:sp>
      <p:sp>
        <p:nvSpPr>
          <p:cNvPr name="AutoShape 15" id="15"/>
          <p:cNvSpPr/>
          <p:nvPr/>
        </p:nvSpPr>
        <p:spPr>
          <a:xfrm rot="0" flipH="false" flipV="false">
            <a:off x="508000" y="4572000"/>
            <a:ext cx="11176000" cy="698500"/>
          </a:xfrm>
          <a:prstGeom prst="roundRect">
            <a:avLst>
              <a:gd name="adj" fmla="val 0"/>
            </a:avLst>
          </a:prstGeom>
          <a:solidFill>
            <a:srgbClr val="1B4332">
              <a:alpha val="5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 y="4699000"/>
            <a:ext cx="10922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1B4332"/>
                </a:solidFill>
                <a:latin typeface="Times New Roman"/>
                <a:ea typeface="Times New Roman"/>
                <a:cs typeface="Times New Roman"/>
                <a:sym typeface="Times New Roman"/>
              </a:rPr>
              <a:t>累积误差界：E[f(x̃ₛ) − f(x*)] ≤ ρˢ · [f(x̃₀) − f(x*)]</a:t>
            </a:r>
            <a:endParaRPr lang="en-US" sz="1100"/>
          </a:p>
        </p:txBody>
      </p:sp>
      <p:sp>
        <p:nvSpPr>
          <p:cNvPr name="AutoShape 17" id="17"/>
          <p:cNvSpPr/>
          <p:nvPr/>
        </p:nvSpPr>
        <p:spPr>
          <a:xfrm rot="0" flipH="false" flipV="false">
            <a:off x="508000" y="5334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B4332"/>
                </a:solidFill>
                <a:latin typeface="Noto Sans SC"/>
                <a:ea typeface="Noto Sans SC"/>
                <a:cs typeface="Noto Sans SC"/>
                <a:sym typeface="Noto Sans SC"/>
              </a:rPr>
              <a:t>结论：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500">
                <a:solidFill>
                  <a:srgbClr val="333333"/>
                </a:solidFill>
                <a:latin typeface="Noto Sans SC"/>
                <a:ea typeface="Noto Sans SC"/>
                <a:cs typeface="Noto Sans SC"/>
                <a:sym typeface="Noto Sans SC"/>
              </a:rPr>
              <a:t>要达到目标精度 ε，仅需 s = O(log(1/ε)) 个 epoch，展现了算法的高效收敛特性。</a:t>
            </a:r>
            <a:endParaRPr lang="en-US" sz="1100"/>
          </a:p>
        </p:txBody>
      </p:sp>
      <p:sp>
        <p:nvSpPr>
          <p:cNvPr name="AutoShape 18" id="18"/>
          <p:cNvSpPr/>
          <p:nvPr/>
        </p:nvSpPr>
        <p:spPr>
          <a:xfrm rot="0" flipH="false" flipV="false">
            <a:off x="508000" y="5842000"/>
            <a:ext cx="11176000" cy="762000"/>
          </a:xfrm>
          <a:prstGeom prst="roundRect">
            <a:avLst>
              <a:gd name="adj" fmla="val 0"/>
            </a:avLst>
          </a:prstGeom>
          <a:solidFill>
            <a:srgbClr val="1B4332">
              <a:alpha val="8000"/>
            </a:srgbClr>
          </a:solidFill>
          <a:ln w="12700" cmpd="sng" cap="flat">
            <a:solidFill>
              <a:srgbClr val="1B4332">
                <a:alpha val="15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8500" y="5994400"/>
            <a:ext cx="254000" cy="254000"/>
          </a:xfrm>
          <a:prstGeom prst="rect">
            <a:avLst/>
          </a:prstGeom>
        </p:spPr>
      </p:pic>
      <p:sp>
        <p:nvSpPr>
          <p:cNvPr name="AutoShape 20" id="20"/>
          <p:cNvSpPr/>
          <p:nvPr/>
        </p:nvSpPr>
        <p:spPr>
          <a:xfrm rot="0" flipH="false" flipV="false">
            <a:off x="1016000" y="5943600"/>
            <a:ext cx="1054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B4332"/>
                </a:solidFill>
                <a:latin typeface="Noto Sans SC"/>
                <a:ea typeface="Noto Sans SC"/>
                <a:cs typeface="Noto Sans SC"/>
                <a:sym typeface="Noto Sans SC"/>
              </a:rPr>
              <a:t>核心洞察：</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2D5B49"/>
                </a:solidFill>
                <a:latin typeface="Noto Sans SC"/>
                <a:ea typeface="Noto Sans SC"/>
                <a:cs typeface="Noto Sans SC"/>
                <a:sym typeface="Noto Sans SC"/>
              </a:rPr>
              <a:t>线性收敛意味着每经过一个 epoch，次优间隙就会按固定比例 ρ 缩小。这是在强凸目标函数且梯度 Lipschitz 连续（L-光滑）条件下，随机梯度下降（SGD）类算法能达到的最优收敛速率。</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1B4332"/>
                </a:solidFill>
                <a:latin typeface="Noto Sans SC"/>
                <a:ea typeface="Noto Sans SC"/>
                <a:cs typeface="Noto Sans SC"/>
                <a:sym typeface="Noto Sans SC"/>
              </a:rPr>
              <a:t>总梯度计算量 O((n + κ) log(1/ε)) 从哪来？</a:t>
            </a:r>
            <a:endParaRPr lang="en-US" sz="1100"/>
          </a:p>
        </p:txBody>
      </p:sp>
      <p:sp>
        <p:nvSpPr>
          <p:cNvPr name="AutoShape 5" id="5"/>
          <p:cNvSpPr/>
          <p:nvPr/>
        </p:nvSpPr>
        <p:spPr>
          <a:xfrm rot="0" flipH="false" flipV="false">
            <a:off x="508000" y="1206500"/>
            <a:ext cx="1524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546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01 / 单轮 Epoch 的成本构成</a:t>
            </a:r>
            <a:endParaRPr lang="en-US" sz="1100"/>
          </a:p>
        </p:txBody>
      </p:sp>
      <p:sp>
        <p:nvSpPr>
          <p:cNvPr name="AutoShape 7" id="7"/>
          <p:cNvSpPr/>
          <p:nvPr/>
        </p:nvSpPr>
        <p:spPr>
          <a:xfrm rot="0" flipH="false" flipV="false">
            <a:off x="508000" y="2159000"/>
            <a:ext cx="5461000" cy="825500"/>
          </a:xfrm>
          <a:prstGeom prst="roundRect">
            <a:avLst>
              <a:gd name="adj" fmla="val 0"/>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 y="2260600"/>
            <a:ext cx="520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1B4332"/>
                </a:solidFill>
                <a:latin typeface="Noto Sans SC"/>
                <a:ea typeface="Noto Sans SC"/>
                <a:cs typeface="Noto Sans SC"/>
                <a:sym typeface="Noto Sans SC"/>
              </a:rPr>
              <a:t>全梯度基准开销：</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05050"/>
                </a:solidFill>
                <a:latin typeface="Noto Sans SC"/>
                <a:ea typeface="Noto Sans SC"/>
                <a:cs typeface="Noto Sans SC"/>
                <a:sym typeface="Noto Sans SC"/>
              </a:rPr>
              <a:t>计算全局梯度 ∇f(x̃) 需遍历全部 n 个样本，产生 n 次分量梯度计算，这是保证算法收敛精度的基础开销。</a:t>
            </a:r>
            <a:endParaRPr lang="en-US" sz="1100"/>
          </a:p>
        </p:txBody>
      </p:sp>
      <p:sp>
        <p:nvSpPr>
          <p:cNvPr name="AutoShape 9" id="9"/>
          <p:cNvSpPr/>
          <p:nvPr/>
        </p:nvSpPr>
        <p:spPr>
          <a:xfrm rot="0" flipH="false" flipV="false">
            <a:off x="508000" y="3111500"/>
            <a:ext cx="5461000" cy="825500"/>
          </a:xfrm>
          <a:prstGeom prst="roundRect">
            <a:avLst>
              <a:gd name="adj" fmla="val 0"/>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 y="3213100"/>
            <a:ext cx="520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1B4332"/>
                </a:solidFill>
                <a:latin typeface="Noto Sans SC"/>
                <a:ea typeface="Noto Sans SC"/>
                <a:cs typeface="Noto Sans SC"/>
                <a:sym typeface="Noto Sans SC"/>
              </a:rPr>
              <a:t>内循环加速迭代：</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05050"/>
                </a:solidFill>
                <a:latin typeface="Noto Sans SC"/>
                <a:ea typeface="Noto Sans SC"/>
                <a:cs typeface="Noto Sans SC"/>
                <a:sym typeface="Noto Sans SC"/>
              </a:rPr>
              <a:t>每轮内循环包含 m 步更新，每步需计算当前点与快照点的梯度，合计 2m 次分量计算，用于快速逼近最优解。</a:t>
            </a:r>
            <a:endParaRPr lang="en-US" sz="1100"/>
          </a:p>
        </p:txBody>
      </p:sp>
      <p:sp>
        <p:nvSpPr>
          <p:cNvPr name="AutoShape 11" id="11"/>
          <p:cNvSpPr/>
          <p:nvPr/>
        </p:nvSpPr>
        <p:spPr>
          <a:xfrm rot="0" flipH="false" flipV="false">
            <a:off x="508000" y="4064000"/>
            <a:ext cx="5461000" cy="635000"/>
          </a:xfrm>
          <a:prstGeom prst="roundRect">
            <a:avLst>
              <a:gd name="adj" fmla="val 0"/>
            </a:avLst>
          </a:prstGeom>
          <a:solidFill>
            <a:srgbClr val="D4AF37">
              <a:alpha val="10000"/>
            </a:srgbClr>
          </a:solidFill>
          <a:ln w="12700" cmpd="sng" cap="flat">
            <a:solidFill>
              <a:srgbClr val="D4AF37">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 y="4165600"/>
            <a:ext cx="5207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323232"/>
                </a:solidFill>
                <a:latin typeface="Times New Roman"/>
                <a:ea typeface="Times New Roman"/>
                <a:cs typeface="Times New Roman"/>
                <a:sym typeface="Times New Roman"/>
              </a:rPr>
              <a:t>单次 Epoch 总成本：O( (n + m) · s ) （s 为外循环轮次）</a:t>
            </a:r>
            <a:endParaRPr lang="en-US" sz="1100"/>
          </a:p>
        </p:txBody>
      </p:sp>
      <p:sp>
        <p:nvSpPr>
          <p:cNvPr name="AutoShape 13" id="13"/>
          <p:cNvSpPr/>
          <p:nvPr/>
        </p:nvSpPr>
        <p:spPr>
          <a:xfrm rot="0" flipH="false" flipV="false">
            <a:off x="508000" y="4889500"/>
            <a:ext cx="5461000" cy="698500"/>
          </a:xfrm>
          <a:prstGeom prst="roundRect">
            <a:avLst>
              <a:gd name="adj" fmla="val 0"/>
            </a:avLst>
          </a:prstGeom>
          <a:solidFill>
            <a:srgbClr val="D4AF37">
              <a:alpha val="15000"/>
            </a:srgbClr>
          </a:solidFill>
          <a:ln w="25400" cmpd="sng" cap="flat">
            <a:solidFill>
              <a:srgbClr val="D4AF37">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5000" y="5016500"/>
            <a:ext cx="5207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B4332"/>
                </a:solidFill>
                <a:latin typeface="Times New Roman"/>
                <a:ea typeface="Times New Roman"/>
                <a:cs typeface="Times New Roman"/>
                <a:sym typeface="Times New Roman"/>
              </a:rPr>
              <a:t>总复杂度 = O( (n + κ) log(1/ε) )</a:t>
            </a:r>
            <a:endParaRPr lang="en-US" sz="1100"/>
          </a:p>
        </p:txBody>
      </p:sp>
      <p:sp>
        <p:nvSpPr>
          <p:cNvPr name="AutoShape 15" id="15"/>
          <p:cNvSpPr/>
          <p:nvPr/>
        </p:nvSpPr>
        <p:spPr>
          <a:xfrm rot="0" flipH="false" flipV="false">
            <a:off x="6223000" y="1651000"/>
            <a:ext cx="546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02 / 主流优化算法复杂度对比</a:t>
            </a:r>
            <a:endParaRPr lang="en-US" sz="1100"/>
          </a:p>
        </p:txBody>
      </p:sp>
      <p:graphicFrame>
        <p:nvGraphicFramePr>
          <p:cNvPr name="Table 16" id="16"/>
          <p:cNvGraphicFramePr>
            <a:graphicFrameLocks noGrp="true"/>
          </p:cNvGraphicFramePr>
          <p:nvPr/>
        </p:nvGraphicFramePr>
        <p:xfrm>
          <a:off x="6223000" y="2159000"/>
          <a:ext cx="5461000" cy="2286000"/>
        </p:xfrm>
        <a:graphic>
          <a:graphicData uri="http://schemas.openxmlformats.org/drawingml/2006/table">
            <a:tbl>
              <a:tblPr>
                <a:effectLst/>
              </a:tblPr>
              <a:tblGrid>
                <a:gridCol w="1778000"/>
                <a:gridCol w="3683000"/>
              </a:tblGrid>
              <a:tr h="571500">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优化方法</a:t>
                      </a:r>
                      <a:endParaRPr lang="en-US" sz="1100"/>
                    </a:p>
                  </a:txBody>
                  <a:tcPr anchor="ctr" anchorCtr="false" marL="101600" marR="101600" marT="101600" marB="101600">
                    <a:lnL>
                      <a:noFill/>
                    </a:lnL>
                    <a:lnR>
                      <a:noFill/>
                    </a:lnR>
                    <a:lnT>
                      <a:noFill/>
                    </a:lnT>
                    <a:lnB>
                      <a:noFill/>
                    </a:lnB>
                    <a:solidFill>
                      <a:srgbClr val="1B4332">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梯度计算复杂度</a:t>
                      </a:r>
                      <a:endParaRPr lang="en-US" sz="1100"/>
                    </a:p>
                  </a:txBody>
                  <a:tcPr anchor="ctr" anchorCtr="false" marL="101600" marR="101600" marT="101600" marB="101600">
                    <a:lnL>
                      <a:noFill/>
                    </a:lnL>
                    <a:lnR>
                      <a:noFill/>
                    </a:lnR>
                    <a:lnT>
                      <a:noFill/>
                    </a:lnT>
                    <a:lnB>
                      <a:noFill/>
                    </a:lnB>
                    <a:solidFill>
                      <a:srgbClr val="1B4332">
                        <a:alpha val="100000"/>
                      </a:srgbClr>
                    </a:solidFill>
                  </a:tcPr>
                </a:tc>
              </a:tr>
              <a:tr h="571500">
                <a:tc>
                  <a:txBody>
                    <a:bodyPr anchor="t" rtlCol="false"/>
                    <a:lstStyle/>
                    <a:p>
                      <a:pPr algn="ctr" marL="0" indent="0">
                        <a:lnSpc>
                          <a:spcPct val="100000"/>
                        </a:lnSpc>
                        <a:defRPr/>
                      </a:pPr>
                      <a:r>
                        <a:rPr lang="en-US" b="false" i="false" strike="noStrike" u="none" sz="1400">
                          <a:solidFill>
                            <a:srgbClr val="323232"/>
                          </a:solidFill>
                          <a:latin typeface="Noto Sans SC"/>
                          <a:ea typeface="Noto Sans SC"/>
                          <a:cs typeface="Noto Sans SC"/>
                          <a:sym typeface="Noto Sans SC"/>
                        </a:rPr>
                        <a:t>GD (梯度下降)</a:t>
                      </a:r>
                      <a:endParaRPr lang="en-US" sz="1100"/>
                    </a:p>
                  </a:txBody>
                  <a:tcPr anchor="ctr" anchorCtr="false" marL="101600" marR="101600" marT="101600" marB="101600">
                    <a:lnL>
                      <a:noFill/>
                    </a:lnL>
                    <a:lnR>
                      <a:noFill/>
                    </a:lnR>
                    <a:lnT>
                      <a:noFill/>
                    </a:lnT>
                    <a:lnB>
                      <a:noFill/>
                    </a:lnB>
                    <a:solidFill>
                      <a:srgbClr val="F5F5F5">
                        <a:alpha val="100000"/>
                      </a:srgbClr>
                    </a:solidFill>
                  </a:tcPr>
                </a:tc>
                <a:tc>
                  <a:txBody>
                    <a:bodyPr anchor="t" rtlCol="false"/>
                    <a:lstStyle/>
                    <a:p>
                      <a:pPr algn="ctr" marL="0" indent="0">
                        <a:lnSpc>
                          <a:spcPct val="100000"/>
                        </a:lnSpc>
                        <a:defRPr/>
                      </a:pPr>
                      <a:r>
                        <a:rPr lang="en-US" b="false" i="false" strike="noStrike" u="none" sz="1400">
                          <a:solidFill>
                            <a:srgbClr val="323232"/>
                          </a:solidFill>
                          <a:latin typeface="Times New Roman"/>
                          <a:ea typeface="Times New Roman"/>
                          <a:cs typeface="Times New Roman"/>
                          <a:sym typeface="Times New Roman"/>
                        </a:rPr>
                        <a:t>O(nκ log(1/ε))</a:t>
                      </a:r>
                      <a:endParaRPr lang="en-US" sz="1100"/>
                    </a:p>
                  </a:txBody>
                  <a:tcPr anchor="ctr" anchorCtr="false" marL="101600" marR="101600" marT="101600" marB="101600">
                    <a:lnL>
                      <a:noFill/>
                    </a:lnL>
                    <a:lnR>
                      <a:noFill/>
                    </a:lnR>
                    <a:lnT>
                      <a:noFill/>
                    </a:lnT>
                    <a:lnB>
                      <a:noFill/>
                    </a:lnB>
                    <a:solidFill>
                      <a:srgbClr val="F5F5F5">
                        <a:alpha val="100000"/>
                      </a:srgbClr>
                    </a:solidFill>
                  </a:tcPr>
                </a:tc>
              </a:tr>
              <a:tr h="571500">
                <a:tc>
                  <a:txBody>
                    <a:bodyPr anchor="t" rtlCol="false"/>
                    <a:lstStyle/>
                    <a:p>
                      <a:pPr algn="ctr" marL="0" indent="0">
                        <a:lnSpc>
                          <a:spcPct val="100000"/>
                        </a:lnSpc>
                        <a:defRPr/>
                      </a:pPr>
                      <a:r>
                        <a:rPr lang="en-US" b="false" i="false" strike="noStrike" u="none" sz="1400">
                          <a:solidFill>
                            <a:srgbClr val="323232"/>
                          </a:solidFill>
                          <a:latin typeface="Noto Sans SC"/>
                          <a:ea typeface="Noto Sans SC"/>
                          <a:cs typeface="Noto Sans SC"/>
                          <a:sym typeface="Noto Sans SC"/>
                        </a:rPr>
                        <a:t>SGD (随机梯度)</a:t>
                      </a:r>
                      <a:endParaRPr lang="en-US" sz="1100"/>
                    </a:p>
                  </a:txBody>
                  <a:tcPr anchor="ctr" anchorCtr="false" marL="101600" marR="101600" marT="101600" marB="101600">
                    <a:lnL>
                      <a:noFill/>
                    </a:lnL>
                    <a:lnR>
                      <a:noFill/>
                    </a:lnR>
                    <a:lnT>
                      <a:noFill/>
                    </a:lnT>
                    <a:lnB>
                      <a:noFill/>
                    </a:lnB>
                    <a:solidFill>
                      <a:srgbClr val="F5F5F5">
                        <a:alpha val="100000"/>
                      </a:srgbClr>
                    </a:solidFill>
                  </a:tcPr>
                </a:tc>
                <a:tc>
                  <a:txBody>
                    <a:bodyPr anchor="t" rtlCol="false"/>
                    <a:lstStyle/>
                    <a:p>
                      <a:pPr algn="ctr" marL="0" indent="0">
                        <a:lnSpc>
                          <a:spcPct val="100000"/>
                        </a:lnSpc>
                        <a:defRPr/>
                      </a:pPr>
                      <a:r>
                        <a:rPr lang="en-US" b="false" i="false" strike="noStrike" u="none" sz="1400">
                          <a:solidFill>
                            <a:srgbClr val="323232"/>
                          </a:solidFill>
                          <a:latin typeface="Times New Roman"/>
                          <a:ea typeface="Times New Roman"/>
                          <a:cs typeface="Times New Roman"/>
                          <a:sym typeface="Times New Roman"/>
                        </a:rPr>
                        <a:t>O(1/(με)) (次线性收敛)</a:t>
                      </a:r>
                      <a:endParaRPr lang="en-US" sz="1100"/>
                    </a:p>
                  </a:txBody>
                  <a:tcPr anchor="ctr" anchorCtr="false" marL="101600" marR="101600" marT="101600" marB="101600">
                    <a:lnL>
                      <a:noFill/>
                    </a:lnL>
                    <a:lnR>
                      <a:noFill/>
                    </a:lnR>
                    <a:lnT>
                      <a:noFill/>
                    </a:lnT>
                    <a:lnB>
                      <a:noFill/>
                    </a:lnB>
                    <a:solidFill>
                      <a:srgbClr val="F5F5F5">
                        <a:alpha val="100000"/>
                      </a:srgbClr>
                    </a:solidFill>
                  </a:tcPr>
                </a:tc>
              </a:tr>
              <a:tr h="571500">
                <a:tc>
                  <a:txBody>
                    <a:bodyPr anchor="t" rtlCol="false"/>
                    <a:lstStyle/>
                    <a:p>
                      <a:pPr algn="ctr" marL="0" indent="0">
                        <a:lnSpc>
                          <a:spcPct val="100000"/>
                        </a:lnSpc>
                        <a:defRPr/>
                      </a:pPr>
                      <a:r>
                        <a:rPr lang="en-US" b="true" i="false" strike="noStrike" u="none" sz="1400">
                          <a:solidFill>
                            <a:srgbClr val="1B4332"/>
                          </a:solidFill>
                          <a:latin typeface="Noto Sans SC"/>
                          <a:ea typeface="Noto Sans SC"/>
                          <a:cs typeface="Noto Sans SC"/>
                          <a:sym typeface="Noto Sans SC"/>
                        </a:rPr>
                        <a:t>SVRG</a:t>
                      </a:r>
                      <a:endParaRPr lang="en-US" sz="1100"/>
                    </a:p>
                  </a:txBody>
                  <a:tcPr anchor="ctr" anchorCtr="false" marL="101600" marR="101600" marT="101600" marB="101600">
                    <a:lnL>
                      <a:noFill/>
                    </a:lnL>
                    <a:lnR>
                      <a:noFill/>
                    </a:lnR>
                    <a:lnT>
                      <a:noFill/>
                    </a:lnT>
                    <a:lnB>
                      <a:noFill/>
                    </a:lnB>
                    <a:solidFill>
                      <a:srgbClr val="D4AF37">
                        <a:alpha val="20000"/>
                      </a:srgbClr>
                    </a:solidFill>
                  </a:tcPr>
                </a:tc>
                <a:tc>
                  <a:txBody>
                    <a:bodyPr anchor="t" rtlCol="false"/>
                    <a:lstStyle/>
                    <a:p>
                      <a:pPr algn="ctr" marL="0" indent="0">
                        <a:lnSpc>
                          <a:spcPct val="100000"/>
                        </a:lnSpc>
                        <a:defRPr/>
                      </a:pPr>
                      <a:r>
                        <a:rPr lang="en-US" b="true" i="false" strike="noStrike" u="none" sz="1400">
                          <a:solidFill>
                            <a:srgbClr val="B8860B"/>
                          </a:solidFill>
                          <a:latin typeface="Times New Roman"/>
                          <a:ea typeface="Times New Roman"/>
                          <a:cs typeface="Times New Roman"/>
                          <a:sym typeface="Times New Roman"/>
                        </a:rPr>
                        <a:t>O((n + κ) log(1/ε))</a:t>
                      </a:r>
                      <a:endParaRPr lang="en-US" sz="1100"/>
                    </a:p>
                  </a:txBody>
                  <a:tcPr anchor="ctr" anchorCtr="false" marL="101600" marR="101600" marT="101600" marB="101600">
                    <a:lnL>
                      <a:noFill/>
                    </a:lnL>
                    <a:lnR>
                      <a:noFill/>
                    </a:lnR>
                    <a:lnT>
                      <a:noFill/>
                    </a:lnT>
                    <a:lnB>
                      <a:noFill/>
                    </a:lnB>
                    <a:solidFill>
                      <a:srgbClr val="D4AF37">
                        <a:alpha val="20000"/>
                      </a:srgbClr>
                    </a:solidFill>
                  </a:tcPr>
                </a:tc>
              </a:tr>
            </a:tbl>
          </a:graphicData>
        </a:graphic>
      </p:graphicFrame>
      <p:sp>
        <p:nvSpPr>
          <p:cNvPr name="AutoShape 17" id="17"/>
          <p:cNvSpPr/>
          <p:nvPr/>
        </p:nvSpPr>
        <p:spPr>
          <a:xfrm rot="0" flipH="false" flipV="false">
            <a:off x="6223000" y="4762500"/>
            <a:ext cx="546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46464"/>
                </a:solidFill>
                <a:latin typeface="Noto Sans SC"/>
                <a:ea typeface="Noto Sans SC"/>
                <a:cs typeface="Noto Sans SC"/>
                <a:sym typeface="Noto Sans SC"/>
              </a:rPr>
              <a:t>注：κ 为问题的条件数，ε 为收敛精度阈值。SVRG 通过“快照机制”打破了 n 与 κ 的乘积关系，将复杂度从乘法降为加法，这是其在大规模数据场景下高效的关键。</a:t>
            </a:r>
            <a:endParaRPr lang="en-US" sz="1100"/>
          </a:p>
        </p:txBody>
      </p:sp>
      <p:sp>
        <p:nvSpPr>
          <p:cNvPr name="AutoShape 18" id="18"/>
          <p:cNvSpPr/>
          <p:nvPr/>
        </p:nvSpPr>
        <p:spPr>
          <a:xfrm rot="0" flipH="false" flipV="false">
            <a:off x="508000" y="5715000"/>
            <a:ext cx="11176000" cy="889000"/>
          </a:xfrm>
          <a:prstGeom prst="roundRect">
            <a:avLst>
              <a:gd name="adj" fmla="val 0"/>
            </a:avLst>
          </a:prstGeom>
          <a:solidFill>
            <a:srgbClr val="1B4332">
              <a:alpha val="8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6007100"/>
            <a:ext cx="304800" cy="304800"/>
          </a:xfrm>
          <a:prstGeom prst="rect">
            <a:avLst/>
          </a:prstGeom>
        </p:spPr>
      </p:pic>
      <p:sp>
        <p:nvSpPr>
          <p:cNvPr name="AutoShape 20" id="20"/>
          <p:cNvSpPr/>
          <p:nvPr/>
        </p:nvSpPr>
        <p:spPr>
          <a:xfrm rot="0" flipH="false" flipV="false">
            <a:off x="1143000" y="58166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1B4332"/>
                </a:solidFill>
                <a:latin typeface="Noto Sans SC"/>
                <a:ea typeface="Noto Sans SC"/>
                <a:cs typeface="Noto Sans SC"/>
                <a:sym typeface="Noto Sans SC"/>
              </a:rPr>
              <a:t>核心洞察：</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323232"/>
                </a:solidFill>
                <a:latin typeface="Noto Sans SC"/>
                <a:ea typeface="Noto Sans SC"/>
                <a:cs typeface="Noto Sans SC"/>
                <a:sym typeface="Noto Sans SC"/>
              </a:rPr>
              <a:t>n 代表全梯度的一次性摊销成本，κ 代表内循环所需的迭代步数。当数据规模 n 远大于条件数 κ 时，SVRG 比传统 GD 快 κ 倍；即便 κ 较大，其线性收敛速度也远优于 SGD 的次线性收敛，是大规模机器学习的优选方案。</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证明中用到的核心不等式</a:t>
            </a:r>
            <a:endParaRPr lang="en-US" sz="1100"/>
          </a:p>
        </p:txBody>
      </p:sp>
      <p:sp>
        <p:nvSpPr>
          <p:cNvPr name="AutoShape 5" id="5"/>
          <p:cNvSpPr/>
          <p:nvPr/>
        </p:nvSpPr>
        <p:spPr>
          <a:xfrm rot="0" flipH="false" flipV="false">
            <a:off x="508000" y="1206500"/>
            <a:ext cx="1270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5461000" cy="1168400"/>
          </a:xfrm>
          <a:prstGeom prst="roundRect">
            <a:avLst>
              <a:gd name="adj" fmla="val 0"/>
            </a:avLst>
          </a:prstGeom>
          <a:solidFill>
            <a:srgbClr val="1B4332">
              <a:alpha val="4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18542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98500" y="18542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01</a:t>
            </a:r>
            <a:endParaRPr lang="en-US" sz="1100"/>
          </a:p>
        </p:txBody>
      </p:sp>
      <p:sp>
        <p:nvSpPr>
          <p:cNvPr name="AutoShape 9" id="9"/>
          <p:cNvSpPr/>
          <p:nvPr/>
        </p:nvSpPr>
        <p:spPr>
          <a:xfrm rot="0" flipH="false" flipV="false">
            <a:off x="1333500" y="1803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无偏性假设 (Unbiasedness)</a:t>
            </a:r>
            <a:endParaRPr lang="en-US" sz="1100"/>
          </a:p>
        </p:txBody>
      </p:sp>
      <p:sp>
        <p:nvSpPr>
          <p:cNvPr name="AutoShape 10" id="10"/>
          <p:cNvSpPr/>
          <p:nvPr/>
        </p:nvSpPr>
        <p:spPr>
          <a:xfrm rot="0" flipH="false" flipV="false">
            <a:off x="1333500" y="21844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700">
                <a:solidFill>
                  <a:srgbClr val="374151"/>
                </a:solidFill>
                <a:latin typeface="Times New Roman"/>
                <a:ea typeface="Times New Roman"/>
                <a:cs typeface="Times New Roman"/>
                <a:sym typeface="Times New Roman"/>
              </a:rPr>
              <a:t>E[vₜ] = ∇f(xₜ₋₁)</a:t>
            </a:r>
            <a:endParaRPr lang="en-US" sz="1100"/>
          </a:p>
        </p:txBody>
      </p:sp>
      <p:sp>
        <p:nvSpPr>
          <p:cNvPr name="AutoShape 11" id="11"/>
          <p:cNvSpPr/>
          <p:nvPr/>
        </p:nvSpPr>
        <p:spPr>
          <a:xfrm rot="0" flipH="false" flipV="false">
            <a:off x="508000" y="2946400"/>
            <a:ext cx="5461000" cy="1168400"/>
          </a:xfrm>
          <a:prstGeom prst="roundRect">
            <a:avLst>
              <a:gd name="adj" fmla="val 0"/>
            </a:avLst>
          </a:prstGeom>
          <a:solidFill>
            <a:srgbClr val="1B4332">
              <a:alpha val="4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98500" y="31496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98500" y="31496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02</a:t>
            </a:r>
            <a:endParaRPr lang="en-US" sz="1100"/>
          </a:p>
        </p:txBody>
      </p:sp>
      <p:sp>
        <p:nvSpPr>
          <p:cNvPr name="AutoShape 14" id="14"/>
          <p:cNvSpPr/>
          <p:nvPr/>
        </p:nvSpPr>
        <p:spPr>
          <a:xfrm rot="0" flipH="false" flipV="false">
            <a:off x="1333500" y="30988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梯度方差上界 (Variance Bound)</a:t>
            </a:r>
            <a:endParaRPr lang="en-US" sz="1100"/>
          </a:p>
        </p:txBody>
      </p:sp>
      <p:sp>
        <p:nvSpPr>
          <p:cNvPr name="AutoShape 15" id="15"/>
          <p:cNvSpPr/>
          <p:nvPr/>
        </p:nvSpPr>
        <p:spPr>
          <a:xfrm rot="0" flipH="false" flipV="false">
            <a:off x="1333500" y="34798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700">
                <a:solidFill>
                  <a:srgbClr val="374151"/>
                </a:solidFill>
                <a:latin typeface="Times New Roman"/>
                <a:ea typeface="Times New Roman"/>
                <a:cs typeface="Times New Roman"/>
                <a:sym typeface="Times New Roman"/>
              </a:rPr>
              <a:t>E[‖vₜ−∇f(xₜ₋₁)‖²] ≤ 4L[f(xₜ₋₁)−f(x*)+f(x̃)−f(x*)]</a:t>
            </a:r>
            <a:endParaRPr lang="en-US" sz="1100"/>
          </a:p>
        </p:txBody>
      </p:sp>
      <p:sp>
        <p:nvSpPr>
          <p:cNvPr name="AutoShape 16" id="16"/>
          <p:cNvSpPr/>
          <p:nvPr/>
        </p:nvSpPr>
        <p:spPr>
          <a:xfrm rot="0" flipH="false" flipV="false">
            <a:off x="508000" y="4241800"/>
            <a:ext cx="5461000" cy="1168400"/>
          </a:xfrm>
          <a:prstGeom prst="roundRect">
            <a:avLst>
              <a:gd name="adj" fmla="val 0"/>
            </a:avLst>
          </a:prstGeom>
          <a:solidFill>
            <a:srgbClr val="1B4332">
              <a:alpha val="4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98500" y="44450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98500" y="44450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03</a:t>
            </a:r>
            <a:endParaRPr lang="en-US" sz="1100"/>
          </a:p>
        </p:txBody>
      </p:sp>
      <p:sp>
        <p:nvSpPr>
          <p:cNvPr name="AutoShape 19" id="19"/>
          <p:cNvSpPr/>
          <p:nvPr/>
        </p:nvSpPr>
        <p:spPr>
          <a:xfrm rot="0" flipH="false" flipV="false">
            <a:off x="1333500" y="43942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强凸性下界 (Strong Convexity)</a:t>
            </a:r>
            <a:endParaRPr lang="en-US" sz="1100"/>
          </a:p>
        </p:txBody>
      </p:sp>
      <p:sp>
        <p:nvSpPr>
          <p:cNvPr name="AutoShape 20" id="20"/>
          <p:cNvSpPr/>
          <p:nvPr/>
        </p:nvSpPr>
        <p:spPr>
          <a:xfrm rot="0" flipH="false" flipV="false">
            <a:off x="1333500" y="47752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700">
                <a:solidFill>
                  <a:srgbClr val="374151"/>
                </a:solidFill>
                <a:latin typeface="Times New Roman"/>
                <a:ea typeface="Times New Roman"/>
                <a:cs typeface="Times New Roman"/>
                <a:sym typeface="Times New Roman"/>
              </a:rPr>
              <a:t>⟨x−x*, ∇f(x)⟩ ≥ f(x) − f(x*) + (μ/2)‖x−x*‖²</a:t>
            </a:r>
            <a:endParaRPr lang="en-US" sz="1100"/>
          </a:p>
        </p:txBody>
      </p:sp>
      <p:sp>
        <p:nvSpPr>
          <p:cNvPr name="AutoShape 21" id="21"/>
          <p:cNvSpPr/>
          <p:nvPr/>
        </p:nvSpPr>
        <p:spPr>
          <a:xfrm rot="0" flipH="false" flipV="false">
            <a:off x="6223000" y="1651000"/>
            <a:ext cx="5461000" cy="1168400"/>
          </a:xfrm>
          <a:prstGeom prst="roundRect">
            <a:avLst>
              <a:gd name="adj" fmla="val 0"/>
            </a:avLst>
          </a:prstGeom>
          <a:solidFill>
            <a:srgbClr val="1B4332">
              <a:alpha val="4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13500" y="18542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13500" y="18542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04</a:t>
            </a:r>
            <a:endParaRPr lang="en-US" sz="1100"/>
          </a:p>
        </p:txBody>
      </p:sp>
      <p:sp>
        <p:nvSpPr>
          <p:cNvPr name="AutoShape 24" id="24"/>
          <p:cNvSpPr/>
          <p:nvPr/>
        </p:nvSpPr>
        <p:spPr>
          <a:xfrm rot="0" flipH="false" flipV="false">
            <a:off x="7048500" y="1803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L-光滑性上界 (Lipschitz Smoothness)</a:t>
            </a:r>
            <a:endParaRPr lang="en-US" sz="1100"/>
          </a:p>
        </p:txBody>
      </p:sp>
      <p:sp>
        <p:nvSpPr>
          <p:cNvPr name="AutoShape 25" id="25"/>
          <p:cNvSpPr/>
          <p:nvPr/>
        </p:nvSpPr>
        <p:spPr>
          <a:xfrm rot="0" flipH="false" flipV="false">
            <a:off x="7048500" y="21844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700">
                <a:solidFill>
                  <a:srgbClr val="374151"/>
                </a:solidFill>
                <a:latin typeface="Times New Roman"/>
                <a:ea typeface="Times New Roman"/>
                <a:cs typeface="Times New Roman"/>
                <a:sym typeface="Times New Roman"/>
              </a:rPr>
              <a:t>f(y) ≤ f(x) + ⟨∇f(x), y−x⟩ + (L/2)‖y−x‖²</a:t>
            </a:r>
            <a:endParaRPr lang="en-US" sz="1100"/>
          </a:p>
        </p:txBody>
      </p:sp>
      <p:sp>
        <p:nvSpPr>
          <p:cNvPr name="AutoShape 26" id="26"/>
          <p:cNvSpPr/>
          <p:nvPr/>
        </p:nvSpPr>
        <p:spPr>
          <a:xfrm rot="0" flipH="false" flipV="false">
            <a:off x="6223000" y="2946400"/>
            <a:ext cx="5461000" cy="1168400"/>
          </a:xfrm>
          <a:prstGeom prst="roundRect">
            <a:avLst>
              <a:gd name="adj" fmla="val 0"/>
            </a:avLst>
          </a:prstGeom>
          <a:solidFill>
            <a:srgbClr val="1B4332">
              <a:alpha val="4000"/>
            </a:srgbClr>
          </a:solidFill>
          <a:ln w="12700" cmpd="sng" cap="flat">
            <a:solidFill>
              <a:srgbClr val="1B4332">
                <a:alpha val="1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413500" y="31496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413500" y="31496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05</a:t>
            </a:r>
            <a:endParaRPr lang="en-US" sz="1100"/>
          </a:p>
        </p:txBody>
      </p:sp>
      <p:sp>
        <p:nvSpPr>
          <p:cNvPr name="AutoShape 29" id="29"/>
          <p:cNvSpPr/>
          <p:nvPr/>
        </p:nvSpPr>
        <p:spPr>
          <a:xfrm rot="0" flipH="false" flipV="false">
            <a:off x="7048500" y="30988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方差分解恒等式 (Variance Decomposition)</a:t>
            </a:r>
            <a:endParaRPr lang="en-US" sz="1100"/>
          </a:p>
        </p:txBody>
      </p:sp>
      <p:sp>
        <p:nvSpPr>
          <p:cNvPr name="AutoShape 30" id="30"/>
          <p:cNvSpPr/>
          <p:nvPr/>
        </p:nvSpPr>
        <p:spPr>
          <a:xfrm rot="0" flipH="false" flipV="false">
            <a:off x="7048500" y="34798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700">
                <a:solidFill>
                  <a:srgbClr val="374151"/>
                </a:solidFill>
                <a:latin typeface="Times New Roman"/>
                <a:ea typeface="Times New Roman"/>
                <a:cs typeface="Times New Roman"/>
                <a:sym typeface="Times New Roman"/>
              </a:rPr>
              <a:t>E‖vₜ‖² = ‖∇f(xₜ₋₁)‖² + E‖vₜ−∇f(xₜ₋₁)‖²</a:t>
            </a:r>
            <a:endParaRPr lang="en-US" sz="1100"/>
          </a:p>
        </p:txBody>
      </p:sp>
      <p:sp>
        <p:nvSpPr>
          <p:cNvPr name="AutoShape 31" id="31"/>
          <p:cNvSpPr/>
          <p:nvPr/>
        </p:nvSpPr>
        <p:spPr>
          <a:xfrm rot="0" flipH="false" flipV="false">
            <a:off x="6223000" y="4241800"/>
            <a:ext cx="5461000" cy="1168400"/>
          </a:xfrm>
          <a:prstGeom prst="roundRect">
            <a:avLst>
              <a:gd name="adj" fmla="val 0"/>
            </a:avLst>
          </a:prstGeom>
          <a:solidFill>
            <a:srgbClr val="D4AF37">
              <a:alpha val="8000"/>
            </a:srgbClr>
          </a:solidFill>
          <a:ln w="12700" cmpd="sng" cap="flat">
            <a:solidFill>
              <a:srgbClr val="D4AF37">
                <a:alpha val="2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413500" y="4445000"/>
            <a:ext cx="457200" cy="457200"/>
          </a:xfrm>
          <a:prstGeom prst="ellipse">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413500" y="44450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a:t>
            </a:r>
            <a:endParaRPr lang="en-US" sz="1100"/>
          </a:p>
        </p:txBody>
      </p:sp>
      <p:sp>
        <p:nvSpPr>
          <p:cNvPr name="AutoShape 34" id="34"/>
          <p:cNvSpPr/>
          <p:nvPr/>
        </p:nvSpPr>
        <p:spPr>
          <a:xfrm rot="0" flipH="false" flipV="false">
            <a:off x="7048500" y="43942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A67C00"/>
                </a:solidFill>
                <a:latin typeface="Noto Sans SC"/>
                <a:ea typeface="Noto Sans SC"/>
                <a:cs typeface="Noto Sans SC"/>
                <a:sym typeface="Noto Sans SC"/>
              </a:rPr>
              <a:t>证明核心逻辑</a:t>
            </a:r>
            <a:endParaRPr lang="en-US" sz="1100"/>
          </a:p>
        </p:txBody>
      </p:sp>
      <p:sp>
        <p:nvSpPr>
          <p:cNvPr name="AutoShape 35" id="35"/>
          <p:cNvSpPr/>
          <p:nvPr/>
        </p:nvSpPr>
        <p:spPr>
          <a:xfrm rot="0" flipH="false" flipV="false">
            <a:off x="7048500" y="47752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05050"/>
                </a:solidFill>
                <a:latin typeface="Noto Sans SC"/>
                <a:ea typeface="Noto Sans SC"/>
                <a:cs typeface="Noto Sans SC"/>
                <a:sym typeface="Noto Sans SC"/>
              </a:rPr>
              <a:t>将随机梯度的期望平方展开，结合无偏性与方差界，利用强凸性与光滑性将误差转化为函数值的下降量。</a:t>
            </a:r>
            <a:endParaRPr lang="en-US" sz="1100"/>
          </a:p>
        </p:txBody>
      </p:sp>
      <p:sp>
        <p:nvSpPr>
          <p:cNvPr name="AutoShape 36" id="36"/>
          <p:cNvSpPr/>
          <p:nvPr/>
        </p:nvSpPr>
        <p:spPr>
          <a:xfrm rot="0" flipH="false" flipV="false">
            <a:off x="508000" y="5588000"/>
            <a:ext cx="11176000" cy="762000"/>
          </a:xfrm>
          <a:prstGeom prst="roundRect">
            <a:avLst>
              <a:gd name="adj" fmla="val 0"/>
            </a:avLst>
          </a:prstGeom>
          <a:solidFill>
            <a:srgbClr val="1B4332">
              <a:alpha val="8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35000" y="5689600"/>
            <a:ext cx="1092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B4332"/>
                </a:solidFill>
                <a:latin typeface="Noto Sans SC"/>
                <a:ea typeface="Noto Sans SC"/>
                <a:cs typeface="Noto Sans SC"/>
                <a:sym typeface="Noto Sans SC"/>
              </a:rPr>
              <a:t>💡 总结：</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151"/>
                </a:solidFill>
                <a:latin typeface="Noto Sans SC"/>
                <a:ea typeface="Noto Sans SC"/>
                <a:cs typeface="Noto Sans SC"/>
                <a:sym typeface="Noto Sans SC"/>
              </a:rPr>
              <a:t>这五个不等式是随机梯度下降（SGD）收敛性分析的“五件套”，它们共同构建了从随机性到确定性收敛速率的桥梁，缺一不可。</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4445000"/>
            <a:ext cx="3810000" cy="381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635000"/>
            <a:ext cx="2540000" cy="2540000"/>
          </a:xfrm>
          <a:prstGeom prst="ellipse">
            <a:avLst/>
          </a:prstGeom>
          <a:solidFill>
            <a:srgbClr val="D4AF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为什么 SVRG 能线性收敛？</a:t>
            </a:r>
            <a:endParaRPr lang="en-US" sz="1100"/>
          </a:p>
        </p:txBody>
      </p:sp>
      <p:sp>
        <p:nvSpPr>
          <p:cNvPr name="AutoShape 5" id="5"/>
          <p:cNvSpPr/>
          <p:nvPr/>
        </p:nvSpPr>
        <p:spPr>
          <a:xfrm rot="0" flipH="false" flipV="false">
            <a:off x="508000" y="1206500"/>
            <a:ext cx="1016000" cy="508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11176000" cy="1397000"/>
          </a:xfrm>
          <a:prstGeom prst="roundRect">
            <a:avLst>
              <a:gd name="adj" fmla="val 0"/>
            </a:avLst>
          </a:prstGeom>
          <a:solidFill>
            <a:srgbClr val="FBF5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841500"/>
            <a:ext cx="10668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800">
                <a:solidFill>
                  <a:srgbClr val="333333"/>
                </a:solidFill>
                <a:latin typeface="Noto Sans SC"/>
                <a:ea typeface="Noto Sans SC"/>
                <a:cs typeface="Noto Sans SC"/>
                <a:sym typeface="Noto Sans SC"/>
              </a:rPr>
              <a:t>强凸性赋予目标函数“向心引力”，确保每步更新都朝向最优解；L-光滑性约束梯度变化幅度，防止步长过大导致震荡；而 SVRG 的方差缩减机制让随机噪声随迭代逐渐消失。三者协同作用，最终实现了与全梯度下降（GD）一致的线性收敛速率，且每步计算成本仅为 O(n) 分之一。</a:t>
            </a:r>
            <a:endParaRPr lang="en-US" sz="1100"/>
          </a:p>
        </p:txBody>
      </p:sp>
      <p:sp>
        <p:nvSpPr>
          <p:cNvPr name="AutoShape 8" id="8"/>
          <p:cNvSpPr/>
          <p:nvPr/>
        </p:nvSpPr>
        <p:spPr>
          <a:xfrm rot="0" flipH="false" flipV="false">
            <a:off x="508000" y="3302000"/>
            <a:ext cx="3556000" cy="1905000"/>
          </a:xfrm>
          <a:prstGeom prst="roundRect">
            <a:avLst>
              <a:gd name="adj" fmla="val 0"/>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98500" y="34925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98500" y="34925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1</a:t>
            </a:r>
            <a:endParaRPr lang="en-US" sz="1100"/>
          </a:p>
        </p:txBody>
      </p:sp>
      <p:sp>
        <p:nvSpPr>
          <p:cNvPr name="AutoShape 11" id="11"/>
          <p:cNvSpPr/>
          <p:nvPr/>
        </p:nvSpPr>
        <p:spPr>
          <a:xfrm rot="0" flipH="false" flipV="false">
            <a:off x="1270000" y="3530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无偏性：方向的锚点</a:t>
            </a:r>
            <a:endParaRPr lang="en-US" sz="1100"/>
          </a:p>
        </p:txBody>
      </p:sp>
      <p:sp>
        <p:nvSpPr>
          <p:cNvPr name="AutoShape 12" id="12"/>
          <p:cNvSpPr/>
          <p:nvPr/>
        </p:nvSpPr>
        <p:spPr>
          <a:xfrm rot="0" flipH="false" flipV="false">
            <a:off x="698500" y="4064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555555"/>
                </a:solidFill>
                <a:latin typeface="Noto Sans SC"/>
                <a:ea typeface="Noto Sans SC"/>
                <a:cs typeface="Noto Sans SC"/>
                <a:sym typeface="Noto Sans SC"/>
              </a:rPr>
              <a:t>消除随机梯度的系统性偏差，保证梯度估计的数学期望等于真实梯度。这意味着算法不会因为偏差积累而“跑偏”，始终围绕最优方向进行探索。</a:t>
            </a:r>
            <a:endParaRPr lang="en-US" sz="1100"/>
          </a:p>
        </p:txBody>
      </p:sp>
      <p:sp>
        <p:nvSpPr>
          <p:cNvPr name="AutoShape 13" id="13"/>
          <p:cNvSpPr/>
          <p:nvPr/>
        </p:nvSpPr>
        <p:spPr>
          <a:xfrm rot="0" flipH="false" flipV="false">
            <a:off x="4318000" y="3302000"/>
            <a:ext cx="3556000" cy="1905000"/>
          </a:xfrm>
          <a:prstGeom prst="roundRect">
            <a:avLst>
              <a:gd name="adj" fmla="val 0"/>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08500" y="34925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508500" y="34925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2</a:t>
            </a:r>
            <a:endParaRPr lang="en-US" sz="1100"/>
          </a:p>
        </p:txBody>
      </p:sp>
      <p:sp>
        <p:nvSpPr>
          <p:cNvPr name="AutoShape 16" id="16"/>
          <p:cNvSpPr/>
          <p:nvPr/>
        </p:nvSpPr>
        <p:spPr>
          <a:xfrm rot="0" flipH="false" flipV="false">
            <a:off x="5080000" y="3530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方差界：噪声的衰减</a:t>
            </a:r>
            <a:endParaRPr lang="en-US" sz="1100"/>
          </a:p>
        </p:txBody>
      </p:sp>
      <p:sp>
        <p:nvSpPr>
          <p:cNvPr name="AutoShape 17" id="17"/>
          <p:cNvSpPr/>
          <p:nvPr/>
        </p:nvSpPr>
        <p:spPr>
          <a:xfrm rot="0" flipH="false" flipV="false">
            <a:off x="4508500" y="4064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555555"/>
                </a:solidFill>
                <a:latin typeface="Noto Sans SC"/>
                <a:ea typeface="Noto Sans SC"/>
                <a:cs typeface="Noto Sans SC"/>
                <a:sym typeface="Noto Sans SC"/>
              </a:rPr>
              <a:t>通过引入周期性的全梯度计算来修正偏差，使得随机梯度的方差不再是常数，而是与当前点到最优解的距离挂钩，随着迭代推进，噪声项会自动消失。</a:t>
            </a:r>
            <a:endParaRPr lang="en-US" sz="1100"/>
          </a:p>
        </p:txBody>
      </p:sp>
      <p:sp>
        <p:nvSpPr>
          <p:cNvPr name="AutoShape 18" id="18"/>
          <p:cNvSpPr/>
          <p:nvPr/>
        </p:nvSpPr>
        <p:spPr>
          <a:xfrm rot="0" flipH="false" flipV="false">
            <a:off x="8128000" y="3302000"/>
            <a:ext cx="3556000" cy="1905000"/>
          </a:xfrm>
          <a:prstGeom prst="roundRect">
            <a:avLst>
              <a:gd name="adj" fmla="val 0"/>
            </a:avLst>
          </a:prstGeom>
          <a:solidFill>
            <a:srgbClr val="1B4332">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318500" y="3492500"/>
            <a:ext cx="457200" cy="457200"/>
          </a:xfrm>
          <a:prstGeom prst="ellipse">
            <a:avLst/>
          </a:prstGeom>
          <a:solidFill>
            <a:srgbClr val="1B43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18500" y="3492500"/>
            <a:ext cx="4572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3</a:t>
            </a:r>
            <a:endParaRPr lang="en-US" sz="1100"/>
          </a:p>
        </p:txBody>
      </p:sp>
      <p:sp>
        <p:nvSpPr>
          <p:cNvPr name="AutoShape 21" id="21"/>
          <p:cNvSpPr/>
          <p:nvPr/>
        </p:nvSpPr>
        <p:spPr>
          <a:xfrm rot="0" flipH="false" flipV="false">
            <a:off x="8890000" y="3530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强凸 + 光滑：收敛的基石</a:t>
            </a:r>
            <a:endParaRPr lang="en-US" sz="1100"/>
          </a:p>
        </p:txBody>
      </p:sp>
      <p:sp>
        <p:nvSpPr>
          <p:cNvPr name="AutoShape 22" id="22"/>
          <p:cNvSpPr/>
          <p:nvPr/>
        </p:nvSpPr>
        <p:spPr>
          <a:xfrm rot="0" flipH="false" flipV="false">
            <a:off x="8318500" y="4064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555555"/>
                </a:solidFill>
                <a:latin typeface="Noto Sans SC"/>
                <a:ea typeface="Noto Sans SC"/>
                <a:cs typeface="Noto Sans SC"/>
                <a:sym typeface="Noto Sans SC"/>
              </a:rPr>
              <a:t>强凸性确保了目标函数具有唯一的极小值点，提供了“拉力”；L-光滑性则限制了梯度的变化率，确保步长的有效性，两者结合将函数值的下降转化为距离的线性收缩。</a:t>
            </a:r>
            <a:endParaRPr lang="en-US" sz="1100"/>
          </a:p>
        </p:txBody>
      </p:sp>
      <p:sp>
        <p:nvSpPr>
          <p:cNvPr name="AutoShape 23" id="23"/>
          <p:cNvSpPr/>
          <p:nvPr/>
        </p:nvSpPr>
        <p:spPr>
          <a:xfrm rot="0" flipH="false" flipV="false">
            <a:off x="508000" y="5461000"/>
            <a:ext cx="11176000" cy="1016000"/>
          </a:xfrm>
          <a:prstGeom prst="roundRect">
            <a:avLst>
              <a:gd name="adj" fmla="val 0"/>
            </a:avLst>
          </a:prstGeom>
          <a:solidFill>
            <a:srgbClr val="D4AF37">
              <a:alpha val="10000"/>
            </a:srgbClr>
          </a:solidFill>
          <a:ln w="12700" cmpd="sng" cap="flat">
            <a:solidFill>
              <a:srgbClr val="D4AF37">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651500"/>
            <a:ext cx="330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1B4332"/>
                </a:solidFill>
                <a:latin typeface="Noto Sans SC"/>
                <a:ea typeface="Noto Sans SC"/>
                <a:cs typeface="Noto Sans SC"/>
                <a:sym typeface="Noto Sans SC"/>
              </a:rPr>
              <a:t>无偏梯度估计</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46464"/>
                </a:solidFill>
                <a:latin typeface="Noto Sans SC"/>
                <a:ea typeface="Noto Sans SC"/>
                <a:cs typeface="Noto Sans SC"/>
                <a:sym typeface="Noto Sans SC"/>
              </a:rPr>
              <a:t>方向指引，不偏不倚</a:t>
            </a:r>
          </a:p>
        </p:txBody>
      </p:sp>
      <p:cxnSp>
        <p:nvCxnSpPr>
          <p:cNvPr name="Connector 25" id="25"/>
          <p:cNvCxnSpPr/>
          <p:nvPr/>
        </p:nvCxnSpPr>
        <p:spPr>
          <a:xfrm rot="5331254" flipH="false" flipV="false">
            <a:off x="3746500" y="59627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6" id="26"/>
          <p:cNvSpPr/>
          <p:nvPr/>
        </p:nvSpPr>
        <p:spPr>
          <a:xfrm rot="0" flipH="false" flipV="false">
            <a:off x="4318000" y="5651500"/>
            <a:ext cx="355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B48214"/>
                </a:solidFill>
                <a:latin typeface="Noto Sans SC"/>
                <a:ea typeface="Noto Sans SC"/>
                <a:cs typeface="Noto Sans SC"/>
                <a:sym typeface="Noto Sans SC"/>
              </a:rPr>
              <a:t>➔ 线性收敛速率 ➔</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46464"/>
                </a:solidFill>
                <a:latin typeface="Noto Sans SC"/>
                <a:ea typeface="Noto Sans SC"/>
                <a:cs typeface="Noto Sans SC"/>
                <a:sym typeface="Noto Sans SC"/>
              </a:rPr>
              <a:t>速度媲美全梯度下降 (GD)</a:t>
            </a:r>
          </a:p>
        </p:txBody>
      </p:sp>
      <p:cxnSp>
        <p:nvCxnSpPr>
          <p:cNvPr name="Connector 27" id="27"/>
          <p:cNvCxnSpPr/>
          <p:nvPr/>
        </p:nvCxnSpPr>
        <p:spPr>
          <a:xfrm rot="5331254" flipH="false" flipV="false">
            <a:off x="7556500" y="59627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8" id="28"/>
          <p:cNvSpPr/>
          <p:nvPr/>
        </p:nvSpPr>
        <p:spPr>
          <a:xfrm rot="0" flipH="false" flipV="false">
            <a:off x="8128000" y="5651500"/>
            <a:ext cx="330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1B4332"/>
                </a:solidFill>
                <a:latin typeface="Noto Sans SC"/>
                <a:ea typeface="Noto Sans SC"/>
                <a:cs typeface="Noto Sans SC"/>
                <a:sym typeface="Noto Sans SC"/>
              </a:rPr>
              <a:t>极低计算成本</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46464"/>
                </a:solidFill>
                <a:latin typeface="Noto Sans SC"/>
                <a:ea typeface="Noto Sans SC"/>
                <a:cs typeface="Noto Sans SC"/>
                <a:sym typeface="Noto Sans SC"/>
              </a:rPr>
              <a:t>每次迭代仅需单个样本</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1B4332">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B4332"/>
                </a:solidFill>
                <a:latin typeface="Noto Sans SC"/>
                <a:ea typeface="Noto Sans SC"/>
                <a:cs typeface="Noto Sans SC"/>
                <a:sym typeface="Noto Sans SC"/>
              </a:rPr>
              <a:t>数学证明总结</a:t>
            </a:r>
            <a:endParaRPr lang="en-US" sz="1100"/>
          </a:p>
        </p:txBody>
      </p:sp>
      <p:sp>
        <p:nvSpPr>
          <p:cNvPr name="AutoShape 5" id="5"/>
          <p:cNvSpPr/>
          <p:nvPr/>
        </p:nvSpPr>
        <p:spPr>
          <a:xfrm rot="0" flipH="false" flipV="false">
            <a:off x="508000" y="1143000"/>
            <a:ext cx="1524000" cy="381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1651000" cy="533400"/>
          </a:xfrm>
          <a:prstGeom prst="roundRect">
            <a:avLst>
              <a:gd name="adj" fmla="val 23809"/>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01 无偏性</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22500" y="1663700"/>
            <a:ext cx="254000" cy="254000"/>
          </a:xfrm>
          <a:prstGeom prst="rect">
            <a:avLst/>
          </a:prstGeom>
        </p:spPr>
      </p:pic>
      <p:sp>
        <p:nvSpPr>
          <p:cNvPr name="AutoShape 8" id="8"/>
          <p:cNvSpPr/>
          <p:nvPr/>
        </p:nvSpPr>
        <p:spPr>
          <a:xfrm rot="0" flipH="false" flipV="false">
            <a:off x="2540000" y="1524000"/>
            <a:ext cx="1651000" cy="533400"/>
          </a:xfrm>
          <a:prstGeom prst="roundRect">
            <a:avLst>
              <a:gd name="adj" fmla="val 23809"/>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02 方差界</a:t>
            </a:r>
            <a:endParaRPr lang="en-US" sz="1100"/>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254500" y="1663700"/>
            <a:ext cx="254000" cy="254000"/>
          </a:xfrm>
          <a:prstGeom prst="rect">
            <a:avLst/>
          </a:prstGeom>
        </p:spPr>
      </p:pic>
      <p:sp>
        <p:nvSpPr>
          <p:cNvPr name="AutoShape 10" id="10"/>
          <p:cNvSpPr/>
          <p:nvPr/>
        </p:nvSpPr>
        <p:spPr>
          <a:xfrm rot="0" flipH="false" flipV="false">
            <a:off x="4572000" y="1524000"/>
            <a:ext cx="1651000" cy="533400"/>
          </a:xfrm>
          <a:prstGeom prst="roundRect">
            <a:avLst>
              <a:gd name="adj" fmla="val 23809"/>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03 单步递推</a:t>
            </a:r>
            <a:endParaRPr lang="en-US" sz="1100"/>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286500" y="1663700"/>
            <a:ext cx="254000" cy="254000"/>
          </a:xfrm>
          <a:prstGeom prst="rect">
            <a:avLst/>
          </a:prstGeom>
        </p:spPr>
      </p:pic>
      <p:sp>
        <p:nvSpPr>
          <p:cNvPr name="AutoShape 12" id="12"/>
          <p:cNvSpPr/>
          <p:nvPr/>
        </p:nvSpPr>
        <p:spPr>
          <a:xfrm rot="0" flipH="false" flipV="false">
            <a:off x="6604000" y="1524000"/>
            <a:ext cx="1651000" cy="533400"/>
          </a:xfrm>
          <a:prstGeom prst="roundRect">
            <a:avLst>
              <a:gd name="adj" fmla="val 23809"/>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04 Epoch求和</a:t>
            </a:r>
            <a:endParaRPr lang="en-US" sz="1100"/>
          </a:p>
        </p:txBody>
      </p:sp>
      <p:pic>
        <p:nvPicPr>
          <p:cNvPr name="Picture 13" id="1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318500" y="1663700"/>
            <a:ext cx="254000" cy="254000"/>
          </a:xfrm>
          <a:prstGeom prst="rect">
            <a:avLst/>
          </a:prstGeom>
        </p:spPr>
      </p:pic>
      <p:sp>
        <p:nvSpPr>
          <p:cNvPr name="AutoShape 14" id="14"/>
          <p:cNvSpPr/>
          <p:nvPr/>
        </p:nvSpPr>
        <p:spPr>
          <a:xfrm rot="0" flipH="false" flipV="false">
            <a:off x="8636000" y="1524000"/>
            <a:ext cx="1651000" cy="533400"/>
          </a:xfrm>
          <a:prstGeom prst="roundRect">
            <a:avLst>
              <a:gd name="adj" fmla="val 23809"/>
            </a:avLst>
          </a:prstGeom>
          <a:solidFill>
            <a:srgbClr val="1B433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05 线性收敛</a:t>
            </a:r>
            <a:endParaRPr lang="en-US" sz="1100"/>
          </a:p>
        </p:txBody>
      </p:sp>
      <p:sp>
        <p:nvSpPr>
          <p:cNvPr name="AutoShape 15" id="15"/>
          <p:cNvSpPr/>
          <p:nvPr/>
        </p:nvSpPr>
        <p:spPr>
          <a:xfrm rot="0" flipH="false" flipV="false">
            <a:off x="508000" y="2413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三个必须记住的核心公式</a:t>
            </a:r>
            <a:endParaRPr lang="en-US" sz="1100"/>
          </a:p>
        </p:txBody>
      </p:sp>
      <p:sp>
        <p:nvSpPr>
          <p:cNvPr name="AutoShape 16" id="16"/>
          <p:cNvSpPr/>
          <p:nvPr/>
        </p:nvSpPr>
        <p:spPr>
          <a:xfrm rot="0" flipH="false" flipV="false">
            <a:off x="508000" y="2857500"/>
            <a:ext cx="3556000" cy="1206500"/>
          </a:xfrm>
          <a:prstGeom prst="roundRect">
            <a:avLst>
              <a:gd name="adj" fmla="val 0"/>
            </a:avLst>
          </a:prstGeom>
          <a:solidFill>
            <a:srgbClr val="1B4332">
              <a:alpha val="6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5000" y="29464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D4AF37"/>
                </a:solidFill>
                <a:latin typeface="Noto Sans SC"/>
                <a:ea typeface="Noto Sans SC"/>
                <a:cs typeface="Noto Sans SC"/>
                <a:sym typeface="Noto Sans SC"/>
              </a:rPr>
              <a:t>01 梯度估计校正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800">
                <a:solidFill>
                  <a:srgbClr val="333333"/>
                </a:solidFill>
                <a:latin typeface="Times New Roman"/>
                <a:ea typeface="Times New Roman"/>
                <a:cs typeface="Times New Roman"/>
                <a:sym typeface="Times New Roman"/>
              </a:rPr>
              <a:t>vₜ = ∇fᵢ(x) − ∇fᵢ(x̃) + ∇f(x̃)</a:t>
            </a:r>
            <a:r>
              <a:rPr lang="en-US" b="false" i="false" strike="noStrike" u="none" sz="16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646464"/>
                </a:solidFill>
                <a:latin typeface="Noto Sans SC"/>
                <a:ea typeface="Noto Sans SC"/>
                <a:cs typeface="Noto Sans SC"/>
                <a:sym typeface="Noto Sans SC"/>
              </a:rPr>
              <a:t>偏差校正的核心表达式，消除局部采样误差</a:t>
            </a:r>
          </a:p>
        </p:txBody>
      </p:sp>
      <p:sp>
        <p:nvSpPr>
          <p:cNvPr name="AutoShape 18" id="18"/>
          <p:cNvSpPr/>
          <p:nvPr/>
        </p:nvSpPr>
        <p:spPr>
          <a:xfrm rot="0" flipH="false" flipV="false">
            <a:off x="4318000" y="2857500"/>
            <a:ext cx="3556000" cy="1206500"/>
          </a:xfrm>
          <a:prstGeom prst="roundRect">
            <a:avLst>
              <a:gd name="adj" fmla="val 0"/>
            </a:avLst>
          </a:prstGeom>
          <a:solidFill>
            <a:srgbClr val="1B4332">
              <a:alpha val="6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445000" y="29464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D4AF37"/>
                </a:solidFill>
                <a:latin typeface="Noto Sans SC"/>
                <a:ea typeface="Noto Sans SC"/>
                <a:cs typeface="Noto Sans SC"/>
                <a:sym typeface="Noto Sans SC"/>
              </a:rPr>
              <a:t>02 关键方差上界</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800">
                <a:solidFill>
                  <a:srgbClr val="333333"/>
                </a:solidFill>
                <a:latin typeface="Times New Roman"/>
                <a:ea typeface="Times New Roman"/>
                <a:cs typeface="Times New Roman"/>
                <a:sym typeface="Times New Roman"/>
              </a:rPr>
              <a:t>E[‖vₜ−∇f(x)‖²] ≤ 4LΔ</a:t>
            </a:r>
            <a:r>
              <a:rPr lang="en-US" b="false" i="false" strike="noStrike" u="none" sz="16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646464"/>
                </a:solidFill>
                <a:latin typeface="Noto Sans SC"/>
                <a:ea typeface="Noto Sans SC"/>
                <a:cs typeface="Noto Sans SC"/>
                <a:sym typeface="Noto Sans SC"/>
              </a:rPr>
              <a:t>将方差与函数值差距关联，证明收敛的关键不等式</a:t>
            </a:r>
          </a:p>
        </p:txBody>
      </p:sp>
      <p:sp>
        <p:nvSpPr>
          <p:cNvPr name="AutoShape 20" id="20"/>
          <p:cNvSpPr/>
          <p:nvPr/>
        </p:nvSpPr>
        <p:spPr>
          <a:xfrm rot="0" flipH="false" flipV="false">
            <a:off x="8128000" y="2857500"/>
            <a:ext cx="3556000" cy="1206500"/>
          </a:xfrm>
          <a:prstGeom prst="roundRect">
            <a:avLst>
              <a:gd name="adj" fmla="val 0"/>
            </a:avLst>
          </a:prstGeom>
          <a:solidFill>
            <a:srgbClr val="1B4332">
              <a:alpha val="6000"/>
            </a:srgbClr>
          </a:solidFill>
          <a:ln w="12700" cmpd="sng" cap="flat">
            <a:solidFill>
              <a:srgbClr val="1B433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255000" y="29464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D4AF37"/>
                </a:solidFill>
                <a:latin typeface="Noto Sans SC"/>
                <a:ea typeface="Noto Sans SC"/>
                <a:cs typeface="Noto Sans SC"/>
                <a:sym typeface="Noto Sans SC"/>
              </a:rPr>
              <a:t>03 最终复杂度</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800">
                <a:solidFill>
                  <a:srgbClr val="333333"/>
                </a:solidFill>
                <a:latin typeface="Times New Roman"/>
                <a:ea typeface="Times New Roman"/>
                <a:cs typeface="Times New Roman"/>
                <a:sym typeface="Times New Roman"/>
              </a:rPr>
              <a:t>Complexity = O((n+κ)log(1/ε))</a:t>
            </a:r>
            <a:r>
              <a:rPr lang="en-US" b="false" i="false" strike="noStrike" u="none" sz="16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646464"/>
                </a:solidFill>
                <a:latin typeface="Noto Sans SC"/>
                <a:ea typeface="Noto Sans SC"/>
                <a:cs typeface="Noto Sans SC"/>
                <a:sym typeface="Noto Sans SC"/>
              </a:rPr>
              <a:t>体现了数据量n与条件数κ对收敛速度的影响</a:t>
            </a:r>
          </a:p>
        </p:txBody>
      </p:sp>
      <p:sp>
        <p:nvSpPr>
          <p:cNvPr name="AutoShape 22" id="22"/>
          <p:cNvSpPr/>
          <p:nvPr/>
        </p:nvSpPr>
        <p:spPr>
          <a:xfrm rot="0" flipH="false" flipV="false">
            <a:off x="508000" y="4191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B4332"/>
                </a:solidFill>
                <a:latin typeface="Noto Sans SC"/>
                <a:ea typeface="Noto Sans SC"/>
                <a:cs typeface="Noto Sans SC"/>
                <a:sym typeface="Noto Sans SC"/>
              </a:rPr>
              <a:t>证明中最容易被忽略的细节</a:t>
            </a:r>
            <a:endParaRPr lang="en-US" sz="1100"/>
          </a:p>
        </p:txBody>
      </p:sp>
      <p:sp>
        <p:nvSpPr>
          <p:cNvPr name="AutoShape 23" id="23"/>
          <p:cNvSpPr/>
          <p:nvPr/>
        </p:nvSpPr>
        <p:spPr>
          <a:xfrm rot="0" flipH="false" flipV="false">
            <a:off x="508000" y="4635500"/>
            <a:ext cx="3556000" cy="1143000"/>
          </a:xfrm>
          <a:prstGeom prst="roundRect">
            <a:avLst>
              <a:gd name="adj" fmla="val 0"/>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 y="4762500"/>
            <a:ext cx="304800" cy="304800"/>
          </a:xfrm>
          <a:prstGeom prst="rect">
            <a:avLst/>
          </a:prstGeom>
        </p:spPr>
      </p:pic>
      <p:sp>
        <p:nvSpPr>
          <p:cNvPr name="AutoShape 25" id="25"/>
          <p:cNvSpPr/>
          <p:nvPr/>
        </p:nvSpPr>
        <p:spPr>
          <a:xfrm rot="0" flipH="false" flipV="false">
            <a:off x="1041400" y="4724400"/>
            <a:ext cx="2984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加权平均的作用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输出是内循环的加权平均而非最后迭代值，这一操作有效平滑了随机梯度的波动，是保证收敛的关键。</a:t>
            </a:r>
          </a:p>
        </p:txBody>
      </p:sp>
      <p:sp>
        <p:nvSpPr>
          <p:cNvPr name="AutoShape 26" id="26"/>
          <p:cNvSpPr/>
          <p:nvPr/>
        </p:nvSpPr>
        <p:spPr>
          <a:xfrm rot="0" flipH="false" flipV="false">
            <a:off x="4318000" y="4635500"/>
            <a:ext cx="3556000" cy="1143000"/>
          </a:xfrm>
          <a:prstGeom prst="roundRect">
            <a:avLst>
              <a:gd name="adj" fmla="val 0"/>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470400" y="4762500"/>
            <a:ext cx="304800" cy="304800"/>
          </a:xfrm>
          <a:prstGeom prst="rect">
            <a:avLst/>
          </a:prstGeom>
        </p:spPr>
      </p:pic>
      <p:sp>
        <p:nvSpPr>
          <p:cNvPr name="AutoShape 28" id="28"/>
          <p:cNvSpPr/>
          <p:nvPr/>
        </p:nvSpPr>
        <p:spPr>
          <a:xfrm rot="0" flipH="false" flipV="false">
            <a:off x="4851400" y="4724400"/>
            <a:ext cx="2984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常数项的方差处理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∇f(x̃) 在期望计算中视为常数，不贡献方差项，这是简化期望展开与方差界推导的核心技巧。</a:t>
            </a:r>
          </a:p>
        </p:txBody>
      </p:sp>
      <p:sp>
        <p:nvSpPr>
          <p:cNvPr name="AutoShape 29" id="29"/>
          <p:cNvSpPr/>
          <p:nvPr/>
        </p:nvSpPr>
        <p:spPr>
          <a:xfrm rot="0" flipH="false" flipV="false">
            <a:off x="8128000" y="4635500"/>
            <a:ext cx="3556000" cy="1143000"/>
          </a:xfrm>
          <a:prstGeom prst="roundRect">
            <a:avLst>
              <a:gd name="adj" fmla="val 0"/>
            </a:avLst>
          </a:prstGeom>
          <a:solidFill>
            <a:srgbClr val="D4AF37">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280400" y="4762500"/>
            <a:ext cx="304800" cy="304800"/>
          </a:xfrm>
          <a:prstGeom prst="rect">
            <a:avLst/>
          </a:prstGeom>
        </p:spPr>
      </p:pic>
      <p:sp>
        <p:nvSpPr>
          <p:cNvPr name="AutoShape 31" id="31"/>
          <p:cNvSpPr/>
          <p:nvPr/>
        </p:nvSpPr>
        <p:spPr>
          <a:xfrm rot="0" flipH="false" flipV="false">
            <a:off x="8661400" y="4724400"/>
            <a:ext cx="2984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收缩因子的吸收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方差界中的 f(x̃)−f(x*) 项会被epoch更新的收缩因子所吸收，直接决定了线性收敛速率的衰减系数。</a:t>
            </a:r>
          </a:p>
        </p:txBody>
      </p:sp>
      <p:sp>
        <p:nvSpPr>
          <p:cNvPr name="AutoShape 32" id="32"/>
          <p:cNvSpPr/>
          <p:nvPr/>
        </p:nvSpPr>
        <p:spPr>
          <a:xfrm rot="0" flipH="false" flipV="false">
            <a:off x="0" y="5969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B4332"/>
                </a:solidFill>
                <a:latin typeface="Noto Sans SC"/>
                <a:ea typeface="Noto Sans SC"/>
                <a:cs typeface="Noto Sans SC"/>
                <a:sym typeface="Noto Sans SC"/>
              </a:rPr>
              <a:t>Q &amp; A</a:t>
            </a:r>
            <a:endParaRPr lang="en-US" sz="1100"/>
          </a:p>
        </p:txBody>
      </p:sp>
      <p:sp>
        <p:nvSpPr>
          <p:cNvPr name="AutoShape 33" id="33"/>
          <p:cNvSpPr/>
          <p:nvPr/>
        </p:nvSpPr>
        <p:spPr>
          <a:xfrm rot="0" flipH="false" flipV="false">
            <a:off x="0" y="6413500"/>
            <a:ext cx="12192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888888"/>
                </a:solidFill>
                <a:latin typeface="Noto Sans SC"/>
                <a:ea typeface="Noto Sans SC"/>
                <a:cs typeface="Noto Sans SC"/>
                <a:sym typeface="Noto Sans SC"/>
              </a:rPr>
              <a:t>感谢聆听，欢迎提问与讨论</a:t>
            </a:r>
            <a:endParaRPr lang="en-US" sz="1100"/>
          </a:p>
        </p:txBody>
      </p:sp>
      <p:pic>
        <p:nvPicPr>
          <p:cNvPr name="Picture 34" id="34"/>
          <p:cNvPicPr>
            <a:picLocks noChangeAspect="true"/>
          </p:cNvPicPr>
          <p:nvPr/>
        </p:nvPicPr>
        <p:blipFill>
          <a:blip r:embed="rId11"/>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{"Label":"1","ContentProducer":"001191110102MACQD9K64010000","ProduceID":"7685798535790644418","ReservedCode1":"","ContentPropagator":"","PropagateID":"","ReservedCode2":""}</vt:lpwstr>
  </property>
</Properties>
</file>