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media/image11.svg" ContentType="image/svg+xml"/>
  <Override PartName="/ppt/media/image13.svg" ContentType="image/svg+xml"/>
  <Override PartName="/ppt/media/image16.svg" ContentType="image/svg+xml"/>
  <Override PartName="/ppt/media/image18.svg" ContentType="image/svg+xml"/>
  <Override PartName="/ppt/media/image23.svg" ContentType="image/svg+xml"/>
  <Override PartName="/ppt/media/image26.svg" ContentType="image/svg+xml"/>
  <Override PartName="/ppt/media/image30.svg" ContentType="image/svg+xml"/>
  <Override PartName="/ppt/media/image33.svg" ContentType="image/svg+xml"/>
  <Override PartName="/ppt/media/image35.svg" ContentType="image/svg+xml"/>
  <Override PartName="/ppt/media/image4.svg" ContentType="image/svg+xml"/>
  <Override PartName="/ppt/media/image44.svg" ContentType="image/svg+xml"/>
  <Override PartName="/ppt/media/image47.svg" ContentType="image/svg+xml"/>
  <Override PartName="/ppt/media/image6.svg" ContentType="image/svg+xml"/>
  <Override PartName="/ppt/media/image71.svg" ContentType="image/svg+xml"/>
  <Override PartName="/ppt/media/image73.svg" ContentType="image/svg+xml"/>
  <Override PartName="/ppt/media/image75.svg" ContentType="image/svg+xml"/>
  <Override PartName="/ppt/media/image77.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 id="2147483666" r:id="rId6"/>
    <p:sldMasterId id="2147483668" r:id="rId7"/>
    <p:sldMasterId id="2147483670" r:id="rId8"/>
  </p:sldMasterIdLst>
  <p:notesMasterIdLst>
    <p:notesMasterId r:id="rId10"/>
  </p:notesMasterIdLst>
  <p:sldIdLst>
    <p:sldId id="256" r:id="rId9"/>
    <p:sldId id="258" r:id="rId11"/>
    <p:sldId id="259" r:id="rId12"/>
    <p:sldId id="260" r:id="rId13"/>
    <p:sldId id="263" r:id="rId14"/>
    <p:sldId id="264" r:id="rId15"/>
    <p:sldId id="265" r:id="rId16"/>
    <p:sldId id="272" r:id="rId17"/>
    <p:sldId id="262" r:id="rId18"/>
    <p:sldId id="276" r:id="rId19"/>
    <p:sldId id="273" r:id="rId20"/>
    <p:sldId id="274" r:id="rId21"/>
    <p:sldId id="275" r:id="rId22"/>
    <p:sldId id="266" r:id="rId23"/>
    <p:sldId id="267" r:id="rId24"/>
    <p:sldId id="268" r:id="rId25"/>
    <p:sldId id="270" r:id="rId26"/>
    <p:sldId id="271" r:id="rId27"/>
    <p:sldId id="261" r:id="rId28"/>
    <p:sldId id="269" r:id="rId29"/>
    <p:sldId id="257" r:id="rId30"/>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16"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16"/>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1.xml"/><Relationship Id="rId3" Type="http://schemas.openxmlformats.org/officeDocument/2006/relationships/slideMaster" Target="slideMasters/slideMaster2.xml"/><Relationship Id="rId29" Type="http://schemas.openxmlformats.org/officeDocument/2006/relationships/slide" Target="slides/slide20.xml"/><Relationship Id="rId28" Type="http://schemas.openxmlformats.org/officeDocument/2006/relationships/slide" Target="slides/slide19.xml"/><Relationship Id="rId27" Type="http://schemas.openxmlformats.org/officeDocument/2006/relationships/slide" Target="slides/slide18.xml"/><Relationship Id="rId26" Type="http://schemas.openxmlformats.org/officeDocument/2006/relationships/slide" Target="slides/slide17.xml"/><Relationship Id="rId25" Type="http://schemas.openxmlformats.org/officeDocument/2006/relationships/slide" Target="slides/slide16.xml"/><Relationship Id="rId24" Type="http://schemas.openxmlformats.org/officeDocument/2006/relationships/slide" Target="slides/slide15.xml"/><Relationship Id="rId23" Type="http://schemas.openxmlformats.org/officeDocument/2006/relationships/slide" Target="slides/slide14.xml"/><Relationship Id="rId22" Type="http://schemas.openxmlformats.org/officeDocument/2006/relationships/slide" Target="slides/slide13.xml"/><Relationship Id="rId21" Type="http://schemas.openxmlformats.org/officeDocument/2006/relationships/slide" Target="slides/slide12.xml"/><Relationship Id="rId20" Type="http://schemas.openxmlformats.org/officeDocument/2006/relationships/slide" Target="slides/slide11.xml"/><Relationship Id="rId2" Type="http://schemas.openxmlformats.org/officeDocument/2006/relationships/theme" Target="theme/theme1.xml"/><Relationship Id="rId19" Type="http://schemas.openxmlformats.org/officeDocument/2006/relationships/slide" Target="slides/slide10.xml"/><Relationship Id="rId18" Type="http://schemas.openxmlformats.org/officeDocument/2006/relationships/slide" Target="slides/slide9.xml"/><Relationship Id="rId17" Type="http://schemas.openxmlformats.org/officeDocument/2006/relationships/slide" Target="slides/slide8.xml"/><Relationship Id="rId16" Type="http://schemas.openxmlformats.org/officeDocument/2006/relationships/slide" Target="slides/slide7.xml"/><Relationship Id="rId15" Type="http://schemas.openxmlformats.org/officeDocument/2006/relationships/slide" Target="slides/slide6.xml"/><Relationship Id="rId14" Type="http://schemas.openxmlformats.org/officeDocument/2006/relationships/slide" Target="slides/slide5.xml"/><Relationship Id="rId13" Type="http://schemas.openxmlformats.org/officeDocument/2006/relationships/slide" Target="slides/slide4.xml"/><Relationship Id="rId12" Type="http://schemas.openxmlformats.org/officeDocument/2006/relationships/slide" Target="slides/slide3.xml"/><Relationship Id="rId11" Type="http://schemas.openxmlformats.org/officeDocument/2006/relationships/slide" Target="slides/slide2.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0"/>
          <a:lstStyle/>
          <a:p>
            <a:pPr>
              <a:defRPr lang="zh-CN" sz="1400" b="1" i="0" u="none" strike="noStrike" kern="1200" spc="0" baseline="0">
                <a:solidFill>
                  <a:schemeClr val="tx1">
                    <a:lumMod val="65000"/>
                    <a:lumOff val="35000"/>
                  </a:schemeClr>
                </a:solidFill>
                <a:latin typeface="+mn-lt"/>
                <a:ea typeface="+mn-ea"/>
                <a:cs typeface="+mn-cs"/>
              </a:defRPr>
            </a:pPr>
            <a:r>
              <a:rPr lang="en-US" altLang="en-US" sz="1400" b="1" i="0" kern="0" spc="0" baseline="0">
                <a:solidFill>
                  <a:srgbClr val="374151"/>
                </a:solidFill>
              </a:rPr>
              <a:t>收敛趋势对比（对数坐标系）</a:t>
            </a:r>
            <a:endParaRPr lang="en-US" altLang="en-US" sz="1400" b="1" i="0" kern="0" spc="0" baseline="0">
              <a:solidFill>
                <a:srgbClr val="374151"/>
              </a:solidFill>
            </a:endParaRPr>
          </a:p>
        </c:rich>
      </c:tx>
      <c:layout>
        <c:manualLayout>
          <c:xMode val="edge"/>
          <c:yMode val="edge"/>
          <c:x val="0"/>
          <c:y val="0"/>
        </c:manualLayout>
      </c:layout>
      <c:overlay val="0"/>
    </c:title>
    <c:autoTitleDeleted val="0"/>
    <c:plotArea>
      <c:layout/>
      <c:lineChart>
        <c:grouping val="standard"/>
        <c:varyColors val="0"/>
        <c:ser>
          <c:idx val="0"/>
          <c:order val="0"/>
          <c:tx>
            <c:strRef>
              <c:f>GD</c:f>
              <c:strCache>
                <c:ptCount val="1"/>
                <c:pt idx="0">
                  <c:v>GD</c:v>
                </c:pt>
              </c:strCache>
            </c:strRef>
          </c:tx>
          <c:spPr>
            <a:ln w="28575" cap="rnd" cmpd="sng" algn="ctr">
              <a:solidFill>
                <a:srgbClr val="15803D">
                  <a:alpha val="100000"/>
                </a:srgbClr>
              </a:solidFill>
              <a:prstDash val="solid"/>
              <a:round/>
            </a:ln>
          </c:spPr>
          <c:marker>
            <c:symbol val="circle"/>
            <c:size val="4"/>
            <c:spPr>
              <a:solidFill>
                <a:srgbClr val="15803D"/>
              </a:solidFill>
              <a:ln w="28575" cap="flat" cmpd="sng" algn="ctr">
                <a:solidFill>
                  <a:srgbClr val="15803D">
                    <a:alpha val="100000"/>
                  </a:srgbClr>
                </a:solidFill>
                <a:prstDash val="solid"/>
                <a:round/>
              </a:ln>
            </c:spPr>
          </c:marker>
          <c:dLbls>
            <c:dLbl>
              <c:idx val="0"/>
              <c:delete val="1"/>
            </c:dLbl>
            <c:dLbl>
              <c:idx val="1"/>
              <c:delete val="1"/>
            </c:dLbl>
            <c:dLbl>
              <c:idx val="2"/>
              <c:delete val="1"/>
            </c:dLbl>
            <c:dLbl>
              <c:idx val="3"/>
              <c:delete val="1"/>
            </c:dLbl>
            <c:dLbl>
              <c:idx val="4"/>
              <c:delete val="1"/>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{"10⁰","10¹","10²","10³","10⁴"}</c:f>
              <c:strCache>
                <c:ptCount val="5"/>
                <c:pt idx="0">
                  <c:v>10⁰</c:v>
                </c:pt>
                <c:pt idx="1">
                  <c:v>10¹</c:v>
                </c:pt>
                <c:pt idx="2">
                  <c:v>10²</c:v>
                </c:pt>
                <c:pt idx="3">
                  <c:v>10³</c:v>
                </c:pt>
                <c:pt idx="4">
                  <c:v>10⁴</c:v>
                </c:pt>
              </c:strCache>
            </c:strRef>
          </c:cat>
          <c:val>
            <c:numRef>
              <c:f>{100,80,60,40,20}</c:f>
              <c:numCache>
                <c:formatCode>General</c:formatCode>
                <c:ptCount val="5"/>
                <c:pt idx="0">
                  <c:v>100</c:v>
                </c:pt>
                <c:pt idx="1">
                  <c:v>80</c:v>
                </c:pt>
                <c:pt idx="2">
                  <c:v>60</c:v>
                </c:pt>
                <c:pt idx="3">
                  <c:v>40</c:v>
                </c:pt>
                <c:pt idx="4">
                  <c:v>20</c:v>
                </c:pt>
              </c:numCache>
            </c:numRef>
          </c:val>
          <c:smooth val="0"/>
        </c:ser>
        <c:ser>
          <c:idx val="1"/>
          <c:order val="1"/>
          <c:tx>
            <c:strRef>
              <c:f>SGD</c:f>
              <c:strCache>
                <c:ptCount val="1"/>
                <c:pt idx="0">
                  <c:v>SGD</c:v>
                </c:pt>
              </c:strCache>
            </c:strRef>
          </c:tx>
          <c:spPr>
            <a:ln w="28575" cap="rnd" cmpd="sng" algn="ctr">
              <a:solidFill>
                <a:srgbClr val="F59E0B">
                  <a:alpha val="100000"/>
                </a:srgbClr>
              </a:solidFill>
              <a:prstDash val="solid"/>
              <a:round/>
            </a:ln>
          </c:spPr>
          <c:marker>
            <c:symbol val="circle"/>
            <c:size val="4"/>
            <c:spPr>
              <a:solidFill>
                <a:srgbClr val="F59E0B"/>
              </a:solidFill>
              <a:ln w="28575" cap="flat" cmpd="sng" algn="ctr">
                <a:solidFill>
                  <a:srgbClr val="F59E0B">
                    <a:alpha val="100000"/>
                  </a:srgbClr>
                </a:solidFill>
                <a:prstDash val="solid"/>
                <a:round/>
              </a:ln>
            </c:spPr>
          </c:marker>
          <c:dLbls>
            <c:dLbl>
              <c:idx val="0"/>
              <c:delete val="1"/>
            </c:dLbl>
            <c:dLbl>
              <c:idx val="1"/>
              <c:delete val="1"/>
            </c:dLbl>
            <c:dLbl>
              <c:idx val="2"/>
              <c:delete val="1"/>
            </c:dLbl>
            <c:dLbl>
              <c:idx val="3"/>
              <c:delete val="1"/>
            </c:dLbl>
            <c:dLbl>
              <c:idx val="4"/>
              <c:delete val="1"/>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{"10⁰","10¹","10²","10³","10⁴"}</c:f>
              <c:strCache>
                <c:ptCount val="5"/>
                <c:pt idx="0">
                  <c:v>10⁰</c:v>
                </c:pt>
                <c:pt idx="1">
                  <c:v>10¹</c:v>
                </c:pt>
                <c:pt idx="2">
                  <c:v>10²</c:v>
                </c:pt>
                <c:pt idx="3">
                  <c:v>10³</c:v>
                </c:pt>
                <c:pt idx="4">
                  <c:v>10⁴</c:v>
                </c:pt>
              </c:strCache>
            </c:strRef>
          </c:cat>
          <c:val>
            <c:numRef>
              <c:f>{100,70,55,48,45}</c:f>
              <c:numCache>
                <c:formatCode>General</c:formatCode>
                <c:ptCount val="5"/>
                <c:pt idx="0">
                  <c:v>100</c:v>
                </c:pt>
                <c:pt idx="1">
                  <c:v>70</c:v>
                </c:pt>
                <c:pt idx="2">
                  <c:v>55</c:v>
                </c:pt>
                <c:pt idx="3">
                  <c:v>48</c:v>
                </c:pt>
                <c:pt idx="4">
                  <c:v>45</c:v>
                </c:pt>
              </c:numCache>
            </c:numRef>
          </c:val>
          <c:smooth val="0"/>
        </c:ser>
        <c:ser>
          <c:idx val="2"/>
          <c:order val="2"/>
          <c:tx>
            <c:strRef>
              <c:f>SVRG</c:f>
              <c:strCache>
                <c:ptCount val="1"/>
                <c:pt idx="0">
                  <c:v>SVRG</c:v>
                </c:pt>
              </c:strCache>
            </c:strRef>
          </c:tx>
          <c:spPr>
            <a:ln w="28575" cap="rnd" cmpd="sng" algn="ctr">
              <a:solidFill>
                <a:srgbClr val="52B788">
                  <a:alpha val="100000"/>
                </a:srgbClr>
              </a:solidFill>
              <a:prstDash val="solid"/>
              <a:round/>
            </a:ln>
          </c:spPr>
          <c:marker>
            <c:symbol val="circle"/>
            <c:size val="4"/>
            <c:spPr>
              <a:solidFill>
                <a:srgbClr val="52B788"/>
              </a:solidFill>
              <a:ln w="28575" cap="flat" cmpd="sng" algn="ctr">
                <a:solidFill>
                  <a:srgbClr val="52B788">
                    <a:alpha val="100000"/>
                  </a:srgbClr>
                </a:solidFill>
                <a:prstDash val="solid"/>
                <a:round/>
              </a:ln>
            </c:spPr>
          </c:marker>
          <c:dLbls>
            <c:dLbl>
              <c:idx val="0"/>
              <c:delete val="1"/>
            </c:dLbl>
            <c:dLbl>
              <c:idx val="1"/>
              <c:delete val="1"/>
            </c:dLbl>
            <c:dLbl>
              <c:idx val="2"/>
              <c:delete val="1"/>
            </c:dLbl>
            <c:dLbl>
              <c:idx val="3"/>
              <c:delete val="1"/>
            </c:dLbl>
            <c:dLbl>
              <c:idx val="4"/>
              <c:delete val="1"/>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{"10⁰","10¹","10²","10³","10⁴"}</c:f>
              <c:strCache>
                <c:ptCount val="5"/>
                <c:pt idx="0">
                  <c:v>10⁰</c:v>
                </c:pt>
                <c:pt idx="1">
                  <c:v>10¹</c:v>
                </c:pt>
                <c:pt idx="2">
                  <c:v>10²</c:v>
                </c:pt>
                <c:pt idx="3">
                  <c:v>10³</c:v>
                </c:pt>
                <c:pt idx="4">
                  <c:v>10⁴</c:v>
                </c:pt>
              </c:strCache>
            </c:strRef>
          </c:cat>
          <c:val>
            <c:numRef>
              <c:f>{100,30,10,3,1}</c:f>
              <c:numCache>
                <c:formatCode>General</c:formatCode>
                <c:ptCount val="5"/>
                <c:pt idx="0">
                  <c:v>100</c:v>
                </c:pt>
                <c:pt idx="1">
                  <c:v>30</c:v>
                </c:pt>
                <c:pt idx="2">
                  <c:v>10</c:v>
                </c:pt>
                <c:pt idx="3">
                  <c:v>3</c:v>
                </c:pt>
                <c:pt idx="4">
                  <c:v>1</c:v>
                </c:pt>
              </c:numCache>
            </c:numRef>
          </c:val>
          <c:smooth val="0"/>
        </c:ser>
        <c:dLbls>
          <c:showLegendKey val="0"/>
          <c:showVal val="0"/>
          <c:showCatName val="0"/>
          <c:showSerName val="0"/>
          <c:showPercent val="0"/>
          <c:showBubbleSize val="0"/>
        </c:dLbls>
        <c:marker val="1"/>
        <c:smooth val="0"/>
        <c:axId val="754001152"/>
        <c:axId val="753999904"/>
      </c:lineChart>
      <c:catAx>
        <c:axId val="754001152"/>
        <c:scaling>
          <c:orientation val="minMax"/>
        </c:scaling>
        <c:delete val="0"/>
        <c:axPos val="b"/>
        <c:numFmt formatCode="General" sourceLinked="0"/>
        <c:majorTickMark val="none"/>
        <c:minorTickMark val="none"/>
        <c:tickLblPos val="nextTo"/>
        <c:spPr>
          <a:ln w="9525" cap="flat" cmpd="sng" algn="ctr">
            <a:noFill/>
            <a:prstDash val="solid"/>
            <a:round/>
          </a:ln>
        </c:spPr>
        <c:txPr>
          <a:bodyPr rot="0" spcFirstLastPara="1" vertOverflow="ellipsis" vert="horz" wrap="square" anchor="ctr" anchorCtr="1"/>
          <a:lstStyle/>
          <a:p>
            <a:pPr>
              <a:defRPr lang="zh-CN" sz="1100" b="0" i="0" u="none" strike="noStrike" kern="1200" spc="0" baseline="0">
                <a:solidFill>
                  <a:srgbClr val="6B7280"/>
                </a:solidFill>
                <a:latin typeface="+mn-lt"/>
                <a:ea typeface="+mn-ea"/>
                <a:cs typeface="+mn-cs"/>
              </a:defRPr>
            </a:pPr>
          </a:p>
        </c:txPr>
        <c:crossAx val="753999904"/>
        <c:crosses val="min"/>
        <c:auto val="1"/>
        <c:lblAlgn val="ctr"/>
        <c:lblOffset val="100"/>
        <c:noMultiLvlLbl val="0"/>
      </c:catAx>
      <c:valAx>
        <c:axId val="753999904"/>
        <c:scaling>
          <c:orientation val="minMax"/>
        </c:scaling>
        <c:delete val="0"/>
        <c:axPos val="l"/>
        <c:majorGridlines>
          <c:spPr>
            <a:ln w="9525" cap="flat" cmpd="sng" algn="ctr">
              <a:solidFill>
                <a:srgbClr val="E5E7EB">
                  <a:alpha val="50195"/>
                </a:srgbClr>
              </a:solidFill>
              <a:prstDash val="solid"/>
              <a:round/>
            </a:ln>
          </c:spPr>
        </c:majorGridlines>
        <c:numFmt formatCode="General" sourceLinked="0"/>
        <c:majorTickMark val="none"/>
        <c:minorTickMark val="none"/>
        <c:tickLblPos val="nextTo"/>
        <c:spPr>
          <a:ln w="9525" cap="flat" cmpd="sng" algn="ctr">
            <a:noFill/>
            <a:prstDash val="solid"/>
            <a:round/>
          </a:ln>
        </c:spPr>
        <c:txPr>
          <a:bodyPr rot="0" spcFirstLastPara="1" vertOverflow="ellipsis" vert="horz" wrap="square" anchor="ctr" anchorCtr="1"/>
          <a:lstStyle/>
          <a:p>
            <a:pPr>
              <a:defRPr lang="zh-CN" sz="1100" b="0" i="0" u="none" strike="noStrike" kern="1200" spc="0" baseline="0">
                <a:solidFill>
                  <a:srgbClr val="6B7280"/>
                </a:solidFill>
                <a:latin typeface="+mn-lt"/>
                <a:ea typeface="+mn-ea"/>
                <a:cs typeface="+mn-cs"/>
              </a:defRPr>
            </a:pPr>
          </a:p>
        </c:txPr>
        <c:crossAx val="754001152"/>
        <c:crosses val="min"/>
        <c:crossBetween val="between"/>
      </c:valAx>
      <c:spPr>
        <a:noFill/>
        <a:ln>
          <a:noFill/>
        </a:ln>
      </c:spPr>
    </c:plotArea>
    <c:legend>
      <c:legendPos val="b"/>
      <c:layout/>
      <c:overlay val="0"/>
      <c:txPr>
        <a:bodyPr rot="0" spcFirstLastPara="0" vertOverflow="ellipsis" vert="horz" wrap="square" anchor="ctr" anchorCtr="0"/>
        <a:lstStyle/>
        <a:p>
          <a:pPr>
            <a:defRPr lang="zh-CN" sz="1400" b="0" i="0" u="none" strike="noStrike" kern="1200" spc="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31c10502-d53a-4ce6-85c4-8f3488c47d82}"/>
      </c:ext>
    </c:extLst>
  </c:chart>
  <c:spPr>
    <a:noFill/>
    <a:ln w="9525" cap="flat" cmpd="sng" algn="ctr">
      <a:solidFill>
        <a:srgbClr val="C8C8C8">
          <a:alpha val="30196"/>
        </a:srgbClr>
      </a:solidFill>
    </a:ln>
  </c:spPr>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大家好，今天我们来深入探讨一种在机器学习优化领域非常重要的算法——SVRG，即随机方差缩减梯度算法。</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它的核心思想是解决传统随机梯度下降（SGD）中存在的高方差问题，从而实现更快的收敛速度和更好的优化效果。</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这页封面展示了算法的核心概念：通过缩减方差，使得优化路径更加平滑，最终高效收敛到最优解。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这一页我们来探讨有限和优化问题，这是机器学习中最基础也最核心的优化形式。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大家看左边的公式，这是经验风险最小化的标准数学表达。我们的目标是找到一组参数w，使得所有样本的平均损失达到最小。这种形式涵盖了我们熟知的线性回归、逻辑回归以及支持向量机等经典模型。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然而，正如右侧所示，当我们面对海量数据时，这个问题变得极具挑战性。如果每次更新参数都要遍历所有数据，计算量将随着数据量的增加呈线性增长，这在数据量达到亿级时几乎是不可行的。因此，如何高效地解决大规模有限和优化问题，成为了机器学习领域的关键课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这一页我们来深入对比两种最基础的梯度下降算法：批量梯度下降（BGD）和随机梯度下降（SGD）。</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边是批量梯度下降，它的核心特点是每一步都使用全部的训练数据来计算梯度。这保证了梯度的准确性，没有噪音，所以收敛路径非常平滑，理论上能找到全局最优解。但代价是计算量巨大，当数据量达到百万级别时，每一轮的训练都会变得非常缓慢。</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边是随机梯度下降，它的策略是每一步只随机选取一个样本进行梯度计算。这极大地降低了计算成本，速度非常快，非常适合在线学习。但因为只看一个样本，梯度的方差很大，导致参数更新像在“震荡”，不容易稳定下来，通常需要配合学习率衰减才能收敛。</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底部的表格总结了它们在计算量、方差、收敛性和适用场景上的关键差异。在实际应用中，我们通常会选择两者的折中——小批量梯度下降（Mini-batch GD），既保证了计算效率，又能保持梯度的相对稳定。</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这一页我们深入探讨SGD为什么会产生震荡。</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首先看左上角的数学特性，SGD的梯度期望是等于真实梯度的，这保证了它的无偏性，也就是说长期来看方向是对的。但是，它的方差是恒定的，这意味着每一步的梯度都存在很大的随机性。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这就导致了右上角的核心矛盾：当我们接近最优值时，理论上的全量梯度应该趋近于0，但单个样本的梯度依然在波动，这就像你在一个坑底，但周围的土块还在不断地扰动你，让你无法站稳。</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下方的图表直观地展示了这一点：绿色的实线代表全量梯度下降，它平滑地收敛到最优值；而橙色的虚线代表SGD，它在最优值附近呈现出明显的锯齿状震荡。这种震荡是SGD固有的特性，也是我们需要设计动量（Momentum）或自适应学习率（如Adam）来解决的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SVRG算法是随机优化领域的一个重要里程碑。它解决了传统随机梯度下降（SGD）方差过大的问题。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大家看屏幕上方的示意图，它的核心在于“双循环”：外循环负责计算全梯度，提供一个全局的参考点；内循环则利用这个参考点来修正随机梯度，从而降低方差。</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下方的表格列出了它的关键参数，其中m是内循环的次数，通常设置为样本数量n，这保证了算法的线性收敛速度。而且它的学习率是常数，不需要像SGD那样逐渐衰减，这也是它的一个优势。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这一页展示了SVRG（随机方差缩减梯度）算法的核心伪代码。</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左侧是标准的算法流程，我们可以看到它分为外循环和内循环两个部分。外循环负责计算全梯度作为基准，内循环进行随机梯度的迭代。</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右侧列出了三个关键机制：</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1. 全局梯度锚定：这是SVRG的基础，通过周期性计算全梯度来消除偏差。</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2. 方差缩减：这是算法的核心，通过减去锚点处的梯度来消除随机梯度的噪声。</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3. 高效更新：这种机制保证了算法在保持低计算复杂度的同时，拥有更快的收敛速度。</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这一页我们深入探讨SVRG的核心——双循环机制。</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看左侧的外循环，它扮演着“全局校准器”的角色。每隔m步，我们需要付出O(n)的代价来计算全梯度，这虽然增加了计算成本，但它能确保我们的参考点不会偏离当前的最优解太远，从而保证了方差缩减的效果。</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是内循环，这是算法快速迭代的引擎。在每个外循环内部，我们执行m步的随机梯度下降，每一步只需要O(1)的计算量。关键在于，这里使用了常数学习率，并且通过参考梯度来修正当前的随机梯度，从而有效降低了方差。</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底部的流程图展示了这一过程：从初始化锚点开始，经过多次内循环的快速迭代，当偏差累积到一定程度时，触发新的外循环进行全局校准，如此往复，直到模型收敛。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大家好，今天我们来深入探讨随机方差缩减梯度算法（SVRG）。</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我们的目录分为六个部分：首先介绍背景与动机，分析为什么需要方差缩减；接着阐述核心思想，理解其直觉与原理；然后详细解析算法的双循环机制；随后进行严谨的理论分析，推导其收敛性；之后对比其他算法并介绍其扩展变体；最后总结其优缺点与实际应用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这一页我们来深入理解方差缩减的核心直觉。</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大家看中间的公式，这是方差缩减的核心：通过引入一个参考点w̃，我们对随机梯度进行了修正。这个修正项的关键在于，它利用了当前参数w和参考点w̃之间的梯度差异。</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首先，我们看左边，这个修正后的估计量是无偏的，它的期望值依然等于真实的全梯度，这保证了算法最终能收敛到最优解。</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中间部分解释了为什么方差会降低：当w离参考点w̃不远时，这两个随机梯度项非常相似，相减之后，大部分的随机噪声就被抵消掉了，从而大幅降低了梯度的方差。</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最后，右边强调了参考点需要定期更新。因为如果w走得太远，参考点就失效了，所以我们需要每隔一段时间重新计算一次全梯度来更新这个参考点。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大家好，今天我们来深入探讨随机方差缩减梯度算法（SVRG）。</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我们的目录分为六个部分：首先介绍背景与动机，分析为什么需要方差缩减；接着阐述核心思想，理解其直觉与原理；然后详细解析算法的双循环机制；随后进行严谨的理论分析，推导其收敛性；之后对比其他算法并介绍其扩展变体；最后总结其优缺点与实际应用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大家好，今天我们来深入探讨随机方差缩减梯度算法（SVRG）。</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我们的目录分为六个部分：首先介绍背景与动机，分析为什么需要方差缩减；接着阐述核心思想，理解其直觉与原理；然后详细解析算法的双循环机制；随后进行严谨的理论分析，推导其收敛性；之后对比其他算法并介绍其扩展变体；最后总结其优缺点与实际应用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大家好，今天我们来深入探讨随机方差缩减梯度算法（SVRG）。</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我们的目录分为六个部分：首先介绍背景与动机，分析为什么需要方差缩减；接着阐述核心思想，理解其直觉与原理；然后详细解析算法的双循环机制；随后进行严谨的理论分析，推导其收敛性；之后对比其他算法并介绍其扩展变体；最后总结其优缺点与实际应用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大家好，今天我们来深入探讨随机方差缩减梯度算法（SVRG）。</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我们的目录分为六个部分：首先介绍背景与动机，分析为什么需要方差缩减；接着阐述核心思想，理解其直觉与原理；然后详细解析算法的双循环机制；随后进行严谨的理论分析，推导其收敛性；之后对比其他算法并介绍其扩展变体；最后总结其优缺点与实际应用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这一页我们深入探讨方差缩减的数学原理。</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首先，我们定义了方差缩减梯度v，它通过引入一个参考点w̃来修正当前的随机梯度。关键在于，我们假设目标函数是L-smooth的，这意味着梯度的变化是受参数距离约束的。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通过推导，我们得出了一个非常关键的结论：梯度估计的方差与当前点到参考点的距离平方成正比。这意味着，当我们的迭代点离参考点越近，方差就越小，梯度估计就越准确。</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的示意图直观地展示了这一点：随着内循环步数的增加，迭代点逐渐远离参考点，方差开始急剧上升。这就解释了为什么我们需要定期进行外循环来重置参考点，从而让方差重新归零，保证优化的效率和稳定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这一页我们重点讨论SVRG的收敛性分析。</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首先，在理论层面，当目标函数满足强凸性和L-smooth光滑性条件时，SVRG能够达到线性收敛，也就是几何收敛。这意味着误差会随着迭代次数呈指数级下降，公式中的ρ是一个小于1的常数，它决定了收敛的速度。</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我们来看左下角的表格，对比了三种算法：传统的梯度下降（GD）虽然稳定，但计算开销大；随机梯度下降（SGD）计算快，但存在方差问题，导致收敛是次线性的；而SVRG结合了两者的优点，既有线性收敛的速度，又通过方差缩减技术保证了精度。</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的图表直观地展示了这种差异：绿色的线代表GD，下降比较平稳；橙色的虚线是SGD，虽然初期下降快，但后期趋于平缓，难以达到高精度；而浅绿色的线是SVRG，它不仅保持了线性收敛的趋势，而且下降速度更快，能够迅速逼近最优解。这使得SVRG在处理大规模数据集时具有显著的优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这一页我们来详细对比一下SVRG与其他主流优化算法。</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首先看表格中的对比：</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1. GD（梯度下降）：每步代价是O(n)，因为要遍历所有样本，所以速度较慢，但梯度方差为零，收敛稳定。</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2. SGD（随机梯度下降）：每步代价降到了O(1)，但梯度方差很大，导致收敛过程比较震荡，且收敛速率是次线性的。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3. SVRG（随机方差缩减梯度）：它保持了每步O(1)的代价，同时通过引入定期的全梯度计算和修正项，大大降低了梯度方差，实现了线性收敛，且内存开销依然是O(1)。</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4. SAGA：同样实现了线性收敛，但它需要存储所有样本的历史梯度，内存开销是O(n)，这在样本量极大时可能成为瓶颈。</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下方总结了SVRG的核心优势：它非常适合大规模数据集，因为内存占用极小；同时它能达到线性收敛，且学习率可以设为常数，不需要衰减。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当然，SVRG也有局限性：它每个epoch需要计算一次全梯度，这在数据量超大时会有一定开销；此外，在非凸问题上的理论保证不如凸问题强，且需要调整内循环步数m这个超参数。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这一页我们对该优化算法进行了全面的总结。</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看它的核心优势，它具有线性收敛速率，比普通的SGD更精确；而且它的学习率是常数，不需要复杂的调度策略，大大简化了调参工作。此外，它对内存非常友好，只需要O(1)的额外空间，这使得它非常适合处理大规模数据集。在工程实现上也非常简单，只需要在SGD的基础上增加一个全梯度计算的步骤。</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当然，它也有一些局限性。最大的问题在于每个epoch都需要一次全梯度计算，这使得它不太适合纯流式的在线学习场景。另外，内循环步数和学习率的选择依然需要一定的调参经验。在非凸问题上，虽然实证效果不错，但理论分析相对较弱。</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最后，关于应用场景，它非常适合大规模的机器学习模型训练，比如逻辑回归、SVM以及神经网络的预训练阶段。但如果是纯在线学习或者数据流场景，它可能就不是最佳选择。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感谢大家的聆听。</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今天我们深入探讨了SVRG及其相关的优化算法，这些算法在处理大规模机器学习问题时展现出了卓越的性能。</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屏幕上列出了我们今天讨论的核心参考文献，包括SVRG、SAGA、Katyusha以及SARAH等经典工作。这些论文为随机梯度下降的加速提供了坚实的理论基础。</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现在，我非常乐意回答大家的问题，欢迎大家提问。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这一页是我们的过渡页，正式进入第二章——核心思想的探讨。</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这一章，我们将深入理解“方差缩减”的概念，这是解决随机梯度下降（SGD）在训练过程中面临挑战的关键。正如Johnson和Zhang在2013年的论文中所指出的：“如果我们能减少随机梯度的方差，我们就能使用恒定的学习率并仍然保证收敛。”这正是我们本章要探讨的核心——如何让随机梯度在保持快速的同时，更加准确和稳定。</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这一页我们来探讨SVRG的几种重要变体和扩展。</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首先是SVRG++，它通过堆叠前序epoch的信息，实现了渐进式的方差缩减，让收敛更快。</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然后是Katyusha，这是由Allen-Zhu在2017年提出的，它结合了Nesterov动量，是第一个直接加速的随机方差缩减方法，理论收敛速度非常快。</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第三个是SARAH，它采用了递归梯度估计的方式，这使得它的方差比标准的SVRG更小，特别适合大规模数据的场景。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最后是Prox-SVRG，它将SVRG推广到了非光滑优化问题，比如带有L1正则项的问题，通过引入近似点算子来解决。</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总的来说，这些变体都保留了SVRG的核心——方差缩减，但在不同方向上做了优化和扩展。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大家好，今天我们来深入探讨随机方差缩减梯度算法（SVRG）。</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我们的目录分为六个部分：首先介绍背景与动机，分析为什么需要方差缩减；接着阐述核心思想，理解其直觉与原理；然后详细解析算法的双循环机制；随后进行严谨的理论分析，推导其收敛性；之后对比其他算法并介绍其扩展变体；最后总结其优缺点与实际应用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png"/><Relationship Id="rId10" Type="http://schemas.openxmlformats.org/officeDocument/2006/relationships/notesSlide" Target="../notesSlides/notesSlide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image" Target="../media/image17.png"/><Relationship Id="rId8" Type="http://schemas.openxmlformats.org/officeDocument/2006/relationships/image" Target="../media/image16.svg"/><Relationship Id="rId7" Type="http://schemas.openxmlformats.org/officeDocument/2006/relationships/image" Target="../media/image15.png"/><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 Id="rId3" Type="http://schemas.openxmlformats.org/officeDocument/2006/relationships/image" Target="../media/image11.svg"/><Relationship Id="rId2" Type="http://schemas.openxmlformats.org/officeDocument/2006/relationships/image" Target="../media/image10.png"/><Relationship Id="rId12" Type="http://schemas.openxmlformats.org/officeDocument/2006/relationships/notesSlide" Target="../notesSlides/notesSlide3.xml"/><Relationship Id="rId11" Type="http://schemas.openxmlformats.org/officeDocument/2006/relationships/slideLayout" Target="../slideLayouts/slideLayout12.xml"/><Relationship Id="rId10" Type="http://schemas.openxmlformats.org/officeDocument/2006/relationships/image" Target="../media/image18.svg"/><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2.xml"/><Relationship Id="rId2" Type="http://schemas.openxmlformats.org/officeDocument/2006/relationships/image" Target="../media/image20.png"/><Relationship Id="rId1" Type="http://schemas.openxmlformats.org/officeDocument/2006/relationships/image" Target="../media/image19.png"/></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12.xml"/><Relationship Id="rId7" Type="http://schemas.openxmlformats.org/officeDocument/2006/relationships/image" Target="../media/image27.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image" Target="../media/image21.png"/></Relationships>
</file>

<file path=ppt/slides/_rels/slide6.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image" Target="../media/image31.png"/><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30.svg"/><Relationship Id="rId4" Type="http://schemas.openxmlformats.org/officeDocument/2006/relationships/image" Target="../media/image29.png"/><Relationship Id="rId3" Type="http://schemas.openxmlformats.org/officeDocument/2006/relationships/tags" Target="../tags/tag2.xml"/><Relationship Id="rId22" Type="http://schemas.openxmlformats.org/officeDocument/2006/relationships/notesSlide" Target="../notesSlides/notesSlide6.xml"/><Relationship Id="rId21" Type="http://schemas.openxmlformats.org/officeDocument/2006/relationships/slideLayout" Target="../slideLayouts/slideLayout12.xml"/><Relationship Id="rId20" Type="http://schemas.openxmlformats.org/officeDocument/2006/relationships/image" Target="../media/image36.png"/><Relationship Id="rId2" Type="http://schemas.openxmlformats.org/officeDocument/2006/relationships/tags" Target="../tags/tag1.xml"/><Relationship Id="rId19" Type="http://schemas.openxmlformats.org/officeDocument/2006/relationships/tags" Target="../tags/tag11.xml"/><Relationship Id="rId18" Type="http://schemas.openxmlformats.org/officeDocument/2006/relationships/tags" Target="../tags/tag10.xml"/><Relationship Id="rId17" Type="http://schemas.openxmlformats.org/officeDocument/2006/relationships/image" Target="../media/image35.svg"/><Relationship Id="rId16" Type="http://schemas.openxmlformats.org/officeDocument/2006/relationships/image" Target="../media/image34.png"/><Relationship Id="rId15" Type="http://schemas.openxmlformats.org/officeDocument/2006/relationships/tags" Target="../tags/tag9.xml"/><Relationship Id="rId14" Type="http://schemas.openxmlformats.org/officeDocument/2006/relationships/tags" Target="../tags/tag8.xml"/><Relationship Id="rId13" Type="http://schemas.openxmlformats.org/officeDocument/2006/relationships/tags" Target="../tags/tag7.xml"/><Relationship Id="rId12" Type="http://schemas.openxmlformats.org/officeDocument/2006/relationships/image" Target="../media/image33.svg"/><Relationship Id="rId11" Type="http://schemas.openxmlformats.org/officeDocument/2006/relationships/image" Target="../media/image32.png"/><Relationship Id="rId10" Type="http://schemas.openxmlformats.org/officeDocument/2006/relationships/tags" Target="../tags/tag6.xml"/><Relationship Id="rId1" Type="http://schemas.openxmlformats.org/officeDocument/2006/relationships/image" Target="../media/image28.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image" Target="../media/image38.png"/><Relationship Id="rId1" Type="http://schemas.openxmlformats.org/officeDocument/2006/relationships/image" Target="../media/image37.png"/></Relationships>
</file>

<file path=ppt/slides/_rels/slide8.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3" Type="http://schemas.openxmlformats.org/officeDocument/2006/relationships/notesSlide" Target="../notesSlides/notesSlide8.xml"/><Relationship Id="rId22" Type="http://schemas.openxmlformats.org/officeDocument/2006/relationships/slideLayout" Target="../slideLayouts/slideLayout13.xml"/><Relationship Id="rId21" Type="http://schemas.openxmlformats.org/officeDocument/2006/relationships/image" Target="../media/image40.png"/><Relationship Id="rId20" Type="http://schemas.openxmlformats.org/officeDocument/2006/relationships/image" Target="../media/image39.png"/><Relationship Id="rId2" Type="http://schemas.openxmlformats.org/officeDocument/2006/relationships/tags" Target="../tags/tag13.xml"/><Relationship Id="rId19" Type="http://schemas.openxmlformats.org/officeDocument/2006/relationships/tags" Target="../tags/tag30.xml"/><Relationship Id="rId18" Type="http://schemas.openxmlformats.org/officeDocument/2006/relationships/tags" Target="../tags/tag29.xml"/><Relationship Id="rId17" Type="http://schemas.openxmlformats.org/officeDocument/2006/relationships/tags" Target="../tags/tag28.xml"/><Relationship Id="rId16" Type="http://schemas.openxmlformats.org/officeDocument/2006/relationships/tags" Target="../tags/tag27.xml"/><Relationship Id="rId15" Type="http://schemas.openxmlformats.org/officeDocument/2006/relationships/tags" Target="../tags/tag26.xml"/><Relationship Id="rId14" Type="http://schemas.openxmlformats.org/officeDocument/2006/relationships/tags" Target="../tags/tag25.xml"/><Relationship Id="rId13" Type="http://schemas.openxmlformats.org/officeDocument/2006/relationships/tags" Target="../tags/tag24.xml"/><Relationship Id="rId12" Type="http://schemas.openxmlformats.org/officeDocument/2006/relationships/tags" Target="../tags/tag23.xml"/><Relationship Id="rId11" Type="http://schemas.openxmlformats.org/officeDocument/2006/relationships/tags" Target="../tags/tag22.xml"/><Relationship Id="rId10" Type="http://schemas.openxmlformats.org/officeDocument/2006/relationships/tags" Target="../tags/tag21.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9" Type="http://schemas.openxmlformats.org/officeDocument/2006/relationships/image" Target="../media/image42.png"/><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image" Target="../media/image11.svg"/><Relationship Id="rId4" Type="http://schemas.openxmlformats.org/officeDocument/2006/relationships/image" Target="../media/image10.png"/><Relationship Id="rId3" Type="http://schemas.openxmlformats.org/officeDocument/2006/relationships/tags" Target="../tags/tag32.xml"/><Relationship Id="rId27" Type="http://schemas.openxmlformats.org/officeDocument/2006/relationships/notesSlide" Target="../notesSlides/notesSlide9.xml"/><Relationship Id="rId26" Type="http://schemas.openxmlformats.org/officeDocument/2006/relationships/slideLayout" Target="../slideLayouts/slideLayout12.xml"/><Relationship Id="rId25" Type="http://schemas.openxmlformats.org/officeDocument/2006/relationships/image" Target="../media/image48.png"/><Relationship Id="rId24" Type="http://schemas.openxmlformats.org/officeDocument/2006/relationships/tags" Target="../tags/tag45.xml"/><Relationship Id="rId23" Type="http://schemas.openxmlformats.org/officeDocument/2006/relationships/tags" Target="../tags/tag44.xml"/><Relationship Id="rId22" Type="http://schemas.openxmlformats.org/officeDocument/2006/relationships/tags" Target="../tags/tag43.xml"/><Relationship Id="rId21" Type="http://schemas.openxmlformats.org/officeDocument/2006/relationships/image" Target="../media/image47.svg"/><Relationship Id="rId20" Type="http://schemas.openxmlformats.org/officeDocument/2006/relationships/image" Target="../media/image46.png"/><Relationship Id="rId2" Type="http://schemas.openxmlformats.org/officeDocument/2006/relationships/tags" Target="../tags/tag31.xml"/><Relationship Id="rId19" Type="http://schemas.openxmlformats.org/officeDocument/2006/relationships/tags" Target="../tags/tag42.xml"/><Relationship Id="rId18" Type="http://schemas.openxmlformats.org/officeDocument/2006/relationships/tags" Target="../tags/tag41.xml"/><Relationship Id="rId17" Type="http://schemas.openxmlformats.org/officeDocument/2006/relationships/image" Target="../media/image45.png"/><Relationship Id="rId16" Type="http://schemas.openxmlformats.org/officeDocument/2006/relationships/tags" Target="../tags/tag40.xml"/><Relationship Id="rId15" Type="http://schemas.openxmlformats.org/officeDocument/2006/relationships/tags" Target="../tags/tag39.xml"/><Relationship Id="rId14" Type="http://schemas.openxmlformats.org/officeDocument/2006/relationships/tags" Target="../tags/tag38.xml"/><Relationship Id="rId13" Type="http://schemas.openxmlformats.org/officeDocument/2006/relationships/image" Target="../media/image44.svg"/><Relationship Id="rId12" Type="http://schemas.openxmlformats.org/officeDocument/2006/relationships/image" Target="../media/image43.png"/><Relationship Id="rId11" Type="http://schemas.openxmlformats.org/officeDocument/2006/relationships/tags" Target="../tags/tag37.xml"/><Relationship Id="rId10" Type="http://schemas.openxmlformats.org/officeDocument/2006/relationships/tags" Target="../tags/tag36.xml"/><Relationship Id="rId1" Type="http://schemas.openxmlformats.org/officeDocument/2006/relationships/image" Target="../media/image41.png"/></Relationships>
</file>

<file path=ppt/slides/_rels/slide10.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1" Type="http://schemas.openxmlformats.org/officeDocument/2006/relationships/notesSlide" Target="../notesSlides/notesSlide10.xml"/><Relationship Id="rId20" Type="http://schemas.openxmlformats.org/officeDocument/2006/relationships/slideLayout" Target="../slideLayouts/slideLayout17.xml"/><Relationship Id="rId2" Type="http://schemas.openxmlformats.org/officeDocument/2006/relationships/tags" Target="../tags/tag47.xml"/><Relationship Id="rId19" Type="http://schemas.openxmlformats.org/officeDocument/2006/relationships/image" Target="../media/image51.png"/><Relationship Id="rId18" Type="http://schemas.openxmlformats.org/officeDocument/2006/relationships/image" Target="../media/image50.png"/><Relationship Id="rId17" Type="http://schemas.openxmlformats.org/officeDocument/2006/relationships/image" Target="../media/image49.png"/><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tags" Target="../tags/tag56.xml"/><Relationship Id="rId10" Type="http://schemas.openxmlformats.org/officeDocument/2006/relationships/tags" Target="../tags/tag55.xml"/><Relationship Id="rId1" Type="http://schemas.openxmlformats.org/officeDocument/2006/relationships/tags" Target="../tags/tag46.xml"/></Relationships>
</file>

<file path=ppt/slides/_rels/slide11.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8" Type="http://schemas.openxmlformats.org/officeDocument/2006/relationships/notesSlide" Target="../notesSlides/notesSlide11.xml"/><Relationship Id="rId27" Type="http://schemas.openxmlformats.org/officeDocument/2006/relationships/slideLayout" Target="../slideLayouts/slideLayout14.xml"/><Relationship Id="rId26" Type="http://schemas.openxmlformats.org/officeDocument/2006/relationships/image" Target="../media/image58.png"/><Relationship Id="rId25" Type="http://schemas.openxmlformats.org/officeDocument/2006/relationships/image" Target="../media/image57.png"/><Relationship Id="rId24" Type="http://schemas.openxmlformats.org/officeDocument/2006/relationships/image" Target="../media/image56.png"/><Relationship Id="rId23" Type="http://schemas.openxmlformats.org/officeDocument/2006/relationships/image" Target="../media/image55.png"/><Relationship Id="rId22" Type="http://schemas.openxmlformats.org/officeDocument/2006/relationships/image" Target="../media/image54.png"/><Relationship Id="rId21" Type="http://schemas.openxmlformats.org/officeDocument/2006/relationships/image" Target="../media/image53.png"/><Relationship Id="rId20" Type="http://schemas.openxmlformats.org/officeDocument/2006/relationships/tags" Target="../tags/tag80.xml"/><Relationship Id="rId2" Type="http://schemas.openxmlformats.org/officeDocument/2006/relationships/tags" Target="../tags/tag63.xml"/><Relationship Id="rId19" Type="http://schemas.openxmlformats.org/officeDocument/2006/relationships/tags" Target="../tags/tag79.xml"/><Relationship Id="rId18" Type="http://schemas.openxmlformats.org/officeDocument/2006/relationships/tags" Target="../tags/tag78.xml"/><Relationship Id="rId17" Type="http://schemas.openxmlformats.org/officeDocument/2006/relationships/tags" Target="../tags/tag77.xml"/><Relationship Id="rId16" Type="http://schemas.openxmlformats.org/officeDocument/2006/relationships/tags" Target="../tags/tag76.xml"/><Relationship Id="rId15" Type="http://schemas.openxmlformats.org/officeDocument/2006/relationships/tags" Target="../tags/tag75.xml"/><Relationship Id="rId14" Type="http://schemas.openxmlformats.org/officeDocument/2006/relationships/tags" Target="../tags/tag74.xml"/><Relationship Id="rId13" Type="http://schemas.openxmlformats.org/officeDocument/2006/relationships/tags" Target="../tags/tag73.xml"/><Relationship Id="rId12" Type="http://schemas.openxmlformats.org/officeDocument/2006/relationships/tags" Target="../tags/tag72.xml"/><Relationship Id="rId11" Type="http://schemas.openxmlformats.org/officeDocument/2006/relationships/image" Target="../media/image52.png"/><Relationship Id="rId10" Type="http://schemas.openxmlformats.org/officeDocument/2006/relationships/tags" Target="../tags/tag71.xml"/><Relationship Id="rId1" Type="http://schemas.openxmlformats.org/officeDocument/2006/relationships/tags" Target="../tags/tag62.xml"/></Relationships>
</file>

<file path=ppt/slides/_rels/slide12.xml.rels><?xml version="1.0" encoding="UTF-8" standalone="yes"?>
<Relationships xmlns="http://schemas.openxmlformats.org/package/2006/relationships"><Relationship Id="rId9" Type="http://schemas.openxmlformats.org/officeDocument/2006/relationships/tags" Target="../tags/tag88.xml"/><Relationship Id="rId8" Type="http://schemas.openxmlformats.org/officeDocument/2006/relationships/tags" Target="../tags/tag87.xml"/><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image" Target="../media/image59.png"/><Relationship Id="rId3" Type="http://schemas.openxmlformats.org/officeDocument/2006/relationships/tags" Target="../tags/tag83.xml"/><Relationship Id="rId22" Type="http://schemas.openxmlformats.org/officeDocument/2006/relationships/notesSlide" Target="../notesSlides/notesSlide12.xml"/><Relationship Id="rId21" Type="http://schemas.openxmlformats.org/officeDocument/2006/relationships/slideLayout" Target="../slideLayouts/slideLayout15.xml"/><Relationship Id="rId20" Type="http://schemas.openxmlformats.org/officeDocument/2006/relationships/image" Target="../media/image64.png"/><Relationship Id="rId2" Type="http://schemas.openxmlformats.org/officeDocument/2006/relationships/tags" Target="../tags/tag82.xml"/><Relationship Id="rId19" Type="http://schemas.openxmlformats.org/officeDocument/2006/relationships/image" Target="../media/image63.png"/><Relationship Id="rId18" Type="http://schemas.openxmlformats.org/officeDocument/2006/relationships/image" Target="../media/image62.png"/><Relationship Id="rId17" Type="http://schemas.openxmlformats.org/officeDocument/2006/relationships/image" Target="../media/image61.png"/><Relationship Id="rId16" Type="http://schemas.openxmlformats.org/officeDocument/2006/relationships/tags" Target="../tags/tag94.xml"/><Relationship Id="rId15" Type="http://schemas.openxmlformats.org/officeDocument/2006/relationships/tags" Target="../tags/tag93.xml"/><Relationship Id="rId14" Type="http://schemas.openxmlformats.org/officeDocument/2006/relationships/tags" Target="../tags/tag92.xml"/><Relationship Id="rId13" Type="http://schemas.openxmlformats.org/officeDocument/2006/relationships/tags" Target="../tags/tag91.xml"/><Relationship Id="rId12" Type="http://schemas.openxmlformats.org/officeDocument/2006/relationships/tags" Target="../tags/tag90.xml"/><Relationship Id="rId11" Type="http://schemas.openxmlformats.org/officeDocument/2006/relationships/image" Target="../media/image60.png"/><Relationship Id="rId10" Type="http://schemas.openxmlformats.org/officeDocument/2006/relationships/tags" Target="../tags/tag89.xml"/><Relationship Id="rId1" Type="http://schemas.openxmlformats.org/officeDocument/2006/relationships/tags" Target="../tags/tag81.xml"/></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16.xml"/><Relationship Id="rId6" Type="http://schemas.openxmlformats.org/officeDocument/2006/relationships/image" Target="../media/image65.png"/><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tags" Target="../tags/tag95.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2.xml"/><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image" Target="../media/image66.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2.xml"/><Relationship Id="rId2" Type="http://schemas.openxmlformats.org/officeDocument/2006/relationships/image" Target="../media/image69.png"/><Relationship Id="rId1" Type="http://schemas.openxmlformats.org/officeDocument/2006/relationships/chart" Target="../charts/chart1.xml"/></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2.xml"/><Relationship Id="rId4" Type="http://schemas.openxmlformats.org/officeDocument/2006/relationships/image" Target="../media/image73.svg"/><Relationship Id="rId3" Type="http://schemas.openxmlformats.org/officeDocument/2006/relationships/image" Target="../media/image72.png"/><Relationship Id="rId2" Type="http://schemas.openxmlformats.org/officeDocument/2006/relationships/image" Target="../media/image71.svg"/><Relationship Id="rId1" Type="http://schemas.openxmlformats.org/officeDocument/2006/relationships/image" Target="../media/image70.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2.xml"/><Relationship Id="rId4" Type="http://schemas.openxmlformats.org/officeDocument/2006/relationships/image" Target="../media/image77.svg"/><Relationship Id="rId3" Type="http://schemas.openxmlformats.org/officeDocument/2006/relationships/image" Target="../media/image76.png"/><Relationship Id="rId2" Type="http://schemas.openxmlformats.org/officeDocument/2006/relationships/image" Target="../media/image75.svg"/><Relationship Id="rId1" Type="http://schemas.openxmlformats.org/officeDocument/2006/relationships/image" Target="../media/image7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image" Target="../media/image7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0" y="4445000"/>
            <a:ext cx="3810000" cy="3810000"/>
          </a:xfrm>
          <a:prstGeom prst="ellipse">
            <a:avLst/>
          </a:prstGeom>
          <a:solidFill>
            <a:srgbClr val="52B788">
              <a:alpha val="5000"/>
            </a:srgbClr>
          </a:solidFill>
          <a:ln cap="flat" cmpd="sng">
            <a:solidFill>
              <a:srgbClr val="379E6E">
                <a:alpha val="5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6604000" y="1270000"/>
            <a:ext cx="5080000" cy="4318000"/>
          </a:xfrm>
          <a:prstGeom prst="roundRect">
            <a:avLst>
              <a:gd name="adj" fmla="val 0"/>
            </a:avLst>
          </a:prstGeom>
          <a:solidFill>
            <a:srgbClr val="1B4332">
              <a:alpha val="100000"/>
            </a:srgbClr>
          </a:solidFill>
          <a:ln cap="flat" cmpd="sng">
            <a:solidFill>
              <a:srgbClr val="0D2A1D">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9652000" y="1524000"/>
            <a:ext cx="1778000" cy="1778000"/>
          </a:xfrm>
          <a:prstGeom prst="ellipse">
            <a:avLst/>
          </a:prstGeom>
          <a:solidFill>
            <a:srgbClr val="52B788">
              <a:alpha val="12000"/>
            </a:srgbClr>
          </a:solidFill>
          <a:ln cap="flat" cmpd="sng">
            <a:solidFill>
              <a:srgbClr val="379E6E">
                <a:alpha val="12000"/>
              </a:srgbClr>
            </a:solidFill>
            <a:prstDash val="solid"/>
            <a:round/>
          </a:ln>
        </p:spPr>
        <p:txBody>
          <a:bodyPr vert="horz" wrap="square" lIns="63500" tIns="63500" rIns="63500" bIns="63500" rtlCol="0" anchor="ctr"/>
          <a:lstStyle/>
          <a:p>
            <a:pPr algn="ctr">
              <a:defRPr/>
            </a:pPr>
          </a:p>
        </p:txBody>
      </p:sp>
      <p:cxnSp>
        <p:nvCxnSpPr>
          <p:cNvPr id="5" name="Connector 5"/>
          <p:cNvCxnSpPr/>
          <p:nvPr/>
        </p:nvCxnSpPr>
        <p:spPr>
          <a:xfrm>
            <a:off x="6985000" y="2667000"/>
            <a:ext cx="4318000" cy="1778000"/>
          </a:xfrm>
          <a:prstGeom prst="curvedConnector3">
            <a:avLst/>
          </a:prstGeom>
          <a:solidFill>
            <a:srgbClr val="DEE0E3">
              <a:alpha val="100000"/>
            </a:srgbClr>
          </a:solidFill>
          <a:ln w="38100" cap="flat" cmpd="sng">
            <a:solidFill>
              <a:srgbClr val="52B788">
                <a:alpha val="100000"/>
              </a:srgbClr>
            </a:solidFill>
            <a:prstDash val="solid"/>
            <a:round/>
            <a:headEnd type="none" w="lg" len="lg"/>
            <a:tailEnd type="none" w="lg" len="lg"/>
          </a:ln>
        </p:spPr>
      </p:cxnSp>
      <p:cxnSp>
        <p:nvCxnSpPr>
          <p:cNvPr id="6" name="Connector 6"/>
          <p:cNvCxnSpPr/>
          <p:nvPr/>
        </p:nvCxnSpPr>
        <p:spPr>
          <a:xfrm>
            <a:off x="6985000" y="3302000"/>
            <a:ext cx="4318000" cy="1270000"/>
          </a:xfrm>
          <a:prstGeom prst="curvedConnector3">
            <a:avLst/>
          </a:prstGeom>
          <a:solidFill>
            <a:srgbClr val="DEE0E3">
              <a:alpha val="100000"/>
            </a:srgbClr>
          </a:solidFill>
          <a:ln w="25400" cap="flat" cmpd="sng">
            <a:solidFill>
              <a:srgbClr val="52B788">
                <a:alpha val="40000"/>
              </a:srgbClr>
            </a:solidFill>
            <a:prstDash val="solid"/>
            <a:round/>
            <a:headEnd type="none" w="lg" len="lg"/>
            <a:tailEnd type="none" w="lg" len="lg"/>
          </a:ln>
        </p:spPr>
      </p:cxnSp>
      <p:sp>
        <p:nvSpPr>
          <p:cNvPr id="7" name="AutoShape 7"/>
          <p:cNvSpPr/>
          <p:nvPr/>
        </p:nvSpPr>
        <p:spPr>
          <a:xfrm>
            <a:off x="7048500" y="2603500"/>
            <a:ext cx="177800" cy="177800"/>
          </a:xfrm>
          <a:prstGeom prst="ellipse">
            <a:avLst/>
          </a:prstGeom>
          <a:solidFill>
            <a:srgbClr val="52B788">
              <a:alpha val="100000"/>
            </a:srgbClr>
          </a:solidFill>
          <a:ln cap="flat" cmpd="sng">
            <a:solidFill>
              <a:srgbClr val="379E6E">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8382000" y="3556000"/>
            <a:ext cx="228600" cy="228600"/>
          </a:xfrm>
          <a:prstGeom prst="ellipse">
            <a:avLst/>
          </a:prstGeom>
          <a:solidFill>
            <a:srgbClr val="52B788">
              <a:alpha val="70000"/>
            </a:srgbClr>
          </a:solidFill>
          <a:ln cap="flat" cmpd="sng">
            <a:solidFill>
              <a:srgbClr val="379E6E">
                <a:alpha val="7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9906000" y="4318000"/>
            <a:ext cx="304800" cy="304800"/>
          </a:xfrm>
          <a:prstGeom prst="ellipse">
            <a:avLst/>
          </a:prstGeom>
          <a:solidFill>
            <a:srgbClr val="FFFFFF">
              <a:alpha val="100000"/>
            </a:srgbClr>
          </a:solidFill>
          <a:ln w="25400" cap="flat" cmpd="sng">
            <a:solidFill>
              <a:srgbClr val="52B788">
                <a:alpha val="100000"/>
              </a:srgbClr>
            </a:solidFill>
            <a:prstDash val="solid"/>
            <a:round/>
          </a:ln>
        </p:spPr>
        <p:txBody>
          <a:bodyPr vert="horz" wrap="square" lIns="63500" tIns="63500" rIns="63500" bIns="63500" rtlCol="0" anchor="ctr"/>
          <a:lstStyle/>
          <a:p>
            <a:pPr algn="ctr">
              <a:defRPr/>
            </a:pPr>
          </a:p>
        </p:txBody>
      </p:sp>
      <p:cxnSp>
        <p:nvCxnSpPr>
          <p:cNvPr id="10" name="Connector 10"/>
          <p:cNvCxnSpPr/>
          <p:nvPr/>
        </p:nvCxnSpPr>
        <p:spPr>
          <a:xfrm rot="-10110">
            <a:off x="6985009" y="4946650"/>
            <a:ext cx="4318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cxnSp>
        <p:nvCxnSpPr>
          <p:cNvPr id="11" name="Connector 11"/>
          <p:cNvCxnSpPr/>
          <p:nvPr/>
        </p:nvCxnSpPr>
        <p:spPr>
          <a:xfrm rot="5383629">
            <a:off x="5651500" y="3613165"/>
            <a:ext cx="2667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2" name="AutoShape 12"/>
          <p:cNvSpPr/>
          <p:nvPr/>
        </p:nvSpPr>
        <p:spPr>
          <a:xfrm>
            <a:off x="762000" y="1778000"/>
            <a:ext cx="5588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SVRG</a:t>
            </a:r>
            <a:br>
              <a:rPr lang="en-US" sz="48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48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随机方差缩减梯度算法</a:t>
            </a:r>
            <a:endParaRPr lang="en-US" sz="1100"/>
          </a:p>
        </p:txBody>
      </p:sp>
      <p:sp>
        <p:nvSpPr>
          <p:cNvPr id="13" name="AutoShape 13"/>
          <p:cNvSpPr/>
          <p:nvPr/>
        </p:nvSpPr>
        <p:spPr>
          <a:xfrm>
            <a:off x="762000" y="3810000"/>
            <a:ext cx="508000" cy="50800"/>
          </a:xfrm>
          <a:prstGeom prst="roundRect">
            <a:avLst>
              <a:gd name="adj" fmla="val 0"/>
            </a:avLst>
          </a:prstGeom>
          <a:solidFill>
            <a:srgbClr val="52B788">
              <a:alpha val="100000"/>
            </a:srgbClr>
          </a:solidFill>
          <a:ln cap="flat" cmpd="sng">
            <a:solidFill>
              <a:srgbClr val="379E6E">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762000" y="4127500"/>
            <a:ext cx="558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2000" b="0" i="0" u="none" strike="noStrike">
                <a:solidFill>
                  <a:srgbClr val="2D6A4F"/>
                </a:solidFill>
                <a:latin typeface="Poppins"/>
                <a:ea typeface="Poppins"/>
                <a:cs typeface="Poppins"/>
                <a:sym typeface="Poppins"/>
              </a:rPr>
              <a:t>Stochastic Variance Reduced Gradient</a:t>
            </a:r>
            <a:br>
              <a:rPr lang="en-US" sz="2000" b="0" i="0" u="none" strike="noStrike">
                <a:solidFill>
                  <a:srgbClr val="2D6A4F"/>
                </a:solidFill>
                <a:latin typeface="Poppins"/>
                <a:ea typeface="Poppins"/>
                <a:cs typeface="Poppins"/>
                <a:sym typeface="Poppins"/>
              </a:rPr>
            </a:br>
            <a:r>
              <a:rPr lang="en-US" sz="2000" b="0" i="0" u="none" strike="noStrike">
                <a:solidFill>
                  <a:srgbClr val="2D6A4F"/>
                </a:solidFill>
                <a:latin typeface="Poppins"/>
                <a:ea typeface="Poppins"/>
                <a:cs typeface="Poppins"/>
                <a:sym typeface="Poppins"/>
              </a:rPr>
              <a:t>— 从 SGD 方差问题到高效优化</a:t>
            </a:r>
            <a:endParaRPr lang="en-US" sz="1100"/>
          </a:p>
        </p:txBody>
      </p:sp>
      <p:sp>
        <p:nvSpPr>
          <p:cNvPr id="15" name="AutoShape 15"/>
          <p:cNvSpPr/>
          <p:nvPr/>
        </p:nvSpPr>
        <p:spPr>
          <a:xfrm>
            <a:off x="762000" y="5715000"/>
            <a:ext cx="558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rPr>
              <a:t>机器学习优化算法专题</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9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2D7D62">
              <a:alpha val="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5080000"/>
            <a:ext cx="2540000" cy="2540000"/>
          </a:xfrm>
          <a:prstGeom prst="ellipse">
            <a:avLst/>
          </a:prstGeom>
          <a:solidFill>
            <a:srgbClr val="2D7D62">
              <a:alpha val="8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有限和优化问题</a:t>
            </a:r>
            <a:endParaRPr lang="en-US" sz="1100"/>
          </a:p>
        </p:txBody>
      </p:sp>
      <p:sp>
        <p:nvSpPr>
          <p:cNvPr id="5" name="AutoShape 5"/>
          <p:cNvSpPr/>
          <p:nvPr/>
        </p:nvSpPr>
        <p:spPr>
          <a:xfrm>
            <a:off x="508000" y="1524000"/>
            <a:ext cx="6096000" cy="1143000"/>
          </a:xfrm>
          <a:prstGeom prst="roundRect">
            <a:avLst>
              <a:gd name="adj" fmla="val 0"/>
            </a:avLst>
          </a:prstGeom>
          <a:solidFill>
            <a:srgbClr val="1B4332">
              <a:alpha val="5000"/>
            </a:srgbClr>
          </a:solidFill>
          <a:ln w="12700" cap="flat" cmpd="sng">
            <a:solidFill>
              <a:srgbClr val="1B4332">
                <a:alpha val="15000"/>
              </a:srgbClr>
            </a:solidFill>
            <a:prstDash val="solid"/>
            <a:round/>
          </a:ln>
        </p:spPr>
        <p:txBody>
          <a:bodyPr vert="horz" wrap="square" lIns="63500" tIns="63500" rIns="63500" bIns="63500" rtlCol="0" anchor="ctr"/>
          <a:lstStyle/>
          <a:p>
            <a:pPr algn="ctr">
              <a:defRPr/>
            </a:pPr>
          </a:p>
        </p:txBody>
      </p:sp>
      <mc:AlternateContent xmlns:mc="http://schemas.openxmlformats.org/markup-compatibility/2006">
        <mc:Choice xmlns:a14="http://schemas.microsoft.com/office/drawing/2010/main" Requires="a14">
          <p:sp>
            <p:nvSpPr>
              <p:cNvPr id="6" name="AutoShape 6"/>
              <p:cNvSpPr/>
              <p:nvPr/>
            </p:nvSpPr>
            <p:spPr>
              <a:xfrm>
                <a:off x="635000" y="1714500"/>
                <a:ext cx="584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14:m>
                  <m:oMathPara xmlns:m="http://schemas.openxmlformats.org/officeDocument/2006/math">
                    <m:oMathParaPr>
                      <m:jc m:val="centerGroup"/>
                    </m:oMathParaPr>
                    <m:oMath xmlns:m="http://schemas.openxmlformats.org/officeDocument/2006/math">
                      <m:r>
                        <a:rPr lang="en-US" altLang="zh-CN" sz="2200" b="1" i="1" u="none" strike="noStrike">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t>𝑚𝑖𝑛𝑖𝑚𝑖𝑧𝑒</m:t>
                      </m:r>
                      <m:r>
                        <a:rPr lang="en-US" altLang="zh-CN" sz="2200" b="1" i="1" u="none" strike="noStrike">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t>              </m:t>
                      </m:r>
                      <m:r>
                        <a:rPr lang="en-US" altLang="zh-CN" sz="2200" b="1" i="1" u="none" strike="noStrike">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t>𝑃</m:t>
                      </m:r>
                      <m:r>
                        <a:rPr lang="en-US" altLang="zh-CN" sz="2200" b="1" i="1" u="none" strike="noStrike">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2200" b="1" i="1" u="none" strike="noStrike">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r>
                        <a:rPr lang="en-US" altLang="zh-CN" sz="2200" b="1" i="1" u="none" strike="noStrike">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t>)=</m:t>
                      </m:r>
                      <m:f>
                        <m:fPr>
                          <m:ctrlPr>
                            <a:rPr lang="en-US" altLang="zh-CN" sz="2200" b="1" i="1" u="none" strike="noStrike">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ctrlPr>
                        </m:fPr>
                        <m:num>
                          <m:r>
                            <a:rPr lang="en-US" altLang="zh-CN" sz="2200" b="1" i="1" u="none" strike="noStrike">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t>1</m:t>
                          </m:r>
                        </m:num>
                        <m:den>
                          <m:r>
                            <a:rPr lang="en-US" altLang="zh-CN" sz="2200" b="1" i="1" u="none" strike="noStrike">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t>𝑛</m:t>
                          </m:r>
                        </m:den>
                      </m:f>
                      <m:nary>
                        <m:naryPr>
                          <m:chr m:val="∑"/>
                          <m:limLoc m:val="subSup"/>
                          <m:ctrlPr>
                            <a:rPr lang="en-US" altLang="zh-CN" sz="2200" b="1" i="1" u="none" strike="noStrike">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ctrlPr>
                        </m:naryPr>
                        <m:sub>
                          <m:r>
                            <a:rPr lang="en-US" altLang="zh-CN" sz="2200" b="1" i="1" u="none" strike="noStrike">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t>𝑖</m:t>
                          </m:r>
                          <m:r>
                            <a:rPr lang="en-US" altLang="zh-CN" sz="2200" b="1" i="1" u="none" strike="noStrike">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2200" b="1" i="1" u="none" strike="noStrike">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t>1</m:t>
                          </m:r>
                        </m:sub>
                        <m:sup>
                          <m:r>
                            <a:rPr lang="en-US" altLang="zh-CN" sz="2200" b="1" i="1" u="none" strike="noStrike">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t>𝑛</m:t>
                          </m:r>
                        </m:sup>
                        <m:e>
                          <m:sSub>
                            <m:sSubPr>
                              <m:ctrlPr>
                                <a:rPr lang="en-US" altLang="zh-CN" sz="2200" b="1" i="1" u="none" strike="noStrike">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2200" b="1" i="1" u="none" strike="noStrike">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t>𝜓</m:t>
                              </m:r>
                            </m:e>
                            <m:sub>
                              <m:r>
                                <a:rPr lang="en-US" altLang="zh-CN" sz="2200" b="1" i="1" u="none" strike="noStrike">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t>𝑖</m:t>
                              </m:r>
                            </m:sub>
                          </m:sSub>
                        </m:e>
                      </m:nary>
                      <m:r>
                        <a:rPr lang="en-US" altLang="zh-CN" sz="2200" b="1" i="1" u="none" strike="noStrike">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2200" b="1" i="1" u="none" strike="noStrike">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r>
                        <a:rPr lang="en-US" altLang="zh-CN" sz="2200" b="1" i="1" u="none" strike="noStrike">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t>)</m:t>
                      </m:r>
                    </m:oMath>
                  </m:oMathPara>
                </a14:m>
                <a:endParaRPr lang="en-US" altLang="zh-CN" sz="2200" b="1" i="1" u="none" strike="noStrike">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endParaRPr>
              </a:p>
            </p:txBody>
          </p:sp>
        </mc:Choice>
        <mc:Fallback>
          <p:sp>
            <p:nvSpPr>
              <p:cNvPr id="6" name="AutoShape 6"/>
              <p:cNvSpPr>
                <a:spLocks noRot="1" noChangeAspect="1" noMove="1" noResize="1" noEditPoints="1" noAdjustHandles="1" noChangeArrowheads="1" noChangeShapeType="1" noTextEdit="1"/>
              </p:cNvSpPr>
              <p:nvPr/>
            </p:nvSpPr>
            <p:spPr>
              <a:xfrm>
                <a:off x="635000" y="1714500"/>
                <a:ext cx="5842000" cy="889000"/>
              </a:xfrm>
              <a:prstGeom prst="rect">
                <a:avLst/>
              </a:prstGeom>
              <a:blipFill rotWithShape="1">
                <a:blip r:embed="rId1"/>
                <a:stretch>
                  <a:fillRect/>
                </a:stretch>
              </a:blipFill>
              <a:ln w="12700" cap="flat" cmpd="sng">
                <a:noFill/>
                <a:prstDash val="solid"/>
                <a:round/>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AutoShape 7"/>
              <p:cNvSpPr/>
              <p:nvPr/>
            </p:nvSpPr>
            <p:spPr>
              <a:xfrm>
                <a:off x="508000" y="2794000"/>
                <a:ext cx="609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这是机器学习中</a:t>
                </a:r>
                <a:r>
                  <a:rPr lang="en-US" sz="14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经验风险最小化 (ERM)</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的标准形式。其中 </a:t>
                </a:r>
                <a14:m>
                  <m:oMath xmlns:m="http://schemas.openxmlformats.org/officeDocument/2006/math">
                    <m:sSub>
                      <m:sSubPr>
                        <m:ctrlPr>
                          <a:rPr lang="en-US" altLang="zh-CN" sz="1400" b="0" i="1"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400" b="0" i="1"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𝜓</m:t>
                        </m:r>
                      </m:e>
                      <m:sub>
                        <m:r>
                          <a:rPr lang="en-US" altLang="zh-CN" sz="1400" b="0" i="1"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𝑖</m:t>
                        </m:r>
                      </m:sub>
                    </m:sSub>
                    <m:r>
                      <a:rPr lang="en-US" altLang="zh-CN" sz="1400" b="0" i="1"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400" b="0" i="1"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r>
                      <a:rPr lang="en-US" altLang="zh-CN" sz="1400" b="0" i="1"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m:t>
                    </m:r>
                  </m:oMath>
                </a14:m>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为第 i 个样本的损失函数，n 为训练集总量，w 是模型待优化的参数向量，目标是寻找使平均损失最小的参数。</a:t>
                </a:r>
                <a:endParaRPr lang="en-US" sz="1100"/>
              </a:p>
            </p:txBody>
          </p:sp>
        </mc:Choice>
        <mc:Fallback>
          <p:sp>
            <p:nvSpPr>
              <p:cNvPr id="7" name="AutoShape 7"/>
              <p:cNvSpPr>
                <a:spLocks noRot="1" noChangeAspect="1" noMove="1" noResize="1" noEditPoints="1" noAdjustHandles="1" noChangeArrowheads="1" noChangeShapeType="1" noTextEdit="1"/>
              </p:cNvSpPr>
              <p:nvPr/>
            </p:nvSpPr>
            <p:spPr>
              <a:xfrm>
                <a:off x="508000" y="2794000"/>
                <a:ext cx="6096000" cy="825500"/>
              </a:xfrm>
              <a:prstGeom prst="rect">
                <a:avLst/>
              </a:prstGeom>
              <a:blipFill rotWithShape="1">
                <a:blip r:embed="rId2"/>
                <a:stretch>
                  <a:fillRect/>
                </a:stretch>
              </a:blipFill>
              <a:ln w="12700" cap="flat" cmpd="sng">
                <a:noFill/>
                <a:prstDash val="solid"/>
                <a:round/>
              </a:ln>
            </p:spPr>
            <p:txBody>
              <a:bodyPr/>
              <a:lstStyle/>
              <a:p>
                <a:r>
                  <a:rPr lang="zh-CN" altLang="en-US">
                    <a:noFill/>
                  </a:rPr>
                  <a:t> </a:t>
                </a:r>
              </a:p>
            </p:txBody>
          </p:sp>
        </mc:Fallback>
      </mc:AlternateContent>
      <p:sp>
        <p:nvSpPr>
          <p:cNvPr id="8" name="AutoShape 8"/>
          <p:cNvSpPr/>
          <p:nvPr/>
        </p:nvSpPr>
        <p:spPr>
          <a:xfrm>
            <a:off x="508000" y="3810000"/>
            <a:ext cx="1930400" cy="1651000"/>
          </a:xfrm>
          <a:prstGeom prst="roundRect">
            <a:avLst>
              <a:gd name="adj" fmla="val 0"/>
            </a:avLst>
          </a:prstGeom>
          <a:solidFill>
            <a:srgbClr val="2D7D62">
              <a:alpha val="8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 y="3962400"/>
            <a:ext cx="304800" cy="304800"/>
          </a:xfrm>
          <a:prstGeom prst="rect">
            <a:avLst/>
          </a:prstGeom>
        </p:spPr>
      </p:pic>
      <p:sp>
        <p:nvSpPr>
          <p:cNvPr id="10" name="AutoShape 10"/>
          <p:cNvSpPr/>
          <p:nvPr/>
        </p:nvSpPr>
        <p:spPr>
          <a:xfrm>
            <a:off x="1016000" y="3962400"/>
            <a:ext cx="139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线性回归</a:t>
            </a:r>
            <a:endParaRPr lang="en-US" sz="1100"/>
          </a:p>
        </p:txBody>
      </p:sp>
      <p:sp>
        <p:nvSpPr>
          <p:cNvPr id="11" name="AutoShape 11"/>
          <p:cNvSpPr/>
          <p:nvPr/>
        </p:nvSpPr>
        <p:spPr>
          <a:xfrm>
            <a:off x="660400" y="4381500"/>
            <a:ext cx="1727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采用平方损失函数，拟合数据分布的最优超平面，是回归任务的基础模型。</a:t>
            </a:r>
            <a:endParaRPr lang="en-US" sz="1100"/>
          </a:p>
        </p:txBody>
      </p:sp>
      <p:sp>
        <p:nvSpPr>
          <p:cNvPr id="12" name="AutoShape 12"/>
          <p:cNvSpPr/>
          <p:nvPr/>
        </p:nvSpPr>
        <p:spPr>
          <a:xfrm>
            <a:off x="2590800" y="3810000"/>
            <a:ext cx="1930400" cy="1651000"/>
          </a:xfrm>
          <a:prstGeom prst="roundRect">
            <a:avLst>
              <a:gd name="adj" fmla="val 0"/>
            </a:avLst>
          </a:prstGeom>
          <a:solidFill>
            <a:srgbClr val="2D7D62">
              <a:alpha val="8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743200" y="3962400"/>
            <a:ext cx="304800" cy="304800"/>
          </a:xfrm>
          <a:prstGeom prst="rect">
            <a:avLst/>
          </a:prstGeom>
        </p:spPr>
      </p:pic>
      <p:sp>
        <p:nvSpPr>
          <p:cNvPr id="14" name="AutoShape 14"/>
          <p:cNvSpPr/>
          <p:nvPr/>
        </p:nvSpPr>
        <p:spPr>
          <a:xfrm>
            <a:off x="3098800" y="3962400"/>
            <a:ext cx="139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逻辑回归</a:t>
            </a:r>
            <a:endParaRPr lang="en-US" sz="1100"/>
          </a:p>
        </p:txBody>
      </p:sp>
      <p:sp>
        <p:nvSpPr>
          <p:cNvPr id="15" name="AutoShape 15"/>
          <p:cNvSpPr/>
          <p:nvPr/>
        </p:nvSpPr>
        <p:spPr>
          <a:xfrm>
            <a:off x="2743200" y="4381500"/>
            <a:ext cx="1727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基于交叉熵损失，输出事件发生的概率，广泛应用于二分类问题。</a:t>
            </a:r>
            <a:endParaRPr lang="en-US" sz="1100"/>
          </a:p>
        </p:txBody>
      </p:sp>
      <p:sp>
        <p:nvSpPr>
          <p:cNvPr id="16" name="AutoShape 16"/>
          <p:cNvSpPr/>
          <p:nvPr/>
        </p:nvSpPr>
        <p:spPr>
          <a:xfrm>
            <a:off x="4673600" y="3810000"/>
            <a:ext cx="1930400" cy="1651000"/>
          </a:xfrm>
          <a:prstGeom prst="roundRect">
            <a:avLst>
              <a:gd name="adj" fmla="val 0"/>
            </a:avLst>
          </a:prstGeom>
          <a:solidFill>
            <a:srgbClr val="2D7D62">
              <a:alpha val="8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826000" y="3962400"/>
            <a:ext cx="304800" cy="304800"/>
          </a:xfrm>
          <a:prstGeom prst="rect">
            <a:avLst/>
          </a:prstGeom>
        </p:spPr>
      </p:pic>
      <p:sp>
        <p:nvSpPr>
          <p:cNvPr id="18" name="AutoShape 18"/>
          <p:cNvSpPr/>
          <p:nvPr/>
        </p:nvSpPr>
        <p:spPr>
          <a:xfrm>
            <a:off x="5181600" y="3962400"/>
            <a:ext cx="139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支持向量机</a:t>
            </a:r>
            <a:endParaRPr lang="en-US" sz="1100"/>
          </a:p>
        </p:txBody>
      </p:sp>
      <p:sp>
        <p:nvSpPr>
          <p:cNvPr id="19" name="AutoShape 19"/>
          <p:cNvSpPr/>
          <p:nvPr/>
        </p:nvSpPr>
        <p:spPr>
          <a:xfrm>
            <a:off x="4826000" y="4381500"/>
            <a:ext cx="1727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利用合页损失最大化分类间隔，在小样本场景下具有极强的泛化性。</a:t>
            </a:r>
            <a:endParaRPr lang="en-US" sz="1100"/>
          </a:p>
        </p:txBody>
      </p:sp>
      <p:sp>
        <p:nvSpPr>
          <p:cNvPr id="20" name="AutoShape 20"/>
          <p:cNvSpPr/>
          <p:nvPr/>
        </p:nvSpPr>
        <p:spPr>
          <a:xfrm>
            <a:off x="508000" y="5778500"/>
            <a:ext cx="609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1"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本质：通过最小化样本的平均损失来学习最优模型参数，是监督学习的核心框架。</a:t>
            </a:r>
            <a:endParaRPr lang="en-US" sz="1100"/>
          </a:p>
        </p:txBody>
      </p:sp>
      <p:sp>
        <p:nvSpPr>
          <p:cNvPr id="21" name="AutoShape 21"/>
          <p:cNvSpPr/>
          <p:nvPr/>
        </p:nvSpPr>
        <p:spPr>
          <a:xfrm>
            <a:off x="6858000" y="1524000"/>
            <a:ext cx="4826000" cy="2413000"/>
          </a:xfrm>
          <a:prstGeom prst="roundRect">
            <a:avLst>
              <a:gd name="adj" fmla="val 0"/>
            </a:avLst>
          </a:prstGeom>
          <a:solidFill>
            <a:srgbClr val="EBF5F0">
              <a:alpha val="100000"/>
            </a:srgbClr>
          </a:solidFill>
          <a:ln w="12700" cap="flat" cmpd="sng">
            <a:solidFill>
              <a:srgbClr val="1B4332">
                <a:alpha val="10000"/>
              </a:srgbClr>
            </a:solidFill>
            <a:prstDash val="solid"/>
            <a:round/>
          </a:ln>
        </p:spPr>
        <p:txBody>
          <a:bodyPr vert="horz" wrap="square" lIns="63500" tIns="63500" rIns="63500" bIns="63500" rtlCol="0" anchor="ctr"/>
          <a:lstStyle/>
          <a:p>
            <a:pPr algn="ctr">
              <a:defRPr/>
            </a:pPr>
          </a:p>
        </p:txBody>
      </p:sp>
      <p:cxnSp>
        <p:nvCxnSpPr>
          <p:cNvPr id="22" name="Connector 22"/>
          <p:cNvCxnSpPr/>
          <p:nvPr/>
        </p:nvCxnSpPr>
        <p:spPr>
          <a:xfrm rot="-10742">
            <a:off x="7112010" y="3549650"/>
            <a:ext cx="4064000" cy="12700"/>
          </a:xfrm>
          <a:prstGeom prst="straightConnector1">
            <a:avLst/>
          </a:prstGeom>
          <a:solidFill>
            <a:srgbClr val="DEE0E3">
              <a:alpha val="100000"/>
            </a:srgbClr>
          </a:solidFill>
          <a:ln w="25400" cap="flat" cmpd="sng">
            <a:solidFill>
              <a:srgbClr val="646464">
                <a:alpha val="100000"/>
              </a:srgbClr>
            </a:solidFill>
            <a:prstDash val="solid"/>
            <a:round/>
            <a:headEnd type="none" w="lg" len="lg"/>
            <a:tailEnd type="arrow" w="sm" len="sm"/>
          </a:ln>
        </p:spPr>
      </p:cxnSp>
      <p:cxnSp>
        <p:nvCxnSpPr>
          <p:cNvPr id="23" name="Connector 23"/>
          <p:cNvCxnSpPr/>
          <p:nvPr/>
        </p:nvCxnSpPr>
        <p:spPr>
          <a:xfrm rot="-5424554">
            <a:off x="6223000" y="2660627"/>
            <a:ext cx="1778000" cy="12700"/>
          </a:xfrm>
          <a:prstGeom prst="straightConnector1">
            <a:avLst/>
          </a:prstGeom>
          <a:solidFill>
            <a:srgbClr val="DEE0E3">
              <a:alpha val="100000"/>
            </a:srgbClr>
          </a:solidFill>
          <a:ln w="25400" cap="flat" cmpd="sng">
            <a:solidFill>
              <a:srgbClr val="646464">
                <a:alpha val="100000"/>
              </a:srgbClr>
            </a:solidFill>
            <a:prstDash val="solid"/>
            <a:round/>
            <a:headEnd type="none" w="lg" len="lg"/>
            <a:tailEnd type="arrow" w="sm" len="sm"/>
          </a:ln>
        </p:spPr>
      </p:cxnSp>
      <p:sp>
        <p:nvSpPr>
          <p:cNvPr id="24" name="AutoShape 24"/>
          <p:cNvSpPr/>
          <p:nvPr/>
        </p:nvSpPr>
        <p:spPr>
          <a:xfrm>
            <a:off x="10795000" y="3619500"/>
            <a:ext cx="762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参数 w</a:t>
            </a:r>
            <a:endParaRPr lang="en-US" sz="1100"/>
          </a:p>
        </p:txBody>
      </p:sp>
      <p:sp>
        <p:nvSpPr>
          <p:cNvPr id="25" name="AutoShape 25"/>
          <p:cNvSpPr/>
          <p:nvPr/>
        </p:nvSpPr>
        <p:spPr>
          <a:xfrm>
            <a:off x="7175500" y="1778000"/>
            <a:ext cx="1016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损失 f(w)</a:t>
            </a:r>
            <a:endParaRPr lang="en-US" sz="1100"/>
          </a:p>
        </p:txBody>
      </p:sp>
      <p:sp>
        <p:nvSpPr>
          <p:cNvPr id="26" name="AutoShape 26"/>
          <p:cNvSpPr/>
          <p:nvPr/>
        </p:nvSpPr>
        <p:spPr>
          <a:xfrm>
            <a:off x="7239000" y="2286000"/>
            <a:ext cx="3810000" cy="1270000"/>
          </a:xfrm>
          <a:prstGeom prst="roundRect">
            <a:avLst>
              <a:gd name="adj" fmla="val 0"/>
            </a:avLst>
          </a:prstGeom>
          <a:solidFill>
            <a:srgbClr val="000000">
              <a:alpha val="0"/>
            </a:srgbClr>
          </a:solidFill>
          <a:ln w="38100" cap="flat" cmpd="sng">
            <a:solidFill>
              <a:srgbClr val="1B4332">
                <a:alpha val="10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9080500" y="3238500"/>
            <a:ext cx="127000" cy="127000"/>
          </a:xfrm>
          <a:prstGeom prst="ellipse">
            <a:avLst/>
          </a:prstGeom>
          <a:solidFill>
            <a:srgbClr val="C8323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9271000" y="3175000"/>
            <a:ext cx="1016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C83232"/>
                </a:solidFill>
                <a:latin typeface="Noto Sans SC" panose="020B0200000000000000" charset="-122"/>
                <a:ea typeface="Noto Sans SC" panose="020B0200000000000000" charset="-122"/>
                <a:cs typeface="Noto Sans SC" panose="020B0200000000000000" charset="-122"/>
                <a:sym typeface="Noto Sans SC" panose="020B0200000000000000" charset="-122"/>
              </a:rPr>
              <a:t>w* (最优)</a:t>
            </a:r>
            <a:endParaRPr lang="en-US" sz="1100"/>
          </a:p>
        </p:txBody>
      </p:sp>
      <p:sp>
        <p:nvSpPr>
          <p:cNvPr id="29" name="AutoShape 29"/>
          <p:cNvSpPr/>
          <p:nvPr/>
        </p:nvSpPr>
        <p:spPr>
          <a:xfrm>
            <a:off x="6858000" y="4191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核心挑战：大规模数据下的计算瓶颈</a:t>
            </a:r>
            <a:endParaRPr lang="en-US" sz="1100"/>
          </a:p>
        </p:txBody>
      </p:sp>
      <p:sp>
        <p:nvSpPr>
          <p:cNvPr id="30" name="AutoShape 30"/>
          <p:cNvSpPr/>
          <p:nvPr/>
        </p:nvSpPr>
        <p:spPr>
          <a:xfrm>
            <a:off x="6858000" y="4699000"/>
            <a:ext cx="4826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当样本量 n 达到</a:t>
            </a:r>
            <a:r>
              <a:rPr lang="en-US" sz="1400" b="1"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百万甚至亿级</a:t>
            </a: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时，计算一次全梯度 ∇f(w) 需要遍历整个数据集，时间复杂度为 O(n)，这使得单次迭代成本极高，无法满足实时训练需求。这正是随机梯度下降（SGD）等优化算法诞生的根本动因。</a:t>
            </a:r>
            <a:endParaRPr lang="en-US" sz="1100"/>
          </a:p>
        </p:txBody>
      </p:sp>
      <p:sp>
        <p:nvSpPr>
          <p:cNvPr id="31" name="AutoShape 31"/>
          <p:cNvSpPr/>
          <p:nvPr/>
        </p:nvSpPr>
        <p:spPr>
          <a:xfrm>
            <a:off x="6858000" y="6032500"/>
            <a:ext cx="4826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1" u="none" strike="noStrike">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rPr>
              <a:t>图示：凸优化目标下的全局最优解与损失曲面</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52B788">
              <a:alpha val="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3175000" cy="3175000"/>
          </a:xfrm>
          <a:prstGeom prst="ellipse">
            <a:avLst/>
          </a:prstGeom>
          <a:solidFill>
            <a:srgbClr val="E76F51">
              <a:alpha val="8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381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GD vs SGD：全量 vs 随机</a:t>
            </a:r>
            <a:endParaRPr lang="en-US" sz="1100"/>
          </a:p>
        </p:txBody>
      </p:sp>
      <p:sp>
        <p:nvSpPr>
          <p:cNvPr id="5" name="AutoShape 5"/>
          <p:cNvSpPr/>
          <p:nvPr/>
        </p:nvSpPr>
        <p:spPr>
          <a:xfrm>
            <a:off x="508000" y="1270000"/>
            <a:ext cx="5397500" cy="2667000"/>
          </a:xfrm>
          <a:prstGeom prst="roundRect">
            <a:avLst>
              <a:gd name="adj" fmla="val 0"/>
            </a:avLst>
          </a:prstGeom>
          <a:solidFill>
            <a:srgbClr val="FFFFFF">
              <a:alpha val="100000"/>
            </a:srgbClr>
          </a:solidFill>
          <a:ln w="25400" cap="flat" cmpd="sng">
            <a:solidFill>
              <a:srgbClr val="52B788">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698500" y="1460500"/>
            <a:ext cx="5016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2B788"/>
                </a:solidFill>
                <a:latin typeface="Noto Sans SC" panose="020B0200000000000000" charset="-122"/>
                <a:ea typeface="Noto Sans SC" panose="020B0200000000000000" charset="-122"/>
                <a:cs typeface="Noto Sans SC" panose="020B0200000000000000" charset="-122"/>
                <a:sym typeface="Noto Sans SC" panose="020B0200000000000000" charset="-122"/>
              </a:rPr>
              <a:t>01 批量梯度下降 (BGD)</a:t>
            </a:r>
            <a:endParaRPr lang="en-US" sz="1100"/>
          </a:p>
        </p:txBody>
      </p:sp>
      <p:sp>
        <p:nvSpPr>
          <p:cNvPr id="7" name="AutoShape 7"/>
          <p:cNvSpPr/>
          <p:nvPr/>
        </p:nvSpPr>
        <p:spPr>
          <a:xfrm>
            <a:off x="698500" y="1905000"/>
            <a:ext cx="5016500" cy="571500"/>
          </a:xfrm>
          <a:prstGeom prst="roundRect">
            <a:avLst>
              <a:gd name="adj" fmla="val 0"/>
            </a:avLst>
          </a:prstGeom>
          <a:solidFill>
            <a:srgbClr val="ECFDF5">
              <a:alpha val="100000"/>
            </a:srgbClr>
          </a:solidFill>
          <a:ln w="12700" cap="flat" cmpd="sng">
            <a:solidFill>
              <a:srgbClr val="52B788">
                <a:alpha val="30000"/>
              </a:srgbClr>
            </a:solidFill>
            <a:prstDash val="solid"/>
            <a:round/>
          </a:ln>
        </p:spPr>
        <p:txBody>
          <a:bodyPr vert="horz" wrap="square" lIns="63500" tIns="63500" rIns="63500" bIns="63500" rtlCol="0" anchor="ctr"/>
          <a:lstStyle/>
          <a:p>
            <a:pPr algn="ctr">
              <a:defRPr/>
            </a:pPr>
          </a:p>
        </p:txBody>
      </p:sp>
      <mc:AlternateContent xmlns:mc="http://schemas.openxmlformats.org/markup-compatibility/2006">
        <mc:Choice xmlns:a14="http://schemas.microsoft.com/office/drawing/2010/main" Requires="a14">
          <p:sp>
            <p:nvSpPr>
              <p:cNvPr id="8" name="AutoShape 8"/>
              <p:cNvSpPr/>
              <p:nvPr/>
            </p:nvSpPr>
            <p:spPr>
              <a:xfrm>
                <a:off x="762000" y="2006600"/>
                <a:ext cx="4889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公式：</a:t>
                </a:r>
                <a14:m>
                  <m:oMath xmlns:m="http://schemas.openxmlformats.org/officeDocument/2006/math">
                    <m:sSub>
                      <m:sSubPr>
                        <m:ctrlP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m:rPr>
                            <m:sty m:val="p"/>
                          </m:rP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t>w</m:t>
                        </m:r>
                      </m:e>
                      <m:sub>
                        <m:r>
                          <m:rPr>
                            <m:sty m:val="p"/>
                          </m:rP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t>t</m:t>
                        </m:r>
                        <m:r>
                          <a:rPr lang="en-US" altLang="zh-CN" sz="1300" b="0" i="1" u="none" strike="noStrike">
                            <a:solidFill>
                              <a:srgbClr val="4B5563"/>
                            </a:solidFill>
                            <a:latin typeface="Cambria Math" panose="02040503050406030204" charset="0"/>
                            <a:ea typeface="MS Mincho" charset="0"/>
                            <a:cs typeface="Cambria Math" panose="02040503050406030204" charset="0"/>
                            <a:sym typeface="Noto Sans SC" panose="020B0200000000000000" charset="-122"/>
                          </a:rPr>
                          <m:t>+</m:t>
                        </m:r>
                        <m:r>
                          <a:rPr lang="en-US" altLang="zh-CN" sz="1300" b="0" i="1" u="none" strike="noStrike">
                            <a:solidFill>
                              <a:srgbClr val="4B5563"/>
                            </a:solidFill>
                            <a:latin typeface="Cambria Math" panose="02040503050406030204" charset="0"/>
                            <a:ea typeface="MS Mincho" charset="0"/>
                            <a:cs typeface="Cambria Math" panose="02040503050406030204" charset="0"/>
                            <a:sym typeface="Noto Sans SC" panose="020B0200000000000000" charset="-122"/>
                          </a:rPr>
                          <m:t>1</m:t>
                        </m:r>
                      </m:sub>
                    </m:sSub>
                    <m:r>
                      <a:rPr lang="en-US" altLang="zh-CN" sz="1300" b="0" i="1" u="none" strike="noStrike">
                        <a:solidFill>
                          <a:srgbClr val="4B5563"/>
                        </a:solidFill>
                        <a:latin typeface="Cambria Math" panose="02040503050406030204" charset="0"/>
                        <a:ea typeface="MS Mincho" charset="0"/>
                        <a:cs typeface="Cambria Math" panose="02040503050406030204" charset="0"/>
                        <a:sym typeface="Noto Sans SC" panose="020B0200000000000000" charset="-122"/>
                      </a:rPr>
                      <m:t>=</m:t>
                    </m:r>
                    <m:sSub>
                      <m:sSubPr>
                        <m:ctrlP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m:rPr>
                            <m:sty m:val="p"/>
                          </m:rP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t>w</m:t>
                        </m:r>
                      </m:e>
                      <m:sub>
                        <m:r>
                          <m:rPr>
                            <m:sty m:val="p"/>
                          </m:rP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t>t</m:t>
                        </m:r>
                      </m:sub>
                    </m:sSub>
                    <m:r>
                      <a:rPr lang="en-US" altLang="zh-CN" sz="1300" b="0" i="1" u="none" strike="noStrike">
                        <a:solidFill>
                          <a:srgbClr val="4B5563"/>
                        </a:solidFill>
                        <a:latin typeface="Cambria Math" panose="02040503050406030204" charset="0"/>
                        <a:ea typeface="MS Mincho" charset="0"/>
                        <a:cs typeface="Cambria Math" panose="02040503050406030204" charset="0"/>
                        <a:sym typeface="Noto Sans SC" panose="020B0200000000000000" charset="-122"/>
                      </a:rPr>
                      <m:t>−</m:t>
                    </m:r>
                    <m:r>
                      <a:rPr lang="en-US" altLang="zh-CN" sz="1300" b="0" i="1" u="none" strike="noStrike">
                        <a:solidFill>
                          <a:srgbClr val="4B5563"/>
                        </a:solidFill>
                        <a:latin typeface="Cambria Math" panose="02040503050406030204" charset="0"/>
                        <a:ea typeface="MS Mincho" charset="0"/>
                        <a:cs typeface="Cambria Math" panose="02040503050406030204" charset="0"/>
                        <a:sym typeface="Noto Sans SC" panose="020B0200000000000000" charset="-122"/>
                      </a:rPr>
                      <m:t>𝜂</m:t>
                    </m:r>
                    <m:r>
                      <a:rPr lang="en-US" altLang="zh-CN" sz="1300" b="0" i="1" u="none" strike="noStrike">
                        <a:solidFill>
                          <a:srgbClr val="4B5563"/>
                        </a:solidFill>
                        <a:latin typeface="Cambria Math" panose="02040503050406030204" charset="0"/>
                        <a:ea typeface="MS Mincho" charset="0"/>
                        <a:cs typeface="Cambria Math" panose="02040503050406030204" charset="0"/>
                        <a:sym typeface="Noto Sans SC" panose="020B0200000000000000" charset="-122"/>
                      </a:rPr>
                      <m:t>⋅</m:t>
                    </m:r>
                    <m:d>
                      <m:dPr>
                        <m:ctrlP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ctrlPr>
                      </m:dPr>
                      <m:e>
                        <m:f>
                          <m:fPr>
                            <m:ctrlP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ctrlPr>
                          </m:fPr>
                          <m:num>
                            <m:r>
                              <a:rPr lang="en-US" altLang="zh-CN" sz="1300" b="0" i="1" u="none" strike="noStrike">
                                <a:solidFill>
                                  <a:srgbClr val="4B5563"/>
                                </a:solidFill>
                                <a:latin typeface="Cambria Math" panose="02040503050406030204" charset="0"/>
                                <a:ea typeface="MS Mincho" charset="0"/>
                                <a:cs typeface="Cambria Math" panose="02040503050406030204" charset="0"/>
                                <a:sym typeface="Noto Sans SC" panose="020B0200000000000000" charset="-122"/>
                              </a:rPr>
                              <m:t>1</m:t>
                            </m:r>
                          </m:num>
                          <m:den>
                            <m:r>
                              <m:rPr>
                                <m:sty m:val="p"/>
                              </m:rP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t>n</m:t>
                            </m:r>
                          </m:den>
                        </m:f>
                        <m:nary>
                          <m:naryPr>
                            <m:chr m:val="∑"/>
                            <m:limLoc m:val="subSup"/>
                            <m:subHide m:val="on"/>
                            <m:supHide m:val="on"/>
                            <m:ctrlP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ctrlPr>
                          </m:naryPr>
                          <m:sub/>
                          <m:sup/>
                          <m:e>
                            <m:r>
                              <a:rPr lang="en-US" altLang="zh-CN" sz="1300" b="0" i="1" u="none" strike="noStrike">
                                <a:solidFill>
                                  <a:srgbClr val="4B5563"/>
                                </a:solidFill>
                                <a:latin typeface="Cambria Math" panose="02040503050406030204" charset="0"/>
                                <a:ea typeface="MS Mincho" charset="0"/>
                                <a:cs typeface="Cambria Math" panose="02040503050406030204" charset="0"/>
                                <a:sym typeface="Noto Sans SC" panose="020B0200000000000000" charset="-122"/>
                              </a:rPr>
                              <m:t>𝛻</m:t>
                            </m:r>
                          </m:e>
                        </m:nary>
                        <m:sSub>
                          <m:sSubPr>
                            <m:ctrlP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m:rPr>
                                <m:sty m:val="p"/>
                              </m:rP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t>ψ</m:t>
                            </m:r>
                          </m:e>
                          <m:sub>
                            <m:r>
                              <m:rPr>
                                <m:sty m:val="p"/>
                              </m:rP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t>i</m:t>
                            </m:r>
                          </m:sub>
                        </m:sSub>
                      </m:e>
                    </m:d>
                  </m:oMath>
                </a14:m>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（基于全量样本的梯度均值）</a:t>
                </a:r>
                <a:endParaRPr lang="en-US" sz="1100"/>
              </a:p>
            </p:txBody>
          </p:sp>
        </mc:Choice>
        <mc:Fallback>
          <p:sp>
            <p:nvSpPr>
              <p:cNvPr id="8" name="AutoShape 8"/>
              <p:cNvSpPr>
                <a:spLocks noRot="1" noChangeAspect="1" noMove="1" noResize="1" noEditPoints="1" noAdjustHandles="1" noChangeArrowheads="1" noChangeShapeType="1" noTextEdit="1"/>
              </p:cNvSpPr>
              <p:nvPr/>
            </p:nvSpPr>
            <p:spPr>
              <a:xfrm>
                <a:off x="762000" y="2006600"/>
                <a:ext cx="4889500" cy="444500"/>
              </a:xfrm>
              <a:prstGeom prst="rect">
                <a:avLst/>
              </a:prstGeom>
              <a:blipFill rotWithShape="1">
                <a:blip r:embed="rId1"/>
                <a:stretch>
                  <a:fillRect/>
                </a:stretch>
              </a:blipFill>
              <a:ln w="12700" cap="flat" cmpd="sng">
                <a:noFill/>
                <a:prstDash val="solid"/>
                <a:round/>
              </a:ln>
            </p:spPr>
            <p:txBody>
              <a:bodyPr/>
              <a:lstStyle/>
              <a:p>
                <a:r>
                  <a:rPr lang="zh-CN" altLang="en-US">
                    <a:noFill/>
                  </a:rPr>
                  <a:t> </a:t>
                </a:r>
              </a:p>
            </p:txBody>
          </p:sp>
        </mc:Fallback>
      </mc:AlternateContent>
      <p:pic>
        <p:nvPicPr>
          <p:cNvPr id="9" name="Picture 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8500" y="2603500"/>
            <a:ext cx="254000" cy="254000"/>
          </a:xfrm>
          <a:prstGeom prst="rect">
            <a:avLst/>
          </a:prstGeom>
        </p:spPr>
      </p:pic>
      <p:sp>
        <p:nvSpPr>
          <p:cNvPr id="10" name="AutoShape 10"/>
          <p:cNvSpPr/>
          <p:nvPr/>
        </p:nvSpPr>
        <p:spPr>
          <a:xfrm>
            <a:off x="1016000" y="25908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优点：</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梯度无偏且方差为零，收敛路径平滑稳定，理论上可收敛至全局最优解。</a:t>
            </a:r>
            <a:endParaRPr lang="en-US" sz="1100"/>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500" y="3175000"/>
            <a:ext cx="254000" cy="254000"/>
          </a:xfrm>
          <a:prstGeom prst="rect">
            <a:avLst/>
          </a:prstGeom>
        </p:spPr>
      </p:pic>
      <p:sp>
        <p:nvSpPr>
          <p:cNvPr id="12" name="AutoShape 12"/>
          <p:cNvSpPr/>
          <p:nvPr/>
        </p:nvSpPr>
        <p:spPr>
          <a:xfrm>
            <a:off x="1016000" y="3149600"/>
            <a:ext cx="469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缺点：</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每轮迭代需遍历全量样本，计算复杂度为O(n)，在百万级大数据集下训练速度极慢，内存占用高。</a:t>
            </a:r>
            <a:endParaRPr lang="en-US" sz="1100"/>
          </a:p>
        </p:txBody>
      </p:sp>
      <p:sp>
        <p:nvSpPr>
          <p:cNvPr id="13" name="AutoShape 13"/>
          <p:cNvSpPr/>
          <p:nvPr/>
        </p:nvSpPr>
        <p:spPr>
          <a:xfrm>
            <a:off x="6286500" y="1270000"/>
            <a:ext cx="5397500" cy="2667000"/>
          </a:xfrm>
          <a:prstGeom prst="roundRect">
            <a:avLst>
              <a:gd name="adj" fmla="val 0"/>
            </a:avLst>
          </a:prstGeom>
          <a:solidFill>
            <a:srgbClr val="FFFFFF">
              <a:alpha val="100000"/>
            </a:srgbClr>
          </a:solidFill>
          <a:ln w="25400" cap="flat" cmpd="sng">
            <a:solidFill>
              <a:srgbClr val="E76F51">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477000" y="1460500"/>
            <a:ext cx="5016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76F51"/>
                </a:solidFill>
                <a:latin typeface="Noto Sans SC" panose="020B0200000000000000" charset="-122"/>
                <a:ea typeface="Noto Sans SC" panose="020B0200000000000000" charset="-122"/>
                <a:cs typeface="Noto Sans SC" panose="020B0200000000000000" charset="-122"/>
                <a:sym typeface="Noto Sans SC" panose="020B0200000000000000" charset="-122"/>
              </a:rPr>
              <a:t>02 随机梯度下降 (SGD)</a:t>
            </a:r>
            <a:endParaRPr lang="en-US" sz="1100"/>
          </a:p>
        </p:txBody>
      </p:sp>
      <p:sp>
        <p:nvSpPr>
          <p:cNvPr id="15" name="AutoShape 15"/>
          <p:cNvSpPr/>
          <p:nvPr/>
        </p:nvSpPr>
        <p:spPr>
          <a:xfrm>
            <a:off x="6477000" y="1905000"/>
            <a:ext cx="5016500" cy="571500"/>
          </a:xfrm>
          <a:prstGeom prst="roundRect">
            <a:avLst>
              <a:gd name="adj" fmla="val 0"/>
            </a:avLst>
          </a:prstGeom>
          <a:solidFill>
            <a:srgbClr val="FFF1F2">
              <a:alpha val="100000"/>
            </a:srgbClr>
          </a:solidFill>
          <a:ln w="12700" cap="flat" cmpd="sng">
            <a:solidFill>
              <a:srgbClr val="E76F51">
                <a:alpha val="30000"/>
              </a:srgbClr>
            </a:solidFill>
            <a:prstDash val="solid"/>
            <a:round/>
          </a:ln>
        </p:spPr>
        <p:txBody>
          <a:bodyPr vert="horz" wrap="square" lIns="63500" tIns="63500" rIns="63500" bIns="63500" rtlCol="0" anchor="ctr"/>
          <a:lstStyle/>
          <a:p>
            <a:pPr algn="ctr">
              <a:defRPr/>
            </a:pPr>
          </a:p>
        </p:txBody>
      </p:sp>
      <mc:AlternateContent xmlns:mc="http://schemas.openxmlformats.org/markup-compatibility/2006">
        <mc:Choice xmlns:a14="http://schemas.microsoft.com/office/drawing/2010/main" Requires="a14">
          <p:sp>
            <p:nvSpPr>
              <p:cNvPr id="16" name="AutoShape 16"/>
              <p:cNvSpPr/>
              <p:nvPr/>
            </p:nvSpPr>
            <p:spPr>
              <a:xfrm>
                <a:off x="6540500" y="2006600"/>
                <a:ext cx="4889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公式：</a:t>
                </a:r>
                <a14:m>
                  <m:oMath xmlns:m="http://schemas.openxmlformats.org/officeDocument/2006/math">
                    <m:sSub>
                      <m:sSubPr>
                        <m:ctrlP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m:rPr>
                            <m:sty m:val="p"/>
                          </m:rP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t>w</m:t>
                        </m:r>
                      </m:e>
                      <m:sub>
                        <m:r>
                          <m:rPr>
                            <m:sty m:val="p"/>
                          </m:rP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t>t</m:t>
                        </m:r>
                        <m: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t>1</m:t>
                        </m:r>
                      </m:sub>
                    </m:sSub>
                    <m: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m:rPr>
                            <m:sty m:val="p"/>
                          </m:rP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t>w</m:t>
                        </m:r>
                      </m:e>
                      <m:sub>
                        <m:r>
                          <m:rPr>
                            <m:sty m:val="p"/>
                          </m:rP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t>t</m:t>
                        </m:r>
                      </m:sub>
                    </m:sSub>
                    <m: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t>𝜂</m:t>
                    </m:r>
                    <m: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m:rPr>
                            <m:sty m:val="p"/>
                          </m:rP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t>ψ</m:t>
                        </m:r>
                      </m:e>
                      <m:sub>
                        <m:r>
                          <m:rPr>
                            <m:sty m:val="p"/>
                          </m:rPr>
                          <a:rPr lang="en-US" altLang="zh-CN" sz="13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t>i</m:t>
                        </m:r>
                      </m:sub>
                    </m:sSub>
                  </m:oMath>
                </a14:m>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（基于单个随机样本的梯度）</a:t>
                </a:r>
                <a:endParaRPr lang="en-US" sz="1100"/>
              </a:p>
            </p:txBody>
          </p:sp>
        </mc:Choice>
        <mc:Fallback>
          <p:sp>
            <p:nvSpPr>
              <p:cNvPr id="16" name="AutoShape 16"/>
              <p:cNvSpPr>
                <a:spLocks noRot="1" noChangeAspect="1" noMove="1" noResize="1" noEditPoints="1" noAdjustHandles="1" noChangeArrowheads="1" noChangeShapeType="1" noTextEdit="1"/>
              </p:cNvSpPr>
              <p:nvPr/>
            </p:nvSpPr>
            <p:spPr>
              <a:xfrm>
                <a:off x="6540500" y="2006600"/>
                <a:ext cx="4889500" cy="444500"/>
              </a:xfrm>
              <a:prstGeom prst="rect">
                <a:avLst/>
              </a:prstGeom>
              <a:blipFill rotWithShape="1">
                <a:blip r:embed="rId6"/>
                <a:stretch>
                  <a:fillRect/>
                </a:stretch>
              </a:blipFill>
              <a:ln w="12700" cap="flat" cmpd="sng">
                <a:noFill/>
                <a:prstDash val="solid"/>
                <a:round/>
              </a:ln>
            </p:spPr>
            <p:txBody>
              <a:bodyPr/>
              <a:lstStyle/>
              <a:p>
                <a:r>
                  <a:rPr lang="zh-CN" altLang="en-US">
                    <a:noFill/>
                  </a:rPr>
                  <a:t> </a:t>
                </a:r>
              </a:p>
            </p:txBody>
          </p:sp>
        </mc:Fallback>
      </mc:AlternateContent>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2603500"/>
            <a:ext cx="254000" cy="254000"/>
          </a:xfrm>
          <a:prstGeom prst="rect">
            <a:avLst/>
          </a:prstGeom>
        </p:spPr>
      </p:pic>
      <p:sp>
        <p:nvSpPr>
          <p:cNvPr id="18" name="AutoShape 18"/>
          <p:cNvSpPr/>
          <p:nvPr/>
        </p:nvSpPr>
        <p:spPr>
          <a:xfrm>
            <a:off x="6794500" y="2582545"/>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优点：</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单样本计算，复杂度仅O(1)，迭代速度极快，适合在线学习和大数据流式处理场景。</a:t>
            </a:r>
            <a:endParaRPr lang="en-US" sz="1100"/>
          </a:p>
        </p:txBody>
      </p:sp>
      <p:pic>
        <p:nvPicPr>
          <p:cNvPr id="19"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77000" y="3175000"/>
            <a:ext cx="254000" cy="254000"/>
          </a:xfrm>
          <a:prstGeom prst="rect">
            <a:avLst/>
          </a:prstGeom>
        </p:spPr>
      </p:pic>
      <p:sp>
        <p:nvSpPr>
          <p:cNvPr id="20" name="AutoShape 20"/>
          <p:cNvSpPr/>
          <p:nvPr/>
        </p:nvSpPr>
        <p:spPr>
          <a:xfrm>
            <a:off x="6794500" y="3124200"/>
            <a:ext cx="469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缺点：</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梯度具有高方差，参数更新路径剧烈震荡，易错过最优解；通常需要配合学习率衰减策略才能保证收敛。</a:t>
            </a:r>
            <a:endParaRPr lang="en-US" sz="1100"/>
          </a:p>
        </p:txBody>
      </p:sp>
      <p:graphicFrame>
        <p:nvGraphicFramePr>
          <p:cNvPr id="21" name="Table 21"/>
          <p:cNvGraphicFramePr>
            <a:graphicFrameLocks noGrp="1"/>
          </p:cNvGraphicFramePr>
          <p:nvPr/>
        </p:nvGraphicFramePr>
        <p:xfrm>
          <a:off x="508000" y="4191000"/>
          <a:ext cx="11176000" cy="2133600"/>
        </p:xfrm>
        <a:graphic>
          <a:graphicData uri="http://schemas.openxmlformats.org/drawingml/2006/table">
            <a:tbl>
              <a:tblPr>
                <a:effectLst/>
              </a:tblPr>
              <a:tblGrid>
                <a:gridCol w="2794000"/>
                <a:gridCol w="4191000"/>
                <a:gridCol w="4191000"/>
              </a:tblGrid>
              <a:tr h="508000">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核心维度</a:t>
                      </a:r>
                      <a:endParaRPr lang="en-US" sz="1100"/>
                    </a:p>
                  </a:txBody>
                  <a:tcPr marL="101600" marR="101600" marT="101600" marB="101600" anchor="t" anchorCtr="0">
                    <a:lnL>
                      <a:noFill/>
                    </a:lnL>
                    <a:lnR>
                      <a:noFill/>
                    </a:lnR>
                    <a:lnT>
                      <a:noFill/>
                    </a:lnT>
                    <a:lnB>
                      <a:noFill/>
                    </a:lnB>
                    <a:solidFill>
                      <a:srgbClr val="1B4332">
                        <a:alpha val="100000"/>
                      </a:srgbClr>
                    </a:solidFill>
                  </a:tcPr>
                </a:tc>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批量梯度下降 (GD)</a:t>
                      </a:r>
                      <a:endParaRPr lang="en-US" sz="1100"/>
                    </a:p>
                  </a:txBody>
                  <a:tcPr marL="101600" marR="101600" marT="101600" marB="101600" anchor="t" anchorCtr="0">
                    <a:lnL>
                      <a:noFill/>
                    </a:lnL>
                    <a:lnR>
                      <a:noFill/>
                    </a:lnR>
                    <a:lnT>
                      <a:noFill/>
                    </a:lnT>
                    <a:lnB>
                      <a:noFill/>
                    </a:lnB>
                    <a:solidFill>
                      <a:srgbClr val="1B4332">
                        <a:alpha val="100000"/>
                      </a:srgbClr>
                    </a:solidFill>
                  </a:tcPr>
                </a:tc>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随机梯度下降 (SGD)</a:t>
                      </a:r>
                      <a:endParaRPr lang="en-US" sz="1100"/>
                    </a:p>
                  </a:txBody>
                  <a:tcPr marL="101600" marR="101600" marT="101600" marB="101600" anchor="t" anchorCtr="0">
                    <a:lnL>
                      <a:noFill/>
                    </a:lnL>
                    <a:lnR>
                      <a:noFill/>
                    </a:lnR>
                    <a:lnT>
                      <a:noFill/>
                    </a:lnT>
                    <a:lnB>
                      <a:noFill/>
                    </a:lnB>
                    <a:solidFill>
                      <a:srgbClr val="1B4332">
                        <a:alpha val="100000"/>
                      </a:srgbClr>
                    </a:solidFill>
                  </a:tcPr>
                </a:tc>
              </a:tr>
              <a:tr h="406400">
                <a:tc>
                  <a:txBody>
                    <a:bodyPr rtlCol="0"/>
                    <a:lstStyle/>
                    <a:p>
                      <a:pPr marL="0" indent="0" algn="ctr">
                        <a:lnSpc>
                          <a:spcPct val="100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每步计算量</a:t>
                      </a:r>
                      <a:endParaRPr lang="en-US" sz="1100"/>
                    </a:p>
                  </a:txBody>
                  <a:tcPr marL="101600" marR="101600" marT="101600" marB="101600" anchor="t" anchorCtr="0">
                    <a:lnL>
                      <a:noFill/>
                    </a:lnL>
                    <a:lnR>
                      <a:noFill/>
                    </a:lnR>
                    <a:lnT>
                      <a:noFill/>
                    </a:lnT>
                    <a:lnB>
                      <a:noFill/>
                    </a:lnB>
                    <a:solidFill>
                      <a:srgbClr val="F0FFF4">
                        <a:alpha val="100000"/>
                      </a:srgbClr>
                    </a:solidFill>
                  </a:tcPr>
                </a:tc>
                <a:tc>
                  <a:txBody>
                    <a:bodyPr rtlCol="0"/>
                    <a:lstStyle/>
                    <a:p>
                      <a:pPr marL="127000" indent="0" algn="l">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O(n)，需遍历全量训练样本</a:t>
                      </a:r>
                      <a:endParaRPr lang="en-US" sz="1100"/>
                    </a:p>
                  </a:txBody>
                  <a:tcPr marL="101600" marR="101600" marT="101600" marB="101600" anchor="t" anchorCtr="0">
                    <a:lnL>
                      <a:noFill/>
                    </a:lnL>
                    <a:lnR>
                      <a:noFill/>
                    </a:lnR>
                    <a:lnT>
                      <a:noFill/>
                    </a:lnT>
                    <a:lnB>
                      <a:noFill/>
                    </a:lnB>
                    <a:solidFill>
                      <a:srgbClr val="F0FFF4">
                        <a:alpha val="100000"/>
                      </a:srgbClr>
                    </a:solidFill>
                  </a:tcPr>
                </a:tc>
                <a:tc>
                  <a:txBody>
                    <a:bodyPr rtlCol="0"/>
                    <a:lstStyle/>
                    <a:p>
                      <a:pPr marL="127000" indent="0" algn="l">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O(1)，仅需单个随机样本</a:t>
                      </a:r>
                      <a:endParaRPr lang="en-US" sz="1100"/>
                    </a:p>
                  </a:txBody>
                  <a:tcPr marL="101600" marR="101600" marT="101600" marB="101600" anchor="t" anchorCtr="0">
                    <a:lnL>
                      <a:noFill/>
                    </a:lnL>
                    <a:lnR>
                      <a:noFill/>
                    </a:lnR>
                    <a:lnT>
                      <a:noFill/>
                    </a:lnT>
                    <a:lnB>
                      <a:noFill/>
                    </a:lnB>
                    <a:solidFill>
                      <a:srgbClr val="F0FFF4">
                        <a:alpha val="100000"/>
                      </a:srgbClr>
                    </a:solidFill>
                  </a:tcPr>
                </a:tc>
              </a:tr>
              <a:tr h="406400">
                <a:tc>
                  <a:txBody>
                    <a:bodyPr rtlCol="0"/>
                    <a:lstStyle/>
                    <a:p>
                      <a:pPr marL="0" indent="0" algn="ctr">
                        <a:lnSpc>
                          <a:spcPct val="100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梯度方差</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127000" indent="0" algn="l">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方差为0，梯度估计极其准确</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127000" indent="0" algn="l">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方差极大，梯度波动剧烈</a:t>
                      </a:r>
                      <a:endParaRPr lang="en-US" sz="1100"/>
                    </a:p>
                  </a:txBody>
                  <a:tcPr marL="101600" marR="101600" marT="101600" marB="101600" anchor="t" anchorCtr="0">
                    <a:lnL>
                      <a:noFill/>
                    </a:lnL>
                    <a:lnR>
                      <a:noFill/>
                    </a:lnR>
                    <a:lnT>
                      <a:noFill/>
                    </a:lnT>
                    <a:lnB>
                      <a:noFill/>
                    </a:lnB>
                    <a:solidFill>
                      <a:srgbClr val="FFFFFF">
                        <a:alpha val="100000"/>
                      </a:srgbClr>
                    </a:solidFill>
                  </a:tcPr>
                </a:tc>
              </a:tr>
              <a:tr h="406400">
                <a:tc>
                  <a:txBody>
                    <a:bodyPr rtlCol="0"/>
                    <a:lstStyle/>
                    <a:p>
                      <a:pPr marL="0" indent="0" algn="ctr">
                        <a:lnSpc>
                          <a:spcPct val="100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收敛特性</a:t>
                      </a:r>
                      <a:endParaRPr lang="en-US" sz="1100"/>
                    </a:p>
                  </a:txBody>
                  <a:tcPr marL="101600" marR="101600" marT="101600" marB="101600" anchor="t" anchorCtr="0">
                    <a:lnL>
                      <a:noFill/>
                    </a:lnL>
                    <a:lnR>
                      <a:noFill/>
                    </a:lnR>
                    <a:lnT>
                      <a:noFill/>
                    </a:lnT>
                    <a:lnB>
                      <a:noFill/>
                    </a:lnB>
                    <a:solidFill>
                      <a:srgbClr val="F0FFF4">
                        <a:alpha val="100000"/>
                      </a:srgbClr>
                    </a:solidFill>
                  </a:tcPr>
                </a:tc>
                <a:tc>
                  <a:txBody>
                    <a:bodyPr rtlCol="0"/>
                    <a:lstStyle/>
                    <a:p>
                      <a:pPr marL="127000" indent="0" algn="l">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收敛平滑，易找到全局最优，但速度慢</a:t>
                      </a:r>
                      <a:endParaRPr lang="en-US" sz="1100"/>
                    </a:p>
                  </a:txBody>
                  <a:tcPr marL="101600" marR="101600" marT="101600" marB="101600" anchor="t" anchorCtr="0">
                    <a:lnL>
                      <a:noFill/>
                    </a:lnL>
                    <a:lnR>
                      <a:noFill/>
                    </a:lnR>
                    <a:lnT>
                      <a:noFill/>
                    </a:lnT>
                    <a:lnB>
                      <a:noFill/>
                    </a:lnB>
                    <a:solidFill>
                      <a:srgbClr val="F0FFF4">
                        <a:alpha val="100000"/>
                      </a:srgbClr>
                    </a:solidFill>
                  </a:tcPr>
                </a:tc>
                <a:tc>
                  <a:txBody>
                    <a:bodyPr rtlCol="0"/>
                    <a:lstStyle/>
                    <a:p>
                      <a:pPr marL="127000" indent="0" algn="l">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收敛震荡，需学习率衰减，可能收敛到局部最优</a:t>
                      </a:r>
                      <a:endParaRPr lang="en-US" sz="1100"/>
                    </a:p>
                  </a:txBody>
                  <a:tcPr marL="101600" marR="101600" marT="101600" marB="101600" anchor="t" anchorCtr="0">
                    <a:lnL>
                      <a:noFill/>
                    </a:lnL>
                    <a:lnR>
                      <a:noFill/>
                    </a:lnR>
                    <a:lnT>
                      <a:noFill/>
                    </a:lnT>
                    <a:lnB>
                      <a:noFill/>
                    </a:lnB>
                    <a:solidFill>
                      <a:srgbClr val="F0FFF4">
                        <a:alpha val="100000"/>
                      </a:srgbClr>
                    </a:solidFill>
                  </a:tcPr>
                </a:tc>
              </a:tr>
              <a:tr h="406400">
                <a:tc>
                  <a:txBody>
                    <a:bodyPr rtlCol="0"/>
                    <a:lstStyle/>
                    <a:p>
                      <a:pPr marL="0" indent="0" algn="ctr">
                        <a:lnSpc>
                          <a:spcPct val="100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适用场景</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127000" indent="0" algn="l">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小规模数据集、离线训练、追求高精度</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127000" indent="0" algn="l">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大规模数据集、在线学习、快速迭代更新</a:t>
                      </a:r>
                      <a:endParaRPr lang="en-US" sz="1100"/>
                    </a:p>
                  </a:txBody>
                  <a:tcPr marL="101600" marR="101600" marT="101600" marB="101600" anchor="t" anchorCtr="0">
                    <a:lnL>
                      <a:noFill/>
                    </a:lnL>
                    <a:lnR>
                      <a:noFill/>
                    </a:lnR>
                    <a:lnT>
                      <a:noFill/>
                    </a:lnT>
                    <a:lnB>
                      <a:noFill/>
                    </a:lnB>
                    <a:solidFill>
                      <a:srgbClr val="FFFFFF">
                        <a:alpha val="100000"/>
                      </a:srgbClr>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C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1B4332">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5080000"/>
            <a:ext cx="2540000" cy="2540000"/>
          </a:xfrm>
          <a:prstGeom prst="ellipse">
            <a:avLst/>
          </a:prstGeom>
          <a:solidFill>
            <a:srgbClr val="E76F51">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SGD 为什么震荡？— 方差分析</a:t>
            </a:r>
            <a:endParaRPr lang="en-US" sz="1100"/>
          </a:p>
        </p:txBody>
      </p:sp>
      <p:sp>
        <p:nvSpPr>
          <p:cNvPr id="5" name="AutoShape 5"/>
          <p:cNvSpPr/>
          <p:nvPr/>
        </p:nvSpPr>
        <p:spPr>
          <a:xfrm>
            <a:off x="508000" y="1524000"/>
            <a:ext cx="5397500" cy="1905000"/>
          </a:xfrm>
          <a:prstGeom prst="roundRect">
            <a:avLst>
              <a:gd name="adj" fmla="val 0"/>
            </a:avLst>
          </a:prstGeom>
          <a:solidFill>
            <a:srgbClr val="F0FFF4">
              <a:alpha val="100000"/>
            </a:srgbClr>
          </a:solidFill>
          <a:ln w="12700" cap="flat" cmpd="sng">
            <a:solidFill>
              <a:srgbClr val="1B4332">
                <a:alpha val="1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698500" y="1714500"/>
            <a:ext cx="5016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01 核心数学特性</a:t>
            </a:r>
            <a:endParaRPr lang="en-US" sz="1100"/>
          </a:p>
        </p:txBody>
      </p:sp>
      <mc:AlternateContent xmlns:mc="http://schemas.openxmlformats.org/markup-compatibility/2006">
        <mc:Choice xmlns:a14="http://schemas.microsoft.com/office/drawing/2010/main" Requires="a14">
          <p:sp>
            <p:nvSpPr>
              <p:cNvPr id="7" name="AutoShape 7"/>
              <p:cNvSpPr/>
              <p:nvPr/>
            </p:nvSpPr>
            <p:spPr>
              <a:xfrm>
                <a:off x="698500" y="2159000"/>
                <a:ext cx="5016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无偏性：</a:t>
                </a:r>
                <a14:m>
                  <m:oMath xmlns:m="http://schemas.openxmlformats.org/officeDocument/2006/math">
                    <m:sSub>
                      <m:sSubPr>
                        <m:ctrlP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sub>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𝑡</m:t>
                        </m:r>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1</m:t>
                        </m:r>
                      </m:sub>
                    </m:sSub>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sub>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𝑡</m:t>
                        </m:r>
                      </m:sub>
                    </m:sSub>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𝜂</m:t>
                    </m:r>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𝜓</m:t>
                        </m:r>
                      </m:e>
                      <m:sub>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𝑖𝑡</m:t>
                        </m:r>
                      </m:sub>
                    </m:sSub>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sub>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𝑡</m:t>
                        </m:r>
                      </m:sub>
                    </m:sSub>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oMath>
                </a14:m>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 期望方向正确，保证长期收敛性</a:t>
                </a:r>
                <a:endParaRPr lang="en-US" sz="1100"/>
              </a:p>
              <a:p>
                <a:pPr marL="0" indent="0" algn="l">
                  <a:lnSpc>
                    <a:spcPct val="117000"/>
                  </a:lnSpc>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高方差：</a:t>
                </a:r>
                <a14:m>
                  <m:oMath xmlns:m="http://schemas.openxmlformats.org/officeDocument/2006/math">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𝑉𝑎𝑟</m:t>
                    </m:r>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𝜓</m:t>
                        </m:r>
                      </m:e>
                      <m:sub>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𝑖</m:t>
                        </m:r>
                      </m:sub>
                    </m:sSub>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p>
                      <m:sSupPr>
                        <m:ctrlP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pPr>
                      <m:e>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𝜎</m:t>
                        </m:r>
                      </m:e>
                      <m:sup>
                        <m:r>
                          <a:rPr lang="en-US" altLang="zh-CN" sz="1400" b="1"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2</m:t>
                        </m:r>
                      </m:sup>
                    </m:sSup>
                  </m:oMath>
                </a14:m>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 单步梯度波动剧烈，方向具有随机性</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mc:Choice>
        <mc:Fallback>
          <p:sp>
            <p:nvSpPr>
              <p:cNvPr id="7" name="AutoShape 7"/>
              <p:cNvSpPr>
                <a:spLocks noRot="1" noChangeAspect="1" noMove="1" noResize="1" noEditPoints="1" noAdjustHandles="1" noChangeArrowheads="1" noChangeShapeType="1" noTextEdit="1"/>
              </p:cNvSpPr>
              <p:nvPr/>
            </p:nvSpPr>
            <p:spPr>
              <a:xfrm>
                <a:off x="698500" y="2159000"/>
                <a:ext cx="5016500" cy="1143000"/>
              </a:xfrm>
              <a:prstGeom prst="rect">
                <a:avLst/>
              </a:prstGeom>
              <a:blipFill rotWithShape="1">
                <a:blip r:embed="rId1"/>
                <a:stretch>
                  <a:fillRect/>
                </a:stretch>
              </a:blipFill>
              <a:ln w="12700" cap="flat" cmpd="sng">
                <a:noFill/>
                <a:prstDash val="solid"/>
                <a:round/>
              </a:ln>
            </p:spPr>
            <p:txBody>
              <a:bodyPr/>
              <a:lstStyle/>
              <a:p>
                <a:r>
                  <a:rPr lang="zh-CN" altLang="en-US">
                    <a:noFill/>
                  </a:rPr>
                  <a:t> </a:t>
                </a:r>
              </a:p>
            </p:txBody>
          </p:sp>
        </mc:Fallback>
      </mc:AlternateContent>
      <p:sp>
        <p:nvSpPr>
          <p:cNvPr id="8" name="AutoShape 8"/>
          <p:cNvSpPr/>
          <p:nvPr/>
        </p:nvSpPr>
        <p:spPr>
          <a:xfrm>
            <a:off x="6286500" y="1524000"/>
            <a:ext cx="5397500" cy="1905000"/>
          </a:xfrm>
          <a:prstGeom prst="roundRect">
            <a:avLst>
              <a:gd name="adj" fmla="val 0"/>
            </a:avLst>
          </a:prstGeom>
          <a:solidFill>
            <a:srgbClr val="E76F51">
              <a:alpha val="8000"/>
            </a:srgbClr>
          </a:solidFill>
          <a:ln w="12700" cap="flat" cmpd="sng">
            <a:solidFill>
              <a:srgbClr val="E76F51">
                <a:alpha val="2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477000" y="1714500"/>
            <a:ext cx="5016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76F51"/>
                </a:solidFill>
                <a:latin typeface="Noto Sans SC" panose="020B0200000000000000" charset="-122"/>
                <a:ea typeface="Noto Sans SC" panose="020B0200000000000000" charset="-122"/>
                <a:cs typeface="Noto Sans SC" panose="020B0200000000000000" charset="-122"/>
                <a:sym typeface="Noto Sans SC" panose="020B0200000000000000" charset="-122"/>
              </a:rPr>
              <a:t>02 震荡的本质原因</a:t>
            </a:r>
            <a:endParaRPr lang="en-US" sz="1100"/>
          </a:p>
        </p:txBody>
      </p:sp>
      <mc:AlternateContent xmlns:mc="http://schemas.openxmlformats.org/markup-compatibility/2006">
        <mc:Choice xmlns:a14="http://schemas.microsoft.com/office/drawing/2010/main" Requires="a14">
          <p:sp>
            <p:nvSpPr>
              <p:cNvPr id="10" name="AutoShape 10"/>
              <p:cNvSpPr/>
              <p:nvPr/>
            </p:nvSpPr>
            <p:spPr>
              <a:xfrm>
                <a:off x="6477000" y="2159000"/>
                <a:ext cx="5016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在最优点</a:t>
                </a:r>
                <a14:m>
                  <m:oMath xmlns:m="http://schemas.openxmlformats.org/officeDocument/2006/math">
                    <m:sSup>
                      <m:sSupPr>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pPr>
                      <m:e>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sup>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sup>
                    </m:sSup>
                  </m:oMath>
                </a14:m>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附近，全量梯度</a:t>
                </a:r>
                <a14:m>
                  <m:oMath xmlns:m="http://schemas.openxmlformats.org/officeDocument/2006/math">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ψ</m:t>
                    </m:r>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p>
                      <m:sSupPr>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pPr>
                      <m:e>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w</m:t>
                        </m:r>
                      </m:e>
                      <m:sup>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sup>
                    </m:sSup>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0</m:t>
                    </m:r>
                  </m:oMath>
                </a14:m>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，但单个样本梯度</a:t>
                </a:r>
                <a14:m>
                  <m:oMath xmlns:m="http://schemas.openxmlformats.org/officeDocument/2006/math">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ψ</m:t>
                        </m:r>
                      </m:e>
                      <m:sub>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i</m:t>
                        </m:r>
                      </m:sub>
                    </m:sSub>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p>
                      <m:sSupPr>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pPr>
                      <m:e>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w</m:t>
                        </m:r>
                      </m:e>
                      <m:sup>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sup>
                    </m:sSup>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oMath>
                </a14:m>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仍存在显著随机噪声。这种持续扰动导致SGD在最优值周围反复“弹跳”。为抑制震荡需降低学习率，却因此牺牲了收敛速度，形成“震荡-降速”的两难困境。</a:t>
                </a:r>
                <a:endParaRPr lang="en-US" sz="1100"/>
              </a:p>
            </p:txBody>
          </p:sp>
        </mc:Choice>
        <mc:Fallback>
          <p:sp>
            <p:nvSpPr>
              <p:cNvPr id="10" name="AutoShape 10"/>
              <p:cNvSpPr>
                <a:spLocks noRot="1" noChangeAspect="1" noMove="1" noResize="1" noEditPoints="1" noAdjustHandles="1" noChangeArrowheads="1" noChangeShapeType="1" noTextEdit="1"/>
              </p:cNvSpPr>
              <p:nvPr/>
            </p:nvSpPr>
            <p:spPr>
              <a:xfrm>
                <a:off x="6477000" y="2159000"/>
                <a:ext cx="5016500" cy="1143000"/>
              </a:xfrm>
              <a:prstGeom prst="rect">
                <a:avLst/>
              </a:prstGeom>
              <a:blipFill rotWithShape="1">
                <a:blip r:embed="rId2"/>
                <a:stretch>
                  <a:fillRect/>
                </a:stretch>
              </a:blipFill>
              <a:ln w="12700" cap="flat" cmpd="sng">
                <a:noFill/>
                <a:prstDash val="solid"/>
                <a:round/>
              </a:ln>
            </p:spPr>
            <p:txBody>
              <a:bodyPr/>
              <a:lstStyle/>
              <a:p>
                <a:r>
                  <a:rPr lang="zh-CN" altLang="en-US">
                    <a:noFill/>
                  </a:rPr>
                  <a:t> </a:t>
                </a:r>
              </a:p>
            </p:txBody>
          </p:sp>
        </mc:Fallback>
      </mc:AlternateContent>
      <p:sp>
        <p:nvSpPr>
          <p:cNvPr id="11" name="AutoShape 11"/>
          <p:cNvSpPr/>
          <p:nvPr/>
        </p:nvSpPr>
        <p:spPr>
          <a:xfrm>
            <a:off x="508000" y="3810000"/>
            <a:ext cx="1117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收敛轨迹对比：梯度下降 (GD) vs 随机梯度下降 (SGD)</a:t>
            </a:r>
            <a:endParaRPr lang="en-US" sz="1100"/>
          </a:p>
        </p:txBody>
      </p:sp>
      <p:sp>
        <p:nvSpPr>
          <p:cNvPr id="12" name="AutoShape 12"/>
          <p:cNvSpPr/>
          <p:nvPr/>
        </p:nvSpPr>
        <p:spPr>
          <a:xfrm>
            <a:off x="508000" y="4318000"/>
            <a:ext cx="11176000" cy="1905000"/>
          </a:xfrm>
          <a:prstGeom prst="roundRect">
            <a:avLst>
              <a:gd name="adj" fmla="val 0"/>
            </a:avLst>
          </a:prstGeom>
          <a:solidFill>
            <a:srgbClr val="F3F4F6">
              <a:alpha val="40000"/>
            </a:srgbClr>
          </a:solidFill>
          <a:ln w="25400" cap="flat" cmpd="sng">
            <a:noFill/>
            <a:prstDash val="solid"/>
            <a:round/>
          </a:ln>
        </p:spPr>
        <p:txBody>
          <a:bodyPr vert="horz" wrap="square" lIns="63500" tIns="63500" rIns="63500" bIns="63500" rtlCol="0" anchor="ctr"/>
          <a:lstStyle/>
          <a:p>
            <a:pPr algn="ctr">
              <a:defRPr/>
            </a:pPr>
          </a:p>
        </p:txBody>
      </p:sp>
      <p:cxnSp>
        <p:nvCxnSpPr>
          <p:cNvPr id="13" name="Connector 13"/>
          <p:cNvCxnSpPr/>
          <p:nvPr/>
        </p:nvCxnSpPr>
        <p:spPr>
          <a:xfrm rot="5365623">
            <a:off x="381000" y="5200682"/>
            <a:ext cx="1270000" cy="12700"/>
          </a:xfrm>
          <a:prstGeom prst="straightConnector1">
            <a:avLst/>
          </a:prstGeom>
          <a:solidFill>
            <a:srgbClr val="DEE0E3">
              <a:alpha val="100000"/>
            </a:srgbClr>
          </a:solidFill>
          <a:ln w="12700" cap="flat" cmpd="sng">
            <a:solidFill>
              <a:srgbClr val="9CA3AF">
                <a:alpha val="100000"/>
              </a:srgbClr>
            </a:solidFill>
            <a:prstDash val="solid"/>
            <a:round/>
            <a:headEnd type="none" w="med" len="med"/>
            <a:tailEnd type="none" w="med" len="med"/>
          </a:ln>
        </p:spPr>
      </p:cxnSp>
      <p:cxnSp>
        <p:nvCxnSpPr>
          <p:cNvPr id="14" name="Connector 14"/>
          <p:cNvCxnSpPr/>
          <p:nvPr/>
        </p:nvCxnSpPr>
        <p:spPr>
          <a:xfrm rot="-4297">
            <a:off x="1016004" y="5835650"/>
            <a:ext cx="10160000" cy="12700"/>
          </a:xfrm>
          <a:prstGeom prst="straightConnector1">
            <a:avLst/>
          </a:prstGeom>
          <a:solidFill>
            <a:srgbClr val="DEE0E3">
              <a:alpha val="100000"/>
            </a:srgbClr>
          </a:solidFill>
          <a:ln w="12700" cap="flat" cmpd="sng">
            <a:solidFill>
              <a:srgbClr val="9CA3AF">
                <a:alpha val="100000"/>
              </a:srgbClr>
            </a:solidFill>
            <a:prstDash val="solid"/>
            <a:round/>
            <a:headEnd type="none" w="med" len="med"/>
            <a:tailEnd type="none" w="med" len="med"/>
          </a:ln>
        </p:spPr>
      </p:cxnSp>
      <p:sp>
        <p:nvSpPr>
          <p:cNvPr id="15" name="AutoShape 15"/>
          <p:cNvSpPr/>
          <p:nvPr/>
        </p:nvSpPr>
        <p:spPr>
          <a:xfrm>
            <a:off x="571500" y="4572000"/>
            <a:ext cx="381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w</a:t>
            </a:r>
            <a:endParaRPr lang="en-US" sz="1100"/>
          </a:p>
        </p:txBody>
      </p:sp>
      <p:sp>
        <p:nvSpPr>
          <p:cNvPr id="16" name="AutoShape 16"/>
          <p:cNvSpPr/>
          <p:nvPr/>
        </p:nvSpPr>
        <p:spPr>
          <a:xfrm>
            <a:off x="10922000" y="5905500"/>
            <a:ext cx="381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t</a:t>
            </a:r>
            <a:endParaRPr lang="en-US" sz="1100"/>
          </a:p>
        </p:txBody>
      </p:sp>
      <p:cxnSp>
        <p:nvCxnSpPr>
          <p:cNvPr id="17" name="Connector 17"/>
          <p:cNvCxnSpPr/>
          <p:nvPr/>
        </p:nvCxnSpPr>
        <p:spPr>
          <a:xfrm rot="-4297">
            <a:off x="1016004" y="5200650"/>
            <a:ext cx="10160000" cy="12700"/>
          </a:xfrm>
          <a:prstGeom prst="straightConnector1">
            <a:avLst/>
          </a:prstGeom>
          <a:solidFill>
            <a:srgbClr val="DEE0E3">
              <a:alpha val="100000"/>
            </a:srgbClr>
          </a:solidFill>
          <a:ln w="12700" cap="flat" cmpd="sng">
            <a:solidFill>
              <a:srgbClr val="6B7280">
                <a:alpha val="100000"/>
              </a:srgbClr>
            </a:solidFill>
            <a:prstDash val="dash"/>
            <a:round/>
            <a:headEnd type="none" w="med" len="med"/>
            <a:tailEnd type="none" w="med" len="med"/>
          </a:ln>
        </p:spPr>
      </p:cxnSp>
      <p:sp>
        <p:nvSpPr>
          <p:cNvPr id="18" name="AutoShape 18"/>
          <p:cNvSpPr/>
          <p:nvPr/>
        </p:nvSpPr>
        <p:spPr>
          <a:xfrm>
            <a:off x="9906000" y="4953000"/>
            <a:ext cx="127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w* (最优值)</a:t>
            </a:r>
            <a:endParaRPr lang="en-US" sz="1100"/>
          </a:p>
        </p:txBody>
      </p:sp>
      <p:sp>
        <p:nvSpPr>
          <p:cNvPr id="19" name="AutoShape 19"/>
          <p:cNvSpPr/>
          <p:nvPr/>
        </p:nvSpPr>
        <p:spPr>
          <a:xfrm>
            <a:off x="1016000" y="4699000"/>
            <a:ext cx="10160000" cy="762000"/>
          </a:xfrm>
          <a:prstGeom prst="roundRect">
            <a:avLst>
              <a:gd name="adj" fmla="val 0"/>
            </a:avLst>
          </a:prstGeom>
          <a:solidFill>
            <a:srgbClr val="000000">
              <a:alpha val="0"/>
            </a:srgbClr>
          </a:solidFill>
          <a:ln w="25400" cap="flat" cmpd="sng">
            <a:solidFill>
              <a:srgbClr val="1B4332">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9652000" y="4635500"/>
            <a:ext cx="152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GD (平滑收敛)</a:t>
            </a:r>
            <a:endParaRPr lang="en-US" sz="1100"/>
          </a:p>
        </p:txBody>
      </p:sp>
      <p:sp>
        <p:nvSpPr>
          <p:cNvPr id="21" name="AutoShape 21"/>
          <p:cNvSpPr/>
          <p:nvPr/>
        </p:nvSpPr>
        <p:spPr>
          <a:xfrm>
            <a:off x="1003300" y="4699000"/>
            <a:ext cx="10160000" cy="762000"/>
          </a:xfrm>
          <a:prstGeom prst="roundRect">
            <a:avLst>
              <a:gd name="adj" fmla="val 0"/>
            </a:avLst>
          </a:prstGeom>
          <a:solidFill>
            <a:srgbClr val="000000">
              <a:alpha val="0"/>
            </a:srgbClr>
          </a:solidFill>
          <a:ln w="25400" cap="flat" cmpd="sng">
            <a:solidFill>
              <a:srgbClr val="E76F51">
                <a:alpha val="100000"/>
              </a:srgbClr>
            </a:solidFill>
            <a:prstDash val="dash"/>
            <a:round/>
          </a:ln>
        </p:spPr>
        <p:txBody>
          <a:bodyPr vert="horz" wrap="square" lIns="63500" tIns="63500" rIns="63500" bIns="63500" rtlCol="0" anchor="ctr"/>
          <a:lstStyle/>
          <a:p>
            <a:pPr algn="ctr">
              <a:defRPr/>
            </a:pPr>
          </a:p>
        </p:txBody>
      </p:sp>
      <p:sp>
        <p:nvSpPr>
          <p:cNvPr id="22" name="AutoShape 22"/>
          <p:cNvSpPr/>
          <p:nvPr/>
        </p:nvSpPr>
        <p:spPr>
          <a:xfrm>
            <a:off x="8128000" y="5461000"/>
            <a:ext cx="152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E76F51"/>
                </a:solidFill>
                <a:latin typeface="Noto Sans SC" panose="020B0200000000000000" charset="-122"/>
                <a:ea typeface="Noto Sans SC" panose="020B0200000000000000" charset="-122"/>
                <a:cs typeface="Noto Sans SC" panose="020B0200000000000000" charset="-122"/>
                <a:sym typeface="Noto Sans SC" panose="020B0200000000000000" charset="-122"/>
              </a:rPr>
              <a:t>SGD (震荡波动)</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0" y="-1270000"/>
            <a:ext cx="3810000" cy="3810000"/>
          </a:xfrm>
          <a:prstGeom prst="ellipse">
            <a:avLst/>
          </a:prstGeom>
          <a:solidFill>
            <a:srgbClr val="D8E9D2">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270000" y="5080000"/>
            <a:ext cx="2540000" cy="2540000"/>
          </a:xfrm>
          <a:prstGeom prst="ellipse">
            <a:avLst/>
          </a:prstGeom>
          <a:solidFill>
            <a:srgbClr val="D8E9D2">
              <a:alpha val="3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SVRG 算法概述</a:t>
            </a:r>
            <a:endParaRPr lang="en-US" sz="1100"/>
          </a:p>
        </p:txBody>
      </p:sp>
      <mc:AlternateContent xmlns:mc="http://schemas.openxmlformats.org/markup-compatibility/2006">
        <mc:Choice xmlns:a14="http://schemas.microsoft.com/office/drawing/2010/main" Requires="a14">
          <p:sp>
            <p:nvSpPr>
              <p:cNvPr id="5" name="AutoShape 5"/>
              <p:cNvSpPr/>
              <p:nvPr/>
            </p:nvSpPr>
            <p:spPr>
              <a:xfrm>
                <a:off x="508000" y="1524000"/>
                <a:ext cx="5588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SVRG（Stochastic Variance Reduced Gradient）由 Johnson 和 Zhang 于 2013 年提出，是</a:t>
                </a:r>
                <a:r>
                  <a:rPr lang="en-US" sz="14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首个在强凸条件下实现线性收敛速度</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的随机优化算法。它通过引入双循环机制解决了传统 SGD 的高方差问题：外循环周期性计算全梯度以锚定全局参考，内循环基于该参考进行方差缩减的随机梯度更新，在保持计算效率的同时显著提升了收敛稳定性。</a:t>
                </a:r>
                <a:endPar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r>
                  <a:rPr lang="zh-CN" altLang="en-US" sz="160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关键更新项：</a:t>
                </a:r>
                <a14:m>
                  <m:oMath xmlns:m="http://schemas.openxmlformats.org/officeDocument/2006/math">
                    <m:sSub>
                      <m:sSubPr>
                        <m:ctrlP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t>𝑣</m:t>
                        </m:r>
                      </m:e>
                      <m:sub>
                        <m: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t>𝑡</m:t>
                        </m:r>
                      </m:sub>
                    </m:sSub>
                    <m: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t>𝑓</m:t>
                        </m:r>
                      </m:e>
                      <m:sub>
                        <m:sSub>
                          <m:sSubPr>
                            <m:ctrlP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t>𝑖</m:t>
                            </m:r>
                          </m:e>
                          <m:sub>
                            <m: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t>𝑡</m:t>
                            </m:r>
                          </m:sub>
                        </m:sSub>
                      </m:sub>
                    </m:sSub>
                    <m: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Sup>
                      <m:sSubSupPr>
                        <m:ctrlP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SupPr>
                      <m:e>
                        <m: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sub>
                        <m: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t>𝑡</m:t>
                        </m:r>
                      </m:sub>
                      <m:sup>
                        <m: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t>𝑠</m:t>
                        </m:r>
                        <m: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t>)</m:t>
                        </m:r>
                      </m:sup>
                    </m:sSubSup>
                    <m: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t>𝑓</m:t>
                        </m:r>
                      </m:e>
                      <m:sub>
                        <m:sSub>
                          <m:sSubPr>
                            <m:ctrlP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t>𝑖</m:t>
                            </m:r>
                          </m:e>
                          <m:sub>
                            <m: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t>𝑡</m:t>
                            </m:r>
                          </m:sub>
                        </m:sSub>
                      </m:sub>
                    </m:sSub>
                    <m: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t>(</m:t>
                    </m:r>
                    <m:acc>
                      <m:accPr>
                        <m:chr m:val="̃"/>
                        <m:ctrlP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ctrlPr>
                      </m:accPr>
                      <m:e>
                        <m: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acc>
                    <m: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rPr>
                      <m:t>𝜇</m:t>
                    </m:r>
                  </m:oMath>
                </a14:m>
                <a:endParaRPr lang="en-US" altLang="zh-CN" sz="1600" i="1">
                  <a:solidFill>
                    <a:srgbClr val="333333"/>
                  </a:solidFill>
                  <a:latin typeface="Cambria Math" panose="02040503050406030204" charset="0"/>
                  <a:ea typeface="Noto Sans SC" panose="020B0200000000000000" charset="-122"/>
                  <a:cs typeface="Cambria Math" panose="02040503050406030204" charset="0"/>
                  <a:sym typeface="Noto Sans SC" panose="020B0200000000000000" charset="-122"/>
                </a:endParaRPr>
              </a:p>
            </p:txBody>
          </p:sp>
        </mc:Choice>
        <mc:Fallback>
          <p:sp>
            <p:nvSpPr>
              <p:cNvPr id="5" name="AutoShape 5"/>
              <p:cNvSpPr>
                <a:spLocks noRot="1" noChangeAspect="1" noMove="1" noResize="1" noEditPoints="1" noAdjustHandles="1" noChangeArrowheads="1" noChangeShapeType="1" noTextEdit="1"/>
              </p:cNvSpPr>
              <p:nvPr/>
            </p:nvSpPr>
            <p:spPr>
              <a:xfrm>
                <a:off x="508000" y="1524000"/>
                <a:ext cx="5588000" cy="2159000"/>
              </a:xfrm>
              <a:prstGeom prst="rect">
                <a:avLst/>
              </a:prstGeom>
              <a:blipFill rotWithShape="1">
                <a:blip r:embed="rId1"/>
                <a:stretch>
                  <a:fillRect/>
                </a:stretch>
              </a:blipFill>
              <a:ln w="12700" cap="flat" cmpd="sng">
                <a:noFill/>
                <a:prstDash val="solid"/>
                <a:round/>
              </a:ln>
            </p:spPr>
            <p:txBody>
              <a:bodyPr/>
              <a:lstStyle/>
              <a:p>
                <a:r>
                  <a:rPr lang="zh-CN" altLang="en-US">
                    <a:noFill/>
                  </a:rPr>
                  <a:t> </a:t>
                </a:r>
              </a:p>
            </p:txBody>
          </p:sp>
        </mc:Fallback>
      </mc:AlternateContent>
      <p:sp>
        <p:nvSpPr>
          <p:cNvPr id="6" name="AutoShape 6"/>
          <p:cNvSpPr/>
          <p:nvPr/>
        </p:nvSpPr>
        <p:spPr>
          <a:xfrm>
            <a:off x="6350000" y="1587500"/>
            <a:ext cx="5334000" cy="2095500"/>
          </a:xfrm>
          <a:prstGeom prst="roundRect">
            <a:avLst>
              <a:gd name="adj" fmla="val 0"/>
            </a:avLst>
          </a:prstGeom>
          <a:solidFill>
            <a:srgbClr val="D8E9D2">
              <a:alpha val="40000"/>
            </a:srgbClr>
          </a:solidFill>
          <a:ln w="25400" cap="flat" cmpd="sng">
            <a:solidFill>
              <a:srgbClr val="1B4332">
                <a:alpha val="10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40500" y="1778000"/>
            <a:ext cx="304800" cy="304800"/>
          </a:xfrm>
          <a:prstGeom prst="rect">
            <a:avLst/>
          </a:prstGeom>
        </p:spPr>
      </p:pic>
      <mc:AlternateContent xmlns:mc="http://schemas.openxmlformats.org/markup-compatibility/2006">
        <mc:Choice xmlns:a14="http://schemas.microsoft.com/office/drawing/2010/main" Requires="a14">
          <p:sp>
            <p:nvSpPr>
              <p:cNvPr id="8" name="AutoShape 8"/>
              <p:cNvSpPr/>
              <p:nvPr/>
            </p:nvSpPr>
            <p:spPr>
              <a:xfrm>
                <a:off x="6921500" y="1778000"/>
                <a:ext cx="4572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外循环 (Epoch)：全局锚点建立</a:t>
                </a:r>
                <a:endParaRPr lang="en-US" sz="1100"/>
              </a:p>
              <a:p>
                <a:pPr marL="0" indent="0" algn="l">
                  <a:lnSpc>
                    <a:spcPct val="125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定期计算全梯度 </a:t>
                </a:r>
                <a14:m>
                  <m:oMath xmlns:m="http://schemas.openxmlformats.org/officeDocument/2006/math">
                    <m:r>
                      <a:rPr lang="en-US" altLang="zh-CN" sz="1300" b="0" i="1"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𝛻𝜓</m:t>
                    </m:r>
                    <m:r>
                      <a:rPr lang="en-US" altLang="zh-CN" sz="1300" b="0" i="1"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m:t>
                    </m:r>
                    <m:acc>
                      <m:accPr>
                        <m:chr m:val="̃"/>
                        <m:ctrlPr>
                          <a:rPr lang="en-US" altLang="zh-CN" sz="1300" b="0" i="1"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ctrlPr>
                      </m:accPr>
                      <m:e>
                        <m:r>
                          <a:rPr lang="en-US" altLang="zh-CN" sz="1300" b="0" i="1"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acc>
                    <m:r>
                      <a:rPr lang="en-US" altLang="zh-CN" sz="1300" b="0" i="1"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m:t>
                    </m:r>
                  </m:oMath>
                </a14:m>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，确立本轮迭代的基准参考，消除长期偏差。</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mc:Choice>
        <mc:Fallback>
          <p:sp>
            <p:nvSpPr>
              <p:cNvPr id="8" name="AutoShape 8"/>
              <p:cNvSpPr>
                <a:spLocks noRot="1" noChangeAspect="1" noMove="1" noResize="1" noEditPoints="1" noAdjustHandles="1" noChangeArrowheads="1" noChangeShapeType="1" noTextEdit="1"/>
              </p:cNvSpPr>
              <p:nvPr/>
            </p:nvSpPr>
            <p:spPr>
              <a:xfrm>
                <a:off x="6921500" y="1778000"/>
                <a:ext cx="4572000" cy="698500"/>
              </a:xfrm>
              <a:prstGeom prst="rect">
                <a:avLst/>
              </a:prstGeom>
              <a:blipFill rotWithShape="1">
                <a:blip r:embed="rId4"/>
                <a:stretch>
                  <a:fillRect t="-5818" b="-6000"/>
                </a:stretch>
              </a:blipFill>
              <a:ln w="12700" cap="flat" cmpd="sng">
                <a:noFill/>
                <a:prstDash val="solid"/>
                <a:round/>
              </a:ln>
            </p:spPr>
            <p:txBody>
              <a:bodyPr/>
              <a:lstStyle/>
              <a:p>
                <a:r>
                  <a:rPr lang="zh-CN" altLang="en-US">
                    <a:noFill/>
                  </a:rPr>
                  <a:t> </a:t>
                </a:r>
              </a:p>
            </p:txBody>
          </p:sp>
        </mc:Fallback>
      </mc:AlternateContent>
      <p:cxnSp>
        <p:nvCxnSpPr>
          <p:cNvPr id="9" name="Connector 9"/>
          <p:cNvCxnSpPr/>
          <p:nvPr/>
        </p:nvCxnSpPr>
        <p:spPr>
          <a:xfrm rot="-8814">
            <a:off x="6540508" y="2533650"/>
            <a:ext cx="4953000" cy="12700"/>
          </a:xfrm>
          <a:prstGeom prst="straightConnector1">
            <a:avLst/>
          </a:prstGeom>
          <a:solidFill>
            <a:srgbClr val="DEE0E3">
              <a:alpha val="100000"/>
            </a:srgbClr>
          </a:solidFill>
          <a:ln w="12700" cap="flat" cmpd="sng">
            <a:solidFill>
              <a:srgbClr val="1B4332">
                <a:alpha val="20000"/>
              </a:srgbClr>
            </a:solidFill>
            <a:prstDash val="dash"/>
            <a:round/>
            <a:headEnd type="none" w="med" len="med"/>
            <a:tailEnd type="none" w="med" len="med"/>
          </a:ln>
        </p:spPr>
      </p:cxn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40500" y="2730500"/>
            <a:ext cx="304800" cy="304800"/>
          </a:xfrm>
          <a:prstGeom prst="rect">
            <a:avLst/>
          </a:prstGeom>
        </p:spPr>
      </p:pic>
      <mc:AlternateContent xmlns:mc="http://schemas.openxmlformats.org/markup-compatibility/2006">
        <mc:Choice xmlns:a14="http://schemas.microsoft.com/office/drawing/2010/main" Requires="a14">
          <p:sp>
            <p:nvSpPr>
              <p:cNvPr id="11" name="AutoShape 11"/>
              <p:cNvSpPr/>
              <p:nvPr/>
            </p:nvSpPr>
            <p:spPr>
              <a:xfrm>
                <a:off x="6921500" y="2730500"/>
                <a:ext cx="457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558B2F"/>
                    </a:solidFill>
                    <a:latin typeface="Noto Sans SC" panose="020B0200000000000000" charset="-122"/>
                    <a:ea typeface="Noto Sans SC" panose="020B0200000000000000" charset="-122"/>
                    <a:cs typeface="Noto Sans SC" panose="020B0200000000000000" charset="-122"/>
                    <a:sym typeface="Noto Sans SC" panose="020B0200000000000000" charset="-122"/>
                  </a:rPr>
                  <a:t>内循环 (Inner Loop)：方差缩减更新</a:t>
                </a:r>
                <a:endParaRPr lang="en-US" sz="1100"/>
              </a:p>
              <a:p>
                <a:pPr marL="0" indent="0" algn="l">
                  <a:lnSpc>
                    <a:spcPct val="125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利用公式 </a:t>
                </a:r>
                <a14:m>
                  <m:oMath xmlns:m="http://schemas.openxmlformats.org/officeDocument/2006/math">
                    <m:sSub>
                      <m:sSubPr>
                        <m:ctrlP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𝑣</m:t>
                        </m:r>
                      </m:e>
                      <m:sub>
                        <m: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𝑡</m:t>
                        </m:r>
                      </m:sub>
                    </m:sSub>
                    <m: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𝜓</m:t>
                        </m:r>
                      </m:e>
                      <m:sub>
                        <m: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𝑖</m:t>
                        </m:r>
                      </m:sub>
                    </m:sSub>
                    <m: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sub>
                        <m: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𝑡</m:t>
                        </m:r>
                        <m: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1</m:t>
                        </m:r>
                      </m:sub>
                    </m:sSub>
                    <m: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𝜓</m:t>
                        </m:r>
                      </m:e>
                      <m:sub>
                        <m: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𝑖</m:t>
                        </m:r>
                      </m:sub>
                    </m:sSub>
                    <m: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m:t>
                    </m:r>
                    <m:acc>
                      <m:accPr>
                        <m:chr m:val="̃"/>
                        <m:ctrlP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ctrlPr>
                      </m:accPr>
                      <m:e>
                        <m: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acc>
                    <m: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𝛻𝜓</m:t>
                    </m:r>
                    <m: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m:t>
                    </m:r>
                    <m:acc>
                      <m:accPr>
                        <m:chr m:val="̃"/>
                        <m:ctrlP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ctrlPr>
                      </m:accPr>
                      <m:e>
                        <m: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acc>
                    <m:r>
                      <a:rPr lang="en-US" altLang="zh-CN" sz="1300" b="0" i="0" u="none" strike="noStrike">
                        <a:solidFill>
                          <a:srgbClr val="555555"/>
                        </a:solidFill>
                        <a:latin typeface="Cambria Math" panose="02040503050406030204" charset="0"/>
                        <a:ea typeface="Noto Sans SC" panose="020B0200000000000000" charset="-122"/>
                        <a:cs typeface="Cambria Math" panose="02040503050406030204" charset="0"/>
                        <a:sym typeface="Noto Sans SC" panose="020B0200000000000000" charset="-122"/>
                      </a:rPr>
                      <m:t>)</m:t>
                    </m:r>
                  </m:oMath>
                </a14:m>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进行参数更新，有效抑制随机梯度的波动。</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mc:Choice>
        <mc:Fallback>
          <p:sp>
            <p:nvSpPr>
              <p:cNvPr id="11" name="AutoShape 11"/>
              <p:cNvSpPr>
                <a:spLocks noRot="1" noChangeAspect="1" noMove="1" noResize="1" noEditPoints="1" noAdjustHandles="1" noChangeArrowheads="1" noChangeShapeType="1" noTextEdit="1"/>
              </p:cNvSpPr>
              <p:nvPr/>
            </p:nvSpPr>
            <p:spPr>
              <a:xfrm>
                <a:off x="6921500" y="2730500"/>
                <a:ext cx="4572000" cy="825500"/>
              </a:xfrm>
              <a:prstGeom prst="rect">
                <a:avLst/>
              </a:prstGeom>
              <a:blipFill rotWithShape="1">
                <a:blip r:embed="rId7"/>
                <a:stretch>
                  <a:fillRect/>
                </a:stretch>
              </a:blipFill>
              <a:ln w="12700" cap="flat" cmpd="sng">
                <a:noFill/>
                <a:prstDash val="solid"/>
                <a:round/>
              </a:ln>
            </p:spPr>
            <p:txBody>
              <a:bodyPr/>
              <a:lstStyle/>
              <a:p>
                <a:r>
                  <a:rPr lang="zh-CN" altLang="en-US">
                    <a:noFill/>
                  </a:rPr>
                  <a:t> </a:t>
                </a:r>
              </a:p>
            </p:txBody>
          </p:sp>
        </mc:Fallback>
      </mc:AlternateContent>
      <p:sp>
        <p:nvSpPr>
          <p:cNvPr id="12" name="AutoShape 12"/>
          <p:cNvSpPr/>
          <p:nvPr/>
        </p:nvSpPr>
        <p:spPr>
          <a:xfrm>
            <a:off x="508000" y="4064000"/>
            <a:ext cx="11176000" cy="508000"/>
          </a:xfrm>
          <a:prstGeom prst="roundRect">
            <a:avLst>
              <a:gd name="adj" fmla="val 0"/>
            </a:avLst>
          </a:prstGeom>
          <a:solidFill>
            <a:srgbClr val="1B433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508000" y="4127500"/>
            <a:ext cx="2540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参数名称</a:t>
            </a:r>
            <a:endParaRPr lang="en-US" sz="1100"/>
          </a:p>
        </p:txBody>
      </p:sp>
      <p:sp>
        <p:nvSpPr>
          <p:cNvPr id="14" name="AutoShape 14"/>
          <p:cNvSpPr/>
          <p:nvPr/>
        </p:nvSpPr>
        <p:spPr>
          <a:xfrm>
            <a:off x="3048000" y="4127500"/>
            <a:ext cx="1524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符号</a:t>
            </a:r>
            <a:endParaRPr lang="en-US" sz="1100"/>
          </a:p>
        </p:txBody>
      </p:sp>
      <p:sp>
        <p:nvSpPr>
          <p:cNvPr id="15" name="AutoShape 15"/>
          <p:cNvSpPr/>
          <p:nvPr/>
        </p:nvSpPr>
        <p:spPr>
          <a:xfrm>
            <a:off x="4572000" y="4127500"/>
            <a:ext cx="431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核心含义</a:t>
            </a:r>
            <a:endParaRPr lang="en-US" sz="1100"/>
          </a:p>
        </p:txBody>
      </p:sp>
      <p:sp>
        <p:nvSpPr>
          <p:cNvPr id="16" name="AutoShape 16"/>
          <p:cNvSpPr/>
          <p:nvPr/>
        </p:nvSpPr>
        <p:spPr>
          <a:xfrm>
            <a:off x="8890000" y="4127500"/>
            <a:ext cx="2794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典型取值/特性</a:t>
            </a:r>
            <a:endParaRPr lang="en-US" sz="1100"/>
          </a:p>
        </p:txBody>
      </p:sp>
      <p:sp>
        <p:nvSpPr>
          <p:cNvPr id="17" name="AutoShape 17"/>
          <p:cNvSpPr/>
          <p:nvPr/>
        </p:nvSpPr>
        <p:spPr>
          <a:xfrm>
            <a:off x="508000" y="4635500"/>
            <a:ext cx="11176000" cy="571500"/>
          </a:xfrm>
          <a:prstGeom prst="roundRect">
            <a:avLst>
              <a:gd name="adj" fmla="val 0"/>
            </a:avLst>
          </a:prstGeom>
          <a:solidFill>
            <a:srgbClr val="D8E9D2">
              <a:alpha val="3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508000" y="4737100"/>
            <a:ext cx="2540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内循环迭代次数</a:t>
            </a:r>
            <a:endParaRPr lang="en-US" sz="1100"/>
          </a:p>
        </p:txBody>
      </p:sp>
      <p:sp>
        <p:nvSpPr>
          <p:cNvPr id="19" name="AutoShape 19"/>
          <p:cNvSpPr/>
          <p:nvPr/>
        </p:nvSpPr>
        <p:spPr>
          <a:xfrm>
            <a:off x="3048000" y="4737100"/>
            <a:ext cx="1524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m</a:t>
            </a:r>
            <a:endParaRPr lang="en-US" sz="1100"/>
          </a:p>
        </p:txBody>
      </p:sp>
      <p:sp>
        <p:nvSpPr>
          <p:cNvPr id="20" name="AutoShape 20"/>
          <p:cNvSpPr/>
          <p:nvPr/>
        </p:nvSpPr>
        <p:spPr>
          <a:xfrm>
            <a:off x="4572000" y="47371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平衡计算开销与收敛速度，控制单次外循环内的更新步数</a:t>
            </a:r>
            <a:endParaRPr lang="en-US" sz="1100"/>
          </a:p>
        </p:txBody>
      </p:sp>
      <p:sp>
        <p:nvSpPr>
          <p:cNvPr id="21" name="AutoShape 21"/>
          <p:cNvSpPr/>
          <p:nvPr/>
        </p:nvSpPr>
        <p:spPr>
          <a:xfrm>
            <a:off x="8890000" y="4737100"/>
            <a:ext cx="2794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m = n 或 2n (n为样本数)</a:t>
            </a:r>
            <a:endParaRPr lang="en-US" sz="1100"/>
          </a:p>
        </p:txBody>
      </p:sp>
      <p:sp>
        <p:nvSpPr>
          <p:cNvPr id="22" name="AutoShape 22"/>
          <p:cNvSpPr/>
          <p:nvPr/>
        </p:nvSpPr>
        <p:spPr>
          <a:xfrm>
            <a:off x="508000" y="5207000"/>
            <a:ext cx="11176000" cy="571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508000" y="5308600"/>
            <a:ext cx="2540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学习率</a:t>
            </a:r>
            <a:endParaRPr lang="en-US" sz="1100"/>
          </a:p>
        </p:txBody>
      </p:sp>
      <p:sp>
        <p:nvSpPr>
          <p:cNvPr id="24" name="AutoShape 24"/>
          <p:cNvSpPr/>
          <p:nvPr/>
        </p:nvSpPr>
        <p:spPr>
          <a:xfrm>
            <a:off x="3048000" y="5308600"/>
            <a:ext cx="1524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η</a:t>
            </a:r>
            <a:endParaRPr lang="en-US" sz="1100"/>
          </a:p>
        </p:txBody>
      </p:sp>
      <p:sp>
        <p:nvSpPr>
          <p:cNvPr id="25" name="AutoShape 25"/>
          <p:cNvSpPr/>
          <p:nvPr/>
        </p:nvSpPr>
        <p:spPr>
          <a:xfrm>
            <a:off x="4572000" y="53086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全局步长参数，决定每次参数更新的幅度大小</a:t>
            </a:r>
            <a:endParaRPr lang="en-US" sz="1100"/>
          </a:p>
        </p:txBody>
      </p:sp>
      <p:sp>
        <p:nvSpPr>
          <p:cNvPr id="26" name="AutoShape 26"/>
          <p:cNvSpPr/>
          <p:nvPr/>
        </p:nvSpPr>
        <p:spPr>
          <a:xfrm>
            <a:off x="8890000" y="5308600"/>
            <a:ext cx="2794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常数，无需随迭代衰减</a:t>
            </a:r>
            <a:endParaRPr lang="en-US" sz="1100"/>
          </a:p>
        </p:txBody>
      </p:sp>
      <p:sp>
        <p:nvSpPr>
          <p:cNvPr id="27" name="AutoShape 27"/>
          <p:cNvSpPr/>
          <p:nvPr/>
        </p:nvSpPr>
        <p:spPr>
          <a:xfrm>
            <a:off x="508000" y="5969000"/>
            <a:ext cx="11176000" cy="571500"/>
          </a:xfrm>
          <a:prstGeom prst="roundRect">
            <a:avLst>
              <a:gd name="adj" fmla="val 0"/>
            </a:avLst>
          </a:prstGeom>
          <a:solidFill>
            <a:srgbClr val="1B4332">
              <a:alpha val="8000"/>
            </a:srgbClr>
          </a:solidFill>
          <a:ln w="12700" cap="flat" cmpd="sng">
            <a:solidFill>
              <a:srgbClr val="1B4332">
                <a:alpha val="20000"/>
              </a:srgbClr>
            </a:solidFill>
            <a:prstDash val="solid"/>
            <a:round/>
          </a:ln>
        </p:spPr>
        <p:txBody>
          <a:bodyPr vert="horz" wrap="square" lIns="63500" tIns="63500" rIns="63500" bIns="63500" rtlCol="0" anchor="ctr"/>
          <a:lstStyle/>
          <a:p>
            <a:pPr algn="ctr">
              <a:defRPr/>
            </a:pPr>
          </a:p>
        </p:txBody>
      </p:sp>
      <p:sp>
        <p:nvSpPr>
          <p:cNvPr id="28" name="AutoShape 28"/>
          <p:cNvSpPr/>
          <p:nvPr/>
        </p:nvSpPr>
        <p:spPr>
          <a:xfrm>
            <a:off x="635000" y="6070600"/>
            <a:ext cx="1092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算法开销：</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每轮 Epoch 包含 1 次全梯度计算 (O(n)) + m 次随机梯度计算 (O(m))，总复杂度为 O(n + m)，实现了计算效率与收敛速度的平衡。</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4453890"/>
            <a:ext cx="3810000" cy="3810000"/>
          </a:xfrm>
          <a:prstGeom prst="ellipse">
            <a:avLst/>
          </a:prstGeom>
          <a:solidFill>
            <a:srgbClr val="52B788">
              <a:alpha val="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5715000"/>
            <a:ext cx="1905000" cy="1905000"/>
          </a:xfrm>
          <a:prstGeom prst="ellipse">
            <a:avLst/>
          </a:prstGeom>
          <a:solidFill>
            <a:srgbClr val="1B4332">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SVRG 伪代码</a:t>
            </a:r>
            <a:endParaRPr lang="en-US" sz="1100"/>
          </a:p>
        </p:txBody>
      </p:sp>
      <p:sp>
        <p:nvSpPr>
          <p:cNvPr id="5" name="AutoShape 5"/>
          <p:cNvSpPr/>
          <p:nvPr/>
        </p:nvSpPr>
        <p:spPr>
          <a:xfrm>
            <a:off x="508000" y="1524000"/>
            <a:ext cx="6096000" cy="4572000"/>
          </a:xfrm>
          <a:prstGeom prst="roundRect">
            <a:avLst>
              <a:gd name="adj" fmla="val 0"/>
            </a:avLst>
          </a:prstGeom>
          <a:solidFill>
            <a:srgbClr val="1B4332">
              <a:alpha val="100000"/>
            </a:srgbClr>
          </a:solidFill>
          <a:ln cap="flat" cmpd="sng">
            <a:solidFill>
              <a:srgbClr val="0D2A1D">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508000" y="1524000"/>
            <a:ext cx="6096000" cy="381000"/>
          </a:xfrm>
          <a:prstGeom prst="roundRect">
            <a:avLst>
              <a:gd name="adj" fmla="val 0"/>
            </a:avLst>
          </a:prstGeom>
          <a:solidFill>
            <a:srgbClr val="FFFFFF">
              <a:alpha val="1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698500" y="1651000"/>
            <a:ext cx="127000" cy="1270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52500" y="1651000"/>
            <a:ext cx="127000" cy="127000"/>
          </a:xfrm>
          <a:prstGeom prst="ellipse">
            <a:avLst/>
          </a:prstGeom>
          <a:solidFill>
            <a:srgbClr val="EAB308">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206500" y="1651000"/>
            <a:ext cx="127000" cy="127000"/>
          </a:xfrm>
          <a:prstGeom prst="ellipse">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mc:AlternateContent xmlns:mc="http://schemas.openxmlformats.org/markup-compatibility/2006">
        <mc:Choice xmlns:a14="http://schemas.microsoft.com/office/drawing/2010/main" Requires="a14">
          <p:sp>
            <p:nvSpPr>
              <p:cNvPr id="10" name="AutoShape 10"/>
              <p:cNvSpPr/>
              <p:nvPr/>
            </p:nvSpPr>
            <p:spPr>
              <a:xfrm>
                <a:off x="635000" y="2032000"/>
                <a:ext cx="5842000" cy="393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95D5B2"/>
                    </a:solidFill>
                    <a:latin typeface="Consolas" panose="020B0609020204030204"/>
                    <a:ea typeface="Consolas" panose="020B0609020204030204"/>
                    <a:cs typeface="Consolas" panose="020B0609020204030204"/>
                    <a:sym typeface="Consolas" panose="020B0609020204030204"/>
                  </a:rPr>
                  <a:t>01 ININT</a:t>
                </a:r>
                <a:r>
                  <a:rPr lang="zh-CN" altLang="en-US" sz="1400" b="0" i="0" u="none" strike="noStrike">
                    <a:solidFill>
                      <a:srgbClr val="95D5B2"/>
                    </a:solidFill>
                    <a:latin typeface="Consolas" panose="020B0609020204030204"/>
                    <a:ea typeface="Consolas" panose="020B0609020204030204"/>
                    <a:cs typeface="Consolas" panose="020B0609020204030204"/>
                    <a:sym typeface="Consolas" panose="020B0609020204030204"/>
                  </a:rPr>
                  <a:t>初始化</a:t>
                </a:r>
                <a:r>
                  <a:rPr lang="en-US" sz="1400" b="0" i="0" u="none" strike="noStrike">
                    <a:solidFill>
                      <a:srgbClr val="95D5B2"/>
                    </a:solidFill>
                    <a:latin typeface="Consolas" panose="020B0609020204030204"/>
                    <a:ea typeface="Consolas" panose="020B0609020204030204"/>
                    <a:cs typeface="Consolas" panose="020B0609020204030204"/>
                    <a:sym typeface="Consolas" panose="020B0609020204030204"/>
                  </a:rPr>
                  <a:t>: η (lr), m (inner steps), w₀ (init)</a:t>
                </a:r>
                <a:endParaRPr lang="en-US" sz="1100"/>
              </a:p>
              <a:p>
                <a:pPr marL="0" indent="0" algn="l">
                  <a:lnSpc>
                    <a:spcPct val="108000"/>
                  </a:lnSpc>
                </a:pPr>
                <a:r>
                  <a:rPr lang="en-US" sz="1400" b="0" i="0" u="none" strike="noStrike">
                    <a:solidFill>
                      <a:srgbClr val="FFFFFF"/>
                    </a:solidFill>
                    <a:latin typeface="Consolas" panose="020B0609020204030204"/>
                    <a:ea typeface="Consolas" panose="020B0609020204030204"/>
                    <a:cs typeface="Consolas" panose="020B0609020204030204"/>
                    <a:sym typeface="Consolas" panose="020B0609020204030204"/>
                  </a:rPr>
                  <a:t>02 </a:t>
                </a:r>
                <a:r>
                  <a:rPr lang="zh-CN" altLang="en-US" sz="1400" b="0" i="0" u="none" strike="noStrike">
                    <a:solidFill>
                      <a:srgbClr val="FFFFFF"/>
                    </a:solidFill>
                    <a:latin typeface="Consolas" panose="020B0609020204030204"/>
                    <a:ea typeface="Consolas" panose="020B0609020204030204"/>
                    <a:cs typeface="Consolas" panose="020B0609020204030204"/>
                    <a:sym typeface="Consolas" panose="020B0609020204030204"/>
                  </a:rPr>
                  <a:t>超参数设置</a:t>
                </a:r>
                <a14:m>
                  <m:oMath xmlns:m="http://schemas.openxmlformats.org/officeDocument/2006/math">
                    <m:sSub>
                      <m:sSubPr>
                        <m:ctrlP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ctrlPr>
                      </m:sSubPr>
                      <m:e>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𝑤</m:t>
                        </m:r>
                      </m:e>
                      <m:sub>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0</m:t>
                        </m:r>
                      </m:sub>
                    </m:sSub>
                  </m:oMath>
                </a14:m>
                <a:r>
                  <a:rPr lang="en-US" sz="1400" b="0" i="0" u="none" strike="noStrike">
                    <a:solidFill>
                      <a:srgbClr val="FFFFFF"/>
                    </a:solidFill>
                    <a:latin typeface="Consolas" panose="020B0609020204030204"/>
                    <a:ea typeface="Consolas" panose="020B0609020204030204"/>
                    <a:cs typeface="Consolas" panose="020B0609020204030204"/>
                    <a:sym typeface="Consolas" panose="020B0609020204030204"/>
                  </a:rPr>
                  <a:t>,</a:t>
                </a:r>
                <a:r>
                  <a:rPr lang="zh-CN" altLang="en-US" sz="1400" b="0" i="0" u="none" strike="noStrike">
                    <a:solidFill>
                      <a:srgbClr val="FFFFFF"/>
                    </a:solidFill>
                    <a:latin typeface="Consolas" panose="020B0609020204030204"/>
                    <a:ea typeface="Consolas" panose="020B0609020204030204"/>
                    <a:cs typeface="Consolas" panose="020B0609020204030204"/>
                    <a:sym typeface="Consolas" panose="020B0609020204030204"/>
                  </a:rPr>
                  <a:t>外循环次数</a:t>
                </a:r>
                <a14:m>
                  <m:oMath xmlns:m="http://schemas.openxmlformats.org/officeDocument/2006/math">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𝑆</m:t>
                    </m:r>
                  </m:oMath>
                </a14:m>
                <a:r>
                  <a:rPr lang="en-US" sz="1400" b="0" i="0" u="none" strike="noStrike">
                    <a:solidFill>
                      <a:srgbClr val="FFFFFF"/>
                    </a:solidFill>
                    <a:latin typeface="Consolas" panose="020B0609020204030204"/>
                    <a:ea typeface="Consolas" panose="020B0609020204030204"/>
                    <a:cs typeface="Consolas" panose="020B0609020204030204"/>
                    <a:sym typeface="Consolas" panose="020B0609020204030204"/>
                  </a:rPr>
                  <a:t>,</a:t>
                </a:r>
                <a:r>
                  <a:rPr lang="zh-CN" altLang="en-US" sz="1400" b="0" i="0" u="none" strike="noStrike">
                    <a:solidFill>
                      <a:srgbClr val="FFFFFF"/>
                    </a:solidFill>
                    <a:latin typeface="Consolas" panose="020B0609020204030204"/>
                    <a:ea typeface="Consolas" panose="020B0609020204030204"/>
                    <a:cs typeface="Consolas" panose="020B0609020204030204"/>
                    <a:sym typeface="Consolas" panose="020B0609020204030204"/>
                  </a:rPr>
                  <a:t>内层循环次数</a:t>
                </a:r>
                <a14:m>
                  <m:oMath xmlns:m="http://schemas.openxmlformats.org/officeDocument/2006/math">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𝑚</m:t>
                    </m:r>
                  </m:oMath>
                </a14:m>
                <a:r>
                  <a:rPr lang="en-US" sz="1400" b="0" i="0" u="none" strike="noStrike">
                    <a:solidFill>
                      <a:srgbClr val="FFFFFF"/>
                    </a:solidFill>
                    <a:latin typeface="Consolas" panose="020B0609020204030204"/>
                    <a:ea typeface="Consolas" panose="020B0609020204030204"/>
                    <a:cs typeface="Consolas" panose="020B0609020204030204"/>
                    <a:sym typeface="Consolas" panose="020B0609020204030204"/>
                  </a:rPr>
                  <a:t>,</a:t>
                </a:r>
                <a:r>
                  <a:rPr lang="zh-CN" altLang="en-US" sz="1400" b="0" i="0" u="none" strike="noStrike">
                    <a:solidFill>
                      <a:srgbClr val="FFFFFF"/>
                    </a:solidFill>
                    <a:latin typeface="Consolas" panose="020B0609020204030204"/>
                    <a:ea typeface="Consolas" panose="020B0609020204030204"/>
                    <a:cs typeface="Consolas" panose="020B0609020204030204"/>
                    <a:sym typeface="Consolas" panose="020B0609020204030204"/>
                  </a:rPr>
                  <a:t>学习率</a:t>
                </a:r>
                <a14:m>
                  <m:oMath xmlns:m="http://schemas.openxmlformats.org/officeDocument/2006/math">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𝜂</m:t>
                    </m:r>
                  </m:oMath>
                </a14:m>
                <a:endParaRPr lang="en-US" sz="1400" b="0" i="0" u="none" strike="noStrike">
                  <a:solidFill>
                    <a:srgbClr val="FFFFFF"/>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400" b="0" i="0" u="none" strike="noStrike">
                    <a:solidFill>
                      <a:srgbClr val="52B788"/>
                    </a:solidFill>
                    <a:latin typeface="Consolas" panose="020B0609020204030204"/>
                    <a:ea typeface="Consolas" panose="020B0609020204030204"/>
                    <a:cs typeface="Consolas" panose="020B0609020204030204"/>
                    <a:sym typeface="Consolas" panose="020B0609020204030204"/>
                  </a:rPr>
                  <a:t>03 for</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FFFFFF"/>
                    </a:solidFill>
                    <a:latin typeface="Consolas" panose="020B0609020204030204"/>
                    <a:ea typeface="Consolas" panose="020B0609020204030204"/>
                    <a:cs typeface="Consolas" panose="020B0609020204030204"/>
                    <a:sym typeface="Consolas" panose="020B0609020204030204"/>
                  </a:rPr>
                  <a:t>s = 1,2, ...S</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52B788"/>
                    </a:solidFill>
                    <a:latin typeface="Consolas" panose="020B0609020204030204"/>
                    <a:ea typeface="Consolas" panose="020B0609020204030204"/>
                    <a:cs typeface="Consolas" panose="020B0609020204030204"/>
                    <a:sym typeface="Consolas" panose="020B0609020204030204"/>
                  </a:rPr>
                  <a:t>do</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95D5B2"/>
                    </a:solidFill>
                    <a:latin typeface="Consolas" panose="020B0609020204030204"/>
                    <a:ea typeface="Consolas" panose="020B0609020204030204"/>
                    <a:cs typeface="Consolas" panose="020B0609020204030204"/>
                    <a:sym typeface="Consolas" panose="020B0609020204030204"/>
                  </a:rPr>
                  <a:t>// 外循环：基准更新</a:t>
                </a:r>
                <a:endParaRPr lang="en-US" sz="1400" b="0" i="0" u="none" strike="noStrike">
                  <a:solidFill>
                    <a:srgbClr val="95D5B2"/>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400" b="0" i="0" u="none" strike="noStrike">
                    <a:solidFill>
                      <a:srgbClr val="FFFFFF"/>
                    </a:solidFill>
                    <a:latin typeface="Consolas" panose="020B0609020204030204"/>
                    <a:ea typeface="Consolas" panose="020B0609020204030204"/>
                    <a:cs typeface="Consolas" panose="020B0609020204030204"/>
                    <a:sym typeface="Consolas" panose="020B0609020204030204"/>
                  </a:rPr>
                  <a:t>04 </a:t>
                </a:r>
                <a14:m>
                  <m:oMath xmlns:m="http://schemas.openxmlformats.org/officeDocument/2006/math">
                    <m:acc>
                      <m:accPr>
                        <m:chr m:val="̃"/>
                        <m:ctrlP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ctrlPr>
                      </m:accPr>
                      <m:e>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𝑤</m:t>
                        </m:r>
                      </m:e>
                    </m:acc>
                  </m:oMath>
                </a14:m>
                <a:r>
                  <a:rPr lang="en-US" sz="1400" b="0" i="0" u="none" strike="noStrike">
                    <a:solidFill>
                      <a:srgbClr val="FFFFFF"/>
                    </a:solidFill>
                    <a:latin typeface="Consolas" panose="020B0609020204030204"/>
                    <a:ea typeface="Consolas" panose="020B0609020204030204"/>
                    <a:cs typeface="Consolas" panose="020B0609020204030204"/>
                    <a:sym typeface="Consolas" panose="020B0609020204030204"/>
                  </a:rPr>
                  <a:t>= </a:t>
                </a:r>
                <a14:m>
                  <m:oMath xmlns:m="http://schemas.openxmlformats.org/officeDocument/2006/math">
                    <m:sSub>
                      <m:sSubPr>
                        <m:ctrlP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ctrlPr>
                      </m:sSubPr>
                      <m:e>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𝑤</m:t>
                        </m:r>
                      </m:e>
                      <m:sub>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𝑠</m:t>
                        </m:r>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m:t>
                        </m:r>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1</m:t>
                        </m:r>
                      </m:sub>
                    </m:sSub>
                  </m:oMath>
                </a14:m>
                <a:r>
                  <a:rPr lang="en-US" sz="1400" b="0" i="0" u="none" strike="noStrike">
                    <a:solidFill>
                      <a:srgbClr val="FFFFFF"/>
                    </a:solidFill>
                    <a:latin typeface="Consolas" panose="020B0609020204030204"/>
                    <a:ea typeface="Consolas" panose="020B0609020204030204"/>
                    <a:cs typeface="Consolas" panose="020B0609020204030204"/>
                    <a:sym typeface="Consolas" panose="020B0609020204030204"/>
                  </a:rPr>
                  <a:t>;</a:t>
                </a:r>
                <a14:m>
                  <m:oMath xmlns:m="http://schemas.openxmlformats.org/officeDocument/2006/math">
                    <m:acc>
                      <m:accPr>
                        <m:chr m:val="̃"/>
                        <m:ctrlP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ctrlPr>
                      </m:accPr>
                      <m:e>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𝜇</m:t>
                        </m:r>
                      </m:e>
                    </m:acc>
                  </m:oMath>
                </a14:m>
                <a:r>
                  <a:rPr lang="en-US" sz="1400" b="0" i="0" u="none" strike="noStrike">
                    <a:solidFill>
                      <a:srgbClr val="FFFFFF"/>
                    </a:solidFill>
                    <a:latin typeface="Consolas" panose="020B0609020204030204"/>
                    <a:ea typeface="Consolas" panose="020B0609020204030204"/>
                    <a:cs typeface="Consolas" panose="020B0609020204030204"/>
                    <a:sym typeface="Consolas" panose="020B0609020204030204"/>
                  </a:rPr>
                  <a:t> = </a:t>
                </a:r>
                <a14:m>
                  <m:oMath xmlns:m="http://schemas.openxmlformats.org/officeDocument/2006/math">
                    <m:f>
                      <m:fPr>
                        <m:ctrlP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ctrlPr>
                      </m:fPr>
                      <m:num>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1</m:t>
                        </m:r>
                      </m:num>
                      <m:den>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𝑛</m:t>
                        </m:r>
                      </m:den>
                    </m:f>
                    <m:nary>
                      <m:naryPr>
                        <m:chr m:val="∑"/>
                        <m:limLoc m:val="subSup"/>
                        <m:ctrlP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ctrlPr>
                      </m:naryPr>
                      <m:sub>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𝑖</m:t>
                        </m:r>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m:t>
                        </m:r>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1</m:t>
                        </m:r>
                      </m:sub>
                      <m:sup>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𝑛</m:t>
                        </m:r>
                      </m:sup>
                      <m:e>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m:t>
                        </m:r>
                      </m:e>
                    </m:nary>
                    <m:sSub>
                      <m:sSubPr>
                        <m:ctrlP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ctrlPr>
                      </m:sSubPr>
                      <m:e>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𝑓</m:t>
                        </m:r>
                      </m:e>
                      <m:sub>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𝑖</m:t>
                        </m:r>
                      </m:sub>
                    </m:sSub>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m:t>
                    </m:r>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𝑤</m:t>
                    </m:r>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m:t>
                    </m:r>
                  </m:oMath>
                </a14:m>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95D5B2"/>
                    </a:solidFill>
                    <a:latin typeface="Consolas" panose="020B0609020204030204"/>
                    <a:ea typeface="Consolas" panose="020B0609020204030204"/>
                    <a:cs typeface="Consolas" panose="020B0609020204030204"/>
                    <a:sym typeface="Consolas" panose="020B0609020204030204"/>
                  </a:rPr>
                  <a:t>// 计算全梯度锚点</a:t>
                </a:r>
                <a:endParaRPr lang="en-US" sz="1400" b="0" i="0" u="none" strike="noStrike">
                  <a:solidFill>
                    <a:srgbClr val="95D5B2"/>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400" b="0" i="0" u="none" strike="noStrike">
                    <a:solidFill>
                      <a:srgbClr val="FFFFFF"/>
                    </a:solidFill>
                    <a:latin typeface="Consolas" panose="020B0609020204030204"/>
                    <a:ea typeface="Consolas" panose="020B0609020204030204"/>
                    <a:cs typeface="Consolas" panose="020B0609020204030204"/>
                    <a:sym typeface="Consolas" panose="020B0609020204030204"/>
                  </a:rPr>
                  <a:t>05 </a:t>
                </a:r>
                <a14:m>
                  <m:oMath xmlns:m="http://schemas.openxmlformats.org/officeDocument/2006/math">
                    <m:sSub>
                      <m:sSubPr>
                        <m:ctrlP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ctrlPr>
                      </m:sSubPr>
                      <m:e>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𝑤</m:t>
                        </m:r>
                      </m:e>
                      <m:sub>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0</m:t>
                        </m:r>
                      </m:sub>
                    </m:sSub>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m:t>
                    </m:r>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𝑠</m:t>
                    </m:r>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m:t>
                    </m:r>
                    <m:acc>
                      <m:accPr>
                        <m:chr m:val="̃"/>
                        <m:ctrlP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ctrlPr>
                      </m:accPr>
                      <m:e>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𝑤</m:t>
                        </m:r>
                      </m:e>
                    </m:acc>
                  </m:oMath>
                </a14:m>
                <a:endPar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endParaRPr>
              </a:p>
              <a:p>
                <a:pPr marL="0" indent="0" algn="l">
                  <a:lnSpc>
                    <a:spcPct val="108000"/>
                  </a:lnSpc>
                </a:pPr>
                <a:r>
                  <a:rPr lang="en-US" sz="1400" b="0" i="0" u="none" strike="noStrike">
                    <a:solidFill>
                      <a:srgbClr val="52B788"/>
                    </a:solidFill>
                    <a:latin typeface="Consolas" panose="020B0609020204030204"/>
                    <a:ea typeface="Consolas" panose="020B0609020204030204"/>
                    <a:cs typeface="Consolas" panose="020B0609020204030204"/>
                    <a:sym typeface="Consolas" panose="020B0609020204030204"/>
                  </a:rPr>
                  <a:t>06 for</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FFFFFF"/>
                    </a:solidFill>
                    <a:latin typeface="Consolas" panose="020B0609020204030204"/>
                    <a:ea typeface="Consolas" panose="020B0609020204030204"/>
                    <a:cs typeface="Consolas" panose="020B0609020204030204"/>
                    <a:sym typeface="Consolas" panose="020B0609020204030204"/>
                  </a:rPr>
                  <a:t>t = 0</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52B788"/>
                    </a:solidFill>
                    <a:latin typeface="Consolas" panose="020B0609020204030204"/>
                    <a:ea typeface="Consolas" panose="020B0609020204030204"/>
                    <a:cs typeface="Consolas" panose="020B0609020204030204"/>
                    <a:sym typeface="Consolas" panose="020B0609020204030204"/>
                  </a:rPr>
                  <a:t>to</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FFFFFF"/>
                    </a:solidFill>
                    <a:latin typeface="Consolas" panose="020B0609020204030204"/>
                    <a:ea typeface="Consolas" panose="020B0609020204030204"/>
                    <a:cs typeface="Consolas" panose="020B0609020204030204"/>
                    <a:sym typeface="Consolas" panose="020B0609020204030204"/>
                  </a:rPr>
                  <a:t>m-1</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52B788"/>
                    </a:solidFill>
                    <a:latin typeface="Consolas" panose="020B0609020204030204"/>
                    <a:ea typeface="Consolas" panose="020B0609020204030204"/>
                    <a:cs typeface="Consolas" panose="020B0609020204030204"/>
                    <a:sym typeface="Consolas" panose="020B0609020204030204"/>
                  </a:rPr>
                  <a:t>do</a:t>
                </a:r>
                <a:endParaRPr lang="en-US" sz="1400" b="0" i="0" u="none" strike="noStrike">
                  <a:solidFill>
                    <a:srgbClr val="52B788"/>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400" b="0" i="0" u="none" strike="noStrike">
                    <a:solidFill>
                      <a:srgbClr val="FFFFFF"/>
                    </a:solidFill>
                    <a:latin typeface="Consolas" panose="020B0609020204030204"/>
                    <a:ea typeface="Consolas" panose="020B0609020204030204"/>
                    <a:cs typeface="Consolas" panose="020B0609020204030204"/>
                    <a:sym typeface="Consolas" panose="020B0609020204030204"/>
                  </a:rPr>
                  <a:t>07 </a:t>
                </a:r>
                <a14:m>
                  <m:oMath xmlns:m="http://schemas.openxmlformats.org/officeDocument/2006/math">
                    <m:sSub>
                      <m:sSubPr>
                        <m:ctrlP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ctrlPr>
                      </m:sSubPr>
                      <m:e>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𝑖</m:t>
                        </m:r>
                      </m:e>
                      <m:sub>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𝑡</m:t>
                        </m:r>
                      </m:sub>
                    </m:sSub>
                  </m:oMath>
                </a14:m>
                <a:r>
                  <a:rPr lang="en-US" sz="1400" b="0" i="0" u="none" strike="noStrike">
                    <a:solidFill>
                      <a:srgbClr val="FFFFFF"/>
                    </a:solidFill>
                    <a:latin typeface="Consolas" panose="020B0609020204030204"/>
                    <a:ea typeface="Consolas" panose="020B0609020204030204"/>
                    <a:cs typeface="Consolas" panose="020B0609020204030204"/>
                    <a:sym typeface="Consolas" panose="020B0609020204030204"/>
                  </a:rPr>
                  <a:t> ~ Uniform({1..n})</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95D5B2"/>
                    </a:solidFill>
                    <a:latin typeface="Consolas" panose="020B0609020204030204"/>
                    <a:ea typeface="Consolas" panose="020B0609020204030204"/>
                    <a:cs typeface="Consolas" panose="020B0609020204030204"/>
                    <a:sym typeface="Consolas" panose="020B0609020204030204"/>
                  </a:rPr>
                  <a:t>// 随机采样</a:t>
                </a:r>
                <a:endParaRPr lang="en-US" sz="1400" b="0" i="0" u="none" strike="noStrike">
                  <a:solidFill>
                    <a:srgbClr val="95D5B2"/>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400" b="0" i="0" u="none" strike="noStrike">
                    <a:solidFill>
                      <a:srgbClr val="FFFFFF"/>
                    </a:solidFill>
                    <a:latin typeface="Consolas" panose="020B0609020204030204"/>
                    <a:ea typeface="Consolas" panose="020B0609020204030204"/>
                    <a:cs typeface="Consolas" panose="020B0609020204030204"/>
                    <a:sym typeface="Consolas" panose="020B0609020204030204"/>
                  </a:rPr>
                  <a:t>08 </a:t>
                </a:r>
                <a14:m>
                  <m:oMath xmlns:m="http://schemas.openxmlformats.org/officeDocument/2006/math">
                    <m:sSub>
                      <m:sSubPr>
                        <m:ctrlP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ctrlPr>
                      </m:sSubPr>
                      <m:e>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𝑣</m:t>
                        </m:r>
                      </m:e>
                      <m:sub>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𝑡</m:t>
                        </m:r>
                      </m:sub>
                    </m:sSub>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m:t>
                    </m:r>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m:t>
                    </m:r>
                    <m:sSub>
                      <m:sSubPr>
                        <m:ctrlP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ctrlPr>
                      </m:sSubPr>
                      <m:e>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𝑓</m:t>
                        </m:r>
                      </m:e>
                      <m:sub>
                        <m:sSub>
                          <m:sSubPr>
                            <m:ctrlP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ctrlPr>
                          </m:sSubPr>
                          <m:e>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𝑖</m:t>
                            </m:r>
                          </m:e>
                          <m:sub>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𝑡</m:t>
                            </m:r>
                          </m:sub>
                        </m:sSub>
                      </m:sub>
                    </m:sSub>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m:t>
                    </m:r>
                    <m:sSubSup>
                      <m:sSubSupPr>
                        <m:ctrlP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ctrlPr>
                      </m:sSubSupPr>
                      <m:e>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𝑤</m:t>
                        </m:r>
                      </m:e>
                      <m:sub>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𝑡</m:t>
                        </m:r>
                      </m:sub>
                      <m:sup>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m:t>
                        </m:r>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𝑠</m:t>
                        </m:r>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m:t>
                        </m:r>
                      </m:sup>
                    </m:sSubSup>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m:t>
                    </m:r>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m:t>
                    </m:r>
                    <m:sSub>
                      <m:sSubPr>
                        <m:ctrlP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ctrlPr>
                      </m:sSubPr>
                      <m:e>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𝑓</m:t>
                        </m:r>
                      </m:e>
                      <m:sub>
                        <m:sSub>
                          <m:sSubPr>
                            <m:ctrlP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ctrlPr>
                          </m:sSubPr>
                          <m:e>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𝑖</m:t>
                            </m:r>
                          </m:e>
                          <m:sub>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𝑡</m:t>
                            </m:r>
                          </m:sub>
                        </m:sSub>
                      </m:sub>
                    </m:sSub>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m:t>
                    </m:r>
                    <m:acc>
                      <m:accPr>
                        <m:chr m:val="̃"/>
                        <m:ctrlP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ctrlPr>
                      </m:accPr>
                      <m:e>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𝑤</m:t>
                        </m:r>
                      </m:e>
                    </m:acc>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m:t>
                    </m:r>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𝜇</m:t>
                    </m:r>
                  </m:oMath>
                </a14:m>
                <a:r>
                  <a:rPr lang="en-US" sz="1400" b="0" i="0" u="none" strike="noStrike">
                    <a:solidFill>
                      <a:srgbClr val="95D5B2"/>
                    </a:solidFill>
                    <a:latin typeface="Consolas" panose="020B0609020204030204"/>
                    <a:ea typeface="Consolas" panose="020B0609020204030204"/>
                    <a:cs typeface="Consolas" panose="020B0609020204030204"/>
                    <a:sym typeface="Consolas" panose="020B0609020204030204"/>
                  </a:rPr>
                  <a:t>// 核心：方差缩减</a:t>
                </a:r>
                <a:endParaRPr lang="en-US" sz="1400" b="0" i="0" u="none" strike="noStrike">
                  <a:solidFill>
                    <a:srgbClr val="95D5B2"/>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400" b="0" i="0" u="none" strike="noStrike">
                    <a:solidFill>
                      <a:srgbClr val="FFFFFF"/>
                    </a:solidFill>
                    <a:latin typeface="Consolas" panose="020B0609020204030204"/>
                    <a:ea typeface="Consolas" panose="020B0609020204030204"/>
                    <a:cs typeface="Consolas" panose="020B0609020204030204"/>
                    <a:sym typeface="Consolas" panose="020B0609020204030204"/>
                  </a:rPr>
                  <a:t>09 </a:t>
                </a:r>
                <a14:m>
                  <m:oMath xmlns:m="http://schemas.openxmlformats.org/officeDocument/2006/math">
                    <m:sSubSup>
                      <m:sSubSupPr>
                        <m:ctrlP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ctrlPr>
                      </m:sSubSupPr>
                      <m:e>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𝑤</m:t>
                        </m:r>
                      </m:e>
                      <m:sub>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𝑡</m:t>
                        </m:r>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m:t>
                        </m:r>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1</m:t>
                        </m:r>
                      </m:sub>
                      <m:sup>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m:t>
                        </m:r>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𝑠</m:t>
                        </m:r>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m:t>
                        </m:r>
                      </m:sup>
                    </m:sSubSup>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m:t>
                    </m:r>
                    <m:sSubSup>
                      <m:sSubSupPr>
                        <m:ctrlP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ctrlPr>
                      </m:sSubSupPr>
                      <m:e>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𝑤</m:t>
                        </m:r>
                      </m:e>
                      <m:sub>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𝑡</m:t>
                        </m:r>
                      </m:sub>
                      <m:sup>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m:t>
                        </m:r>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𝑠</m:t>
                        </m:r>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m:t>
                        </m:r>
                      </m:sup>
                    </m:sSubSup>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m:t>
                    </m:r>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𝜂</m:t>
                    </m:r>
                    <m:sSub>
                      <m:sSubPr>
                        <m:ctrlP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ctrlPr>
                      </m:sSubPr>
                      <m:e>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𝑣</m:t>
                        </m:r>
                      </m:e>
                      <m:sub>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𝑡</m:t>
                        </m:r>
                      </m:sub>
                    </m:sSub>
                  </m:oMath>
                </a14:m>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95D5B2"/>
                    </a:solidFill>
                    <a:latin typeface="Consolas" panose="020B0609020204030204"/>
                    <a:ea typeface="Consolas" panose="020B0609020204030204"/>
                    <a:cs typeface="Consolas" panose="020B0609020204030204"/>
                    <a:sym typeface="Consolas" panose="020B0609020204030204"/>
                  </a:rPr>
                  <a:t>// 参数更新</a:t>
                </a:r>
                <a:endParaRPr lang="en-US" sz="1400" b="0" i="0" u="none" strike="noStrike">
                  <a:solidFill>
                    <a:srgbClr val="95D5B2"/>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400" b="0" i="0" u="none" strike="noStrike">
                    <a:solidFill>
                      <a:srgbClr val="52B788"/>
                    </a:solidFill>
                    <a:latin typeface="Consolas" panose="020B0609020204030204"/>
                    <a:ea typeface="Consolas" panose="020B0609020204030204"/>
                    <a:cs typeface="Consolas" panose="020B0609020204030204"/>
                    <a:sym typeface="Consolas" panose="020B0609020204030204"/>
                  </a:rPr>
                  <a:t>10 end</a:t>
                </a:r>
                <a:endParaRPr lang="en-US" sz="1400" b="0" i="0" u="none" strike="noStrike">
                  <a:solidFill>
                    <a:srgbClr val="52B788"/>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400" b="0" i="0" u="none" strike="noStrike">
                    <a:solidFill>
                      <a:srgbClr val="FFFFFF"/>
                    </a:solidFill>
                    <a:latin typeface="Consolas" panose="020B0609020204030204"/>
                    <a:ea typeface="Consolas" panose="020B0609020204030204"/>
                    <a:cs typeface="Consolas" panose="020B0609020204030204"/>
                    <a:sym typeface="Consolas" panose="020B0609020204030204"/>
                  </a:rPr>
                  <a:t>11 </a:t>
                </a:r>
                <a14:m>
                  <m:oMath xmlns:m="http://schemas.openxmlformats.org/officeDocument/2006/math">
                    <m:sSub>
                      <m:sSubPr>
                        <m:ctrlP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ctrlPr>
                      </m:sSubPr>
                      <m:e>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𝑤</m:t>
                        </m:r>
                      </m:e>
                      <m:sub>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𝑠</m:t>
                        </m:r>
                      </m:sub>
                    </m:sSub>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m:t>
                    </m:r>
                    <m:sSub>
                      <m:sSubPr>
                        <m:ctrlP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ctrlPr>
                      </m:sSubPr>
                      <m:e>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𝑤</m:t>
                        </m:r>
                      </m:e>
                      <m:sub>
                        <m:r>
                          <a:rPr lang="en-US" altLang="zh-CN" sz="1400" b="0" i="1" u="none" strike="noStrike">
                            <a:solidFill>
                              <a:srgbClr val="FFFFFF"/>
                            </a:solidFill>
                            <a:latin typeface="Cambria Math" panose="02040503050406030204" charset="0"/>
                            <a:ea typeface="Consolas" panose="020B0609020204030204"/>
                            <a:cs typeface="Cambria Math" panose="02040503050406030204" charset="0"/>
                            <a:sym typeface="Consolas" panose="020B0609020204030204"/>
                          </a:rPr>
                          <m:t>𝑚</m:t>
                        </m:r>
                      </m:sub>
                    </m:sSub>
                  </m:oMath>
                </a14:m>
                <a:endParaRPr lang="en-US" sz="1400" b="0" i="0" u="none" strike="noStrike">
                  <a:solidFill>
                    <a:srgbClr val="FFFFFF"/>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400" b="0" i="0" u="none" strike="noStrike">
                    <a:solidFill>
                      <a:srgbClr val="52B788"/>
                    </a:solidFill>
                    <a:latin typeface="Consolas" panose="020B0609020204030204"/>
                    <a:ea typeface="Consolas" panose="020B0609020204030204"/>
                    <a:cs typeface="Consolas" panose="020B0609020204030204"/>
                    <a:sym typeface="Consolas" panose="020B0609020204030204"/>
                  </a:rPr>
                  <a:t>12 end</a:t>
                </a:r>
                <a:endParaRPr lang="en-US" sz="1400" b="0" i="0" u="none" strike="noStrike">
                  <a:solidFill>
                    <a:srgbClr val="52B788"/>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400" b="0" i="0" u="none" strike="noStrike">
                    <a:solidFill>
                      <a:srgbClr val="95D5B2"/>
                    </a:solidFill>
                    <a:latin typeface="Consolas" panose="020B0609020204030204"/>
                    <a:ea typeface="Consolas" panose="020B0609020204030204"/>
                    <a:cs typeface="Consolas" panose="020B0609020204030204"/>
                    <a:sym typeface="Consolas" panose="020B0609020204030204"/>
                  </a:rPr>
                  <a:t>13 OUTPUT: </a:t>
                </a:r>
                <a14:m>
                  <m:oMath xmlns:m="http://schemas.openxmlformats.org/officeDocument/2006/math">
                    <m:sSub>
                      <m:sSubPr>
                        <m:ctrlPr>
                          <a:rPr lang="en-US" altLang="zh-CN" sz="1400" b="0" i="1" u="none" strike="noStrike">
                            <a:solidFill>
                              <a:srgbClr val="95D5B2"/>
                            </a:solidFill>
                            <a:latin typeface="Cambria Math" panose="02040503050406030204" charset="0"/>
                            <a:ea typeface="Consolas" panose="020B0609020204030204"/>
                            <a:cs typeface="Cambria Math" panose="02040503050406030204" charset="0"/>
                            <a:sym typeface="Consolas" panose="020B0609020204030204"/>
                          </a:rPr>
                        </m:ctrlPr>
                      </m:sSubPr>
                      <m:e>
                        <m:r>
                          <a:rPr lang="en-US" altLang="zh-CN" sz="1400" b="0" i="1" u="none" strike="noStrike">
                            <a:solidFill>
                              <a:srgbClr val="95D5B2"/>
                            </a:solidFill>
                            <a:latin typeface="Cambria Math" panose="02040503050406030204" charset="0"/>
                            <a:ea typeface="Consolas" panose="020B0609020204030204"/>
                            <a:cs typeface="Cambria Math" panose="02040503050406030204" charset="0"/>
                            <a:sym typeface="Consolas" panose="020B0609020204030204"/>
                          </a:rPr>
                          <m:t>𝑤</m:t>
                        </m:r>
                      </m:e>
                      <m:sub>
                        <m:r>
                          <a:rPr lang="en-US" altLang="zh-CN" sz="1400" b="0" i="1" u="none" strike="noStrike">
                            <a:solidFill>
                              <a:srgbClr val="95D5B2"/>
                            </a:solidFill>
                            <a:latin typeface="Cambria Math" panose="02040503050406030204" charset="0"/>
                            <a:ea typeface="Consolas" panose="020B0609020204030204"/>
                            <a:cs typeface="Cambria Math" panose="02040503050406030204" charset="0"/>
                            <a:sym typeface="Consolas" panose="020B0609020204030204"/>
                          </a:rPr>
                          <m:t>𝑠</m:t>
                        </m:r>
                      </m:sub>
                    </m:sSub>
                  </m:oMath>
                </a14:m>
                <a:endParaRPr lang="en-US" sz="1400" b="0" i="1" u="none" strike="noStrike">
                  <a:solidFill>
                    <a:srgbClr val="95D5B2"/>
                  </a:solidFill>
                  <a:latin typeface="Cambria Math" panose="02040503050406030204" charset="0"/>
                  <a:ea typeface="Consolas" panose="020B0609020204030204"/>
                  <a:cs typeface="Cambria Math" panose="02040503050406030204" charset="0"/>
                  <a:sym typeface="Consolas" panose="020B0609020204030204"/>
                </a:endParaRPr>
              </a:p>
            </p:txBody>
          </p:sp>
        </mc:Choice>
        <mc:Fallback>
          <p:sp>
            <p:nvSpPr>
              <p:cNvPr id="10" name="AutoShape 10"/>
              <p:cNvSpPr>
                <a:spLocks noRot="1" noChangeAspect="1" noMove="1" noResize="1" noEditPoints="1" noAdjustHandles="1" noChangeArrowheads="1" noChangeShapeType="1" noTextEdit="1"/>
              </p:cNvSpPr>
              <p:nvPr/>
            </p:nvSpPr>
            <p:spPr>
              <a:xfrm>
                <a:off x="635000" y="2032000"/>
                <a:ext cx="5842000" cy="3937000"/>
              </a:xfrm>
              <a:prstGeom prst="rect">
                <a:avLst/>
              </a:prstGeom>
              <a:blipFill rotWithShape="1">
                <a:blip r:embed="rId1"/>
                <a:stretch>
                  <a:fillRect/>
                </a:stretch>
              </a:blipFill>
              <a:ln w="12700" cap="flat" cmpd="sng">
                <a:noFill/>
                <a:prstDash val="solid"/>
                <a:round/>
              </a:ln>
            </p:spPr>
            <p:txBody>
              <a:bodyPr/>
              <a:lstStyle/>
              <a:p>
                <a:r>
                  <a:rPr lang="zh-CN" altLang="en-US">
                    <a:noFill/>
                  </a:rPr>
                  <a:t> </a:t>
                </a:r>
              </a:p>
            </p:txBody>
          </p:sp>
        </mc:Fallback>
      </mc:AlternateContent>
      <p:sp>
        <p:nvSpPr>
          <p:cNvPr id="11" name="AutoShape 11"/>
          <p:cNvSpPr/>
          <p:nvPr>
            <p:custDataLst>
              <p:tags r:id="rId2"/>
            </p:custDataLst>
          </p:nvPr>
        </p:nvSpPr>
        <p:spPr>
          <a:xfrm>
            <a:off x="6858000" y="1651000"/>
            <a:ext cx="4826000" cy="1333500"/>
          </a:xfrm>
          <a:prstGeom prst="roundRect">
            <a:avLst>
              <a:gd name="adj" fmla="val 0"/>
            </a:avLst>
          </a:prstGeom>
          <a:solidFill>
            <a:srgbClr val="52B788">
              <a:alpha val="10000"/>
            </a:srgbClr>
          </a:solidFill>
          <a:ln w="12700" cap="flat" cmpd="sng">
            <a:solidFill>
              <a:srgbClr val="52B788">
                <a:alpha val="3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048500" y="1841500"/>
            <a:ext cx="406400" cy="406400"/>
          </a:xfrm>
          <a:prstGeom prst="rect">
            <a:avLst/>
          </a:prstGeom>
        </p:spPr>
      </p:pic>
      <mc:AlternateContent xmlns:mc="http://schemas.openxmlformats.org/markup-compatibility/2006">
        <mc:Choice xmlns:a14="http://schemas.microsoft.com/office/drawing/2010/main" Requires="a14">
          <p:sp>
            <p:nvSpPr>
              <p:cNvPr id="13" name="AutoShape 13"/>
              <p:cNvSpPr/>
              <p:nvPr>
                <p:custDataLst>
                  <p:tags r:id="rId6"/>
                </p:custDataLst>
              </p:nvPr>
            </p:nvSpPr>
            <p:spPr>
              <a:xfrm>
                <a:off x="7556500" y="1778000"/>
                <a:ext cx="4064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01 全局梯度锚定 (Anchor)</a:t>
                </a:r>
                <a:endParaRPr lang="en-US" sz="1100"/>
              </a:p>
              <a:p>
                <a:pPr marL="0" indent="0" algn="l">
                  <a:lnSpc>
                    <a:spcPct val="100000"/>
                  </a:lnSpc>
                </a:pPr>
                <a:r>
                  <a:rPr lang="en-US" sz="1300" b="0" i="0" u="none" strike="noStrike">
                    <a:solidFill>
                      <a:srgbClr val="505A55"/>
                    </a:solidFill>
                    <a:latin typeface="Noto Sans SC" panose="020B0200000000000000" charset="-122"/>
                    <a:ea typeface="Noto Sans SC" panose="020B0200000000000000" charset="-122"/>
                    <a:cs typeface="Noto Sans SC" panose="020B0200000000000000" charset="-122"/>
                    <a:sym typeface="Noto Sans SC" panose="020B0200000000000000" charset="-122"/>
                  </a:rPr>
                  <a:t>外循环起始阶段计算全量梯度 </a:t>
                </a:r>
                <a14:m>
                  <m:oMath xmlns:m="http://schemas.openxmlformats.org/officeDocument/2006/math">
                    <m:acc>
                      <m:accPr>
                        <m:chr m:val="̃"/>
                        <m:ctrlPr>
                          <a:rPr lang="en-US" altLang="zh-CN" sz="1300" b="0" i="1" u="none" strike="noStrike">
                            <a:solidFill>
                              <a:srgbClr val="505A55"/>
                            </a:solidFill>
                            <a:latin typeface="Cambria Math" panose="02040503050406030204" charset="0"/>
                            <a:ea typeface="Noto Sans SC" panose="020B0200000000000000" charset="-122"/>
                            <a:cs typeface="Cambria Math" panose="02040503050406030204" charset="0"/>
                            <a:sym typeface="Noto Sans SC" panose="020B0200000000000000" charset="-122"/>
                          </a:rPr>
                        </m:ctrlPr>
                      </m:accPr>
                      <m:e>
                        <m:r>
                          <a:rPr lang="en-US" altLang="zh-CN" sz="1300" b="0" i="1" u="none" strike="noStrike">
                            <a:solidFill>
                              <a:srgbClr val="505A55"/>
                            </a:solidFill>
                            <a:latin typeface="Cambria Math" panose="02040503050406030204" charset="0"/>
                            <a:ea typeface="Noto Sans SC" panose="020B0200000000000000" charset="-122"/>
                            <a:cs typeface="Cambria Math" panose="02040503050406030204" charset="0"/>
                            <a:sym typeface="Noto Sans SC" panose="020B0200000000000000" charset="-122"/>
                          </a:rPr>
                          <m:t>𝜇</m:t>
                        </m:r>
                      </m:e>
                    </m:acc>
                  </m:oMath>
                </a14:m>
                <a:r>
                  <a:rPr lang="en-US" sz="1300" b="0" i="0" u="none" strike="noStrike">
                    <a:solidFill>
                      <a:srgbClr val="505A55"/>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，作为本轮迭代的“锚点”。这一步虽然耗时，但能消除后续随机梯度的偏差，为方差缩减提供基准。</a:t>
                </a:r>
                <a:endParaRPr lang="en-US" sz="1300" b="0" i="0" u="none" strike="noStrike">
                  <a:solidFill>
                    <a:srgbClr val="505A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mc:Choice>
        <mc:Fallback>
          <p:sp>
            <p:nvSpPr>
              <p:cNvPr id="13" name="AutoShape 13"/>
              <p:cNvSpPr>
                <a:spLocks noRot="1" noChangeAspect="1" noMove="1" noResize="1" noEditPoints="1" noAdjustHandles="1" noChangeArrowheads="1" noChangeShapeType="1" noTextEdit="1"/>
              </p:cNvSpPr>
              <p:nvPr>
                <p:custDataLst>
                  <p:tags r:id="rId7"/>
                </p:custDataLst>
              </p:nvPr>
            </p:nvSpPr>
            <p:spPr>
              <a:xfrm>
                <a:off x="7556500" y="1778000"/>
                <a:ext cx="4064000" cy="1079500"/>
              </a:xfrm>
              <a:prstGeom prst="rect">
                <a:avLst/>
              </a:prstGeom>
              <a:blipFill rotWithShape="1">
                <a:blip r:embed="rId8"/>
                <a:stretch>
                  <a:fillRect r="-1562"/>
                </a:stretch>
              </a:blipFill>
              <a:ln w="12700" cap="flat" cmpd="sng">
                <a:noFill/>
                <a:prstDash val="solid"/>
                <a:round/>
              </a:ln>
            </p:spPr>
            <p:txBody>
              <a:bodyPr/>
              <a:lstStyle/>
              <a:p>
                <a:r>
                  <a:rPr lang="zh-CN" altLang="en-US">
                    <a:noFill/>
                  </a:rPr>
                  <a:t> </a:t>
                </a:r>
              </a:p>
            </p:txBody>
          </p:sp>
        </mc:Fallback>
      </mc:AlternateContent>
      <p:sp>
        <p:nvSpPr>
          <p:cNvPr id="14" name="AutoShape 14"/>
          <p:cNvSpPr/>
          <p:nvPr>
            <p:custDataLst>
              <p:tags r:id="rId9"/>
            </p:custDataLst>
          </p:nvPr>
        </p:nvSpPr>
        <p:spPr>
          <a:xfrm>
            <a:off x="6858000" y="3175000"/>
            <a:ext cx="4826000" cy="1333500"/>
          </a:xfrm>
          <a:prstGeom prst="roundRect">
            <a:avLst>
              <a:gd name="adj" fmla="val 0"/>
            </a:avLst>
          </a:prstGeom>
          <a:solidFill>
            <a:srgbClr val="52B788">
              <a:alpha val="10000"/>
            </a:srgbClr>
          </a:solidFill>
          <a:ln w="12700" cap="flat" cmpd="sng">
            <a:solidFill>
              <a:srgbClr val="52B788">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048500" y="3365500"/>
            <a:ext cx="406400" cy="406400"/>
          </a:xfrm>
          <a:prstGeom prst="rect">
            <a:avLst/>
          </a:prstGeom>
        </p:spPr>
      </p:pic>
      <p:sp>
        <p:nvSpPr>
          <p:cNvPr id="16" name="AutoShape 16"/>
          <p:cNvSpPr/>
          <p:nvPr>
            <p:custDataLst>
              <p:tags r:id="rId13"/>
            </p:custDataLst>
          </p:nvPr>
        </p:nvSpPr>
        <p:spPr>
          <a:xfrm>
            <a:off x="7556500" y="3302000"/>
            <a:ext cx="4064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02 方差缩减核心 (Variance Reduction)</a:t>
            </a:r>
            <a:endParaRPr lang="en-US" sz="1100"/>
          </a:p>
          <a:p>
            <a:pPr marL="0" indent="0" algn="l">
              <a:lnSpc>
                <a:spcPct val="100000"/>
              </a:lnSpc>
            </a:pPr>
            <a:r>
              <a:rPr lang="en-US" sz="1300" b="0" i="0" u="none" strike="noStrike">
                <a:solidFill>
                  <a:srgbClr val="505A55"/>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通过计算当前随机梯度与锚点处梯度的差值，抵消掉随机梯度中的方差项。这使得梯度估计既是无偏的，又具有极低的方差，加速收敛。</a:t>
            </a:r>
            <a:endParaRPr lang="en-US" sz="1300" b="0" i="0" u="none" strike="noStrike">
              <a:solidFill>
                <a:srgbClr val="505A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14"/>
            </p:custDataLst>
          </p:nvPr>
        </p:nvSpPr>
        <p:spPr>
          <a:xfrm>
            <a:off x="6858000" y="4699000"/>
            <a:ext cx="4826000" cy="1333500"/>
          </a:xfrm>
          <a:prstGeom prst="roundRect">
            <a:avLst>
              <a:gd name="adj" fmla="val 0"/>
            </a:avLst>
          </a:prstGeom>
          <a:solidFill>
            <a:srgbClr val="52B788">
              <a:alpha val="10000"/>
            </a:srgbClr>
          </a:solidFill>
          <a:ln w="12700" cap="flat" cmpd="sng">
            <a:solidFill>
              <a:srgbClr val="52B788">
                <a:alpha val="3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custDataLst>
              <p:tags r:id="rId15"/>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048500" y="4889500"/>
            <a:ext cx="406400" cy="406400"/>
          </a:xfrm>
          <a:prstGeom prst="rect">
            <a:avLst/>
          </a:prstGeom>
        </p:spPr>
      </p:pic>
      <mc:AlternateContent xmlns:mc="http://schemas.openxmlformats.org/markup-compatibility/2006">
        <mc:Choice xmlns:a14="http://schemas.microsoft.com/office/drawing/2010/main" Requires="a14">
          <p:sp>
            <p:nvSpPr>
              <p:cNvPr id="19" name="AutoShape 19"/>
              <p:cNvSpPr/>
              <p:nvPr>
                <p:custDataLst>
                  <p:tags r:id="rId18"/>
                </p:custDataLst>
              </p:nvPr>
            </p:nvSpPr>
            <p:spPr>
              <a:xfrm>
                <a:off x="7556500" y="4826000"/>
                <a:ext cx="4064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03 高效迭代更新 (Update)</a:t>
                </a:r>
                <a:endParaRPr lang="en-US" sz="1100"/>
              </a:p>
              <a:p>
                <a:pPr marL="0" indent="0" algn="l">
                  <a:lnSpc>
                    <a:spcPct val="100000"/>
                  </a:lnSpc>
                </a:pPr>
                <a:r>
                  <a:rPr lang="en-US" sz="1300" b="0" i="0" u="none" strike="noStrike">
                    <a:solidFill>
                      <a:srgbClr val="505A55"/>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利用修正后的梯度 </a:t>
                </a:r>
                <a14:m>
                  <m:oMath xmlns:m="http://schemas.openxmlformats.org/officeDocument/2006/math">
                    <m:sSub>
                      <m:sSubPr>
                        <m:ctrlPr>
                          <a:rPr lang="en-US" altLang="zh-CN" sz="1300" b="0" i="1" u="none" strike="noStrike">
                            <a:solidFill>
                              <a:srgbClr val="505A55"/>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300" b="0" i="1" u="none" strike="noStrike">
                            <a:solidFill>
                              <a:srgbClr val="505A55"/>
                            </a:solidFill>
                            <a:latin typeface="Cambria Math" panose="02040503050406030204" charset="0"/>
                            <a:ea typeface="Noto Sans SC" panose="020B0200000000000000" charset="-122"/>
                            <a:cs typeface="Cambria Math" panose="02040503050406030204" charset="0"/>
                            <a:sym typeface="Noto Sans SC" panose="020B0200000000000000" charset="-122"/>
                          </a:rPr>
                          <m:t>𝑣</m:t>
                        </m:r>
                      </m:e>
                      <m:sub>
                        <m:r>
                          <a:rPr lang="en-US" altLang="zh-CN" sz="1300" b="0" i="1" u="none" strike="noStrike">
                            <a:solidFill>
                              <a:srgbClr val="505A55"/>
                            </a:solidFill>
                            <a:latin typeface="Cambria Math" panose="02040503050406030204" charset="0"/>
                            <a:ea typeface="Noto Sans SC" panose="020B0200000000000000" charset="-122"/>
                            <a:cs typeface="Cambria Math" panose="02040503050406030204" charset="0"/>
                            <a:sym typeface="Noto Sans SC" panose="020B0200000000000000" charset="-122"/>
                          </a:rPr>
                          <m:t>𝑡</m:t>
                        </m:r>
                      </m:sub>
                    </m:sSub>
                  </m:oMath>
                </a14:m>
                <a:r>
                  <a:rPr lang="en-US" sz="1300" b="0" i="0" u="none" strike="noStrike">
                    <a:solidFill>
                      <a:srgbClr val="505A55"/>
                    </a:solidFill>
                    <a:latin typeface="Noto Sans SC" panose="020B0200000000000000" charset="-122"/>
                    <a:ea typeface="Noto Sans SC" panose="020B0200000000000000" charset="-122"/>
                    <a:cs typeface="Noto Sans SC" panose="020B0200000000000000" charset="-122"/>
                    <a:sym typeface="Noto Sans SC" panose="020B0200000000000000" charset="-122"/>
                  </a:rPr>
                  <a:t> 进行参数更新。相比传统SGD，SVRG在保持每步低计算量的同时，克服了学习率难以选择和收敛缓慢的问题。</a:t>
                </a:r>
                <a:endParaRPr lang="en-US" sz="1300" b="0" i="0" u="none" strike="noStrike">
                  <a:solidFill>
                    <a:srgbClr val="505A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mc:Choice>
        <mc:Fallback>
          <p:sp>
            <p:nvSpPr>
              <p:cNvPr id="19" name="AutoShape 19"/>
              <p:cNvSpPr>
                <a:spLocks noRot="1" noChangeAspect="1" noMove="1" noResize="1" noEditPoints="1" noAdjustHandles="1" noChangeArrowheads="1" noChangeShapeType="1" noTextEdit="1"/>
              </p:cNvSpPr>
              <p:nvPr>
                <p:custDataLst>
                  <p:tags r:id="rId19"/>
                </p:custDataLst>
              </p:nvPr>
            </p:nvSpPr>
            <p:spPr>
              <a:xfrm>
                <a:off x="7556500" y="4826000"/>
                <a:ext cx="4064000" cy="1079500"/>
              </a:xfrm>
              <a:prstGeom prst="rect">
                <a:avLst/>
              </a:prstGeom>
              <a:blipFill rotWithShape="1">
                <a:blip r:embed="rId20"/>
                <a:stretch>
                  <a:fillRect/>
                </a:stretch>
              </a:blipFill>
              <a:ln w="12700" cap="flat" cmpd="sng">
                <a:noFill/>
                <a:prstDash val="solid"/>
                <a:round/>
              </a:ln>
            </p:spPr>
            <p:txBody>
              <a:bodyPr/>
              <a:lstStyle/>
              <a:p>
                <a:r>
                  <a:rPr lang="zh-CN" alt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52B788">
              <a:alpha val="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1B4332">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381000" y="508000"/>
            <a:ext cx="1143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双循环机制：外循环与内循环</a:t>
            </a:r>
            <a:endParaRPr lang="en-US" sz="1100"/>
          </a:p>
        </p:txBody>
      </p:sp>
      <p:sp>
        <p:nvSpPr>
          <p:cNvPr id="5" name="AutoShape 5"/>
          <p:cNvSpPr/>
          <p:nvPr/>
        </p:nvSpPr>
        <p:spPr>
          <a:xfrm>
            <a:off x="508000" y="1397000"/>
            <a:ext cx="5397500" cy="2921000"/>
          </a:xfrm>
          <a:prstGeom prst="roundRect">
            <a:avLst>
              <a:gd name="adj" fmla="val 0"/>
            </a:avLst>
          </a:prstGeom>
          <a:solidFill>
            <a:srgbClr val="FFFFFF">
              <a:alpha val="100000"/>
            </a:srgbClr>
          </a:solidFill>
          <a:ln w="12700" cap="flat" cmpd="sng">
            <a:solidFill>
              <a:srgbClr val="1B4332">
                <a:alpha val="15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508000" y="1397000"/>
            <a:ext cx="5397500" cy="558800"/>
          </a:xfrm>
          <a:prstGeom prst="roundRect">
            <a:avLst>
              <a:gd name="adj" fmla="val 0"/>
            </a:avLst>
          </a:prstGeom>
          <a:solidFill>
            <a:srgbClr val="1B4332">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635000" y="1498600"/>
            <a:ext cx="5143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01 外循环 (Epoch) — 全局校准锚点</a:t>
            </a:r>
            <a:endParaRPr lang="en-US" sz="1100"/>
          </a:p>
        </p:txBody>
      </p:sp>
      <mc:AlternateContent xmlns:mc="http://schemas.openxmlformats.org/markup-compatibility/2006">
        <mc:Choice xmlns:a14="http://schemas.microsoft.com/office/drawing/2010/main" Requires="a14">
          <p:sp>
            <p:nvSpPr>
              <p:cNvPr id="8" name="AutoShape 8"/>
              <p:cNvSpPr/>
              <p:nvPr/>
            </p:nvSpPr>
            <p:spPr>
              <a:xfrm>
                <a:off x="635000" y="2032000"/>
                <a:ext cx="51435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 触发规则：</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每隔 m 步执行一次，作为算法的全局“校准器”。</a:t>
                </a:r>
                <a:endParaRPr lang="en-US" sz="1100"/>
              </a:p>
              <a:p>
                <a:pPr marL="0" indent="0" algn="l">
                  <a:lnSpc>
                    <a:spcPct val="108000"/>
                  </a:lnSpc>
                </a:pPr>
                <a:r>
                  <a:rPr lang="en-US" sz="15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核心动作：</a:t>
                </a:r>
                <a:endParaRPr lang="en-US" sz="15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1. 同步锚点：更新参考参数 </a:t>
                </a:r>
                <a14:m>
                  <m:oMath xmlns:m="http://schemas.openxmlformats.org/officeDocument/2006/math">
                    <m:acc>
                      <m:accPr>
                        <m:chr m:val="̃"/>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accPr>
                      <m:e>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acc>
                  </m:oMath>
                </a14:m>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为当前模型参数 </a:t>
                </a:r>
                <a14:m>
                  <m:oMath xmlns:m="http://schemas.openxmlformats.org/officeDocument/2006/math">
                    <m:sSub>
                      <m:sSubPr>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sub>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𝑡</m:t>
                        </m:r>
                      </m:sub>
                    </m:sSub>
                  </m:oMath>
                </a14:m>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2. 全量计算：耗费 O(n) 代价计算全梯度 </a:t>
                </a:r>
                <a14:m>
                  <m:oMath xmlns:m="http://schemas.openxmlformats.org/officeDocument/2006/math">
                    <m:acc>
                      <m:accPr>
                        <m:chr m:val="̃"/>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accPr>
                      <m:e>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𝜇</m:t>
                        </m:r>
                      </m:e>
                    </m:acc>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𝛥</m:t>
                    </m:r>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𝑓</m:t>
                    </m:r>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acc>
                      <m:accPr>
                        <m:chr m:val="̃"/>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accPr>
                      <m:e>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acc>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oMath>
                </a14:m>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5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 存在价值：</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防止参考点偏离当前解太远，维持方差缩减的有效性，避免梯度估计发散。</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mc:Choice>
        <mc:Fallback>
          <p:sp>
            <p:nvSpPr>
              <p:cNvPr id="8" name="AutoShape 8"/>
              <p:cNvSpPr>
                <a:spLocks noRot="1" noChangeAspect="1" noMove="1" noResize="1" noEditPoints="1" noAdjustHandles="1" noChangeArrowheads="1" noChangeShapeType="1" noTextEdit="1"/>
              </p:cNvSpPr>
              <p:nvPr/>
            </p:nvSpPr>
            <p:spPr>
              <a:xfrm>
                <a:off x="635000" y="2032000"/>
                <a:ext cx="5143500" cy="2159000"/>
              </a:xfrm>
              <a:prstGeom prst="rect">
                <a:avLst/>
              </a:prstGeom>
              <a:blipFill rotWithShape="1">
                <a:blip r:embed="rId1"/>
                <a:stretch>
                  <a:fillRect r="-1185"/>
                </a:stretch>
              </a:blipFill>
              <a:ln w="12700" cap="flat" cmpd="sng">
                <a:noFill/>
                <a:prstDash val="solid"/>
                <a:round/>
              </a:ln>
            </p:spPr>
            <p:txBody>
              <a:bodyPr/>
              <a:lstStyle/>
              <a:p>
                <a:r>
                  <a:rPr lang="zh-CN" altLang="en-US">
                    <a:noFill/>
                  </a:rPr>
                  <a:t> </a:t>
                </a:r>
              </a:p>
            </p:txBody>
          </p:sp>
        </mc:Fallback>
      </mc:AlternateContent>
      <p:sp>
        <p:nvSpPr>
          <p:cNvPr id="9" name="AutoShape 9"/>
          <p:cNvSpPr/>
          <p:nvPr/>
        </p:nvSpPr>
        <p:spPr>
          <a:xfrm>
            <a:off x="6286500" y="1409700"/>
            <a:ext cx="5397500" cy="2921000"/>
          </a:xfrm>
          <a:prstGeom prst="roundRect">
            <a:avLst>
              <a:gd name="adj" fmla="val 0"/>
            </a:avLst>
          </a:prstGeom>
          <a:solidFill>
            <a:srgbClr val="FFFFFF">
              <a:alpha val="100000"/>
            </a:srgbClr>
          </a:solidFill>
          <a:ln w="12700" cap="flat" cmpd="sng">
            <a:solidFill>
              <a:srgbClr val="52B788">
                <a:alpha val="15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286500" y="1397000"/>
            <a:ext cx="5397500" cy="558800"/>
          </a:xfrm>
          <a:prstGeom prst="roundRect">
            <a:avLst>
              <a:gd name="adj" fmla="val 0"/>
            </a:avLst>
          </a:prstGeom>
          <a:solidFill>
            <a:srgbClr val="52B788">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413500" y="1498600"/>
            <a:ext cx="5143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02 内循环 (Inner Loop) — 随机梯度迭代</a:t>
            </a:r>
            <a:endParaRPr lang="en-US" sz="1100"/>
          </a:p>
        </p:txBody>
      </p:sp>
      <mc:AlternateContent xmlns:mc="http://schemas.openxmlformats.org/markup-compatibility/2006">
        <mc:Choice xmlns:a14="http://schemas.microsoft.com/office/drawing/2010/main" Requires="a14">
          <p:sp>
            <p:nvSpPr>
              <p:cNvPr id="12" name="AutoShape 12"/>
              <p:cNvSpPr/>
              <p:nvPr/>
            </p:nvSpPr>
            <p:spPr>
              <a:xfrm>
                <a:off x="6413500" y="2032000"/>
                <a:ext cx="51435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52B788"/>
                    </a:solidFill>
                    <a:latin typeface="Noto Sans SC" panose="020B0200000000000000" charset="-122"/>
                    <a:ea typeface="Noto Sans SC" panose="020B0200000000000000" charset="-122"/>
                    <a:cs typeface="Noto Sans SC" panose="020B0200000000000000" charset="-122"/>
                    <a:sym typeface="Noto Sans SC" panose="020B0200000000000000" charset="-122"/>
                  </a:rPr>
                  <a:t>▌ 触发规则：</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每个外循环内执行 m 步，每步仅需 O(1) 计算代价。</a:t>
                </a:r>
                <a:endParaRPr lang="en-US" sz="1100"/>
              </a:p>
              <a:p>
                <a:pPr marL="0" indent="0" algn="l">
                  <a:lnSpc>
                    <a:spcPct val="108000"/>
                  </a:lnSpc>
                </a:pPr>
                <a:r>
                  <a:rPr lang="en-US" sz="1500" b="1" i="0" u="none" strike="noStrike">
                    <a:solidFill>
                      <a:srgbClr val="52B788"/>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核心动作：</a:t>
                </a:r>
                <a:endParaRPr lang="en-US" sz="1500" b="1" i="0" u="none" strike="noStrike">
                  <a:solidFill>
                    <a:srgbClr val="52B78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1. 随机采样：每步抽取单个样本，计算随机梯度 </a:t>
                </a:r>
                <a14:m>
                  <m:oMath xmlns:m="http://schemas.openxmlformats.org/officeDocument/2006/math">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𝛥</m:t>
                    </m:r>
                    <m:sSub>
                      <m:sSubPr>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𝑓</m:t>
                        </m:r>
                      </m:e>
                      <m:sub>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𝑖</m:t>
                        </m:r>
                      </m:sub>
                    </m:sSub>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sub>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𝑡</m:t>
                        </m:r>
                      </m:sub>
                    </m:sSub>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oMath>
                </a14:m>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2. 梯度修正：</a:t>
                </a:r>
                <a14:m>
                  <m:oMath xmlns:m="http://schemas.openxmlformats.org/officeDocument/2006/math">
                    <m:sSub>
                      <m:sSubPr>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𝑣</m:t>
                        </m:r>
                      </m:e>
                      <m:sub>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𝑡</m:t>
                        </m:r>
                      </m:sub>
                    </m:sSub>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𝛥</m:t>
                    </m:r>
                    <m:sSub>
                      <m:sSubPr>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𝑓</m:t>
                        </m:r>
                      </m:e>
                      <m:sub>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𝑖</m:t>
                        </m:r>
                      </m:sub>
                    </m:sSub>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sub>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𝑡</m:t>
                        </m:r>
                      </m:sub>
                    </m:sSub>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𝛥</m:t>
                    </m:r>
                    <m:sSub>
                      <m:sSubPr>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𝑓</m:t>
                        </m:r>
                      </m:e>
                      <m:sub>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𝑖</m:t>
                        </m:r>
                      </m:sub>
                    </m:sSub>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acc>
                      <m:accPr>
                        <m:chr m:val="̃"/>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accPr>
                      <m:e>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acc>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acc>
                      <m:accPr>
                        <m:chr m:val="̃"/>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accPr>
                      <m:e>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𝜇</m:t>
                        </m:r>
                      </m:e>
                    </m:acc>
                  </m:oMath>
                </a14:m>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(方差缩减)</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500" b="1" i="0" u="none" strike="noStrike">
                    <a:solidFill>
                      <a:srgbClr val="52B788"/>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关键特性：</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使用恒定学习率 </a:t>
                </a:r>
                <a14:m>
                  <m:oMath xmlns:m="http://schemas.openxmlformats.org/officeDocument/2006/math">
                    <m:r>
                      <a:rPr lang="en-US" altLang="zh-CN" sz="1400" b="0" i="1" u="none" strike="noStrike">
                        <a:solidFill>
                          <a:srgbClr val="4B5563"/>
                        </a:solidFill>
                        <a:latin typeface="Cambria Math" panose="02040503050406030204" charset="0"/>
                        <a:ea typeface="Noto Sans SC" panose="020B0200000000000000" charset="-122"/>
                        <a:cs typeface="Cambria Math" panose="02040503050406030204" charset="0"/>
                        <a:sym typeface="Noto Sans SC" panose="020B0200000000000000" charset="-122"/>
                      </a:rPr>
                      <m:t>𝜂</m:t>
                    </m:r>
                  </m:oMath>
                </a14:m>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，无需随迭代衰减；随步数增加需外循环重置以修正偏差。</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mc:Choice>
        <mc:Fallback>
          <p:sp>
            <p:nvSpPr>
              <p:cNvPr id="12" name="AutoShape 12"/>
              <p:cNvSpPr>
                <a:spLocks noRot="1" noChangeAspect="1" noMove="1" noResize="1" noEditPoints="1" noAdjustHandles="1" noChangeArrowheads="1" noChangeShapeType="1" noTextEdit="1"/>
              </p:cNvSpPr>
              <p:nvPr/>
            </p:nvSpPr>
            <p:spPr>
              <a:xfrm>
                <a:off x="6413500" y="2032000"/>
                <a:ext cx="5143500" cy="2159000"/>
              </a:xfrm>
              <a:prstGeom prst="rect">
                <a:avLst/>
              </a:prstGeom>
              <a:blipFill rotWithShape="1">
                <a:blip r:embed="rId2"/>
                <a:stretch>
                  <a:fillRect r="-2148"/>
                </a:stretch>
              </a:blipFill>
              <a:ln w="12700" cap="flat" cmpd="sng">
                <a:noFill/>
                <a:prstDash val="solid"/>
                <a:round/>
              </a:ln>
            </p:spPr>
            <p:txBody>
              <a:bodyPr/>
              <a:lstStyle/>
              <a:p>
                <a:r>
                  <a:rPr lang="zh-CN" altLang="en-US">
                    <a:noFill/>
                  </a:rPr>
                  <a:t> </a:t>
                </a:r>
              </a:p>
            </p:txBody>
          </p:sp>
        </mc:Fallback>
      </mc:AlternateContent>
      <p:sp>
        <p:nvSpPr>
          <p:cNvPr id="13" name="AutoShape 13"/>
          <p:cNvSpPr/>
          <p:nvPr/>
        </p:nvSpPr>
        <p:spPr>
          <a:xfrm>
            <a:off x="508000" y="4572000"/>
            <a:ext cx="1143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算法执行时序流程：从全局校准到快速迭代</a:t>
            </a:r>
            <a:endParaRPr lang="en-US" sz="1100"/>
          </a:p>
        </p:txBody>
      </p:sp>
      <p:sp>
        <p:nvSpPr>
          <p:cNvPr id="14" name="AutoShape 14"/>
          <p:cNvSpPr/>
          <p:nvPr/>
        </p:nvSpPr>
        <p:spPr>
          <a:xfrm>
            <a:off x="508000" y="5080000"/>
            <a:ext cx="3556000" cy="1270000"/>
          </a:xfrm>
          <a:prstGeom prst="roundRect">
            <a:avLst>
              <a:gd name="adj" fmla="val 0"/>
            </a:avLst>
          </a:prstGeom>
          <a:solidFill>
            <a:srgbClr val="1B4332">
              <a:alpha val="8000"/>
            </a:srgbClr>
          </a:solidFill>
          <a:ln w="12700" cap="flat" cmpd="sng">
            <a:solidFill>
              <a:srgbClr val="1B4332">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35000" y="5181600"/>
            <a:ext cx="330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Epoch 1 · 初始化锚点</a:t>
            </a:r>
            <a:endParaRPr lang="en-US" sz="1100"/>
          </a:p>
          <a:p>
            <a:pPr marL="0" indent="0" algn="l">
              <a:lnSpc>
                <a:spcPct val="100000"/>
              </a:lnSpc>
            </a:pPr>
            <a:r>
              <a:rPr lang="en-US" sz="1300" b="0" i="0" u="none" strike="noStrike">
                <a:solidFill>
                  <a:srgbClr val="F4A261"/>
                </a:solidFill>
                <a:latin typeface="Noto Sans SC" panose="020B0200000000000000" charset="-122"/>
                <a:ea typeface="Noto Sans SC" panose="020B0200000000000000" charset="-122"/>
                <a:cs typeface="Noto Sans SC" panose="020B0200000000000000" charset="-122"/>
                <a:sym typeface="Noto Sans SC" panose="020B0200000000000000" charset="-122"/>
              </a:rPr>
              <a:t>● 全梯度计算 (O(n))：确立初始参考点</a:t>
            </a:r>
            <a:endParaRPr lang="en-US" sz="1300" b="0" i="0" u="none" strike="noStrike">
              <a:solidFill>
                <a:srgbClr val="F4A26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 m 步内循环：基于随机样本进行参数快速更新，逐步远离初始锚点。</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4318000" y="5080000"/>
            <a:ext cx="3556000" cy="1270000"/>
          </a:xfrm>
          <a:prstGeom prst="roundRect">
            <a:avLst>
              <a:gd name="adj" fmla="val 0"/>
            </a:avLst>
          </a:prstGeom>
          <a:solidFill>
            <a:srgbClr val="52B788">
              <a:alpha val="8000"/>
            </a:srgbClr>
          </a:solidFill>
          <a:ln w="12700" cap="flat" cmpd="sng">
            <a:solidFill>
              <a:srgbClr val="52B788">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4445000" y="5181600"/>
            <a:ext cx="330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52B788"/>
                </a:solidFill>
                <a:latin typeface="Noto Sans SC" panose="020B0200000000000000" charset="-122"/>
                <a:ea typeface="Noto Sans SC" panose="020B0200000000000000" charset="-122"/>
                <a:cs typeface="Noto Sans SC" panose="020B0200000000000000" charset="-122"/>
                <a:sym typeface="Noto Sans SC" panose="020B0200000000000000" charset="-122"/>
              </a:rPr>
              <a:t>Epoch 2 · 偏差修正</a:t>
            </a:r>
            <a:endParaRPr lang="en-US" sz="1100"/>
          </a:p>
          <a:p>
            <a:pPr marL="0" indent="0" algn="l">
              <a:lnSpc>
                <a:spcPct val="100000"/>
              </a:lnSpc>
            </a:pPr>
            <a:r>
              <a:rPr lang="en-US" sz="1300" b="0" i="0" u="none" strike="noStrike">
                <a:solidFill>
                  <a:srgbClr val="F4A261"/>
                </a:solidFill>
                <a:latin typeface="Noto Sans SC" panose="020B0200000000000000" charset="-122"/>
                <a:ea typeface="Noto Sans SC" panose="020B0200000000000000" charset="-122"/>
                <a:cs typeface="Noto Sans SC" panose="020B0200000000000000" charset="-122"/>
                <a:sym typeface="Noto Sans SC" panose="020B0200000000000000" charset="-122"/>
              </a:rPr>
              <a:t>● 全梯度重算 (O(n))：更新参考点为当前值</a:t>
            </a:r>
            <a:endParaRPr lang="en-US" sz="1300" b="0" i="0" u="none" strike="noStrike">
              <a:solidFill>
                <a:srgbClr val="F4A26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 m 步内循环：利用新锚点修正梯度偏差，消除前期累积的估计误差。</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8128000" y="5080000"/>
            <a:ext cx="3556000" cy="1270000"/>
          </a:xfrm>
          <a:prstGeom prst="roundRect">
            <a:avLst>
              <a:gd name="adj" fmla="val 0"/>
            </a:avLst>
          </a:prstGeom>
          <a:solidFill>
            <a:srgbClr val="A3E6C2">
              <a:alpha val="8000"/>
            </a:srgbClr>
          </a:solidFill>
          <a:ln w="12700" cap="flat" cmpd="sng">
            <a:solidFill>
              <a:srgbClr val="A3E6C2">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8255000" y="5181600"/>
            <a:ext cx="330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47850"/>
                </a:solidFill>
                <a:latin typeface="Noto Sans SC" panose="020B0200000000000000" charset="-122"/>
                <a:ea typeface="Noto Sans SC" panose="020B0200000000000000" charset="-122"/>
                <a:cs typeface="Noto Sans SC" panose="020B0200000000000000" charset="-122"/>
                <a:sym typeface="Noto Sans SC" panose="020B0200000000000000" charset="-122"/>
              </a:rPr>
              <a:t>Epoch 3 · 加速收敛</a:t>
            </a:r>
            <a:endParaRPr lang="en-US" sz="1100"/>
          </a:p>
          <a:p>
            <a:pPr marL="0" indent="0" algn="l">
              <a:lnSpc>
                <a:spcPct val="100000"/>
              </a:lnSpc>
            </a:pPr>
            <a:r>
              <a:rPr lang="en-US" sz="1300" b="0" i="0" u="none" strike="noStrike">
                <a:solidFill>
                  <a:srgbClr val="F4A261"/>
                </a:solidFill>
                <a:latin typeface="Noto Sans SC" panose="020B0200000000000000" charset="-122"/>
                <a:ea typeface="Noto Sans SC" panose="020B0200000000000000" charset="-122"/>
                <a:cs typeface="Noto Sans SC" panose="020B0200000000000000" charset="-122"/>
                <a:sym typeface="Noto Sans SC" panose="020B0200000000000000" charset="-122"/>
              </a:rPr>
              <a:t>● 全梯度校准 (O(n))：再次锚定最优方向</a:t>
            </a:r>
            <a:endParaRPr lang="en-US" sz="1300" b="0" i="0" u="none" strike="noStrike">
              <a:solidFill>
                <a:srgbClr val="F4A26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 m 步内循环：在修正后的梯度指引下，快速向最优解收敛，重复迭代直至收敛。</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0" y="-1270000"/>
            <a:ext cx="3810000" cy="3810000"/>
          </a:xfrm>
          <a:prstGeom prst="ellipse">
            <a:avLst/>
          </a:prstGeom>
          <a:solidFill>
            <a:srgbClr val="52B788">
              <a:alpha val="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508000" y="127000"/>
            <a:ext cx="70358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无偏性论证</a:t>
            </a:r>
            <a:r>
              <a:rPr lang="en-US" altLang="zh-CN" sz="3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为何</a:t>
            </a:r>
            <a:r>
              <a:rPr lang="en-US" altLang="zh-CN" sz="3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SVRG</a:t>
            </a:r>
            <a:r>
              <a:rPr lang="zh-CN" altLang="en-US" sz="3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是</a:t>
            </a:r>
            <a:r>
              <a:rPr lang="zh-CN" altLang="en-US" sz="3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正确方向？</a:t>
            </a:r>
            <a:endParaRPr lang="zh-CN" altLang="en-US" sz="3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custDataLst>
              <p:tags r:id="rId1"/>
            </p:custDataLst>
          </p:nvPr>
        </p:nvSpPr>
        <p:spPr>
          <a:xfrm>
            <a:off x="508000" y="16510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zh-CN" altLang="en-US" sz="1100"/>
          </a:p>
        </p:txBody>
      </p:sp>
      <p:sp>
        <p:nvSpPr>
          <p:cNvPr id="5" name="AutoShape 5"/>
          <p:cNvSpPr/>
          <p:nvPr>
            <p:custDataLst>
              <p:tags r:id="rId2"/>
            </p:custDataLst>
          </p:nvPr>
        </p:nvSpPr>
        <p:spPr>
          <a:xfrm>
            <a:off x="1651000" y="1714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6" name="AutoShape 6"/>
          <p:cNvSpPr/>
          <p:nvPr>
            <p:custDataLst>
              <p:tags r:id="rId3"/>
            </p:custDataLst>
          </p:nvPr>
        </p:nvSpPr>
        <p:spPr>
          <a:xfrm>
            <a:off x="1651000" y="21590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cxnSp>
        <p:nvCxnSpPr>
          <p:cNvPr id="7" name="Connector 7"/>
          <p:cNvCxnSpPr/>
          <p:nvPr>
            <p:custDataLst>
              <p:tags r:id="rId4"/>
            </p:custDataLst>
          </p:nvPr>
        </p:nvCxnSpPr>
        <p:spPr>
          <a:xfrm rot="-8185">
            <a:off x="508008" y="3041650"/>
            <a:ext cx="5334000" cy="12700"/>
          </a:xfrm>
          <a:prstGeom prst="straightConnector1">
            <a:avLst/>
          </a:prstGeom>
          <a:solidFill>
            <a:srgbClr val="DEE0E3">
              <a:alpha val="100000"/>
            </a:srgbClr>
          </a:solidFill>
          <a:ln w="25400" cap="flat" cmpd="sng">
            <a:solidFill>
              <a:srgbClr val="D8F3DC">
                <a:alpha val="100000"/>
              </a:srgbClr>
            </a:solidFill>
            <a:prstDash val="solid"/>
            <a:round/>
            <a:headEnd type="none" w="lg" len="lg"/>
            <a:tailEnd type="none" w="lg" len="lg"/>
          </a:ln>
        </p:spPr>
      </p:cxnSp>
      <p:sp>
        <p:nvSpPr>
          <p:cNvPr id="8" name="AutoShape 8"/>
          <p:cNvSpPr/>
          <p:nvPr>
            <p:custDataLst>
              <p:tags r:id="rId5"/>
            </p:custDataLst>
          </p:nvPr>
        </p:nvSpPr>
        <p:spPr>
          <a:xfrm>
            <a:off x="508000" y="32385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9" name="AutoShape 9"/>
          <p:cNvSpPr/>
          <p:nvPr>
            <p:custDataLst>
              <p:tags r:id="rId6"/>
            </p:custDataLst>
          </p:nvPr>
        </p:nvSpPr>
        <p:spPr>
          <a:xfrm>
            <a:off x="1651000" y="3302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altLang="zh-CN" sz="2400" i="1">
              <a:latin typeface="Cambria Math" panose="02040503050406030204" charset="0"/>
              <a:cs typeface="Cambria Math" panose="02040503050406030204" charset="0"/>
            </a:endParaRPr>
          </a:p>
        </p:txBody>
      </p:sp>
      <p:sp>
        <p:nvSpPr>
          <p:cNvPr id="10" name="AutoShape 10"/>
          <p:cNvSpPr/>
          <p:nvPr>
            <p:custDataLst>
              <p:tags r:id="rId7"/>
            </p:custDataLst>
          </p:nvPr>
        </p:nvSpPr>
        <p:spPr>
          <a:xfrm>
            <a:off x="1651000" y="37465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cxnSp>
        <p:nvCxnSpPr>
          <p:cNvPr id="11" name="Connector 11"/>
          <p:cNvCxnSpPr/>
          <p:nvPr>
            <p:custDataLst>
              <p:tags r:id="rId8"/>
            </p:custDataLst>
          </p:nvPr>
        </p:nvCxnSpPr>
        <p:spPr>
          <a:xfrm rot="-8185">
            <a:off x="508008" y="4629150"/>
            <a:ext cx="5334000" cy="12700"/>
          </a:xfrm>
          <a:prstGeom prst="straightConnector1">
            <a:avLst/>
          </a:prstGeom>
          <a:solidFill>
            <a:srgbClr val="DEE0E3">
              <a:alpha val="100000"/>
            </a:srgbClr>
          </a:solidFill>
          <a:ln w="25400" cap="flat" cmpd="sng">
            <a:solidFill>
              <a:srgbClr val="D8F3DC">
                <a:alpha val="100000"/>
              </a:srgbClr>
            </a:solidFill>
            <a:prstDash val="solid"/>
            <a:round/>
            <a:headEnd type="none" w="lg" len="lg"/>
            <a:tailEnd type="none" w="lg" len="lg"/>
          </a:ln>
        </p:spPr>
      </p:cxnSp>
      <p:sp>
        <p:nvSpPr>
          <p:cNvPr id="12" name="AutoShape 12"/>
          <p:cNvSpPr/>
          <p:nvPr>
            <p:custDataLst>
              <p:tags r:id="rId9"/>
            </p:custDataLst>
          </p:nvPr>
        </p:nvSpPr>
        <p:spPr>
          <a:xfrm>
            <a:off x="508000" y="48260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14" name="AutoShape 14"/>
          <p:cNvSpPr/>
          <p:nvPr>
            <p:custDataLst>
              <p:tags r:id="rId10"/>
            </p:custDataLst>
          </p:nvPr>
        </p:nvSpPr>
        <p:spPr>
          <a:xfrm>
            <a:off x="1651000" y="53340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
        <p:nvSpPr>
          <p:cNvPr id="15" name="AutoShape 15"/>
          <p:cNvSpPr/>
          <p:nvPr>
            <p:custDataLst>
              <p:tags r:id="rId11"/>
            </p:custDataLst>
          </p:nvPr>
        </p:nvSpPr>
        <p:spPr>
          <a:xfrm>
            <a:off x="6350000" y="16510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16" name="AutoShape 16"/>
          <p:cNvSpPr/>
          <p:nvPr>
            <p:custDataLst>
              <p:tags r:id="rId12"/>
            </p:custDataLst>
          </p:nvPr>
        </p:nvSpPr>
        <p:spPr>
          <a:xfrm>
            <a:off x="7493000" y="1714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17" name="AutoShape 17"/>
          <p:cNvSpPr/>
          <p:nvPr>
            <p:custDataLst>
              <p:tags r:id="rId13"/>
            </p:custDataLst>
          </p:nvPr>
        </p:nvSpPr>
        <p:spPr>
          <a:xfrm>
            <a:off x="7493000" y="21590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cxnSp>
        <p:nvCxnSpPr>
          <p:cNvPr id="18" name="Connector 18"/>
          <p:cNvCxnSpPr/>
          <p:nvPr>
            <p:custDataLst>
              <p:tags r:id="rId14"/>
            </p:custDataLst>
          </p:nvPr>
        </p:nvCxnSpPr>
        <p:spPr>
          <a:xfrm rot="-8185">
            <a:off x="6350008" y="3041650"/>
            <a:ext cx="5334000" cy="12700"/>
          </a:xfrm>
          <a:prstGeom prst="straightConnector1">
            <a:avLst/>
          </a:prstGeom>
          <a:solidFill>
            <a:srgbClr val="DEE0E3">
              <a:alpha val="100000"/>
            </a:srgbClr>
          </a:solidFill>
          <a:ln w="25400" cap="flat" cmpd="sng">
            <a:solidFill>
              <a:srgbClr val="D8F3DC">
                <a:alpha val="100000"/>
              </a:srgbClr>
            </a:solidFill>
            <a:prstDash val="solid"/>
            <a:round/>
            <a:headEnd type="none" w="lg" len="lg"/>
            <a:tailEnd type="none" w="lg" len="lg"/>
          </a:ln>
        </p:spPr>
      </p:cxnSp>
      <p:sp>
        <p:nvSpPr>
          <p:cNvPr id="19" name="AutoShape 19"/>
          <p:cNvSpPr/>
          <p:nvPr>
            <p:custDataLst>
              <p:tags r:id="rId15"/>
            </p:custDataLst>
          </p:nvPr>
        </p:nvSpPr>
        <p:spPr>
          <a:xfrm>
            <a:off x="6350000" y="32385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20" name="AutoShape 20"/>
          <p:cNvSpPr/>
          <p:nvPr>
            <p:custDataLst>
              <p:tags r:id="rId16"/>
            </p:custDataLst>
          </p:nvPr>
        </p:nvSpPr>
        <p:spPr>
          <a:xfrm>
            <a:off x="7493000" y="3302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cxnSp>
        <p:nvCxnSpPr>
          <p:cNvPr id="22" name="Connector 22"/>
          <p:cNvCxnSpPr/>
          <p:nvPr>
            <p:custDataLst>
              <p:tags r:id="rId17"/>
            </p:custDataLst>
          </p:nvPr>
        </p:nvCxnSpPr>
        <p:spPr>
          <a:xfrm rot="-8185">
            <a:off x="6350008" y="4629150"/>
            <a:ext cx="5334000" cy="12700"/>
          </a:xfrm>
          <a:prstGeom prst="straightConnector1">
            <a:avLst/>
          </a:prstGeom>
          <a:solidFill>
            <a:srgbClr val="DEE0E3">
              <a:alpha val="100000"/>
            </a:srgbClr>
          </a:solidFill>
          <a:ln w="25400" cap="flat" cmpd="sng">
            <a:solidFill>
              <a:srgbClr val="D8F3DC">
                <a:alpha val="100000"/>
              </a:srgbClr>
            </a:solidFill>
            <a:prstDash val="solid"/>
            <a:round/>
            <a:headEnd type="none" w="lg" len="lg"/>
            <a:tailEnd type="none" w="lg" len="lg"/>
          </a:ln>
        </p:spPr>
      </p:cxnSp>
      <p:sp>
        <p:nvSpPr>
          <p:cNvPr id="24" name="AutoShape 24"/>
          <p:cNvSpPr/>
          <p:nvPr>
            <p:custDataLst>
              <p:tags r:id="rId18"/>
            </p:custDataLst>
          </p:nvPr>
        </p:nvSpPr>
        <p:spPr>
          <a:xfrm>
            <a:off x="7493000" y="4889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25" name="AutoShape 25"/>
          <p:cNvSpPr/>
          <p:nvPr>
            <p:custDataLst>
              <p:tags r:id="rId19"/>
            </p:custDataLst>
          </p:nvPr>
        </p:nvSpPr>
        <p:spPr>
          <a:xfrm>
            <a:off x="7493000" y="53340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
        <p:nvSpPr>
          <p:cNvPr id="26" name="AutoShape 26"/>
          <p:cNvSpPr/>
          <p:nvPr/>
        </p:nvSpPr>
        <p:spPr>
          <a:xfrm>
            <a:off x="11176000" y="5842000"/>
            <a:ext cx="762000" cy="762000"/>
          </a:xfrm>
          <a:prstGeom prst="ellipse">
            <a:avLst/>
          </a:prstGeom>
          <a:solidFill>
            <a:srgbClr val="D8F3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10922000" y="6096000"/>
            <a:ext cx="304800" cy="304800"/>
          </a:xfrm>
          <a:prstGeom prst="ellipse">
            <a:avLst/>
          </a:prstGeom>
          <a:solidFill>
            <a:srgbClr val="52B788">
              <a:alpha val="30000"/>
            </a:srgbClr>
          </a:solidFill>
          <a:ln w="25400" cap="flat" cmpd="sng">
            <a:noFill/>
            <a:prstDash val="solid"/>
            <a:round/>
          </a:ln>
        </p:spPr>
        <p:txBody>
          <a:bodyPr vert="horz" wrap="square" lIns="63500" tIns="63500" rIns="63500" bIns="63500" rtlCol="0" anchor="ctr"/>
          <a:lstStyle/>
          <a:p>
            <a:pPr algn="ctr">
              <a:defRPr/>
            </a:pPr>
          </a:p>
        </p:txBody>
      </p:sp>
      <mc:AlternateContent xmlns:mc="http://schemas.openxmlformats.org/markup-compatibility/2006">
        <mc:Choice xmlns:a14="http://schemas.microsoft.com/office/drawing/2010/main" Requires="a14">
          <p:sp>
            <p:nvSpPr>
              <p:cNvPr id="28" name="文本框 27"/>
              <p:cNvSpPr txBox="1"/>
              <p:nvPr/>
            </p:nvSpPr>
            <p:spPr>
              <a:xfrm>
                <a:off x="2847975" y="1003935"/>
                <a:ext cx="4064000" cy="469265"/>
              </a:xfrm>
              <a:prstGeom prst="rect">
                <a:avLst/>
              </a:prstGeom>
              <a:noFill/>
            </p:spPr>
            <p:txBody>
              <a:bodyPr wrap="square" rtlCol="0">
                <a:spAutoFit/>
              </a:bodyPr>
              <a:p>
                <a:r>
                  <a:rPr lang="zh-CN" altLang="en-US" sz="2400"/>
                  <a:t>目标：</a:t>
                </a:r>
                <a14:m>
                  <m:oMath xmlns:m="http://schemas.openxmlformats.org/officeDocument/2006/math">
                    <m:r>
                      <a:rPr lang="en-US" altLang="zh-CN" sz="2400" i="1">
                        <a:latin typeface="Cambria Math" panose="02040503050406030204" charset="0"/>
                        <a:cs typeface="Cambria Math" panose="02040503050406030204" charset="0"/>
                      </a:rPr>
                      <m:t>𝔼</m:t>
                    </m:r>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𝑣</m:t>
                        </m:r>
                      </m:e>
                      <m:sub>
                        <m:r>
                          <a:rPr lang="en-US" altLang="zh-CN" sz="2400" i="1">
                            <a:latin typeface="Cambria Math" panose="02040503050406030204" charset="0"/>
                            <a:cs typeface="Cambria Math" panose="02040503050406030204" charset="0"/>
                          </a:rPr>
                          <m:t>𝑡</m:t>
                        </m:r>
                      </m:sub>
                    </m:sSub>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𝑃</m:t>
                    </m:r>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𝑤</m:t>
                        </m:r>
                      </m:e>
                      <m:sub>
                        <m:r>
                          <a:rPr lang="en-US" altLang="zh-CN" sz="2400" i="1">
                            <a:latin typeface="Cambria Math" panose="02040503050406030204" charset="0"/>
                            <a:cs typeface="Cambria Math" panose="02040503050406030204" charset="0"/>
                          </a:rPr>
                          <m:t>𝑡</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1</m:t>
                        </m:r>
                      </m:sub>
                    </m:sSub>
                    <m:r>
                      <a:rPr lang="en-US" altLang="zh-CN" sz="2400" i="1">
                        <a:latin typeface="Cambria Math" panose="02040503050406030204" charset="0"/>
                        <a:cs typeface="Cambria Math" panose="02040503050406030204" charset="0"/>
                      </a:rPr>
                      <m:t>)</m:t>
                    </m:r>
                  </m:oMath>
                </a14:m>
                <a:endParaRPr lang="en-US" altLang="zh-CN" sz="2400" i="1">
                  <a:latin typeface="Cambria Math" panose="02040503050406030204" charset="0"/>
                  <a:cs typeface="Cambria Math" panose="02040503050406030204" charset="0"/>
                </a:endParaRPr>
              </a:p>
            </p:txBody>
          </p:sp>
        </mc:Choice>
        <mc:Fallback>
          <p:sp>
            <p:nvSpPr>
              <p:cNvPr id="28" name="文本框 27"/>
              <p:cNvSpPr txBox="1">
                <a:spLocks noRot="1" noChangeAspect="1" noMove="1" noResize="1" noEditPoints="1" noAdjustHandles="1" noChangeArrowheads="1" noChangeShapeType="1" noTextEdit="1"/>
              </p:cNvSpPr>
              <p:nvPr/>
            </p:nvSpPr>
            <p:spPr>
              <a:xfrm>
                <a:off x="2847975" y="1003935"/>
                <a:ext cx="4064000" cy="469265"/>
              </a:xfrm>
              <a:prstGeom prst="rect">
                <a:avLst/>
              </a:prstGeom>
              <a:blipFill rotWithShape="1">
                <a:blip r:embed="rId20"/>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文本框 28"/>
              <p:cNvSpPr txBox="1"/>
              <p:nvPr/>
            </p:nvSpPr>
            <p:spPr>
              <a:xfrm>
                <a:off x="1852295" y="1651000"/>
                <a:ext cx="7741920" cy="3819525"/>
              </a:xfrm>
              <a:prstGeom prst="rect">
                <a:avLst/>
              </a:prstGeom>
              <a:noFill/>
            </p:spPr>
            <p:txBody>
              <a:bodyPr wrap="square" rtlCol="0">
                <a:spAutoFit/>
              </a:bodyPr>
              <a:p>
                <a:r>
                  <a:rPr lang="zh-CN" altLang="en-US" sz="2400"/>
                  <a:t>代入计算公式：左</a:t>
                </a:r>
                <a14:m>
                  <m:oMath xmlns:m="http://schemas.openxmlformats.org/officeDocument/2006/math">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𝐸</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𝜙</m:t>
                        </m:r>
                      </m:e>
                      <m:sub>
                        <m:r>
                          <m:rPr>
                            <m:sty m:val="p"/>
                          </m:rPr>
                          <a:rPr lang="en-US" altLang="zh-CN" sz="2400" i="1">
                            <a:latin typeface="Cambria Math" panose="02040503050406030204" charset="0"/>
                            <a:cs typeface="Cambria Math" panose="02040503050406030204" charset="0"/>
                          </a:rPr>
                          <m:t>i</m:t>
                        </m:r>
                      </m:sub>
                    </m:sSub>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charset="0"/>
                            <a:cs typeface="Cambria Math" panose="02040503050406030204" charset="0"/>
                          </a:rPr>
                        </m:ctrlPr>
                      </m:sSubPr>
                      <m:e>
                        <m:r>
                          <m:rPr>
                            <m:sty m:val="p"/>
                          </m:rPr>
                          <a:rPr lang="en-US" altLang="zh-CN" sz="2400" i="1">
                            <a:latin typeface="Cambria Math" panose="02040503050406030204" charset="0"/>
                            <a:cs typeface="Cambria Math" panose="02040503050406030204" charset="0"/>
                          </a:rPr>
                          <m:t>w</m:t>
                        </m:r>
                      </m:e>
                      <m:sub>
                        <m:r>
                          <m:rPr>
                            <m:sty m:val="p"/>
                          </m:rPr>
                          <a:rPr lang="en-US" altLang="zh-CN" sz="2400" i="1">
                            <a:latin typeface="Cambria Math" panose="02040503050406030204" charset="0"/>
                            <a:cs typeface="Cambria Math" panose="02040503050406030204" charset="0"/>
                          </a:rPr>
                          <m:t>t</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1</m:t>
                        </m:r>
                      </m:sub>
                    </m:sSub>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𝜙</m:t>
                        </m:r>
                      </m:e>
                      <m:sub>
                        <m:r>
                          <m:rPr>
                            <m:sty m:val="p"/>
                          </m:rPr>
                          <a:rPr lang="en-US" altLang="zh-CN" sz="2400" i="1">
                            <a:latin typeface="Cambria Math" panose="02040503050406030204" charset="0"/>
                            <a:cs typeface="Cambria Math" panose="02040503050406030204" charset="0"/>
                          </a:rPr>
                          <m:t>i</m:t>
                        </m:r>
                      </m:sub>
                    </m:sSub>
                    <m:r>
                      <a:rPr lang="en-US" altLang="zh-CN" sz="2400" i="1">
                        <a:latin typeface="Cambria Math" panose="02040503050406030204" charset="0"/>
                        <a:cs typeface="Cambria Math" panose="02040503050406030204" charset="0"/>
                      </a:rPr>
                      <m:t>(</m:t>
                    </m:r>
                    <m:acc>
                      <m:accPr>
                        <m:chr m:val="̃"/>
                        <m:ctrlPr>
                          <a:rPr lang="en-US" altLang="zh-CN" sz="2400" i="1">
                            <a:latin typeface="Cambria Math" panose="02040503050406030204" charset="0"/>
                            <a:cs typeface="Cambria Math" panose="02040503050406030204" charset="0"/>
                          </a:rPr>
                        </m:ctrlPr>
                      </m:accPr>
                      <m:e>
                        <m:r>
                          <m:rPr>
                            <m:sty m:val="p"/>
                          </m:rPr>
                          <a:rPr lang="en-US" altLang="zh-CN" sz="2400" i="1">
                            <a:latin typeface="Cambria Math" panose="02040503050406030204" charset="0"/>
                            <a:cs typeface="Cambria Math" panose="02040503050406030204" charset="0"/>
                          </a:rPr>
                          <m:t>w</m:t>
                        </m:r>
                      </m:e>
                    </m:acc>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𝜇</m:t>
                        </m:r>
                      </m:e>
                      <m:sub>
                        <m:r>
                          <m:rPr>
                            <m:sty m:val="p"/>
                          </m:rPr>
                          <a:rPr lang="en-US" altLang="zh-CN" sz="2400" i="1">
                            <a:latin typeface="Cambria Math" panose="02040503050406030204" charset="0"/>
                            <a:cs typeface="Cambria Math" panose="02040503050406030204" charset="0"/>
                          </a:rPr>
                          <m:t>i</m:t>
                        </m:r>
                      </m:sub>
                    </m:sSub>
                    <m:r>
                      <a:rPr lang="en-US" altLang="zh-CN" sz="2400" i="1">
                        <a:latin typeface="Cambria Math" panose="02040503050406030204" charset="0"/>
                        <a:cs typeface="Cambria Math" panose="02040503050406030204" charset="0"/>
                      </a:rPr>
                      <m:t>]</m:t>
                    </m:r>
                  </m:oMath>
                </a14:m>
                <a:endParaRPr lang="en-US" altLang="zh-CN" sz="2400" i="1">
                  <a:latin typeface="Cambria Math" panose="02040503050406030204" charset="0"/>
                  <a:cs typeface="Cambria Math" panose="02040503050406030204" charset="0"/>
                </a:endParaRPr>
              </a:p>
              <a:p>
                <a:r>
                  <a:rPr lang="en-US" altLang="zh-CN" sz="2400" i="1">
                    <a:latin typeface="Cambria Math" panose="02040503050406030204" charset="0"/>
                    <a:cs typeface="Cambria Math" panose="02040503050406030204" charset="0"/>
                  </a:rPr>
                  <a:t> </a:t>
                </a:r>
                <a:endParaRPr lang="en-US" altLang="zh-CN" sz="2400" i="1">
                  <a:latin typeface="Cambria Math" panose="02040503050406030204" charset="0"/>
                  <a:cs typeface="Cambria Math" panose="02040503050406030204" charset="0"/>
                </a:endParaRPr>
              </a:p>
              <a:p>
                <a:r>
                  <a:rPr lang="en-US" altLang="zh-CN" sz="2400">
                    <a:latin typeface="Cambria Math" panose="02040503050406030204" charset="0"/>
                    <a:cs typeface="Cambria Math" panose="02040503050406030204" charset="0"/>
                  </a:rPr>
                  <a:t>           </a:t>
                </a:r>
                <a:r>
                  <a:rPr lang="zh-CN" altLang="en-US" sz="2400">
                    <a:latin typeface="Cambria Math" panose="02040503050406030204" charset="0"/>
                    <a:cs typeface="Cambria Math" panose="02040503050406030204" charset="0"/>
                  </a:rPr>
                  <a:t>由期望性质，</a:t>
                </a:r>
                <a14:m>
                  <m:oMath xmlns:m="http://schemas.openxmlformats.org/officeDocument/2006/math">
                    <m:r>
                      <a:rPr lang="en-US" altLang="zh-CN" sz="2400" i="1">
                        <a:latin typeface="Cambria Math" panose="02040503050406030204" charset="0"/>
                        <a:cs typeface="Cambria Math" panose="02040503050406030204" charset="0"/>
                      </a:rPr>
                      <m:t>𝔼</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𝑎</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𝑏</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𝔼</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𝑎</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𝔼</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𝑏</m:t>
                    </m:r>
                    <m:r>
                      <a:rPr lang="en-US" altLang="zh-CN" sz="2400" i="1">
                        <a:latin typeface="Cambria Math" panose="02040503050406030204" charset="0"/>
                        <a:cs typeface="Cambria Math" panose="02040503050406030204" charset="0"/>
                      </a:rPr>
                      <m:t>)</m:t>
                    </m:r>
                  </m:oMath>
                </a14:m>
                <a:endParaRPr lang="en-US" altLang="zh-CN" sz="2400" i="1">
                  <a:latin typeface="Cambria Math" panose="02040503050406030204" charset="0"/>
                  <a:cs typeface="Cambria Math" panose="02040503050406030204" charset="0"/>
                </a:endParaRPr>
              </a:p>
              <a:p>
                <a:endParaRPr lang="en-US" altLang="zh-CN" sz="2400" i="1">
                  <a:latin typeface="Cambria Math" panose="02040503050406030204" charset="0"/>
                  <a:cs typeface="Cambria Math" panose="02040503050406030204" charset="0"/>
                </a:endParaRPr>
              </a:p>
              <a:p>
                <a:r>
                  <a:rPr lang="en-US" altLang="zh-CN" sz="2400">
                    <a:latin typeface="Cambria Math" panose="02040503050406030204" charset="0"/>
                    <a:cs typeface="Cambria Math" panose="02040503050406030204" charset="0"/>
                  </a:rPr>
                  <a:t>        </a:t>
                </a:r>
                <a:r>
                  <a:rPr lang="zh-CN" altLang="en-US" sz="2400">
                    <a:latin typeface="Cambria Math" panose="02040503050406030204" charset="0"/>
                    <a:cs typeface="Cambria Math" panose="02040503050406030204" charset="0"/>
                  </a:rPr>
                  <a:t>则有</a:t>
                </a:r>
                <a:r>
                  <a:rPr lang="en-US" altLang="zh-CN" sz="2400">
                    <a:latin typeface="Cambria Math" panose="02040503050406030204" charset="0"/>
                    <a:cs typeface="Cambria Math" panose="02040503050406030204" charset="0"/>
                  </a:rPr>
                  <a:t>  </a:t>
                </a:r>
                <a:r>
                  <a:rPr lang="zh-CN" altLang="en-US" sz="2400">
                    <a:latin typeface="Cambria Math" panose="02040503050406030204" charset="0"/>
                    <a:ea typeface="宋体" panose="02010600030101010101" pitchFamily="2" charset="-122"/>
                    <a:cs typeface="Cambria Math" panose="02040503050406030204" charset="0"/>
                  </a:rPr>
                  <a:t>：</a:t>
                </a:r>
                <a14:m>
                  <m:oMath xmlns:m="http://schemas.openxmlformats.org/officeDocument/2006/math">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𝔼</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𝜓</m:t>
                        </m:r>
                      </m:e>
                      <m:sub>
                        <m:r>
                          <a:rPr lang="en-US" altLang="zh-CN" sz="2400" i="1">
                            <a:latin typeface="Cambria Math" panose="02040503050406030204" charset="0"/>
                            <a:cs typeface="Cambria Math" panose="02040503050406030204" charset="0"/>
                          </a:rPr>
                          <m:t>𝑖</m:t>
                        </m:r>
                      </m:sub>
                    </m:sSub>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𝑤</m:t>
                        </m:r>
                      </m:e>
                      <m:sub>
                        <m:r>
                          <a:rPr lang="en-US" altLang="zh-CN" sz="2400" i="1">
                            <a:latin typeface="Cambria Math" panose="02040503050406030204" charset="0"/>
                            <a:cs typeface="Cambria Math" panose="02040503050406030204" charset="0"/>
                          </a:rPr>
                          <m:t>𝑡</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1</m:t>
                        </m:r>
                      </m:sub>
                    </m:sSub>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𝔼</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𝜓</m:t>
                        </m:r>
                      </m:e>
                      <m:sub>
                        <m:r>
                          <a:rPr lang="en-US" altLang="zh-CN" sz="2400" i="1">
                            <a:latin typeface="Cambria Math" panose="02040503050406030204" charset="0"/>
                            <a:cs typeface="Cambria Math" panose="02040503050406030204" charset="0"/>
                          </a:rPr>
                          <m:t>𝑖</m:t>
                        </m:r>
                      </m:sub>
                    </m:sSub>
                    <m:r>
                      <a:rPr lang="en-US" altLang="zh-CN" sz="2400" i="1">
                        <a:latin typeface="Cambria Math" panose="02040503050406030204" charset="0"/>
                        <a:cs typeface="Cambria Math" panose="02040503050406030204" charset="0"/>
                      </a:rPr>
                      <m:t>(</m:t>
                    </m:r>
                    <m:acc>
                      <m:accPr>
                        <m:chr m:val="̃"/>
                        <m:ctrlPr>
                          <a:rPr lang="en-US" altLang="zh-CN" sz="2400" i="1">
                            <a:latin typeface="Cambria Math" panose="02040503050406030204" charset="0"/>
                            <a:cs typeface="Cambria Math" panose="02040503050406030204" charset="0"/>
                          </a:rPr>
                        </m:ctrlPr>
                      </m:accPr>
                      <m:e>
                        <m:r>
                          <a:rPr lang="en-US" altLang="zh-CN" sz="2400" i="1">
                            <a:latin typeface="Cambria Math" panose="02040503050406030204" charset="0"/>
                            <a:cs typeface="Cambria Math" panose="02040503050406030204" charset="0"/>
                          </a:rPr>
                          <m:t>𝑤</m:t>
                        </m:r>
                      </m:e>
                    </m:acc>
                    <m:r>
                      <a:rPr lang="en-US" altLang="zh-CN" sz="2400" i="1">
                        <a:latin typeface="Cambria Math" panose="02040503050406030204" charset="0"/>
                        <a:cs typeface="Cambria Math" panose="02040503050406030204" charset="0"/>
                      </a:rPr>
                      <m:t>)]+</m:t>
                    </m:r>
                    <m:acc>
                      <m:accPr>
                        <m:chr m:val="̃"/>
                        <m:ctrlPr>
                          <a:rPr lang="en-US" altLang="zh-CN" sz="2400" i="1">
                            <a:latin typeface="Cambria Math" panose="02040503050406030204" charset="0"/>
                            <a:cs typeface="Cambria Math" panose="02040503050406030204" charset="0"/>
                          </a:rPr>
                        </m:ctrlPr>
                      </m:accPr>
                      <m:e>
                        <m:r>
                          <a:rPr lang="en-US" altLang="zh-CN" sz="2400" i="1">
                            <a:latin typeface="Cambria Math" panose="02040503050406030204" charset="0"/>
                            <a:cs typeface="Cambria Math" panose="02040503050406030204" charset="0"/>
                          </a:rPr>
                          <m:t>𝜇</m:t>
                        </m:r>
                      </m:e>
                    </m:acc>
                  </m:oMath>
                </a14:m>
                <a:endParaRPr lang="en-US" altLang="zh-CN" sz="2400" i="1">
                  <a:latin typeface="Cambria Math" panose="02040503050406030204" charset="0"/>
                  <a:cs typeface="Cambria Math" panose="02040503050406030204" charset="0"/>
                </a:endParaRPr>
              </a:p>
              <a:p>
                <a:endParaRPr lang="en-US" altLang="zh-CN" sz="2400" i="1">
                  <a:latin typeface="Cambria Math" panose="02040503050406030204" charset="0"/>
                  <a:cs typeface="Cambria Math" panose="02040503050406030204" charset="0"/>
                </a:endParaRPr>
              </a:p>
              <a:p>
                <a:pPr marL="914400" lvl="2" indent="457200"/>
                <a:r>
                  <a:rPr lang="en-US" altLang="zh-CN" sz="2400">
                    <a:latin typeface="Cambria Math" panose="02040503050406030204" charset="0"/>
                    <a:cs typeface="Cambria Math" panose="02040503050406030204" charset="0"/>
                  </a:rPr>
                  <a:t>    </a:t>
                </a:r>
                <a14:m>
                  <m:oMath xmlns:m="http://schemas.openxmlformats.org/officeDocument/2006/math">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𝑃</m:t>
                    </m:r>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𝑤</m:t>
                        </m:r>
                      </m:e>
                      <m:sub>
                        <m:r>
                          <a:rPr lang="en-US" altLang="zh-CN" sz="2400" i="1">
                            <a:latin typeface="Cambria Math" panose="02040503050406030204" charset="0"/>
                            <a:cs typeface="Cambria Math" panose="02040503050406030204" charset="0"/>
                          </a:rPr>
                          <m:t>𝑡</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1</m:t>
                        </m:r>
                      </m:sub>
                    </m:sSub>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𝑃</m:t>
                    </m:r>
                    <m:r>
                      <a:rPr lang="en-US" altLang="zh-CN" sz="2400" i="1">
                        <a:latin typeface="Cambria Math" panose="02040503050406030204" charset="0"/>
                        <a:cs typeface="Cambria Math" panose="02040503050406030204" charset="0"/>
                      </a:rPr>
                      <m:t>(</m:t>
                    </m:r>
                    <m:acc>
                      <m:accPr>
                        <m:chr m:val="̃"/>
                        <m:ctrlPr>
                          <a:rPr lang="en-US" altLang="zh-CN" sz="2400" i="1">
                            <a:latin typeface="Cambria Math" panose="02040503050406030204" charset="0"/>
                            <a:cs typeface="Cambria Math" panose="02040503050406030204" charset="0"/>
                          </a:rPr>
                        </m:ctrlPr>
                      </m:accPr>
                      <m:e>
                        <m:r>
                          <a:rPr lang="en-US" altLang="zh-CN" sz="2400" i="1">
                            <a:latin typeface="Cambria Math" panose="02040503050406030204" charset="0"/>
                            <a:cs typeface="Cambria Math" panose="02040503050406030204" charset="0"/>
                          </a:rPr>
                          <m:t>𝑤</m:t>
                        </m:r>
                      </m:e>
                    </m:acc>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𝑃</m:t>
                    </m:r>
                    <m:r>
                      <a:rPr lang="en-US" altLang="zh-CN" sz="2400" i="1">
                        <a:latin typeface="Cambria Math" panose="02040503050406030204" charset="0"/>
                        <a:cs typeface="Cambria Math" panose="02040503050406030204" charset="0"/>
                      </a:rPr>
                      <m:t>(</m:t>
                    </m:r>
                    <m:acc>
                      <m:accPr>
                        <m:chr m:val="̃"/>
                        <m:ctrlPr>
                          <a:rPr lang="en-US" altLang="zh-CN" sz="2400" i="1">
                            <a:latin typeface="Cambria Math" panose="02040503050406030204" charset="0"/>
                            <a:cs typeface="Cambria Math" panose="02040503050406030204" charset="0"/>
                          </a:rPr>
                        </m:ctrlPr>
                      </m:accPr>
                      <m:e>
                        <m:r>
                          <a:rPr lang="en-US" altLang="zh-CN" sz="2400" i="1">
                            <a:latin typeface="Cambria Math" panose="02040503050406030204" charset="0"/>
                            <a:cs typeface="Cambria Math" panose="02040503050406030204" charset="0"/>
                          </a:rPr>
                          <m:t>𝑤</m:t>
                        </m:r>
                      </m:e>
                    </m:acc>
                    <m:r>
                      <a:rPr lang="en-US" altLang="zh-CN" sz="2400" i="1">
                        <a:latin typeface="Cambria Math" panose="02040503050406030204" charset="0"/>
                        <a:cs typeface="Cambria Math" panose="02040503050406030204" charset="0"/>
                      </a:rPr>
                      <m:t>)</m:t>
                    </m:r>
                  </m:oMath>
                </a14:m>
                <a:endParaRPr lang="en-US" altLang="zh-CN" sz="2400" i="1">
                  <a:latin typeface="Cambria Math" panose="02040503050406030204" charset="0"/>
                  <a:cs typeface="Cambria Math" panose="02040503050406030204" charset="0"/>
                </a:endParaRPr>
              </a:p>
              <a:p>
                <a:pPr marL="914400" lvl="2" indent="457200"/>
                <a:endParaRPr lang="en-US" altLang="zh-CN" sz="2400" i="1">
                  <a:latin typeface="Cambria Math" panose="02040503050406030204" charset="0"/>
                  <a:cs typeface="Cambria Math" panose="02040503050406030204" charset="0"/>
                </a:endParaRPr>
              </a:p>
              <a:p>
                <a:pPr marL="914400" lvl="2" indent="457200"/>
                <a:r>
                  <a:rPr lang="en-US" altLang="zh-CN" sz="2400">
                    <a:latin typeface="Cambria Math" panose="02040503050406030204" charset="0"/>
                    <a:cs typeface="Cambria Math" panose="02040503050406030204" charset="0"/>
                  </a:rPr>
                  <a:t>    </a:t>
                </a:r>
                <a14:m>
                  <m:oMath xmlns:m="http://schemas.openxmlformats.org/officeDocument/2006/math">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𝑃</m:t>
                    </m:r>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𝑤</m:t>
                        </m:r>
                      </m:e>
                      <m:sub>
                        <m:r>
                          <a:rPr lang="en-US" altLang="zh-CN" sz="2400" i="1">
                            <a:latin typeface="Cambria Math" panose="02040503050406030204" charset="0"/>
                            <a:cs typeface="Cambria Math" panose="02040503050406030204" charset="0"/>
                          </a:rPr>
                          <m:t>𝑡</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1</m:t>
                        </m:r>
                      </m:sub>
                    </m:sSub>
                    <m:r>
                      <a:rPr lang="en-US" altLang="zh-CN" sz="2400" i="1">
                        <a:latin typeface="Cambria Math" panose="02040503050406030204" charset="0"/>
                        <a:cs typeface="Cambria Math" panose="02040503050406030204" charset="0"/>
                      </a:rPr>
                      <m:t>)</m:t>
                    </m:r>
                  </m:oMath>
                </a14:m>
                <a:endParaRPr lang="en-US" altLang="zh-CN" sz="2400" i="1">
                  <a:latin typeface="Cambria Math" panose="02040503050406030204" charset="0"/>
                  <a:cs typeface="Cambria Math" panose="02040503050406030204" charset="0"/>
                </a:endParaRPr>
              </a:p>
              <a:p>
                <a:endParaRPr lang="en-US" altLang="zh-CN" sz="2400" i="1">
                  <a:latin typeface="Cambria Math" panose="02040503050406030204" charset="0"/>
                  <a:ea typeface="MS Mincho" charset="0"/>
                  <a:cs typeface="Cambria Math" panose="02040503050406030204" charset="0"/>
                </a:endParaRPr>
              </a:p>
            </p:txBody>
          </p:sp>
        </mc:Choice>
        <mc:Fallback>
          <p:sp>
            <p:nvSpPr>
              <p:cNvPr id="29" name="文本框 28"/>
              <p:cNvSpPr txBox="1">
                <a:spLocks noRot="1" noChangeAspect="1" noMove="1" noResize="1" noEditPoints="1" noAdjustHandles="1" noChangeArrowheads="1" noChangeShapeType="1" noTextEdit="1"/>
              </p:cNvSpPr>
              <p:nvPr/>
            </p:nvSpPr>
            <p:spPr>
              <a:xfrm>
                <a:off x="1852295" y="1651000"/>
                <a:ext cx="7741920" cy="3819525"/>
              </a:xfrm>
              <a:prstGeom prst="rect">
                <a:avLst/>
              </a:prstGeom>
              <a:blipFill rotWithShape="1">
                <a:blip r:embed="rId21"/>
                <a:stretch>
                  <a:fillRect/>
                </a:stretch>
              </a:blipFill>
            </p:spPr>
            <p:txBody>
              <a:bodyPr/>
              <a:lstStyle/>
              <a:p>
                <a:r>
                  <a:rPr lang="zh-CN" altLang="en-US">
                    <a:noFill/>
                  </a:rPr>
                  <a:t> </a:t>
                </a:r>
              </a:p>
            </p:txBody>
          </p:sp>
        </mc:Fallback>
      </mc:AlternateContent>
      <p:sp>
        <p:nvSpPr>
          <p:cNvPr id="32" name="文本框 31"/>
          <p:cNvSpPr txBox="1"/>
          <p:nvPr/>
        </p:nvSpPr>
        <p:spPr>
          <a:xfrm>
            <a:off x="2540635" y="6012180"/>
            <a:ext cx="5082540" cy="460375"/>
          </a:xfrm>
          <a:prstGeom prst="rect">
            <a:avLst/>
          </a:prstGeom>
          <a:noFill/>
        </p:spPr>
        <p:txBody>
          <a:bodyPr wrap="square" rtlCol="0">
            <a:spAutoFit/>
          </a:bodyPr>
          <a:p>
            <a:r>
              <a:rPr lang="zh-CN" altLang="en-US" sz="2400"/>
              <a:t>则二者效果上是等效的，无偏性得证</a:t>
            </a:r>
            <a:endParaRPr lang="zh-CN" altLang="en-US"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52B788">
              <a:alpha val="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52B788">
              <a:alpha val="8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508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方差缩减的直觉</a:t>
            </a:r>
            <a:endParaRPr lang="en-US" sz="1100"/>
          </a:p>
        </p:txBody>
      </p:sp>
      <p:sp>
        <p:nvSpPr>
          <p:cNvPr id="5" name="AutoShape 5"/>
          <p:cNvSpPr/>
          <p:nvPr/>
        </p:nvSpPr>
        <p:spPr>
          <a:xfrm>
            <a:off x="508000" y="1270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核心思想：通过引入一个“参考点”构造修正后的梯度估计量，在保持无偏性的前提下，利用项的抵消机制大幅降低随机梯度的方差，从而加速优化收敛。</a:t>
            </a:r>
            <a:endParaRPr lang="en-US" sz="1100"/>
          </a:p>
        </p:txBody>
      </p:sp>
      <p:sp>
        <p:nvSpPr>
          <p:cNvPr id="6" name="AutoShape 6"/>
          <p:cNvSpPr/>
          <p:nvPr/>
        </p:nvSpPr>
        <p:spPr>
          <a:xfrm>
            <a:off x="508000" y="2159000"/>
            <a:ext cx="11176000" cy="1270000"/>
          </a:xfrm>
          <a:prstGeom prst="roundRect">
            <a:avLst>
              <a:gd name="adj" fmla="val 0"/>
            </a:avLst>
          </a:prstGeom>
          <a:solidFill>
            <a:srgbClr val="52B788">
              <a:alpha val="8000"/>
            </a:srgbClr>
          </a:solidFill>
          <a:ln w="12700" cap="flat" cmpd="sng">
            <a:solidFill>
              <a:srgbClr val="52B788">
                <a:alpha val="30000"/>
              </a:srgbClr>
            </a:solidFill>
            <a:prstDash val="solid"/>
            <a:round/>
          </a:ln>
        </p:spPr>
        <p:txBody>
          <a:bodyPr vert="horz" wrap="square" lIns="63500" tIns="63500" rIns="63500" bIns="63500" rtlCol="0" anchor="ctr"/>
          <a:lstStyle/>
          <a:p>
            <a:pPr algn="ctr">
              <a:defRPr/>
            </a:pPr>
          </a:p>
        </p:txBody>
      </p:sp>
      <mc:AlternateContent xmlns:mc="http://schemas.openxmlformats.org/markup-compatibility/2006">
        <mc:Choice xmlns:a14="http://schemas.microsoft.com/office/drawing/2010/main" Requires="a14">
          <p:sp>
            <p:nvSpPr>
              <p:cNvPr id="7" name="AutoShape 7"/>
              <p:cNvSpPr/>
              <p:nvPr/>
            </p:nvSpPr>
            <p:spPr>
              <a:xfrm>
                <a:off x="635000" y="2349500"/>
                <a:ext cx="1092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2400"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a:t>更新项</a:t>
                </a:r>
                <a:r>
                  <a:rPr lang="en-US" altLang="zh-CN" sz="2400"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a:t>  </a:t>
                </a:r>
                <a14:m>
                  <m:oMath xmlns:m="http://schemas.openxmlformats.org/officeDocument/2006/math">
                    <m:sSub>
                      <m:sSubPr>
                        <m:ctrlP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𝑣</m:t>
                        </m:r>
                      </m:e>
                      <m:sub>
                        <m: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𝑡</m:t>
                        </m:r>
                      </m:sub>
                    </m:sSub>
                    <m: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𝜓</m:t>
                        </m:r>
                      </m:e>
                      <m:sub>
                        <m: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𝑖</m:t>
                        </m:r>
                      </m:sub>
                    </m:sSub>
                    <m: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sub>
                        <m: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𝑡</m:t>
                        </m:r>
                        <m: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1</m:t>
                        </m:r>
                      </m:sub>
                    </m:sSub>
                    <m: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𝜓</m:t>
                        </m:r>
                      </m:e>
                      <m:sub>
                        <m: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𝑖</m:t>
                        </m:r>
                      </m:sub>
                    </m:sSub>
                    <m: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m:t>
                    </m:r>
                    <m:acc>
                      <m:accPr>
                        <m:chr m:val="̃"/>
                        <m:ctrlP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ctrlPr>
                      </m:accPr>
                      <m:e>
                        <m: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acc>
                    <m: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𝜇</m:t>
                        </m:r>
                      </m:e>
                      <m:sub>
                        <m: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𝑖</m:t>
                        </m:r>
                      </m:sub>
                    </m:sSub>
                    <m: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(即</m:t>
                    </m:r>
                    <m: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𝛻𝜓</m:t>
                    </m:r>
                    <m: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m:t>
                    </m:r>
                    <m:acc>
                      <m:accPr>
                        <m:chr m:val="̃"/>
                        <m:ctrlP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ctrlPr>
                      </m:accPr>
                      <m:e>
                        <m: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acc>
                    <m:r>
                      <a:rPr lang="en-US" altLang="zh-CN" sz="2400" b="1"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m:t>
                    </m:r>
                  </m:oMath>
                </a14:m>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800" b="1" i="0" u="none" strike="noStrike">
                    <a:solidFill>
                      <a:srgbClr val="52B788"/>
                    </a:solidFill>
                    <a:latin typeface="Noto Sans SC" panose="020B0200000000000000" charset="-122"/>
                    <a:ea typeface="Noto Sans SC" panose="020B0200000000000000" charset="-122"/>
                    <a:cs typeface="Noto Sans SC" panose="020B0200000000000000" charset="-122"/>
                    <a:sym typeface="Noto Sans SC" panose="020B0200000000000000" charset="-122"/>
                  </a:rPr>
                  <a:t>← 修正项：抵消随机噪声</a:t>
                </a:r>
                <a:endParaRPr lang="en-US" sz="1100"/>
              </a:p>
            </p:txBody>
          </p:sp>
        </mc:Choice>
        <mc:Fallback>
          <p:sp>
            <p:nvSpPr>
              <p:cNvPr id="7" name="AutoShape 7"/>
              <p:cNvSpPr>
                <a:spLocks noRot="1" noChangeAspect="1" noMove="1" noResize="1" noEditPoints="1" noAdjustHandles="1" noChangeArrowheads="1" noChangeShapeType="1" noTextEdit="1"/>
              </p:cNvSpPr>
              <p:nvPr/>
            </p:nvSpPr>
            <p:spPr>
              <a:xfrm>
                <a:off x="635000" y="2349500"/>
                <a:ext cx="10922000" cy="1016000"/>
              </a:xfrm>
              <a:prstGeom prst="rect">
                <a:avLst/>
              </a:prstGeom>
              <a:blipFill rotWithShape="1">
                <a:blip r:embed="rId1"/>
                <a:stretch>
                  <a:fillRect/>
                </a:stretch>
              </a:blipFill>
              <a:ln w="12700" cap="flat" cmpd="sng">
                <a:noFill/>
                <a:prstDash val="solid"/>
                <a:round/>
              </a:ln>
            </p:spPr>
            <p:txBody>
              <a:bodyPr/>
              <a:lstStyle/>
              <a:p>
                <a:r>
                  <a:rPr lang="zh-CN" altLang="en-US">
                    <a:noFill/>
                  </a:rPr>
                  <a:t> </a:t>
                </a:r>
              </a:p>
            </p:txBody>
          </p:sp>
        </mc:Fallback>
      </mc:AlternateContent>
      <p:sp>
        <p:nvSpPr>
          <p:cNvPr id="8" name="AutoShape 8"/>
          <p:cNvSpPr/>
          <p:nvPr>
            <p:custDataLst>
              <p:tags r:id="rId2"/>
            </p:custDataLst>
          </p:nvPr>
        </p:nvSpPr>
        <p:spPr>
          <a:xfrm>
            <a:off x="508000" y="3810000"/>
            <a:ext cx="3556000" cy="2413000"/>
          </a:xfrm>
          <a:prstGeom prst="roundRect">
            <a:avLst>
              <a:gd name="adj" fmla="val 0"/>
            </a:avLst>
          </a:prstGeom>
          <a:solidFill>
            <a:srgbClr val="F3F4F6">
              <a:alpha val="6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500" y="4000500"/>
            <a:ext cx="355600" cy="355600"/>
          </a:xfrm>
          <a:prstGeom prst="rect">
            <a:avLst/>
          </a:prstGeom>
        </p:spPr>
      </p:pic>
      <p:sp>
        <p:nvSpPr>
          <p:cNvPr id="10" name="AutoShape 10"/>
          <p:cNvSpPr/>
          <p:nvPr>
            <p:custDataLst>
              <p:tags r:id="rId6"/>
            </p:custDataLst>
          </p:nvPr>
        </p:nvSpPr>
        <p:spPr>
          <a:xfrm>
            <a:off x="1143000" y="4000500"/>
            <a:ext cx="279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01 无偏性严格保证</a:t>
            </a:r>
            <a:endParaRPr lang="en-US" sz="1100"/>
          </a:p>
        </p:txBody>
      </p:sp>
      <mc:AlternateContent xmlns:mc="http://schemas.openxmlformats.org/markup-compatibility/2006">
        <mc:Choice xmlns:a14="http://schemas.microsoft.com/office/drawing/2010/main" Requires="a14">
          <p:sp>
            <p:nvSpPr>
              <p:cNvPr id="11" name="AutoShape 11"/>
              <p:cNvSpPr/>
              <p:nvPr>
                <p:custDataLst>
                  <p:tags r:id="rId7"/>
                </p:custDataLst>
              </p:nvPr>
            </p:nvSpPr>
            <p:spPr>
              <a:xfrm>
                <a:off x="698500" y="4508500"/>
                <a:ext cx="3175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数学推导证明其期望等于真实全梯度：</a:t>
                </a:r>
                <a:b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14:m>
                  <m:oMathPara xmlns:m="http://schemas.openxmlformats.org/officeDocument/2006/math">
                    <m:oMathParaPr>
                      <m:jc m:val="centerGroup"/>
                    </m:oMathParaPr>
                    <m:oMath xmlns:m="http://schemas.openxmlformats.org/officeDocument/2006/math">
                      <m:m>
                        <m:mPr>
                          <m:mcs>
                            <m:mc>
                              <m:mcPr>
                                <m:count m:val="2"/>
                                <m:mcJc m:val="center"/>
                              </m:mcPr>
                            </m:mc>
                          </m:mcs>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mPr>
                        <m:mr>
                          <m:e>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E</m:t>
                            </m:r>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v</m:t>
                            </m:r>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e>
                          <m:e>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E</m:t>
                            </m:r>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sSub>
                              <m:sSubPr>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ψ</m:t>
                                </m:r>
                              </m:e>
                              <m:sub>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i</m:t>
                                </m:r>
                              </m:sub>
                            </m:sSub>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w</m:t>
                            </m:r>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E</m:t>
                            </m:r>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sSub>
                              <m:sSubPr>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ψ</m:t>
                                </m:r>
                              </m:e>
                              <m:sub>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i</m:t>
                                </m:r>
                              </m:sub>
                            </m:sSub>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acc>
                              <m:accPr>
                                <m:chr m:val="̃"/>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accPr>
                              <m:e>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w</m:t>
                                </m:r>
                              </m:e>
                            </m:acc>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ψ</m:t>
                            </m:r>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acc>
                              <m:accPr>
                                <m:chr m:val="̃"/>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accPr>
                              <m:e>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w</m:t>
                                </m:r>
                              </m:e>
                            </m:acc>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e>
                        </m:mr>
                        <m:mr>
                          <m:e/>
                          <m:e>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ψ</m:t>
                            </m:r>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w</m:t>
                            </m:r>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ψ</m:t>
                            </m:r>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acc>
                              <m:accPr>
                                <m:chr m:val="̃"/>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accPr>
                              <m:e>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w</m:t>
                                </m:r>
                              </m:e>
                            </m:acc>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ψ</m:t>
                            </m:r>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acc>
                              <m:accPr>
                                <m:chr m:val="̃"/>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accPr>
                              <m:e>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w</m:t>
                                </m:r>
                              </m:e>
                            </m:acc>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ψ</m:t>
                            </m:r>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w</m:t>
                            </m:r>
                            <m:r>
                              <a:rPr lang="en-US" altLang="zh-CN" sz="1400" b="0" i="1" u="none" strike="noStrike">
                                <a:solidFill>
                                  <a:srgbClr val="374151"/>
                                </a:solidFill>
                                <a:latin typeface="Cambria Math" panose="02040503050406030204" charset="0"/>
                                <a:ea typeface="MS Mincho" charset="0"/>
                                <a:cs typeface="Cambria Math" panose="02040503050406030204" charset="0"/>
                                <a:sym typeface="Noto Sans SC" panose="020B0200000000000000" charset="-122"/>
                              </a:rPr>
                              <m:t>)</m:t>
                            </m:r>
                          </m:e>
                        </m:mr>
                      </m:m>
                    </m:oMath>
                  </m:oMathPara>
                </a14:m>
                <a:b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确保了梯度估计的正确性。</a:t>
                </a:r>
                <a:endParaRPr lang="en-US" sz="1100"/>
              </a:p>
            </p:txBody>
          </p:sp>
        </mc:Choice>
        <mc:Fallback>
          <p:sp>
            <p:nvSpPr>
              <p:cNvPr id="11" name="AutoShape 11"/>
              <p:cNvSpPr>
                <a:spLocks noRot="1" noChangeAspect="1" noMove="1" noResize="1" noEditPoints="1" noAdjustHandles="1" noChangeArrowheads="1" noChangeShapeType="1" noTextEdit="1"/>
              </p:cNvSpPr>
              <p:nvPr>
                <p:custDataLst>
                  <p:tags r:id="rId8"/>
                </p:custDataLst>
              </p:nvPr>
            </p:nvSpPr>
            <p:spPr>
              <a:xfrm>
                <a:off x="698500" y="4508500"/>
                <a:ext cx="3175000" cy="1524000"/>
              </a:xfrm>
              <a:prstGeom prst="rect">
                <a:avLst/>
              </a:prstGeom>
              <a:blipFill rotWithShape="1">
                <a:blip r:embed="rId9"/>
                <a:stretch>
                  <a:fillRect r="-7760"/>
                </a:stretch>
              </a:blipFill>
              <a:ln w="12700" cap="flat" cmpd="sng">
                <a:noFill/>
                <a:prstDash val="solid"/>
                <a:round/>
              </a:ln>
            </p:spPr>
            <p:txBody>
              <a:bodyPr/>
              <a:lstStyle/>
              <a:p>
                <a:r>
                  <a:rPr lang="zh-CN" altLang="en-US">
                    <a:noFill/>
                  </a:rPr>
                  <a:t> </a:t>
                </a:r>
              </a:p>
            </p:txBody>
          </p:sp>
        </mc:Fallback>
      </mc:AlternateContent>
      <p:sp>
        <p:nvSpPr>
          <p:cNvPr id="12" name="AutoShape 12"/>
          <p:cNvSpPr/>
          <p:nvPr>
            <p:custDataLst>
              <p:tags r:id="rId10"/>
            </p:custDataLst>
          </p:nvPr>
        </p:nvSpPr>
        <p:spPr>
          <a:xfrm>
            <a:off x="4318000" y="3810000"/>
            <a:ext cx="3556000" cy="2413000"/>
          </a:xfrm>
          <a:prstGeom prst="roundRect">
            <a:avLst>
              <a:gd name="adj" fmla="val 0"/>
            </a:avLst>
          </a:prstGeom>
          <a:solidFill>
            <a:srgbClr val="F3F4F6">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508500" y="4000500"/>
            <a:ext cx="355600" cy="355600"/>
          </a:xfrm>
          <a:prstGeom prst="rect">
            <a:avLst/>
          </a:prstGeom>
        </p:spPr>
      </p:pic>
      <p:sp>
        <p:nvSpPr>
          <p:cNvPr id="14" name="AutoShape 14"/>
          <p:cNvSpPr/>
          <p:nvPr>
            <p:custDataLst>
              <p:tags r:id="rId14"/>
            </p:custDataLst>
          </p:nvPr>
        </p:nvSpPr>
        <p:spPr>
          <a:xfrm>
            <a:off x="4953000" y="4000500"/>
            <a:ext cx="279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02 方差抵消机制</a:t>
            </a:r>
            <a:endParaRPr lang="en-US" sz="1100"/>
          </a:p>
        </p:txBody>
      </p:sp>
      <mc:AlternateContent xmlns:mc="http://schemas.openxmlformats.org/markup-compatibility/2006">
        <mc:Choice xmlns:a14="http://schemas.microsoft.com/office/drawing/2010/main" Requires="a14">
          <p:sp>
            <p:nvSpPr>
              <p:cNvPr id="15" name="AutoShape 15"/>
              <p:cNvSpPr/>
              <p:nvPr>
                <p:custDataLst>
                  <p:tags r:id="rId15"/>
                </p:custDataLst>
              </p:nvPr>
            </p:nvSpPr>
            <p:spPr>
              <a:xfrm>
                <a:off x="4508500" y="4508500"/>
                <a:ext cx="3175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当参数</a:t>
                </a:r>
                <a14:m>
                  <m:oMath xmlns:m="http://schemas.openxmlformats.org/officeDocument/2006/math">
                    <m:r>
                      <a:rPr lang="en-US"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oMath>
                </a14:m>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接近参考点</a:t>
                </a:r>
                <a14:m>
                  <m:oMath xmlns:m="http://schemas.openxmlformats.org/officeDocument/2006/math">
                    <m:acc>
                      <m:accPr>
                        <m:chr m:val="̃"/>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accPr>
                      <m:e>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acc>
                  </m:oMath>
                </a14:m>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时，随机项</a:t>
                </a:r>
                <a14:m>
                  <m:oMath xmlns:m="http://schemas.openxmlformats.org/officeDocument/2006/math">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ψ</m:t>
                        </m:r>
                      </m:e>
                      <m:sub>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i</m:t>
                        </m:r>
                      </m:sub>
                    </m:sSub>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m:rPr>
                        <m:sty m:val="p"/>
                      </m:r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w</m:t>
                    </m:r>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oMath>
                </a14:m>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与</a:t>
                </a:r>
                <a14:m>
                  <m:oMath xmlns:m="http://schemas.openxmlformats.org/officeDocument/2006/math">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𝜓</m:t>
                        </m:r>
                      </m:e>
                      <m:sub>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𝑖</m:t>
                        </m:r>
                      </m:sub>
                    </m:sSub>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acc>
                      <m:accPr>
                        <m:chr m:val="̃"/>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accPr>
                      <m:e>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acc>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oMath>
                </a14:m>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高度相关。两者相减后，采样带来的随机噪声被大幅抵消，使得修正后的梯度方差远小于原始随机梯度，减少训练震荡。</a:t>
                </a:r>
                <a:endParaRPr lang="en-US" sz="1100"/>
              </a:p>
            </p:txBody>
          </p:sp>
        </mc:Choice>
        <mc:Fallback>
          <p:sp>
            <p:nvSpPr>
              <p:cNvPr id="15" name="AutoShape 15"/>
              <p:cNvSpPr>
                <a:spLocks noRot="1" noChangeAspect="1" noMove="1" noResize="1" noEditPoints="1" noAdjustHandles="1" noChangeArrowheads="1" noChangeShapeType="1" noTextEdit="1"/>
              </p:cNvSpPr>
              <p:nvPr>
                <p:custDataLst>
                  <p:tags r:id="rId16"/>
                </p:custDataLst>
              </p:nvPr>
            </p:nvSpPr>
            <p:spPr>
              <a:xfrm>
                <a:off x="4508500" y="4508500"/>
                <a:ext cx="3175000" cy="1524000"/>
              </a:xfrm>
              <a:prstGeom prst="rect">
                <a:avLst/>
              </a:prstGeom>
              <a:blipFill rotWithShape="1">
                <a:blip r:embed="rId17"/>
                <a:stretch>
                  <a:fillRect/>
                </a:stretch>
              </a:blipFill>
              <a:ln w="12700" cap="flat" cmpd="sng">
                <a:noFill/>
                <a:prstDash val="solid"/>
                <a:round/>
              </a:ln>
            </p:spPr>
            <p:txBody>
              <a:bodyPr/>
              <a:lstStyle/>
              <a:p>
                <a:r>
                  <a:rPr lang="zh-CN" altLang="en-US">
                    <a:noFill/>
                  </a:rPr>
                  <a:t> </a:t>
                </a:r>
              </a:p>
            </p:txBody>
          </p:sp>
        </mc:Fallback>
      </mc:AlternateContent>
      <p:sp>
        <p:nvSpPr>
          <p:cNvPr id="16" name="AutoShape 16"/>
          <p:cNvSpPr/>
          <p:nvPr>
            <p:custDataLst>
              <p:tags r:id="rId18"/>
            </p:custDataLst>
          </p:nvPr>
        </p:nvSpPr>
        <p:spPr>
          <a:xfrm>
            <a:off x="8128000" y="3839845"/>
            <a:ext cx="3556000" cy="2413000"/>
          </a:xfrm>
          <a:prstGeom prst="roundRect">
            <a:avLst>
              <a:gd name="adj" fmla="val 0"/>
            </a:avLst>
          </a:prstGeom>
          <a:solidFill>
            <a:srgbClr val="F3F4F6">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custDataLst>
              <p:tags r:id="rId19"/>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318500" y="4000500"/>
            <a:ext cx="355600" cy="355600"/>
          </a:xfrm>
          <a:prstGeom prst="rect">
            <a:avLst/>
          </a:prstGeom>
        </p:spPr>
      </p:pic>
      <p:sp>
        <p:nvSpPr>
          <p:cNvPr id="18" name="AutoShape 18"/>
          <p:cNvSpPr/>
          <p:nvPr>
            <p:custDataLst>
              <p:tags r:id="rId22"/>
            </p:custDataLst>
          </p:nvPr>
        </p:nvSpPr>
        <p:spPr>
          <a:xfrm>
            <a:off x="8763000" y="4000500"/>
            <a:ext cx="279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03 动态更新策略</a:t>
            </a:r>
            <a:endParaRPr lang="en-US" sz="1100"/>
          </a:p>
        </p:txBody>
      </p:sp>
      <mc:AlternateContent xmlns:mc="http://schemas.openxmlformats.org/markup-compatibility/2006">
        <mc:Choice xmlns:a14="http://schemas.microsoft.com/office/drawing/2010/main" Requires="a14">
          <p:sp>
            <p:nvSpPr>
              <p:cNvPr id="19" name="AutoShape 19"/>
              <p:cNvSpPr/>
              <p:nvPr>
                <p:custDataLst>
                  <p:tags r:id="rId23"/>
                </p:custDataLst>
              </p:nvPr>
            </p:nvSpPr>
            <p:spPr>
              <a:xfrm>
                <a:off x="8318500" y="4508500"/>
                <a:ext cx="3175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修正效果依赖于</a:t>
                </a:r>
                <a14:m>
                  <m:oMath xmlns:m="http://schemas.openxmlformats.org/officeDocument/2006/math">
                    <m:r>
                      <a:rPr lang="en-US"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oMath>
                </a14:m>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与</a:t>
                </a:r>
                <a14:m>
                  <m:oMath xmlns:m="http://schemas.openxmlformats.org/officeDocument/2006/math">
                    <m:acc>
                      <m:accPr>
                        <m:chr m:val="̃"/>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accPr>
                      <m:e>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acc>
                  </m:oMath>
                </a14:m>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的接近程度。因此需要定期计算全梯度来更新参考点</a:t>
                </a:r>
                <a14:m>
                  <m:oMath xmlns:m="http://schemas.openxmlformats.org/officeDocument/2006/math">
                    <m:acc>
                      <m:accPr>
                        <m:chr m:val="̃"/>
                        <m:ctrlP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accPr>
                      <m:e>
                        <m:r>
                          <a:rPr lang="en-US" altLang="zh-CN" sz="14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acc>
                  </m:oMath>
                </a14:m>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，以维持方差缩减的效果。更新频率需平衡计算开销与优化收益。</a:t>
                </a:r>
                <a:endParaRPr lang="en-US" sz="1100"/>
              </a:p>
            </p:txBody>
          </p:sp>
        </mc:Choice>
        <mc:Fallback>
          <p:sp>
            <p:nvSpPr>
              <p:cNvPr id="19" name="AutoShape 19"/>
              <p:cNvSpPr>
                <a:spLocks noRot="1" noChangeAspect="1" noMove="1" noResize="1" noEditPoints="1" noAdjustHandles="1" noChangeArrowheads="1" noChangeShapeType="1" noTextEdit="1"/>
              </p:cNvSpPr>
              <p:nvPr>
                <p:custDataLst>
                  <p:tags r:id="rId24"/>
                </p:custDataLst>
              </p:nvPr>
            </p:nvSpPr>
            <p:spPr>
              <a:xfrm>
                <a:off x="8318500" y="4508500"/>
                <a:ext cx="3175000" cy="1524000"/>
              </a:xfrm>
              <a:prstGeom prst="rect">
                <a:avLst/>
              </a:prstGeom>
              <a:blipFill rotWithShape="1">
                <a:blip r:embed="rId25"/>
                <a:stretch>
                  <a:fillRect/>
                </a:stretch>
              </a:blipFill>
              <a:ln w="12700" cap="flat" cmpd="sng">
                <a:noFill/>
                <a:prstDash val="solid"/>
                <a:round/>
              </a:ln>
            </p:spPr>
            <p:txBody>
              <a:bodyPr/>
              <a:lstStyle/>
              <a:p>
                <a:r>
                  <a:rPr lang="zh-CN"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0" y="-1270000"/>
            <a:ext cx="3810000" cy="3810000"/>
          </a:xfrm>
          <a:prstGeom prst="ellipse">
            <a:avLst/>
          </a:prstGeom>
          <a:solidFill>
            <a:srgbClr val="52B788">
              <a:alpha val="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232410" y="139700"/>
            <a:ext cx="784225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关键性结论</a:t>
            </a:r>
            <a:r>
              <a:rPr lang="zh-CN" altLang="en-US" sz="3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证明</a:t>
            </a:r>
            <a:endParaRPr lang="zh-CN" altLang="en-US" sz="3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custDataLst>
              <p:tags r:id="rId1"/>
            </p:custDataLst>
          </p:nvPr>
        </p:nvSpPr>
        <p:spPr>
          <a:xfrm>
            <a:off x="1651000" y="21590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
        <p:nvSpPr>
          <p:cNvPr id="8" name="AutoShape 8"/>
          <p:cNvSpPr/>
          <p:nvPr>
            <p:custDataLst>
              <p:tags r:id="rId2"/>
            </p:custDataLst>
          </p:nvPr>
        </p:nvSpPr>
        <p:spPr>
          <a:xfrm>
            <a:off x="508000" y="32385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9" name="AutoShape 9"/>
          <p:cNvSpPr/>
          <p:nvPr>
            <p:custDataLst>
              <p:tags r:id="rId3"/>
            </p:custDataLst>
          </p:nvPr>
        </p:nvSpPr>
        <p:spPr>
          <a:xfrm>
            <a:off x="1651000" y="3302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10" name="AutoShape 10"/>
          <p:cNvSpPr/>
          <p:nvPr>
            <p:custDataLst>
              <p:tags r:id="rId4"/>
            </p:custDataLst>
          </p:nvPr>
        </p:nvSpPr>
        <p:spPr>
          <a:xfrm>
            <a:off x="1651000" y="37465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cxnSp>
        <p:nvCxnSpPr>
          <p:cNvPr id="11" name="Connector 11"/>
          <p:cNvCxnSpPr/>
          <p:nvPr>
            <p:custDataLst>
              <p:tags r:id="rId5"/>
            </p:custDataLst>
          </p:nvPr>
        </p:nvCxnSpPr>
        <p:spPr>
          <a:xfrm rot="-8185">
            <a:off x="508008" y="4629150"/>
            <a:ext cx="5334000" cy="12700"/>
          </a:xfrm>
          <a:prstGeom prst="straightConnector1">
            <a:avLst/>
          </a:prstGeom>
          <a:solidFill>
            <a:srgbClr val="DEE0E3">
              <a:alpha val="100000"/>
            </a:srgbClr>
          </a:solidFill>
          <a:ln w="25400" cap="flat" cmpd="sng">
            <a:solidFill>
              <a:srgbClr val="D8F3DC">
                <a:alpha val="100000"/>
              </a:srgbClr>
            </a:solidFill>
            <a:prstDash val="solid"/>
            <a:round/>
            <a:headEnd type="none" w="lg" len="lg"/>
            <a:tailEnd type="none" w="lg" len="lg"/>
          </a:ln>
        </p:spPr>
      </p:cxnSp>
      <p:sp>
        <p:nvSpPr>
          <p:cNvPr id="12" name="AutoShape 12"/>
          <p:cNvSpPr/>
          <p:nvPr>
            <p:custDataLst>
              <p:tags r:id="rId6"/>
            </p:custDataLst>
          </p:nvPr>
        </p:nvSpPr>
        <p:spPr>
          <a:xfrm>
            <a:off x="508000" y="48260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13" name="AutoShape 13"/>
          <p:cNvSpPr/>
          <p:nvPr>
            <p:custDataLst>
              <p:tags r:id="rId7"/>
            </p:custDataLst>
          </p:nvPr>
        </p:nvSpPr>
        <p:spPr>
          <a:xfrm>
            <a:off x="750570" y="4648200"/>
            <a:ext cx="9461500" cy="847725"/>
          </a:xfrm>
          <a:prstGeom prst="rect">
            <a:avLst/>
          </a:prstGeom>
          <a:noFill/>
          <a:ln w="12700" cap="flat" cmpd="sng">
            <a:noFill/>
            <a:prstDash val="solid"/>
            <a:round/>
          </a:ln>
        </p:spPr>
        <p:txBody>
          <a:bodyPr vert="horz" wrap="square" lIns="0" tIns="0" rIns="0" bIns="0" rtlCol="0" anchor="ctr" anchorCtr="0"/>
          <a:lstStyle/>
          <a:p>
            <a:pPr marL="914400" lvl="2" indent="457200" algn="l">
              <a:lnSpc>
                <a:spcPct val="125000"/>
              </a:lnSpc>
              <a:defRPr/>
            </a:pPr>
            <a:endParaRPr lang="en-US" altLang="zh-CN" sz="2000" i="1">
              <a:latin typeface="Cambria Math" panose="02040503050406030204" charset="0"/>
              <a:cs typeface="Cambria Math" panose="02040503050406030204" charset="0"/>
            </a:endParaRPr>
          </a:p>
          <a:p>
            <a:pPr marL="914400" lvl="2" indent="457200" algn="l">
              <a:lnSpc>
                <a:spcPct val="125000"/>
              </a:lnSpc>
              <a:defRPr/>
            </a:pPr>
            <a:endParaRPr lang="en-US" altLang="zh-CN" sz="2800" i="1">
              <a:latin typeface="Cambria Math" panose="02040503050406030204" charset="0"/>
              <a:ea typeface="宋体" panose="02010600030101010101" pitchFamily="2" charset="-122"/>
              <a:cs typeface="Cambria Math" panose="02040503050406030204" charset="0"/>
            </a:endParaRPr>
          </a:p>
        </p:txBody>
      </p:sp>
      <p:sp>
        <p:nvSpPr>
          <p:cNvPr id="15" name="AutoShape 15"/>
          <p:cNvSpPr/>
          <p:nvPr>
            <p:custDataLst>
              <p:tags r:id="rId8"/>
            </p:custDataLst>
          </p:nvPr>
        </p:nvSpPr>
        <p:spPr>
          <a:xfrm>
            <a:off x="6350000" y="16510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16" name="AutoShape 16"/>
          <p:cNvSpPr/>
          <p:nvPr>
            <p:custDataLst>
              <p:tags r:id="rId9"/>
            </p:custDataLst>
          </p:nvPr>
        </p:nvSpPr>
        <p:spPr>
          <a:xfrm>
            <a:off x="7493000" y="1714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17" name="AutoShape 17"/>
          <p:cNvSpPr/>
          <p:nvPr>
            <p:custDataLst>
              <p:tags r:id="rId10"/>
            </p:custDataLst>
          </p:nvPr>
        </p:nvSpPr>
        <p:spPr>
          <a:xfrm>
            <a:off x="7493000" y="21590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
        <p:nvSpPr>
          <p:cNvPr id="19" name="AutoShape 19"/>
          <p:cNvSpPr/>
          <p:nvPr>
            <p:custDataLst>
              <p:tags r:id="rId11"/>
            </p:custDataLst>
          </p:nvPr>
        </p:nvSpPr>
        <p:spPr>
          <a:xfrm>
            <a:off x="6350000" y="32385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20" name="AutoShape 20"/>
          <p:cNvSpPr/>
          <p:nvPr>
            <p:custDataLst>
              <p:tags r:id="rId12"/>
            </p:custDataLst>
          </p:nvPr>
        </p:nvSpPr>
        <p:spPr>
          <a:xfrm>
            <a:off x="7493000" y="3302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21" name="AutoShape 21"/>
          <p:cNvSpPr/>
          <p:nvPr>
            <p:custDataLst>
              <p:tags r:id="rId13"/>
            </p:custDataLst>
          </p:nvPr>
        </p:nvSpPr>
        <p:spPr>
          <a:xfrm>
            <a:off x="7493000" y="37465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cxnSp>
        <p:nvCxnSpPr>
          <p:cNvPr id="22" name="Connector 22"/>
          <p:cNvCxnSpPr/>
          <p:nvPr>
            <p:custDataLst>
              <p:tags r:id="rId14"/>
            </p:custDataLst>
          </p:nvPr>
        </p:nvCxnSpPr>
        <p:spPr>
          <a:xfrm rot="-8185">
            <a:off x="6350008" y="4629150"/>
            <a:ext cx="5334000" cy="12700"/>
          </a:xfrm>
          <a:prstGeom prst="straightConnector1">
            <a:avLst/>
          </a:prstGeom>
          <a:solidFill>
            <a:srgbClr val="DEE0E3">
              <a:alpha val="100000"/>
            </a:srgbClr>
          </a:solidFill>
          <a:ln w="25400" cap="flat" cmpd="sng">
            <a:solidFill>
              <a:srgbClr val="D8F3DC">
                <a:alpha val="100000"/>
              </a:srgbClr>
            </a:solidFill>
            <a:prstDash val="solid"/>
            <a:round/>
            <a:headEnd type="none" w="lg" len="lg"/>
            <a:tailEnd type="none" w="lg" len="lg"/>
          </a:ln>
        </p:spPr>
      </p:cxnSp>
      <p:sp>
        <p:nvSpPr>
          <p:cNvPr id="24" name="AutoShape 24"/>
          <p:cNvSpPr/>
          <p:nvPr>
            <p:custDataLst>
              <p:tags r:id="rId15"/>
            </p:custDataLst>
          </p:nvPr>
        </p:nvSpPr>
        <p:spPr>
          <a:xfrm>
            <a:off x="7493000" y="4889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25" name="AutoShape 25"/>
          <p:cNvSpPr/>
          <p:nvPr>
            <p:custDataLst>
              <p:tags r:id="rId16"/>
            </p:custDataLst>
          </p:nvPr>
        </p:nvSpPr>
        <p:spPr>
          <a:xfrm>
            <a:off x="7493000" y="53340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
        <p:nvSpPr>
          <p:cNvPr id="26" name="AutoShape 26"/>
          <p:cNvSpPr/>
          <p:nvPr/>
        </p:nvSpPr>
        <p:spPr>
          <a:xfrm>
            <a:off x="11176000" y="5842000"/>
            <a:ext cx="762000" cy="762000"/>
          </a:xfrm>
          <a:prstGeom prst="ellipse">
            <a:avLst/>
          </a:prstGeom>
          <a:solidFill>
            <a:srgbClr val="D8F3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10922000" y="6096000"/>
            <a:ext cx="304800" cy="304800"/>
          </a:xfrm>
          <a:prstGeom prst="ellipse">
            <a:avLst/>
          </a:prstGeom>
          <a:solidFill>
            <a:srgbClr val="52B788">
              <a:alpha val="30000"/>
            </a:srgbClr>
          </a:solidFill>
          <a:ln w="25400" cap="flat" cmpd="sng">
            <a:noFill/>
            <a:prstDash val="solid"/>
            <a:round/>
          </a:ln>
        </p:spPr>
        <p:txBody>
          <a:bodyPr vert="horz" wrap="square" lIns="63500" tIns="63500" rIns="63500" bIns="63500" rtlCol="0" anchor="ctr"/>
          <a:lstStyle/>
          <a:p>
            <a:pPr algn="ctr">
              <a:defRPr/>
            </a:pPr>
          </a:p>
        </p:txBody>
      </p:sp>
      <mc:AlternateContent xmlns:mc="http://schemas.openxmlformats.org/markup-compatibility/2006">
        <mc:Choice xmlns:a14="http://schemas.microsoft.com/office/drawing/2010/main" Requires="a14">
          <p:sp>
            <p:nvSpPr>
              <p:cNvPr id="14" name="文本框 13"/>
              <p:cNvSpPr txBox="1"/>
              <p:nvPr/>
            </p:nvSpPr>
            <p:spPr>
              <a:xfrm>
                <a:off x="895350" y="901700"/>
                <a:ext cx="6946900" cy="529590"/>
              </a:xfrm>
              <a:prstGeom prst="rect">
                <a:avLst/>
              </a:prstGeom>
              <a:noFill/>
            </p:spPr>
            <p:txBody>
              <a:bodyPr wrap="square" rtlCol="0">
                <a:spAutoFit/>
              </a:bodyPr>
              <a:p>
                <a:r>
                  <a:rPr lang="zh-CN" altLang="en-US" sz="2000">
                    <a:latin typeface="Cambria Math" panose="02040503050406030204" charset="0"/>
                    <a:cs typeface="Cambria Math" panose="02040503050406030204" charset="0"/>
                  </a:rPr>
                  <a:t>目标</a:t>
                </a:r>
                <a:r>
                  <a:rPr lang="en-US" altLang="zh-CN" sz="2000">
                    <a:latin typeface="Cambria Math" panose="02040503050406030204" charset="0"/>
                    <a:cs typeface="Cambria Math" panose="02040503050406030204" charset="0"/>
                  </a:rPr>
                  <a:t>   </a:t>
                </a:r>
                <a:r>
                  <a:rPr lang="zh-CN" altLang="en-US" sz="2000">
                    <a:latin typeface="Cambria Math" panose="02040503050406030204" charset="0"/>
                    <a:ea typeface="宋体" panose="02010600030101010101" pitchFamily="2" charset="-122"/>
                    <a:cs typeface="Cambria Math" panose="02040503050406030204" charset="0"/>
                  </a:rPr>
                  <a:t>：</a:t>
                </a:r>
                <a14:m>
                  <m:oMath xmlns:m="http://schemas.openxmlformats.org/officeDocument/2006/math">
                    <m:f>
                      <m:fPr>
                        <m:ctrlPr>
                          <a:rPr lang="en-US" altLang="zh-CN" sz="2000" i="1">
                            <a:latin typeface="Cambria Math" panose="02040503050406030204" charset="0"/>
                            <a:cs typeface="Cambria Math" panose="02040503050406030204" charset="0"/>
                          </a:rPr>
                        </m:ctrlPr>
                      </m:fPr>
                      <m:num>
                        <m:r>
                          <a:rPr lang="en-US" altLang="zh-CN" sz="2000" i="1">
                            <a:latin typeface="Cambria Math" panose="02040503050406030204" charset="0"/>
                            <a:cs typeface="Cambria Math" panose="02040503050406030204" charset="0"/>
                          </a:rPr>
                          <m:t>1</m:t>
                        </m:r>
                      </m:num>
                      <m:den>
                        <m:r>
                          <a:rPr lang="en-US" altLang="zh-CN" sz="2000" i="1">
                            <a:latin typeface="Cambria Math" panose="02040503050406030204" charset="0"/>
                            <a:cs typeface="Cambria Math" panose="02040503050406030204" charset="0"/>
                          </a:rPr>
                          <m:t>𝑛</m:t>
                        </m:r>
                      </m:den>
                    </m:f>
                    <m:nary>
                      <m:naryPr>
                        <m:chr m:val="∑"/>
                        <m:limLoc m:val="subSup"/>
                        <m:ctrlPr>
                          <a:rPr lang="en-US" altLang="zh-CN" sz="2000" i="1">
                            <a:latin typeface="Cambria Math" panose="02040503050406030204" charset="0"/>
                            <a:cs typeface="Cambria Math" panose="02040503050406030204" charset="0"/>
                          </a:rPr>
                        </m:ctrlPr>
                      </m:naryPr>
                      <m:sub>
                        <m:r>
                          <a:rPr lang="en-US" altLang="zh-CN" sz="2000" i="1">
                            <a:latin typeface="Cambria Math" panose="02040503050406030204" charset="0"/>
                            <a:cs typeface="Cambria Math" panose="02040503050406030204" charset="0"/>
                          </a:rPr>
                          <m:t>𝑖</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1</m:t>
                        </m:r>
                      </m:sub>
                      <m:sup>
                        <m:r>
                          <a:rPr lang="en-US" altLang="zh-CN" sz="2000" i="1">
                            <a:latin typeface="Cambria Math" panose="02040503050406030204" charset="0"/>
                            <a:cs typeface="Cambria Math" panose="02040503050406030204" charset="0"/>
                          </a:rPr>
                          <m:t>𝑛</m:t>
                        </m:r>
                      </m:sup>
                      <m:e>
                        <m:r>
                          <a:rPr lang="en-US" altLang="zh-CN" sz="2000" i="1">
                            <a:latin typeface="Cambria Math" panose="02040503050406030204" charset="0"/>
                            <a:cs typeface="Cambria Math" panose="02040503050406030204" charset="0"/>
                          </a:rPr>
                          <m:t>‖</m:t>
                        </m:r>
                      </m:e>
                    </m:nary>
                    <m:r>
                      <a:rPr lang="en-US" altLang="zh-CN" sz="2000" i="1">
                        <a:latin typeface="Cambria Math" panose="02040503050406030204" charset="0"/>
                        <a:cs typeface="Cambria Math" panose="02040503050406030204" charset="0"/>
                      </a:rPr>
                      <m:t>𝛻</m:t>
                    </m:r>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𝜓</m:t>
                        </m:r>
                      </m:e>
                      <m:sub>
                        <m:r>
                          <a:rPr lang="en-US" altLang="zh-CN" sz="2000" i="1">
                            <a:latin typeface="Cambria Math" panose="02040503050406030204" charset="0"/>
                            <a:cs typeface="Cambria Math" panose="02040503050406030204" charset="0"/>
                          </a:rPr>
                          <m:t>𝑖</m:t>
                        </m:r>
                      </m:sub>
                    </m:sSub>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𝑤</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m:t>
                    </m:r>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𝜓</m:t>
                        </m:r>
                      </m:e>
                      <m:sub>
                        <m:r>
                          <a:rPr lang="en-US" altLang="zh-CN" sz="2000" i="1">
                            <a:latin typeface="Cambria Math" panose="02040503050406030204" charset="0"/>
                            <a:cs typeface="Cambria Math" panose="02040503050406030204" charset="0"/>
                          </a:rPr>
                          <m:t>𝑖</m:t>
                        </m:r>
                      </m:sub>
                    </m:sSub>
                    <m:r>
                      <a:rPr lang="en-US" altLang="zh-CN" sz="2000" i="1">
                        <a:latin typeface="Cambria Math" panose="02040503050406030204" charset="0"/>
                        <a:cs typeface="Cambria Math" panose="02040503050406030204" charset="0"/>
                      </a:rPr>
                      <m:t>(</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𝑤</m:t>
                        </m:r>
                      </m:e>
                      <m:sup>
                        <m:r>
                          <a:rPr lang="en-US" altLang="zh-CN" sz="2000" i="1">
                            <a:latin typeface="Cambria Math" panose="02040503050406030204" charset="0"/>
                            <a:cs typeface="Cambria Math" panose="02040503050406030204" charset="0"/>
                          </a:rPr>
                          <m:t>∗</m:t>
                        </m:r>
                      </m:sup>
                    </m:sSup>
                    <m:r>
                      <a:rPr lang="en-US" altLang="zh-CN" sz="2000" i="1">
                        <a:latin typeface="Cambria Math" panose="02040503050406030204" charset="0"/>
                        <a:cs typeface="Cambria Math" panose="02040503050406030204" charset="0"/>
                      </a:rPr>
                      <m:t>)</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m:t>
                        </m:r>
                      </m:e>
                      <m:sup>
                        <m:r>
                          <a:rPr lang="en-US" altLang="zh-CN" sz="2000" i="1">
                            <a:latin typeface="Cambria Math" panose="02040503050406030204" charset="0"/>
                            <a:cs typeface="Cambria Math" panose="02040503050406030204" charset="0"/>
                          </a:rPr>
                          <m:t>2</m:t>
                        </m:r>
                      </m:sup>
                    </m:sSup>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2</m:t>
                    </m:r>
                    <m:r>
                      <a:rPr lang="en-US" altLang="zh-CN" sz="2000" i="1">
                        <a:latin typeface="Cambria Math" panose="02040503050406030204" charset="0"/>
                        <a:cs typeface="Cambria Math" panose="02040503050406030204" charset="0"/>
                      </a:rPr>
                      <m:t>𝐿</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𝑃</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𝑤</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𝑃</m:t>
                    </m:r>
                    <m:r>
                      <a:rPr lang="en-US" altLang="zh-CN" sz="2000" i="1">
                        <a:latin typeface="Cambria Math" panose="02040503050406030204" charset="0"/>
                        <a:cs typeface="Cambria Math" panose="02040503050406030204" charset="0"/>
                      </a:rPr>
                      <m:t>(</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𝑤</m:t>
                        </m:r>
                      </m:e>
                      <m:sup>
                        <m:r>
                          <a:rPr lang="en-US" altLang="zh-CN" sz="2000" i="1">
                            <a:latin typeface="Cambria Math" panose="02040503050406030204" charset="0"/>
                            <a:cs typeface="Cambria Math" panose="02040503050406030204" charset="0"/>
                          </a:rPr>
                          <m:t>∗</m:t>
                        </m:r>
                      </m:sup>
                    </m:sSup>
                    <m:r>
                      <a:rPr lang="en-US" altLang="zh-CN" sz="2000" i="1">
                        <a:latin typeface="Cambria Math" panose="02040503050406030204" charset="0"/>
                        <a:cs typeface="Cambria Math" panose="02040503050406030204" charset="0"/>
                      </a:rPr>
                      <m:t>))</m:t>
                    </m:r>
                  </m:oMath>
                </a14:m>
                <a:endParaRPr lang="zh-CN" altLang="en-US" sz="2000"/>
              </a:p>
            </p:txBody>
          </p:sp>
        </mc:Choice>
        <mc:Fallback>
          <p:sp>
            <p:nvSpPr>
              <p:cNvPr id="14" name="文本框 13"/>
              <p:cNvSpPr txBox="1">
                <a:spLocks noRot="1" noChangeAspect="1" noMove="1" noResize="1" noEditPoints="1" noAdjustHandles="1" noChangeArrowheads="1" noChangeShapeType="1" noTextEdit="1"/>
              </p:cNvSpPr>
              <p:nvPr/>
            </p:nvSpPr>
            <p:spPr>
              <a:xfrm>
                <a:off x="895350" y="901700"/>
                <a:ext cx="6946900" cy="529590"/>
              </a:xfrm>
              <a:prstGeom prst="rect">
                <a:avLst/>
              </a:prstGeom>
              <a:blipFill rotWithShape="1">
                <a:blip r:embed="rId1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p:cNvSpPr txBox="1"/>
              <p:nvPr/>
            </p:nvSpPr>
            <p:spPr>
              <a:xfrm>
                <a:off x="895350" y="1651000"/>
                <a:ext cx="6731000" cy="1057910"/>
              </a:xfrm>
              <a:prstGeom prst="rect">
                <a:avLst/>
              </a:prstGeom>
              <a:noFill/>
            </p:spPr>
            <p:txBody>
              <a:bodyPr wrap="square" rtlCol="0">
                <a:spAutoFit/>
              </a:bodyPr>
              <a:p>
                <a:r>
                  <a:rPr lang="zh-CN" altLang="en-US" sz="1800"/>
                  <a:t>已知：</a:t>
                </a:r>
                <a14:m>
                  <m:oMath xmlns:m="http://schemas.openxmlformats.org/officeDocument/2006/math">
                    <m:r>
                      <a:rPr lang="en-US" altLang="zh-CN" sz="1800" i="1">
                        <a:latin typeface="Cambria Math" panose="02040503050406030204" charset="0"/>
                        <a:cs typeface="Cambria Math" panose="02040503050406030204" charset="0"/>
                      </a:rPr>
                      <m:t>𝑃</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𝑤</m:t>
                    </m:r>
                    <m:r>
                      <a:rPr lang="en-US" altLang="zh-CN" sz="1800" i="1">
                        <a:latin typeface="Cambria Math" panose="02040503050406030204" charset="0"/>
                        <a:cs typeface="Cambria Math" panose="02040503050406030204" charset="0"/>
                      </a:rPr>
                      <m:t>)=</m:t>
                    </m:r>
                    <m:f>
                      <m:fPr>
                        <m:ctrlPr>
                          <a:rPr lang="en-US" altLang="zh-CN" sz="1800" i="1">
                            <a:latin typeface="Cambria Math" panose="02040503050406030204" charset="0"/>
                            <a:cs typeface="Cambria Math" panose="02040503050406030204" charset="0"/>
                          </a:rPr>
                        </m:ctrlPr>
                      </m:fPr>
                      <m:num>
                        <m:r>
                          <a:rPr lang="en-US" altLang="zh-CN" sz="1800" i="1">
                            <a:latin typeface="Cambria Math" panose="02040503050406030204" charset="0"/>
                            <a:cs typeface="Cambria Math" panose="02040503050406030204" charset="0"/>
                          </a:rPr>
                          <m:t>1</m:t>
                        </m:r>
                      </m:num>
                      <m:den>
                        <m:r>
                          <a:rPr lang="en-US" altLang="zh-CN" sz="1800" i="1">
                            <a:latin typeface="Cambria Math" panose="02040503050406030204" charset="0"/>
                            <a:cs typeface="Cambria Math" panose="02040503050406030204" charset="0"/>
                          </a:rPr>
                          <m:t>𝑛</m:t>
                        </m:r>
                      </m:den>
                    </m:f>
                    <m:nary>
                      <m:naryPr>
                        <m:chr m:val="∑"/>
                        <m:limLoc m:val="subSup"/>
                        <m:ctrlPr>
                          <a:rPr lang="en-US" altLang="zh-CN" sz="1800" i="1">
                            <a:latin typeface="Cambria Math" panose="02040503050406030204" charset="0"/>
                            <a:cs typeface="Cambria Math" panose="02040503050406030204" charset="0"/>
                          </a:rPr>
                        </m:ctrlPr>
                      </m:naryPr>
                      <m:sub>
                        <m:r>
                          <a:rPr lang="en-US" altLang="zh-CN" sz="1800" i="1">
                            <a:latin typeface="Cambria Math" panose="02040503050406030204" charset="0"/>
                            <a:cs typeface="Cambria Math" panose="02040503050406030204" charset="0"/>
                          </a:rPr>
                          <m:t>𝑖</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1</m:t>
                        </m:r>
                      </m:sub>
                      <m:sup>
                        <m:r>
                          <a:rPr lang="en-US" altLang="zh-CN" sz="1800" i="1">
                            <a:latin typeface="Cambria Math" panose="02040503050406030204" charset="0"/>
                            <a:cs typeface="Cambria Math" panose="02040503050406030204" charset="0"/>
                          </a:rPr>
                          <m:t>𝑛</m:t>
                        </m:r>
                      </m:sup>
                      <m:e>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𝜓</m:t>
                            </m:r>
                          </m:e>
                          <m:sub>
                            <m:r>
                              <a:rPr lang="en-US" altLang="zh-CN" sz="1800" i="1">
                                <a:latin typeface="Cambria Math" panose="02040503050406030204" charset="0"/>
                                <a:cs typeface="Cambria Math" panose="02040503050406030204" charset="0"/>
                              </a:rPr>
                              <m:t>𝑖</m:t>
                            </m:r>
                          </m:sub>
                        </m:sSub>
                      </m:e>
                    </m:nary>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𝑤</m:t>
                    </m:r>
                    <m:r>
                      <a:rPr lang="en-US" altLang="zh-CN" sz="1800" i="1">
                        <a:latin typeface="Cambria Math" panose="02040503050406030204" charset="0"/>
                        <a:cs typeface="Cambria Math" panose="02040503050406030204" charset="0"/>
                      </a:rPr>
                      <m:t>)</m:t>
                    </m:r>
                  </m:oMath>
                </a14:m>
                <a:r>
                  <a:rPr lang="en-US" altLang="zh-CN" sz="1800" i="1">
                    <a:latin typeface="Cambria Math" panose="02040503050406030204" charset="0"/>
                    <a:cs typeface="Cambria Math" panose="02040503050406030204" charset="0"/>
                  </a:rPr>
                  <a:t>				</a:t>
                </a:r>
                <a:r>
                  <a:rPr lang="en-US" altLang="zh-CN" sz="1800">
                    <a:latin typeface="Cambria Math" panose="02040503050406030204" charset="0"/>
                    <a:cs typeface="Cambria Math" panose="02040503050406030204" charset="0"/>
                  </a:rPr>
                  <a:t>(1)</a:t>
                </a:r>
                <a:endParaRPr lang="en-US" altLang="zh-CN" sz="1800">
                  <a:latin typeface="Cambria Math" panose="02040503050406030204" charset="0"/>
                  <a:cs typeface="Cambria Math" panose="02040503050406030204" charset="0"/>
                </a:endParaRPr>
              </a:p>
              <a:p>
                <a:r>
                  <a:rPr lang="en-US" altLang="zh-CN" sz="1800">
                    <a:latin typeface="Cambria Math" panose="02040503050406030204" charset="0"/>
                    <a:cs typeface="Cambria Math" panose="02040503050406030204" charset="0"/>
                  </a:rPr>
                  <a:t>              </a:t>
                </a:r>
                <a14:m>
                  <m:oMath xmlns:m="http://schemas.openxmlformats.org/officeDocument/2006/math">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𝜓</m:t>
                        </m:r>
                      </m:e>
                      <m:sub>
                        <m:r>
                          <a:rPr lang="en-US" altLang="zh-CN" sz="1800" i="1">
                            <a:latin typeface="Cambria Math" panose="02040503050406030204" charset="0"/>
                            <a:cs typeface="Cambria Math" panose="02040503050406030204" charset="0"/>
                          </a:rPr>
                          <m:t>𝑖</m:t>
                        </m:r>
                      </m:sub>
                    </m:sSub>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𝑢</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𝜓</m:t>
                        </m:r>
                      </m:e>
                      <m:sub>
                        <m:r>
                          <a:rPr lang="en-US" altLang="zh-CN" sz="1800" i="1">
                            <a:latin typeface="Cambria Math" panose="02040503050406030204" charset="0"/>
                            <a:cs typeface="Cambria Math" panose="02040503050406030204" charset="0"/>
                          </a:rPr>
                          <m:t>𝑖</m:t>
                        </m:r>
                      </m:sub>
                    </m:sSub>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𝑣</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𝐿</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𝑢</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𝑣</m:t>
                    </m:r>
                    <m:r>
                      <a:rPr lang="en-US" altLang="zh-CN" sz="1800" i="1">
                        <a:latin typeface="Cambria Math" panose="02040503050406030204" charset="0"/>
                        <a:cs typeface="Cambria Math" panose="02040503050406030204" charset="0"/>
                      </a:rPr>
                      <m:t>‖, ∀</m:t>
                    </m:r>
                    <m:r>
                      <a:rPr lang="en-US" altLang="zh-CN" sz="1800" i="1">
                        <a:latin typeface="Cambria Math" panose="02040503050406030204" charset="0"/>
                        <a:cs typeface="Cambria Math" panose="02040503050406030204" charset="0"/>
                      </a:rPr>
                      <m:t>𝑢</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𝑣</m:t>
                    </m:r>
                  </m:oMath>
                </a14:m>
                <a:r>
                  <a:rPr lang="en-US" altLang="zh-CN" sz="1800" i="1">
                    <a:latin typeface="Cambria Math" panose="02040503050406030204" charset="0"/>
                    <a:cs typeface="Cambria Math" panose="02040503050406030204" charset="0"/>
                  </a:rPr>
                  <a:t>	</a:t>
                </a:r>
                <a:r>
                  <a:rPr lang="en-US" altLang="zh-CN" sz="1800">
                    <a:latin typeface="Cambria Math" panose="02040503050406030204" charset="0"/>
                    <a:cs typeface="Cambria Math" panose="02040503050406030204" charset="0"/>
                  </a:rPr>
                  <a:t>(2)</a:t>
                </a:r>
                <a:endParaRPr lang="en-US" altLang="zh-CN" sz="1800" i="1">
                  <a:latin typeface="Cambria Math" panose="02040503050406030204" charset="0"/>
                  <a:cs typeface="Cambria Math" panose="02040503050406030204" charset="0"/>
                </a:endParaRPr>
              </a:p>
              <a:p>
                <a:r>
                  <a:rPr lang="en-US" altLang="zh-CN" sz="1800">
                    <a:latin typeface="Cambria Math" panose="02040503050406030204" charset="0"/>
                    <a:cs typeface="Cambria Math" panose="02040503050406030204" charset="0"/>
                  </a:rPr>
                  <a:t>             </a:t>
                </a:r>
                <a14:m>
                  <m:oMath xmlns:m="http://schemas.openxmlformats.org/officeDocument/2006/math">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𝛻𝜙</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𝑢</m:t>
                    </m:r>
                    <m:r>
                      <a:rPr lang="en-US" altLang="zh-CN" sz="1800" i="1">
                        <a:latin typeface="Cambria Math" panose="02040503050406030204" charset="0"/>
                        <a:cs typeface="Cambria Math" panose="02040503050406030204" charset="0"/>
                      </a:rPr>
                      <m:t>)</m:t>
                    </m:r>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m:t>
                        </m:r>
                      </m:e>
                      <m:sup>
                        <m:r>
                          <a:rPr lang="en-US" altLang="zh-CN" sz="1800" i="1">
                            <a:latin typeface="Cambria Math" panose="02040503050406030204" charset="0"/>
                            <a:cs typeface="Cambria Math" panose="02040503050406030204" charset="0"/>
                          </a:rPr>
                          <m:t>2</m:t>
                        </m:r>
                      </m:sup>
                    </m:sSup>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2</m:t>
                    </m:r>
                    <m:r>
                      <a:rPr lang="en-US" altLang="zh-CN" sz="1800" i="1">
                        <a:latin typeface="Cambria Math" panose="02040503050406030204" charset="0"/>
                        <a:cs typeface="Cambria Math" panose="02040503050406030204" charset="0"/>
                      </a:rPr>
                      <m:t>𝐿</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𝜙</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𝑢</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𝜙</m:t>
                    </m:r>
                    <m:r>
                      <a:rPr lang="en-US" altLang="zh-CN" sz="1800" i="1">
                        <a:latin typeface="Cambria Math" panose="02040503050406030204" charset="0"/>
                        <a:cs typeface="Cambria Math" panose="02040503050406030204" charset="0"/>
                      </a:rPr>
                      <m:t>(</m:t>
                    </m:r>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𝑤</m:t>
                        </m:r>
                      </m:e>
                      <m:sup>
                        <m:r>
                          <a:rPr lang="en-US" altLang="zh-CN" sz="1800" i="1">
                            <a:latin typeface="Cambria Math" panose="02040503050406030204" charset="0"/>
                            <a:cs typeface="Cambria Math" panose="02040503050406030204" charset="0"/>
                          </a:rPr>
                          <m:t>∗</m:t>
                        </m:r>
                      </m:sup>
                    </m:sSup>
                    <m:r>
                      <a:rPr lang="en-US" altLang="zh-CN" sz="1800" i="1">
                        <a:latin typeface="Cambria Math" panose="02040503050406030204" charset="0"/>
                        <a:cs typeface="Cambria Math" panose="02040503050406030204" charset="0"/>
                      </a:rPr>
                      <m:t>))</m:t>
                    </m:r>
                  </m:oMath>
                </a14:m>
                <a:r>
                  <a:rPr lang="en-US" altLang="zh-CN" sz="1800" i="1">
                    <a:latin typeface="Cambria Math" panose="02040503050406030204" charset="0"/>
                    <a:cs typeface="Cambria Math" panose="02040503050406030204" charset="0"/>
                  </a:rPr>
                  <a:t>		</a:t>
                </a:r>
                <a:r>
                  <a:rPr lang="en-US" altLang="zh-CN" sz="1800">
                    <a:latin typeface="Cambria Math" panose="02040503050406030204" charset="0"/>
                    <a:cs typeface="Cambria Math" panose="02040503050406030204" charset="0"/>
                  </a:rPr>
                  <a:t>(3)</a:t>
                </a:r>
                <a:endParaRPr lang="en-US" altLang="zh-CN" sz="1800">
                  <a:latin typeface="Cambria Math" panose="02040503050406030204" charset="0"/>
                  <a:cs typeface="Cambria Math" panose="02040503050406030204" charset="0"/>
                </a:endParaRPr>
              </a:p>
            </p:txBody>
          </p:sp>
        </mc:Choice>
        <mc:Fallback>
          <p:sp>
            <p:nvSpPr>
              <p:cNvPr id="18" name="文本框 17"/>
              <p:cNvSpPr txBox="1">
                <a:spLocks noRot="1" noChangeAspect="1" noMove="1" noResize="1" noEditPoints="1" noAdjustHandles="1" noChangeArrowheads="1" noChangeShapeType="1" noTextEdit="1"/>
              </p:cNvSpPr>
              <p:nvPr/>
            </p:nvSpPr>
            <p:spPr>
              <a:xfrm>
                <a:off x="895350" y="1651000"/>
                <a:ext cx="6731000" cy="1057910"/>
              </a:xfrm>
              <a:prstGeom prst="rect">
                <a:avLst/>
              </a:prstGeom>
              <a:blipFill rotWithShape="1">
                <a:blip r:embed="rId18"/>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 name="文本框 33"/>
              <p:cNvSpPr txBox="1"/>
              <p:nvPr/>
            </p:nvSpPr>
            <p:spPr>
              <a:xfrm>
                <a:off x="750570" y="2912745"/>
                <a:ext cx="10850245" cy="3176270"/>
              </a:xfrm>
              <a:prstGeom prst="rect">
                <a:avLst/>
              </a:prstGeom>
              <a:noFill/>
            </p:spPr>
            <p:txBody>
              <a:bodyPr wrap="square" rtlCol="0">
                <a:spAutoFit/>
              </a:bodyPr>
              <a:p>
                <a:r>
                  <a:rPr lang="zh-CN" altLang="en-US" sz="1800"/>
                  <a:t>证</a:t>
                </a:r>
                <a:r>
                  <a:rPr lang="zh-CN" altLang="en-US"/>
                  <a:t>：</a:t>
                </a:r>
                <a:endParaRPr lang="zh-CN" altLang="en-US"/>
              </a:p>
              <a:p>
                <a14:m>
                  <m:oMathPara xmlns:m="http://schemas.openxmlformats.org/officeDocument/2006/math">
                    <m:oMathParaPr>
                      <m:jc m:val="centerGroup"/>
                    </m:oMathParaPr>
                    <m:oMath xmlns:m="http://schemas.openxmlformats.org/officeDocument/2006/math">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𝑔</m:t>
                          </m:r>
                        </m:e>
                        <m:sub>
                          <m:r>
                            <a:rPr lang="en-US" altLang="zh-CN" sz="1800" i="1">
                              <a:latin typeface="Cambria Math" panose="02040503050406030204" charset="0"/>
                              <a:cs typeface="Cambria Math" panose="02040503050406030204" charset="0"/>
                            </a:rPr>
                            <m:t>𝑖</m:t>
                          </m:r>
                        </m:sub>
                      </m:sSub>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𝑤</m:t>
                      </m:r>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𝜓</m:t>
                          </m:r>
                        </m:e>
                        <m:sub>
                          <m:r>
                            <a:rPr lang="en-US" altLang="zh-CN" sz="1800" i="1">
                              <a:latin typeface="Cambria Math" panose="02040503050406030204" charset="0"/>
                              <a:cs typeface="Cambria Math" panose="02040503050406030204" charset="0"/>
                            </a:rPr>
                            <m:t>𝑖</m:t>
                          </m:r>
                        </m:sub>
                      </m:sSub>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𝑤</m:t>
                      </m:r>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𝜓</m:t>
                          </m:r>
                        </m:e>
                        <m:sub>
                          <m:r>
                            <a:rPr lang="en-US" altLang="zh-CN" sz="1800" i="1">
                              <a:latin typeface="Cambria Math" panose="02040503050406030204" charset="0"/>
                              <a:cs typeface="Cambria Math" panose="02040503050406030204" charset="0"/>
                            </a:rPr>
                            <m:t>𝑖</m:t>
                          </m:r>
                        </m:sub>
                      </m:sSub>
                      <m:r>
                        <a:rPr lang="en-US" altLang="zh-CN" sz="1800" i="1">
                          <a:latin typeface="Cambria Math" panose="02040503050406030204" charset="0"/>
                          <a:cs typeface="Cambria Math" panose="02040503050406030204" charset="0"/>
                        </a:rPr>
                        <m:t>(</m:t>
                      </m:r>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𝑤</m:t>
                          </m:r>
                        </m:e>
                        <m:sup>
                          <m:r>
                            <a:rPr lang="en-US" altLang="zh-CN" sz="1800" i="1">
                              <a:latin typeface="Cambria Math" panose="02040503050406030204" charset="0"/>
                              <a:cs typeface="Cambria Math" panose="02040503050406030204" charset="0"/>
                            </a:rPr>
                            <m:t>∗</m:t>
                          </m:r>
                        </m:sup>
                      </m:sSup>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𝜓</m:t>
                          </m:r>
                        </m:e>
                        <m:sub>
                          <m:r>
                            <a:rPr lang="en-US" altLang="zh-CN" sz="1800" i="1">
                              <a:latin typeface="Cambria Math" panose="02040503050406030204" charset="0"/>
                              <a:cs typeface="Cambria Math" panose="02040503050406030204" charset="0"/>
                            </a:rPr>
                            <m:t>𝑖</m:t>
                          </m:r>
                        </m:sub>
                      </m:sSub>
                      <m:r>
                        <a:rPr lang="en-US" altLang="zh-CN" sz="1800" i="1">
                          <a:latin typeface="Cambria Math" panose="02040503050406030204" charset="0"/>
                          <a:cs typeface="Cambria Math" panose="02040503050406030204" charset="0"/>
                        </a:rPr>
                        <m:t>(</m:t>
                      </m:r>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𝑤</m:t>
                          </m:r>
                        </m:e>
                        <m:sup>
                          <m:r>
                            <a:rPr lang="en-US" altLang="zh-CN" sz="1800" i="1">
                              <a:latin typeface="Cambria Math" panose="02040503050406030204" charset="0"/>
                              <a:cs typeface="Cambria Math" panose="02040503050406030204" charset="0"/>
                            </a:rPr>
                            <m:t>∗</m:t>
                          </m:r>
                        </m:sup>
                      </m:sSup>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𝑤</m:t>
                      </m:r>
                      <m:r>
                        <a:rPr lang="en-US" altLang="zh-CN" sz="1800" i="1">
                          <a:latin typeface="Cambria Math" panose="02040503050406030204" charset="0"/>
                          <a:cs typeface="Cambria Math" panose="02040503050406030204" charset="0"/>
                        </a:rPr>
                        <m:t>−</m:t>
                      </m:r>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𝑤</m:t>
                          </m:r>
                        </m:e>
                        <m:sup>
                          <m:r>
                            <a:rPr lang="en-US" altLang="zh-CN" sz="1800" i="1">
                              <a:latin typeface="Cambria Math" panose="02040503050406030204" charset="0"/>
                              <a:cs typeface="Cambria Math" panose="02040503050406030204" charset="0"/>
                            </a:rPr>
                            <m:t>∗</m:t>
                          </m:r>
                        </m:sup>
                      </m:sSup>
                      <m:r>
                        <a:rPr lang="en-US" altLang="zh-CN" sz="1800" i="1">
                          <a:latin typeface="Cambria Math" panose="02040503050406030204" charset="0"/>
                          <a:cs typeface="Cambria Math" panose="02040503050406030204" charset="0"/>
                        </a:rPr>
                        <m:t>⟩</m:t>
                      </m:r>
                    </m:oMath>
                  </m:oMathPara>
                </a14:m>
                <a:endParaRPr lang="en-US" altLang="zh-CN" sz="1800" i="1">
                  <a:latin typeface="Cambria Math" panose="02040503050406030204" charset="0"/>
                  <a:cs typeface="Cambria Math" panose="02040503050406030204" charset="0"/>
                </a:endParaRPr>
              </a:p>
              <a:p>
                <a:r>
                  <a:rPr lang="zh-CN" altLang="en-US" sz="1800">
                    <a:latin typeface="Cambria Math" panose="02040503050406030204" charset="0"/>
                    <a:cs typeface="Cambria Math" panose="02040503050406030204" charset="0"/>
                  </a:rPr>
                  <a:t>运用</a:t>
                </a:r>
                <a:r>
                  <a:rPr lang="en-US" altLang="zh-CN" sz="1800">
                    <a:latin typeface="Cambria Math" panose="02040503050406030204" charset="0"/>
                    <a:cs typeface="Cambria Math" panose="02040503050406030204" charset="0"/>
                  </a:rPr>
                  <a:t>(3):</a:t>
                </a:r>
                <a:endParaRPr lang="en-US" altLang="zh-CN" sz="1800">
                  <a:latin typeface="Cambria Math" panose="02040503050406030204" charset="0"/>
                  <a:cs typeface="Cambria Math" panose="02040503050406030204" charset="0"/>
                </a:endParaRPr>
              </a:p>
              <a:p>
                <a:pPr indent="457200"/>
                <a14:m>
                  <m:oMath xmlns:m="http://schemas.openxmlformats.org/officeDocument/2006/math">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𝜓</m:t>
                        </m:r>
                      </m:e>
                      <m:sub>
                        <m:r>
                          <a:rPr lang="en-US" altLang="zh-CN" sz="1800" i="1">
                            <a:latin typeface="Cambria Math" panose="02040503050406030204" charset="0"/>
                            <a:cs typeface="Cambria Math" panose="02040503050406030204" charset="0"/>
                          </a:rPr>
                          <m:t>𝑖</m:t>
                        </m:r>
                      </m:sub>
                    </m:sSub>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𝑤</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𝜓</m:t>
                        </m:r>
                      </m:e>
                      <m:sub>
                        <m:r>
                          <a:rPr lang="en-US" altLang="zh-CN" sz="1800" i="1">
                            <a:latin typeface="Cambria Math" panose="02040503050406030204" charset="0"/>
                            <a:cs typeface="Cambria Math" panose="02040503050406030204" charset="0"/>
                          </a:rPr>
                          <m:t>𝑖</m:t>
                        </m:r>
                      </m:sub>
                    </m:sSub>
                    <m:r>
                      <a:rPr lang="en-US" altLang="zh-CN" sz="1800" i="1">
                        <a:latin typeface="Cambria Math" panose="02040503050406030204" charset="0"/>
                        <a:cs typeface="Cambria Math" panose="02040503050406030204" charset="0"/>
                      </a:rPr>
                      <m:t>(</m:t>
                    </m:r>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𝑤</m:t>
                        </m:r>
                      </m:e>
                      <m:sup>
                        <m:r>
                          <a:rPr lang="en-US" altLang="zh-CN" sz="1800" i="1">
                            <a:latin typeface="Cambria Math" panose="02040503050406030204" charset="0"/>
                            <a:cs typeface="Cambria Math" panose="02040503050406030204" charset="0"/>
                          </a:rPr>
                          <m:t>∗</m:t>
                        </m:r>
                      </m:sup>
                    </m:sSup>
                    <m:r>
                      <a:rPr lang="en-US" altLang="zh-CN" sz="1800" i="1">
                        <a:latin typeface="Cambria Math" panose="02040503050406030204" charset="0"/>
                        <a:cs typeface="Cambria Math" panose="02040503050406030204" charset="0"/>
                      </a:rPr>
                      <m:t>)</m:t>
                    </m:r>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m:t>
                        </m:r>
                      </m:e>
                      <m:sup>
                        <m:r>
                          <a:rPr lang="en-US" altLang="zh-CN" sz="1800" i="1">
                            <a:latin typeface="Cambria Math" panose="02040503050406030204" charset="0"/>
                            <a:cs typeface="Cambria Math" panose="02040503050406030204" charset="0"/>
                          </a:rPr>
                          <m:t>2</m:t>
                        </m:r>
                      </m:sup>
                    </m:sSup>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2</m:t>
                    </m:r>
                    <m:r>
                      <a:rPr lang="en-US" altLang="zh-CN" sz="1800" i="1">
                        <a:latin typeface="Cambria Math" panose="02040503050406030204" charset="0"/>
                        <a:cs typeface="Cambria Math" panose="02040503050406030204" charset="0"/>
                      </a:rPr>
                      <m:t>𝐿</m:t>
                    </m:r>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𝜓</m:t>
                        </m:r>
                      </m:e>
                      <m:sub>
                        <m:r>
                          <a:rPr lang="en-US" altLang="zh-CN" sz="1800" i="1">
                            <a:latin typeface="Cambria Math" panose="02040503050406030204" charset="0"/>
                            <a:cs typeface="Cambria Math" panose="02040503050406030204" charset="0"/>
                          </a:rPr>
                          <m:t>𝑖</m:t>
                        </m:r>
                      </m:sub>
                    </m:sSub>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𝑤</m:t>
                    </m:r>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𝜓</m:t>
                        </m:r>
                      </m:e>
                      <m:sub>
                        <m:r>
                          <a:rPr lang="en-US" altLang="zh-CN" sz="1800" i="1">
                            <a:latin typeface="Cambria Math" panose="02040503050406030204" charset="0"/>
                            <a:cs typeface="Cambria Math" panose="02040503050406030204" charset="0"/>
                          </a:rPr>
                          <m:t>𝑖</m:t>
                        </m:r>
                      </m:sub>
                    </m:sSub>
                    <m:r>
                      <a:rPr lang="en-US" altLang="zh-CN" sz="1800" i="1">
                        <a:latin typeface="Cambria Math" panose="02040503050406030204" charset="0"/>
                        <a:cs typeface="Cambria Math" panose="02040503050406030204" charset="0"/>
                      </a:rPr>
                      <m:t>(</m:t>
                    </m:r>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𝑤</m:t>
                        </m:r>
                      </m:e>
                      <m:sup>
                        <m:r>
                          <a:rPr lang="en-US" altLang="zh-CN" sz="1800" i="1">
                            <a:latin typeface="Cambria Math" panose="02040503050406030204" charset="0"/>
                            <a:cs typeface="Cambria Math" panose="02040503050406030204" charset="0"/>
                          </a:rPr>
                          <m:t>∗</m:t>
                        </m:r>
                      </m:sup>
                    </m:sSup>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𝜓</m:t>
                        </m:r>
                      </m:e>
                      <m:sub>
                        <m:r>
                          <a:rPr lang="en-US" altLang="zh-CN" sz="1800" i="1">
                            <a:latin typeface="Cambria Math" panose="02040503050406030204" charset="0"/>
                            <a:cs typeface="Cambria Math" panose="02040503050406030204" charset="0"/>
                          </a:rPr>
                          <m:t>𝑖</m:t>
                        </m:r>
                      </m:sub>
                    </m:sSub>
                    <m:r>
                      <a:rPr lang="en-US" altLang="zh-CN" sz="1800" i="1">
                        <a:latin typeface="Cambria Math" panose="02040503050406030204" charset="0"/>
                        <a:cs typeface="Cambria Math" panose="02040503050406030204" charset="0"/>
                      </a:rPr>
                      <m:t>(</m:t>
                    </m:r>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𝑤</m:t>
                        </m:r>
                      </m:e>
                      <m:sup>
                        <m:r>
                          <a:rPr lang="en-US" altLang="zh-CN" sz="1800" i="1">
                            <a:latin typeface="Cambria Math" panose="02040503050406030204" charset="0"/>
                            <a:cs typeface="Cambria Math" panose="02040503050406030204" charset="0"/>
                          </a:rPr>
                          <m:t>∗</m:t>
                        </m:r>
                      </m:sup>
                    </m:sSup>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𝑤</m:t>
                    </m:r>
                    <m:r>
                      <a:rPr lang="en-US" altLang="zh-CN" sz="1800" i="1">
                        <a:latin typeface="Cambria Math" panose="02040503050406030204" charset="0"/>
                        <a:cs typeface="Cambria Math" panose="02040503050406030204" charset="0"/>
                      </a:rPr>
                      <m:t>−</m:t>
                    </m:r>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𝑤</m:t>
                        </m:r>
                      </m:e>
                      <m:sup>
                        <m:r>
                          <a:rPr lang="en-US" altLang="zh-CN" sz="1800" i="1">
                            <a:latin typeface="Cambria Math" panose="02040503050406030204" charset="0"/>
                            <a:cs typeface="Cambria Math" panose="02040503050406030204" charset="0"/>
                          </a:rPr>
                          <m:t>∗</m:t>
                        </m:r>
                      </m:sup>
                    </m:sSup>
                    <m:r>
                      <a:rPr lang="en-US" altLang="zh-CN" sz="1800" i="1">
                        <a:latin typeface="Cambria Math" panose="02040503050406030204" charset="0"/>
                        <a:cs typeface="Cambria Math" panose="02040503050406030204" charset="0"/>
                      </a:rPr>
                      <m:t>⟩)</m:t>
                    </m:r>
                  </m:oMath>
                </a14:m>
                <a:r>
                  <a:rPr lang="en-US" altLang="zh-CN" sz="1800">
                    <a:latin typeface="Cambria Math" panose="02040503050406030204" charset="0"/>
                    <a:ea typeface="宋体" panose="02010600030101010101" pitchFamily="2" charset="-122"/>
                    <a:cs typeface="Cambria Math" panose="02040503050406030204" charset="0"/>
                  </a:rPr>
                  <a:t>     </a:t>
                </a:r>
                <a:r>
                  <a:rPr lang="en-US" altLang="zh-CN" sz="1800">
                    <a:latin typeface="Cambria Math" panose="02040503050406030204" charset="0"/>
                    <a:ea typeface="宋体" panose="02010600030101010101" pitchFamily="2" charset="-122"/>
                    <a:cs typeface="Cambria Math" panose="02040503050406030204" charset="0"/>
                  </a:rPr>
                  <a:t>(</a:t>
                </a:r>
                <a:r>
                  <a:rPr lang="zh-CN" altLang="en-US" sz="1800">
                    <a:latin typeface="Cambria Math" panose="02040503050406030204" charset="0"/>
                    <a:ea typeface="宋体" panose="02010600030101010101" pitchFamily="2" charset="-122"/>
                    <a:cs typeface="Cambria Math" panose="02040503050406030204" charset="0"/>
                  </a:rPr>
                  <a:t>减</a:t>
                </a:r>
                <a:r>
                  <a:rPr lang="en-US" altLang="zh-CN" sz="1800">
                    <a:latin typeface="Cambria Math" panose="02040503050406030204" charset="0"/>
                    <a:ea typeface="宋体" panose="02010600030101010101" pitchFamily="2" charset="-122"/>
                    <a:cs typeface="Cambria Math" panose="02040503050406030204" charset="0"/>
                  </a:rPr>
                  <a:t>0</a:t>
                </a:r>
                <a:r>
                  <a:rPr lang="zh-CN" altLang="en-US" sz="1800">
                    <a:latin typeface="Cambria Math" panose="02040503050406030204" charset="0"/>
                    <a:ea typeface="宋体" panose="02010600030101010101" pitchFamily="2" charset="-122"/>
                    <a:cs typeface="Cambria Math" panose="02040503050406030204" charset="0"/>
                  </a:rPr>
                  <a:t>过程</a:t>
                </a:r>
                <a:r>
                  <a:rPr lang="zh-CN" altLang="en-US" sz="1800">
                    <a:latin typeface="Cambria Math" panose="02040503050406030204" charset="0"/>
                    <a:ea typeface="宋体" panose="02010600030101010101" pitchFamily="2" charset="-122"/>
                    <a:cs typeface="Cambria Math" panose="02040503050406030204" charset="0"/>
                  </a:rPr>
                  <a:t>省略）</a:t>
                </a:r>
                <a:endParaRPr lang="zh-CN" altLang="en-US" sz="1800">
                  <a:latin typeface="Cambria Math" panose="02040503050406030204" charset="0"/>
                  <a:ea typeface="宋体" panose="02010600030101010101" pitchFamily="2" charset="-122"/>
                  <a:cs typeface="Cambria Math" panose="02040503050406030204" charset="0"/>
                </a:endParaRPr>
              </a:p>
              <a:p>
                <a:pPr indent="457200"/>
                <a:r>
                  <a:rPr lang="en-US" altLang="zh-CN" sz="1800">
                    <a:latin typeface="Cambria Math" panose="02040503050406030204" charset="0"/>
                    <a:ea typeface="宋体" panose="02010600030101010101" pitchFamily="2" charset="-122"/>
                    <a:cs typeface="Cambria Math" panose="02040503050406030204" charset="0"/>
                  </a:rPr>
                  <a:t>n</a:t>
                </a:r>
                <a:r>
                  <a:rPr lang="zh-CN" altLang="en-US" sz="1800">
                    <a:latin typeface="Cambria Math" panose="02040503050406030204" charset="0"/>
                    <a:ea typeface="宋体" panose="02010600030101010101" pitchFamily="2" charset="-122"/>
                    <a:cs typeface="Cambria Math" panose="02040503050406030204" charset="0"/>
                  </a:rPr>
                  <a:t>个样本累加求</a:t>
                </a:r>
                <a:r>
                  <a:rPr lang="zh-CN" altLang="en-US" sz="1800">
                    <a:latin typeface="Cambria Math" panose="02040503050406030204" charset="0"/>
                    <a:ea typeface="宋体" panose="02010600030101010101" pitchFamily="2" charset="-122"/>
                    <a:cs typeface="Cambria Math" panose="02040503050406030204" charset="0"/>
                  </a:rPr>
                  <a:t>平均：</a:t>
                </a:r>
                <a:endParaRPr lang="zh-CN" altLang="en-US" sz="1800">
                  <a:latin typeface="Cambria Math" panose="02040503050406030204" charset="0"/>
                  <a:ea typeface="宋体" panose="02010600030101010101" pitchFamily="2" charset="-122"/>
                  <a:cs typeface="Cambria Math" panose="02040503050406030204" charset="0"/>
                </a:endParaRPr>
              </a:p>
              <a:p>
                <a:pPr indent="457200"/>
                <a14:m>
                  <m:oMathPara xmlns:m="http://schemas.openxmlformats.org/officeDocument/2006/math">
                    <m:oMathParaPr>
                      <m:jc m:val="centerGroup"/>
                    </m:oMathParaPr>
                    <m:oMath xmlns:m="http://schemas.openxmlformats.org/officeDocument/2006/math">
                      <m:f>
                        <m:fPr>
                          <m:ctrlPr>
                            <a:rPr lang="en-US" altLang="zh-CN" sz="1800" i="1">
                              <a:latin typeface="Cambria Math" panose="02040503050406030204" charset="0"/>
                              <a:ea typeface="宋体" panose="02010600030101010101" pitchFamily="2" charset="-122"/>
                              <a:cs typeface="Cambria Math" panose="02040503050406030204" charset="0"/>
                            </a:rPr>
                          </m:ctrlPr>
                        </m:fPr>
                        <m:num>
                          <m:r>
                            <a:rPr lang="en-US" altLang="zh-CN" sz="1800" i="1">
                              <a:latin typeface="Cambria Math" panose="02040503050406030204" charset="0"/>
                              <a:ea typeface="宋体" panose="02010600030101010101" pitchFamily="2" charset="-122"/>
                              <a:cs typeface="Cambria Math" panose="02040503050406030204" charset="0"/>
                            </a:rPr>
                            <m:t>1</m:t>
                          </m:r>
                        </m:num>
                        <m:den>
                          <m:r>
                            <m:rPr>
                              <m:sty m:val="p"/>
                            </m:rPr>
                            <a:rPr lang="en-US" altLang="zh-CN" sz="1800" i="1">
                              <a:latin typeface="Cambria Math" panose="02040503050406030204" charset="0"/>
                              <a:ea typeface="宋体" panose="02010600030101010101" pitchFamily="2" charset="-122"/>
                              <a:cs typeface="Cambria Math" panose="02040503050406030204" charset="0"/>
                            </a:rPr>
                            <m:t>n</m:t>
                          </m:r>
                        </m:den>
                      </m:f>
                      <m:nary>
                        <m:naryPr>
                          <m:chr m:val="∑"/>
                          <m:limLoc m:val="subSup"/>
                          <m:ctrlPr>
                            <a:rPr lang="en-US" altLang="zh-CN" sz="1800" i="1">
                              <a:latin typeface="Cambria Math" panose="02040503050406030204" charset="0"/>
                              <a:ea typeface="宋体" panose="02010600030101010101" pitchFamily="2" charset="-122"/>
                              <a:cs typeface="Cambria Math" panose="02040503050406030204" charset="0"/>
                            </a:rPr>
                          </m:ctrlPr>
                        </m:naryPr>
                        <m:sub>
                          <m:r>
                            <m:rPr>
                              <m:sty m:val="p"/>
                            </m:rPr>
                            <a:rPr lang="en-US" altLang="zh-CN" sz="1800" i="1">
                              <a:latin typeface="Cambria Math" panose="02040503050406030204" charset="0"/>
                              <a:ea typeface="宋体" panose="02010600030101010101" pitchFamily="2" charset="-122"/>
                              <a:cs typeface="Cambria Math" panose="02040503050406030204" charset="0"/>
                            </a:rPr>
                            <m:t>i</m:t>
                          </m:r>
                          <m:r>
                            <a:rPr lang="en-US" altLang="zh-CN" sz="1800" i="1">
                              <a:latin typeface="Cambria Math" panose="02040503050406030204" charset="0"/>
                              <a:ea typeface="宋体" panose="02010600030101010101" pitchFamily="2" charset="-122"/>
                              <a:cs typeface="Cambria Math" panose="02040503050406030204" charset="0"/>
                            </a:rPr>
                            <m:t>=</m:t>
                          </m:r>
                          <m:r>
                            <a:rPr lang="en-US" altLang="zh-CN" sz="1800" i="1">
                              <a:latin typeface="Cambria Math" panose="02040503050406030204" charset="0"/>
                              <a:ea typeface="宋体" panose="02010600030101010101" pitchFamily="2" charset="-122"/>
                              <a:cs typeface="Cambria Math" panose="02040503050406030204" charset="0"/>
                            </a:rPr>
                            <m:t>1</m:t>
                          </m:r>
                        </m:sub>
                        <m:sup>
                          <m:r>
                            <m:rPr>
                              <m:sty m:val="p"/>
                            </m:rPr>
                            <a:rPr lang="en-US" altLang="zh-CN" sz="1800" i="1">
                              <a:latin typeface="Cambria Math" panose="02040503050406030204" charset="0"/>
                              <a:ea typeface="宋体" panose="02010600030101010101" pitchFamily="2" charset="-122"/>
                              <a:cs typeface="Cambria Math" panose="02040503050406030204" charset="0"/>
                            </a:rPr>
                            <m:t>n</m:t>
                          </m:r>
                        </m:sup>
                        <m:e>
                          <m:r>
                            <a:rPr lang="en-US" altLang="zh-CN" sz="1800" i="1">
                              <a:latin typeface="Cambria Math" panose="02040503050406030204" charset="0"/>
                              <a:ea typeface="宋体" panose="02010600030101010101" pitchFamily="2" charset="-122"/>
                              <a:cs typeface="Cambria Math" panose="02040503050406030204" charset="0"/>
                            </a:rPr>
                            <m:t>‖</m:t>
                          </m:r>
                        </m:e>
                      </m:nary>
                      <m:r>
                        <a:rPr lang="en-US" altLang="zh-CN" sz="1800" i="1">
                          <a:latin typeface="Cambria Math" panose="02040503050406030204" charset="0"/>
                          <a:ea typeface="宋体" panose="02010600030101010101" pitchFamily="2" charset="-122"/>
                          <a:cs typeface="Cambria Math" panose="02040503050406030204" charset="0"/>
                        </a:rPr>
                        <m:t>𝛻</m:t>
                      </m:r>
                      <m:sSub>
                        <m:sSubPr>
                          <m:ctrlPr>
                            <a:rPr lang="en-US" altLang="zh-CN" sz="1800" i="1">
                              <a:latin typeface="Cambria Math" panose="02040503050406030204" charset="0"/>
                              <a:ea typeface="宋体" panose="02010600030101010101" pitchFamily="2" charset="-122"/>
                              <a:cs typeface="Cambria Math" panose="02040503050406030204" charset="0"/>
                            </a:rPr>
                          </m:ctrlPr>
                        </m:sSubPr>
                        <m:e>
                          <m:r>
                            <a:rPr lang="en-US" altLang="zh-CN" sz="1800" i="1">
                              <a:latin typeface="Cambria Math" panose="02040503050406030204" charset="0"/>
                              <a:ea typeface="宋体" panose="02010600030101010101" pitchFamily="2" charset="-122"/>
                              <a:cs typeface="Cambria Math" panose="02040503050406030204" charset="0"/>
                            </a:rPr>
                            <m:t>𝜓</m:t>
                          </m:r>
                        </m:e>
                        <m:sub>
                          <m:r>
                            <m:rPr>
                              <m:sty m:val="p"/>
                            </m:rPr>
                            <a:rPr lang="en-US" altLang="zh-CN" sz="1800" i="1">
                              <a:latin typeface="Cambria Math" panose="02040503050406030204" charset="0"/>
                              <a:ea typeface="宋体" panose="02010600030101010101" pitchFamily="2" charset="-122"/>
                              <a:cs typeface="Cambria Math" panose="02040503050406030204" charset="0"/>
                            </a:rPr>
                            <m:t>i</m:t>
                          </m:r>
                        </m:sub>
                      </m:sSub>
                      <m:r>
                        <a:rPr lang="en-US" altLang="zh-CN" sz="1800" i="1">
                          <a:latin typeface="Cambria Math" panose="02040503050406030204" charset="0"/>
                          <a:ea typeface="宋体" panose="02010600030101010101" pitchFamily="2" charset="-122"/>
                          <a:cs typeface="Cambria Math" panose="02040503050406030204" charset="0"/>
                        </a:rPr>
                        <m:t>(</m:t>
                      </m:r>
                      <m:r>
                        <m:rPr>
                          <m:sty m:val="p"/>
                        </m:rPr>
                        <a:rPr lang="en-US" altLang="zh-CN" sz="1800" i="1">
                          <a:latin typeface="Cambria Math" panose="02040503050406030204" charset="0"/>
                          <a:ea typeface="宋体" panose="02010600030101010101" pitchFamily="2" charset="-122"/>
                          <a:cs typeface="Cambria Math" panose="02040503050406030204" charset="0"/>
                        </a:rPr>
                        <m:t>w</m:t>
                      </m:r>
                      <m:r>
                        <a:rPr lang="en-US" altLang="zh-CN" sz="1800" i="1">
                          <a:latin typeface="Cambria Math" panose="02040503050406030204" charset="0"/>
                          <a:ea typeface="宋体" panose="02010600030101010101" pitchFamily="2" charset="-122"/>
                          <a:cs typeface="Cambria Math" panose="02040503050406030204" charset="0"/>
                        </a:rPr>
                        <m:t>)−</m:t>
                      </m:r>
                      <m:r>
                        <a:rPr lang="en-US" altLang="zh-CN" sz="1800" i="1">
                          <a:latin typeface="Cambria Math" panose="02040503050406030204" charset="0"/>
                          <a:ea typeface="宋体" panose="02010600030101010101" pitchFamily="2" charset="-122"/>
                          <a:cs typeface="Cambria Math" panose="02040503050406030204" charset="0"/>
                        </a:rPr>
                        <m:t>𝛻</m:t>
                      </m:r>
                      <m:sSub>
                        <m:sSubPr>
                          <m:ctrlPr>
                            <a:rPr lang="en-US" altLang="zh-CN" sz="1800" i="1">
                              <a:latin typeface="Cambria Math" panose="02040503050406030204" charset="0"/>
                              <a:ea typeface="宋体" panose="02010600030101010101" pitchFamily="2" charset="-122"/>
                              <a:cs typeface="Cambria Math" panose="02040503050406030204" charset="0"/>
                            </a:rPr>
                          </m:ctrlPr>
                        </m:sSubPr>
                        <m:e>
                          <m:r>
                            <a:rPr lang="en-US" altLang="zh-CN" sz="1800" i="1">
                              <a:latin typeface="Cambria Math" panose="02040503050406030204" charset="0"/>
                              <a:ea typeface="宋体" panose="02010600030101010101" pitchFamily="2" charset="-122"/>
                              <a:cs typeface="Cambria Math" panose="02040503050406030204" charset="0"/>
                            </a:rPr>
                            <m:t>𝜓</m:t>
                          </m:r>
                        </m:e>
                        <m:sub>
                          <m:r>
                            <m:rPr>
                              <m:sty m:val="p"/>
                            </m:rPr>
                            <a:rPr lang="en-US" altLang="zh-CN" sz="1800" i="1">
                              <a:latin typeface="Cambria Math" panose="02040503050406030204" charset="0"/>
                              <a:ea typeface="宋体" panose="02010600030101010101" pitchFamily="2" charset="-122"/>
                              <a:cs typeface="Cambria Math" panose="02040503050406030204" charset="0"/>
                            </a:rPr>
                            <m:t>i</m:t>
                          </m:r>
                        </m:sub>
                      </m:sSub>
                      <m:r>
                        <a:rPr lang="en-US" altLang="zh-CN" sz="1800" i="1">
                          <a:latin typeface="Cambria Math" panose="02040503050406030204" charset="0"/>
                          <a:ea typeface="宋体" panose="02010600030101010101" pitchFamily="2" charset="-122"/>
                          <a:cs typeface="Cambria Math" panose="02040503050406030204" charset="0"/>
                        </a:rPr>
                        <m:t>(</m:t>
                      </m:r>
                      <m:sSup>
                        <m:sSupPr>
                          <m:ctrlPr>
                            <a:rPr lang="en-US" altLang="zh-CN" sz="1800" i="1">
                              <a:latin typeface="Cambria Math" panose="02040503050406030204" charset="0"/>
                              <a:ea typeface="宋体" panose="02010600030101010101" pitchFamily="2" charset="-122"/>
                              <a:cs typeface="Cambria Math" panose="02040503050406030204" charset="0"/>
                            </a:rPr>
                          </m:ctrlPr>
                        </m:sSupPr>
                        <m:e>
                          <m:r>
                            <m:rPr>
                              <m:sty m:val="p"/>
                            </m:rPr>
                            <a:rPr lang="en-US" altLang="zh-CN" sz="1800" i="1">
                              <a:latin typeface="Cambria Math" panose="02040503050406030204" charset="0"/>
                              <a:ea typeface="宋体" panose="02010600030101010101" pitchFamily="2" charset="-122"/>
                              <a:cs typeface="Cambria Math" panose="02040503050406030204" charset="0"/>
                            </a:rPr>
                            <m:t>w</m:t>
                          </m:r>
                        </m:e>
                        <m:sup>
                          <m:r>
                            <a:rPr lang="en-US" altLang="zh-CN" sz="1800" i="1">
                              <a:latin typeface="Cambria Math" panose="02040503050406030204" charset="0"/>
                              <a:ea typeface="宋体" panose="02010600030101010101" pitchFamily="2" charset="-122"/>
                              <a:cs typeface="Cambria Math" panose="02040503050406030204" charset="0"/>
                            </a:rPr>
                            <m:t>∗</m:t>
                          </m:r>
                        </m:sup>
                      </m:sSup>
                      <m:r>
                        <a:rPr lang="en-US" altLang="zh-CN" sz="1800" i="1">
                          <a:latin typeface="Cambria Math" panose="02040503050406030204" charset="0"/>
                          <a:ea typeface="宋体" panose="02010600030101010101" pitchFamily="2" charset="-122"/>
                          <a:cs typeface="Cambria Math" panose="02040503050406030204" charset="0"/>
                        </a:rPr>
                        <m:t>)</m:t>
                      </m:r>
                      <m:sSup>
                        <m:sSupPr>
                          <m:ctrlPr>
                            <a:rPr lang="en-US" altLang="zh-CN" sz="1800" i="1">
                              <a:latin typeface="Cambria Math" panose="02040503050406030204" charset="0"/>
                              <a:ea typeface="宋体" panose="02010600030101010101" pitchFamily="2" charset="-122"/>
                              <a:cs typeface="Cambria Math" panose="02040503050406030204" charset="0"/>
                            </a:rPr>
                          </m:ctrlPr>
                        </m:sSupPr>
                        <m:e>
                          <m:r>
                            <a:rPr lang="en-US" altLang="zh-CN" sz="1800" i="1">
                              <a:latin typeface="Cambria Math" panose="02040503050406030204" charset="0"/>
                              <a:ea typeface="宋体" panose="02010600030101010101" pitchFamily="2" charset="-122"/>
                              <a:cs typeface="Cambria Math" panose="02040503050406030204" charset="0"/>
                            </a:rPr>
                            <m:t>‖</m:t>
                          </m:r>
                        </m:e>
                        <m:sup>
                          <m:r>
                            <a:rPr lang="en-US" altLang="zh-CN" sz="1800" i="1">
                              <a:latin typeface="Cambria Math" panose="02040503050406030204" charset="0"/>
                              <a:ea typeface="宋体" panose="02010600030101010101" pitchFamily="2" charset="-122"/>
                              <a:cs typeface="Cambria Math" panose="02040503050406030204" charset="0"/>
                            </a:rPr>
                            <m:t>2</m:t>
                          </m:r>
                        </m:sup>
                      </m:sSup>
                      <m:r>
                        <a:rPr lang="en-US" altLang="zh-CN" sz="1800" i="1">
                          <a:latin typeface="Cambria Math" panose="02040503050406030204" charset="0"/>
                          <a:ea typeface="宋体" panose="02010600030101010101" pitchFamily="2" charset="-122"/>
                          <a:cs typeface="Cambria Math" panose="02040503050406030204" charset="0"/>
                        </a:rPr>
                        <m:t>≤</m:t>
                      </m:r>
                      <m:r>
                        <a:rPr lang="en-US" altLang="zh-CN" sz="1800" i="1">
                          <a:latin typeface="Cambria Math" panose="02040503050406030204" charset="0"/>
                          <a:ea typeface="宋体" panose="02010600030101010101" pitchFamily="2" charset="-122"/>
                          <a:cs typeface="Cambria Math" panose="02040503050406030204" charset="0"/>
                        </a:rPr>
                        <m:t>2</m:t>
                      </m:r>
                      <m:r>
                        <m:rPr>
                          <m:sty m:val="p"/>
                        </m:rPr>
                        <a:rPr lang="en-US" altLang="zh-CN" sz="1800" i="1">
                          <a:latin typeface="Cambria Math" panose="02040503050406030204" charset="0"/>
                          <a:ea typeface="宋体" panose="02010600030101010101" pitchFamily="2" charset="-122"/>
                          <a:cs typeface="Cambria Math" panose="02040503050406030204" charset="0"/>
                        </a:rPr>
                        <m:t>L</m:t>
                      </m:r>
                      <m:d>
                        <m:dPr>
                          <m:begChr m:val="["/>
                          <m:endChr m:val="]"/>
                          <m:ctrlPr>
                            <a:rPr lang="en-US" altLang="zh-CN" sz="1800" i="1">
                              <a:latin typeface="Cambria Math" panose="02040503050406030204" charset="0"/>
                              <a:ea typeface="宋体" panose="02010600030101010101" pitchFamily="2" charset="-122"/>
                              <a:cs typeface="Cambria Math" panose="02040503050406030204" charset="0"/>
                            </a:rPr>
                          </m:ctrlPr>
                        </m:dPr>
                        <m:e>
                          <m:f>
                            <m:fPr>
                              <m:ctrlPr>
                                <a:rPr lang="en-US" altLang="zh-CN" sz="1800" i="1">
                                  <a:latin typeface="Cambria Math" panose="02040503050406030204" charset="0"/>
                                  <a:ea typeface="宋体" panose="02010600030101010101" pitchFamily="2" charset="-122"/>
                                  <a:cs typeface="Cambria Math" panose="02040503050406030204" charset="0"/>
                                </a:rPr>
                              </m:ctrlPr>
                            </m:fPr>
                            <m:num>
                              <m:r>
                                <a:rPr lang="en-US" altLang="zh-CN" sz="1800" i="1">
                                  <a:latin typeface="Cambria Math" panose="02040503050406030204" charset="0"/>
                                  <a:ea typeface="宋体" panose="02010600030101010101" pitchFamily="2" charset="-122"/>
                                  <a:cs typeface="Cambria Math" panose="02040503050406030204" charset="0"/>
                                </a:rPr>
                                <m:t>1</m:t>
                              </m:r>
                            </m:num>
                            <m:den>
                              <m:r>
                                <m:rPr>
                                  <m:sty m:val="p"/>
                                </m:rPr>
                                <a:rPr lang="en-US" altLang="zh-CN" sz="1800" i="1">
                                  <a:latin typeface="Cambria Math" panose="02040503050406030204" charset="0"/>
                                  <a:ea typeface="宋体" panose="02010600030101010101" pitchFamily="2" charset="-122"/>
                                  <a:cs typeface="Cambria Math" panose="02040503050406030204" charset="0"/>
                                </a:rPr>
                                <m:t>n</m:t>
                              </m:r>
                            </m:den>
                          </m:f>
                          <m:nary>
                            <m:naryPr>
                              <m:chr m:val="∑"/>
                              <m:limLoc m:val="subSup"/>
                              <m:ctrlPr>
                                <a:rPr lang="en-US" altLang="zh-CN" sz="1800" i="1">
                                  <a:latin typeface="Cambria Math" panose="02040503050406030204" charset="0"/>
                                  <a:ea typeface="宋体" panose="02010600030101010101" pitchFamily="2" charset="-122"/>
                                  <a:cs typeface="Cambria Math" panose="02040503050406030204" charset="0"/>
                                </a:rPr>
                              </m:ctrlPr>
                            </m:naryPr>
                            <m:sub>
                              <m:r>
                                <m:rPr>
                                  <m:sty m:val="p"/>
                                </m:rPr>
                                <a:rPr lang="en-US" altLang="zh-CN" sz="1800" i="1">
                                  <a:latin typeface="Cambria Math" panose="02040503050406030204" charset="0"/>
                                  <a:ea typeface="宋体" panose="02010600030101010101" pitchFamily="2" charset="-122"/>
                                  <a:cs typeface="Cambria Math" panose="02040503050406030204" charset="0"/>
                                </a:rPr>
                                <m:t>i</m:t>
                              </m:r>
                              <m:r>
                                <a:rPr lang="en-US" altLang="zh-CN" sz="1800" i="1">
                                  <a:latin typeface="Cambria Math" panose="02040503050406030204" charset="0"/>
                                  <a:ea typeface="宋体" panose="02010600030101010101" pitchFamily="2" charset="-122"/>
                                  <a:cs typeface="Cambria Math" panose="02040503050406030204" charset="0"/>
                                </a:rPr>
                                <m:t>=</m:t>
                              </m:r>
                              <m:r>
                                <a:rPr lang="en-US" altLang="zh-CN" sz="1800" i="1">
                                  <a:latin typeface="Cambria Math" panose="02040503050406030204" charset="0"/>
                                  <a:ea typeface="宋体" panose="02010600030101010101" pitchFamily="2" charset="-122"/>
                                  <a:cs typeface="Cambria Math" panose="02040503050406030204" charset="0"/>
                                </a:rPr>
                                <m:t>1</m:t>
                              </m:r>
                            </m:sub>
                            <m:sup>
                              <m:r>
                                <m:rPr>
                                  <m:sty m:val="p"/>
                                </m:rPr>
                                <a:rPr lang="en-US" altLang="zh-CN" sz="1800" i="1">
                                  <a:latin typeface="Cambria Math" panose="02040503050406030204" charset="0"/>
                                  <a:ea typeface="宋体" panose="02010600030101010101" pitchFamily="2" charset="-122"/>
                                  <a:cs typeface="Cambria Math" panose="02040503050406030204" charset="0"/>
                                </a:rPr>
                                <m:t>n</m:t>
                              </m:r>
                            </m:sup>
                            <m:e>
                              <m:sSub>
                                <m:sSubPr>
                                  <m:ctrlPr>
                                    <a:rPr lang="en-US" altLang="zh-CN" sz="1800" i="1">
                                      <a:latin typeface="Cambria Math" panose="02040503050406030204" charset="0"/>
                                      <a:ea typeface="宋体" panose="02010600030101010101" pitchFamily="2" charset="-122"/>
                                      <a:cs typeface="Cambria Math" panose="02040503050406030204" charset="0"/>
                                    </a:rPr>
                                  </m:ctrlPr>
                                </m:sSubPr>
                                <m:e>
                                  <m:r>
                                    <a:rPr lang="en-US" altLang="zh-CN" sz="1800" i="1">
                                      <a:latin typeface="Cambria Math" panose="02040503050406030204" charset="0"/>
                                      <a:ea typeface="宋体" panose="02010600030101010101" pitchFamily="2" charset="-122"/>
                                      <a:cs typeface="Cambria Math" panose="02040503050406030204" charset="0"/>
                                    </a:rPr>
                                    <m:t>𝜓</m:t>
                                  </m:r>
                                </m:e>
                                <m:sub>
                                  <m:r>
                                    <m:rPr>
                                      <m:sty m:val="p"/>
                                    </m:rPr>
                                    <a:rPr lang="en-US" altLang="zh-CN" sz="1800" i="1">
                                      <a:latin typeface="Cambria Math" panose="02040503050406030204" charset="0"/>
                                      <a:ea typeface="宋体" panose="02010600030101010101" pitchFamily="2" charset="-122"/>
                                      <a:cs typeface="Cambria Math" panose="02040503050406030204" charset="0"/>
                                    </a:rPr>
                                    <m:t>i</m:t>
                                  </m:r>
                                </m:sub>
                              </m:sSub>
                            </m:e>
                          </m:nary>
                          <m:r>
                            <a:rPr lang="en-US" altLang="zh-CN" sz="1800" i="1">
                              <a:latin typeface="Cambria Math" panose="02040503050406030204" charset="0"/>
                              <a:ea typeface="宋体" panose="02010600030101010101" pitchFamily="2" charset="-122"/>
                              <a:cs typeface="Cambria Math" panose="02040503050406030204" charset="0"/>
                            </a:rPr>
                            <m:t>(</m:t>
                          </m:r>
                          <m:r>
                            <m:rPr>
                              <m:sty m:val="p"/>
                            </m:rPr>
                            <a:rPr lang="en-US" altLang="zh-CN" sz="1800" i="1">
                              <a:latin typeface="Cambria Math" panose="02040503050406030204" charset="0"/>
                              <a:ea typeface="宋体" panose="02010600030101010101" pitchFamily="2" charset="-122"/>
                              <a:cs typeface="Cambria Math" panose="02040503050406030204" charset="0"/>
                            </a:rPr>
                            <m:t>w</m:t>
                          </m:r>
                          <m:r>
                            <a:rPr lang="en-US" altLang="zh-CN" sz="1800" i="1">
                              <a:latin typeface="Cambria Math" panose="02040503050406030204" charset="0"/>
                              <a:ea typeface="宋体" panose="02010600030101010101" pitchFamily="2" charset="-122"/>
                              <a:cs typeface="Cambria Math" panose="02040503050406030204" charset="0"/>
                            </a:rPr>
                            <m:t>)−</m:t>
                          </m:r>
                          <m:f>
                            <m:fPr>
                              <m:ctrlPr>
                                <a:rPr lang="en-US" altLang="zh-CN" sz="1800" i="1">
                                  <a:latin typeface="Cambria Math" panose="02040503050406030204" charset="0"/>
                                  <a:ea typeface="宋体" panose="02010600030101010101" pitchFamily="2" charset="-122"/>
                                  <a:cs typeface="Cambria Math" panose="02040503050406030204" charset="0"/>
                                </a:rPr>
                              </m:ctrlPr>
                            </m:fPr>
                            <m:num>
                              <m:r>
                                <a:rPr lang="en-US" altLang="zh-CN" sz="1800" i="1">
                                  <a:latin typeface="Cambria Math" panose="02040503050406030204" charset="0"/>
                                  <a:ea typeface="宋体" panose="02010600030101010101" pitchFamily="2" charset="-122"/>
                                  <a:cs typeface="Cambria Math" panose="02040503050406030204" charset="0"/>
                                </a:rPr>
                                <m:t>1</m:t>
                              </m:r>
                            </m:num>
                            <m:den>
                              <m:r>
                                <m:rPr>
                                  <m:sty m:val="p"/>
                                </m:rPr>
                                <a:rPr lang="en-US" altLang="zh-CN" sz="1800" i="1">
                                  <a:latin typeface="Cambria Math" panose="02040503050406030204" charset="0"/>
                                  <a:ea typeface="宋体" panose="02010600030101010101" pitchFamily="2" charset="-122"/>
                                  <a:cs typeface="Cambria Math" panose="02040503050406030204" charset="0"/>
                                </a:rPr>
                                <m:t>n</m:t>
                              </m:r>
                            </m:den>
                          </m:f>
                          <m:nary>
                            <m:naryPr>
                              <m:chr m:val="∑"/>
                              <m:limLoc m:val="subSup"/>
                              <m:ctrlPr>
                                <a:rPr lang="en-US" altLang="zh-CN" sz="1800" i="1">
                                  <a:latin typeface="Cambria Math" panose="02040503050406030204" charset="0"/>
                                  <a:ea typeface="宋体" panose="02010600030101010101" pitchFamily="2" charset="-122"/>
                                  <a:cs typeface="Cambria Math" panose="02040503050406030204" charset="0"/>
                                </a:rPr>
                              </m:ctrlPr>
                            </m:naryPr>
                            <m:sub>
                              <m:r>
                                <m:rPr>
                                  <m:sty m:val="p"/>
                                </m:rPr>
                                <a:rPr lang="en-US" altLang="zh-CN" sz="1800" i="1">
                                  <a:latin typeface="Cambria Math" panose="02040503050406030204" charset="0"/>
                                  <a:ea typeface="宋体" panose="02010600030101010101" pitchFamily="2" charset="-122"/>
                                  <a:cs typeface="Cambria Math" panose="02040503050406030204" charset="0"/>
                                </a:rPr>
                                <m:t>i</m:t>
                              </m:r>
                              <m:r>
                                <a:rPr lang="en-US" altLang="zh-CN" sz="1800" i="1">
                                  <a:latin typeface="Cambria Math" panose="02040503050406030204" charset="0"/>
                                  <a:ea typeface="宋体" panose="02010600030101010101" pitchFamily="2" charset="-122"/>
                                  <a:cs typeface="Cambria Math" panose="02040503050406030204" charset="0"/>
                                </a:rPr>
                                <m:t>=</m:t>
                              </m:r>
                              <m:r>
                                <a:rPr lang="en-US" altLang="zh-CN" sz="1800" i="1">
                                  <a:latin typeface="Cambria Math" panose="02040503050406030204" charset="0"/>
                                  <a:ea typeface="宋体" panose="02010600030101010101" pitchFamily="2" charset="-122"/>
                                  <a:cs typeface="Cambria Math" panose="02040503050406030204" charset="0"/>
                                </a:rPr>
                                <m:t>1</m:t>
                              </m:r>
                            </m:sub>
                            <m:sup>
                              <m:r>
                                <m:rPr>
                                  <m:sty m:val="p"/>
                                </m:rPr>
                                <a:rPr lang="en-US" altLang="zh-CN" sz="1800" i="1">
                                  <a:latin typeface="Cambria Math" panose="02040503050406030204" charset="0"/>
                                  <a:ea typeface="宋体" panose="02010600030101010101" pitchFamily="2" charset="-122"/>
                                  <a:cs typeface="Cambria Math" panose="02040503050406030204" charset="0"/>
                                </a:rPr>
                                <m:t>n</m:t>
                              </m:r>
                            </m:sup>
                            <m:e>
                              <m:sSub>
                                <m:sSubPr>
                                  <m:ctrlPr>
                                    <a:rPr lang="en-US" altLang="zh-CN" sz="1800" i="1">
                                      <a:latin typeface="Cambria Math" panose="02040503050406030204" charset="0"/>
                                      <a:ea typeface="宋体" panose="02010600030101010101" pitchFamily="2" charset="-122"/>
                                      <a:cs typeface="Cambria Math" panose="02040503050406030204" charset="0"/>
                                    </a:rPr>
                                  </m:ctrlPr>
                                </m:sSubPr>
                                <m:e>
                                  <m:r>
                                    <a:rPr lang="en-US" altLang="zh-CN" sz="1800" i="1">
                                      <a:latin typeface="Cambria Math" panose="02040503050406030204" charset="0"/>
                                      <a:ea typeface="宋体" panose="02010600030101010101" pitchFamily="2" charset="-122"/>
                                      <a:cs typeface="Cambria Math" panose="02040503050406030204" charset="0"/>
                                    </a:rPr>
                                    <m:t>𝜓</m:t>
                                  </m:r>
                                </m:e>
                                <m:sub>
                                  <m:r>
                                    <m:rPr>
                                      <m:sty m:val="p"/>
                                    </m:rPr>
                                    <a:rPr lang="en-US" altLang="zh-CN" sz="1800" i="1">
                                      <a:latin typeface="Cambria Math" panose="02040503050406030204" charset="0"/>
                                      <a:ea typeface="宋体" panose="02010600030101010101" pitchFamily="2" charset="-122"/>
                                      <a:cs typeface="Cambria Math" panose="02040503050406030204" charset="0"/>
                                    </a:rPr>
                                    <m:t>i</m:t>
                                  </m:r>
                                </m:sub>
                              </m:sSub>
                            </m:e>
                          </m:nary>
                          <m:r>
                            <a:rPr lang="en-US" altLang="zh-CN" sz="1800" i="1">
                              <a:latin typeface="Cambria Math" panose="02040503050406030204" charset="0"/>
                              <a:ea typeface="宋体" panose="02010600030101010101" pitchFamily="2" charset="-122"/>
                              <a:cs typeface="Cambria Math" panose="02040503050406030204" charset="0"/>
                            </a:rPr>
                            <m:t>(</m:t>
                          </m:r>
                          <m:sSup>
                            <m:sSupPr>
                              <m:ctrlPr>
                                <a:rPr lang="en-US" altLang="zh-CN" sz="1800" i="1">
                                  <a:latin typeface="Cambria Math" panose="02040503050406030204" charset="0"/>
                                  <a:ea typeface="宋体" panose="02010600030101010101" pitchFamily="2" charset="-122"/>
                                  <a:cs typeface="Cambria Math" panose="02040503050406030204" charset="0"/>
                                </a:rPr>
                              </m:ctrlPr>
                            </m:sSupPr>
                            <m:e>
                              <m:r>
                                <m:rPr>
                                  <m:sty m:val="p"/>
                                </m:rPr>
                                <a:rPr lang="en-US" altLang="zh-CN" sz="1800" i="1">
                                  <a:latin typeface="Cambria Math" panose="02040503050406030204" charset="0"/>
                                  <a:ea typeface="宋体" panose="02010600030101010101" pitchFamily="2" charset="-122"/>
                                  <a:cs typeface="Cambria Math" panose="02040503050406030204" charset="0"/>
                                </a:rPr>
                                <m:t>w</m:t>
                              </m:r>
                            </m:e>
                            <m:sup>
                              <m:r>
                                <a:rPr lang="en-US" altLang="zh-CN" sz="1800" i="1">
                                  <a:latin typeface="Cambria Math" panose="02040503050406030204" charset="0"/>
                                  <a:ea typeface="宋体" panose="02010600030101010101" pitchFamily="2" charset="-122"/>
                                  <a:cs typeface="Cambria Math" panose="02040503050406030204" charset="0"/>
                                </a:rPr>
                                <m:t>∗</m:t>
                              </m:r>
                            </m:sup>
                          </m:sSup>
                          <m:r>
                            <a:rPr lang="en-US" altLang="zh-CN" sz="1800" i="1">
                              <a:latin typeface="Cambria Math" panose="02040503050406030204" charset="0"/>
                              <a:ea typeface="宋体" panose="02010600030101010101" pitchFamily="2" charset="-122"/>
                              <a:cs typeface="Cambria Math" panose="02040503050406030204" charset="0"/>
                            </a:rPr>
                            <m:t>)−</m:t>
                          </m:r>
                          <m:f>
                            <m:fPr>
                              <m:ctrlPr>
                                <a:rPr lang="en-US" altLang="zh-CN" sz="1800" i="1">
                                  <a:latin typeface="Cambria Math" panose="02040503050406030204" charset="0"/>
                                  <a:ea typeface="宋体" panose="02010600030101010101" pitchFamily="2" charset="-122"/>
                                  <a:cs typeface="Cambria Math" panose="02040503050406030204" charset="0"/>
                                </a:rPr>
                              </m:ctrlPr>
                            </m:fPr>
                            <m:num>
                              <m:r>
                                <a:rPr lang="en-US" altLang="zh-CN" sz="1800" i="1">
                                  <a:latin typeface="Cambria Math" panose="02040503050406030204" charset="0"/>
                                  <a:ea typeface="宋体" panose="02010600030101010101" pitchFamily="2" charset="-122"/>
                                  <a:cs typeface="Cambria Math" panose="02040503050406030204" charset="0"/>
                                </a:rPr>
                                <m:t>1</m:t>
                              </m:r>
                            </m:num>
                            <m:den>
                              <m:r>
                                <m:rPr>
                                  <m:sty m:val="p"/>
                                </m:rPr>
                                <a:rPr lang="en-US" altLang="zh-CN" sz="1800" i="1">
                                  <a:latin typeface="Cambria Math" panose="02040503050406030204" charset="0"/>
                                  <a:ea typeface="宋体" panose="02010600030101010101" pitchFamily="2" charset="-122"/>
                                  <a:cs typeface="Cambria Math" panose="02040503050406030204" charset="0"/>
                                </a:rPr>
                                <m:t>n</m:t>
                              </m:r>
                            </m:den>
                          </m:f>
                          <m:nary>
                            <m:naryPr>
                              <m:chr m:val="∑"/>
                              <m:limLoc m:val="subSup"/>
                              <m:ctrlPr>
                                <a:rPr lang="en-US" altLang="zh-CN" sz="1800" i="1">
                                  <a:latin typeface="Cambria Math" panose="02040503050406030204" charset="0"/>
                                  <a:ea typeface="宋体" panose="02010600030101010101" pitchFamily="2" charset="-122"/>
                                  <a:cs typeface="Cambria Math" panose="02040503050406030204" charset="0"/>
                                </a:rPr>
                              </m:ctrlPr>
                            </m:naryPr>
                            <m:sub>
                              <m:r>
                                <m:rPr>
                                  <m:sty m:val="p"/>
                                </m:rPr>
                                <a:rPr lang="en-US" altLang="zh-CN" sz="1800" i="1">
                                  <a:latin typeface="Cambria Math" panose="02040503050406030204" charset="0"/>
                                  <a:ea typeface="宋体" panose="02010600030101010101" pitchFamily="2" charset="-122"/>
                                  <a:cs typeface="Cambria Math" panose="02040503050406030204" charset="0"/>
                                </a:rPr>
                                <m:t>i</m:t>
                              </m:r>
                              <m:r>
                                <a:rPr lang="en-US" altLang="zh-CN" sz="1800" i="1">
                                  <a:latin typeface="Cambria Math" panose="02040503050406030204" charset="0"/>
                                  <a:ea typeface="宋体" panose="02010600030101010101" pitchFamily="2" charset="-122"/>
                                  <a:cs typeface="Cambria Math" panose="02040503050406030204" charset="0"/>
                                </a:rPr>
                                <m:t>=</m:t>
                              </m:r>
                              <m:r>
                                <a:rPr lang="en-US" altLang="zh-CN" sz="1800" i="1">
                                  <a:latin typeface="Cambria Math" panose="02040503050406030204" charset="0"/>
                                  <a:ea typeface="宋体" panose="02010600030101010101" pitchFamily="2" charset="-122"/>
                                  <a:cs typeface="Cambria Math" panose="02040503050406030204" charset="0"/>
                                </a:rPr>
                                <m:t>1</m:t>
                              </m:r>
                            </m:sub>
                            <m:sup>
                              <m:r>
                                <m:rPr>
                                  <m:sty m:val="p"/>
                                </m:rPr>
                                <a:rPr lang="en-US" altLang="zh-CN" sz="1800" i="1">
                                  <a:latin typeface="Cambria Math" panose="02040503050406030204" charset="0"/>
                                  <a:ea typeface="宋体" panose="02010600030101010101" pitchFamily="2" charset="-122"/>
                                  <a:cs typeface="Cambria Math" panose="02040503050406030204" charset="0"/>
                                </a:rPr>
                                <m:t>n</m:t>
                              </m:r>
                            </m:sup>
                            <m:e>
                              <m:r>
                                <a:rPr lang="en-US" altLang="zh-CN" sz="1800" i="1">
                                  <a:latin typeface="Cambria Math" panose="02040503050406030204" charset="0"/>
                                  <a:ea typeface="宋体" panose="02010600030101010101" pitchFamily="2" charset="-122"/>
                                  <a:cs typeface="Cambria Math" panose="02040503050406030204" charset="0"/>
                                </a:rPr>
                                <m:t>⟨</m:t>
                              </m:r>
                            </m:e>
                          </m:nary>
                          <m:r>
                            <a:rPr lang="en-US" altLang="zh-CN" sz="1800" i="1">
                              <a:latin typeface="Cambria Math" panose="02040503050406030204" charset="0"/>
                              <a:ea typeface="宋体" panose="02010600030101010101" pitchFamily="2" charset="-122"/>
                              <a:cs typeface="Cambria Math" panose="02040503050406030204" charset="0"/>
                            </a:rPr>
                            <m:t>𝛻</m:t>
                          </m:r>
                          <m:sSub>
                            <m:sSubPr>
                              <m:ctrlPr>
                                <a:rPr lang="en-US" altLang="zh-CN" sz="1800" i="1">
                                  <a:latin typeface="Cambria Math" panose="02040503050406030204" charset="0"/>
                                  <a:ea typeface="宋体" panose="02010600030101010101" pitchFamily="2" charset="-122"/>
                                  <a:cs typeface="Cambria Math" panose="02040503050406030204" charset="0"/>
                                </a:rPr>
                              </m:ctrlPr>
                            </m:sSubPr>
                            <m:e>
                              <m:r>
                                <a:rPr lang="en-US" altLang="zh-CN" sz="1800" i="1">
                                  <a:latin typeface="Cambria Math" panose="02040503050406030204" charset="0"/>
                                  <a:ea typeface="宋体" panose="02010600030101010101" pitchFamily="2" charset="-122"/>
                                  <a:cs typeface="Cambria Math" panose="02040503050406030204" charset="0"/>
                                </a:rPr>
                                <m:t>𝜓</m:t>
                              </m:r>
                            </m:e>
                            <m:sub>
                              <m:r>
                                <m:rPr>
                                  <m:sty m:val="p"/>
                                </m:rPr>
                                <a:rPr lang="en-US" altLang="zh-CN" sz="1800" i="1">
                                  <a:latin typeface="Cambria Math" panose="02040503050406030204" charset="0"/>
                                  <a:ea typeface="宋体" panose="02010600030101010101" pitchFamily="2" charset="-122"/>
                                  <a:cs typeface="Cambria Math" panose="02040503050406030204" charset="0"/>
                                </a:rPr>
                                <m:t>i</m:t>
                              </m:r>
                            </m:sub>
                          </m:sSub>
                          <m:r>
                            <a:rPr lang="en-US" altLang="zh-CN" sz="1800" i="1">
                              <a:latin typeface="Cambria Math" panose="02040503050406030204" charset="0"/>
                              <a:ea typeface="宋体" panose="02010600030101010101" pitchFamily="2" charset="-122"/>
                              <a:cs typeface="Cambria Math" panose="02040503050406030204" charset="0"/>
                            </a:rPr>
                            <m:t>(</m:t>
                          </m:r>
                          <m:sSup>
                            <m:sSupPr>
                              <m:ctrlPr>
                                <a:rPr lang="en-US" altLang="zh-CN" sz="1800" i="1">
                                  <a:latin typeface="Cambria Math" panose="02040503050406030204" charset="0"/>
                                  <a:ea typeface="宋体" panose="02010600030101010101" pitchFamily="2" charset="-122"/>
                                  <a:cs typeface="Cambria Math" panose="02040503050406030204" charset="0"/>
                                </a:rPr>
                              </m:ctrlPr>
                            </m:sSupPr>
                            <m:e>
                              <m:r>
                                <m:rPr>
                                  <m:sty m:val="p"/>
                                </m:rPr>
                                <a:rPr lang="en-US" altLang="zh-CN" sz="1800" i="1">
                                  <a:latin typeface="Cambria Math" panose="02040503050406030204" charset="0"/>
                                  <a:ea typeface="宋体" panose="02010600030101010101" pitchFamily="2" charset="-122"/>
                                  <a:cs typeface="Cambria Math" panose="02040503050406030204" charset="0"/>
                                </a:rPr>
                                <m:t>w</m:t>
                              </m:r>
                            </m:e>
                            <m:sup>
                              <m:r>
                                <a:rPr lang="en-US" altLang="zh-CN" sz="1800" i="1">
                                  <a:latin typeface="Cambria Math" panose="02040503050406030204" charset="0"/>
                                  <a:ea typeface="宋体" panose="02010600030101010101" pitchFamily="2" charset="-122"/>
                                  <a:cs typeface="Cambria Math" panose="02040503050406030204" charset="0"/>
                                </a:rPr>
                                <m:t>∗</m:t>
                              </m:r>
                            </m:sup>
                          </m:sSup>
                          <m:r>
                            <a:rPr lang="en-US" altLang="zh-CN" sz="1800" i="1">
                              <a:latin typeface="Cambria Math" panose="02040503050406030204" charset="0"/>
                              <a:ea typeface="宋体" panose="02010600030101010101" pitchFamily="2" charset="-122"/>
                              <a:cs typeface="Cambria Math" panose="02040503050406030204" charset="0"/>
                            </a:rPr>
                            <m:t>),</m:t>
                          </m:r>
                          <m:r>
                            <m:rPr>
                              <m:sty m:val="p"/>
                            </m:rPr>
                            <a:rPr lang="en-US" altLang="zh-CN" sz="1800" i="1">
                              <a:latin typeface="Cambria Math" panose="02040503050406030204" charset="0"/>
                              <a:ea typeface="宋体" panose="02010600030101010101" pitchFamily="2" charset="-122"/>
                              <a:cs typeface="Cambria Math" panose="02040503050406030204" charset="0"/>
                            </a:rPr>
                            <m:t>w</m:t>
                          </m:r>
                          <m:r>
                            <a:rPr lang="en-US" altLang="zh-CN" sz="1800" i="1">
                              <a:latin typeface="Cambria Math" panose="02040503050406030204" charset="0"/>
                              <a:ea typeface="宋体" panose="02010600030101010101" pitchFamily="2" charset="-122"/>
                              <a:cs typeface="Cambria Math" panose="02040503050406030204" charset="0"/>
                            </a:rPr>
                            <m:t>−</m:t>
                          </m:r>
                          <m:sSup>
                            <m:sSupPr>
                              <m:ctrlPr>
                                <a:rPr lang="en-US" altLang="zh-CN" sz="1800" i="1">
                                  <a:latin typeface="Cambria Math" panose="02040503050406030204" charset="0"/>
                                  <a:ea typeface="宋体" panose="02010600030101010101" pitchFamily="2" charset="-122"/>
                                  <a:cs typeface="Cambria Math" panose="02040503050406030204" charset="0"/>
                                </a:rPr>
                              </m:ctrlPr>
                            </m:sSupPr>
                            <m:e>
                              <m:r>
                                <m:rPr>
                                  <m:sty m:val="p"/>
                                </m:rPr>
                                <a:rPr lang="en-US" altLang="zh-CN" sz="1800" i="1">
                                  <a:latin typeface="Cambria Math" panose="02040503050406030204" charset="0"/>
                                  <a:ea typeface="宋体" panose="02010600030101010101" pitchFamily="2" charset="-122"/>
                                  <a:cs typeface="Cambria Math" panose="02040503050406030204" charset="0"/>
                                </a:rPr>
                                <m:t>w</m:t>
                              </m:r>
                            </m:e>
                            <m:sup>
                              <m:r>
                                <a:rPr lang="en-US" altLang="zh-CN" sz="1800" i="1">
                                  <a:latin typeface="Cambria Math" panose="02040503050406030204" charset="0"/>
                                  <a:ea typeface="宋体" panose="02010600030101010101" pitchFamily="2" charset="-122"/>
                                  <a:cs typeface="Cambria Math" panose="02040503050406030204" charset="0"/>
                                </a:rPr>
                                <m:t>∗</m:t>
                              </m:r>
                            </m:sup>
                          </m:sSup>
                          <m:r>
                            <a:rPr lang="en-US" altLang="zh-CN" sz="1800" i="1">
                              <a:latin typeface="Cambria Math" panose="02040503050406030204" charset="0"/>
                              <a:ea typeface="宋体" panose="02010600030101010101" pitchFamily="2" charset="-122"/>
                              <a:cs typeface="Cambria Math" panose="02040503050406030204" charset="0"/>
                            </a:rPr>
                            <m:t>⟩</m:t>
                          </m:r>
                        </m:e>
                      </m:d>
                    </m:oMath>
                  </m:oMathPara>
                </a14:m>
                <a:endParaRPr lang="en-US" altLang="zh-CN" sz="1800" i="1">
                  <a:latin typeface="Cambria Math" panose="02040503050406030204" charset="0"/>
                  <a:ea typeface="宋体" panose="02010600030101010101" pitchFamily="2" charset="-122"/>
                  <a:cs typeface="Cambria Math" panose="02040503050406030204" charset="0"/>
                </a:endParaRPr>
              </a:p>
              <a:p>
                <a:pPr indent="457200"/>
                <a:r>
                  <a:rPr lang="zh-CN" altLang="en-US" sz="1800">
                    <a:latin typeface="Cambria Math" panose="02040503050406030204" charset="0"/>
                    <a:ea typeface="宋体" panose="02010600030101010101" pitchFamily="2" charset="-122"/>
                    <a:cs typeface="Cambria Math" panose="02040503050406030204" charset="0"/>
                  </a:rPr>
                  <a:t>化简得：</a:t>
                </a:r>
                <a:endParaRPr lang="zh-CN" altLang="en-US" sz="1800">
                  <a:latin typeface="Cambria Math" panose="02040503050406030204" charset="0"/>
                  <a:ea typeface="宋体" panose="02010600030101010101" pitchFamily="2" charset="-122"/>
                  <a:cs typeface="Cambria Math" panose="02040503050406030204" charset="0"/>
                </a:endParaRPr>
              </a:p>
              <a:p>
                <a:pPr indent="457200"/>
                <a14:m>
                  <m:oMathPara xmlns:m="http://schemas.openxmlformats.org/officeDocument/2006/math">
                    <m:oMathParaPr>
                      <m:jc m:val="centerGroup"/>
                    </m:oMathParaPr>
                    <m:oMath xmlns:m="http://schemas.openxmlformats.org/officeDocument/2006/math">
                      <m:f>
                        <m:fPr>
                          <m:ctrlPr>
                            <a:rPr lang="en-US" altLang="zh-CN" sz="1800" i="1">
                              <a:latin typeface="Cambria Math" panose="02040503050406030204" charset="0"/>
                              <a:ea typeface="宋体" panose="02010600030101010101" pitchFamily="2" charset="-122"/>
                              <a:cs typeface="Cambria Math" panose="02040503050406030204" charset="0"/>
                            </a:rPr>
                          </m:ctrlPr>
                        </m:fPr>
                        <m:num>
                          <m:r>
                            <a:rPr lang="en-US" altLang="zh-CN" sz="1800" i="1">
                              <a:latin typeface="Cambria Math" panose="02040503050406030204" charset="0"/>
                              <a:ea typeface="宋体" panose="02010600030101010101" pitchFamily="2" charset="-122"/>
                              <a:cs typeface="Cambria Math" panose="02040503050406030204" charset="0"/>
                            </a:rPr>
                            <m:t>1</m:t>
                          </m:r>
                        </m:num>
                        <m:den>
                          <m:r>
                            <a:rPr lang="en-US" altLang="zh-CN" sz="1800" i="1">
                              <a:latin typeface="Cambria Math" panose="02040503050406030204" charset="0"/>
                              <a:ea typeface="宋体" panose="02010600030101010101" pitchFamily="2" charset="-122"/>
                              <a:cs typeface="Cambria Math" panose="02040503050406030204" charset="0"/>
                            </a:rPr>
                            <m:t>𝑛</m:t>
                          </m:r>
                        </m:den>
                      </m:f>
                      <m:nary>
                        <m:naryPr>
                          <m:chr m:val="∑"/>
                          <m:limLoc m:val="subSup"/>
                          <m:ctrlPr>
                            <a:rPr lang="en-US" altLang="zh-CN" sz="1800" i="1">
                              <a:latin typeface="Cambria Math" panose="02040503050406030204" charset="0"/>
                              <a:ea typeface="宋体" panose="02010600030101010101" pitchFamily="2" charset="-122"/>
                              <a:cs typeface="Cambria Math" panose="02040503050406030204" charset="0"/>
                            </a:rPr>
                          </m:ctrlPr>
                        </m:naryPr>
                        <m:sub>
                          <m:r>
                            <a:rPr lang="en-US" altLang="zh-CN" sz="1800" i="1">
                              <a:latin typeface="Cambria Math" panose="02040503050406030204" charset="0"/>
                              <a:ea typeface="宋体" panose="02010600030101010101" pitchFamily="2" charset="-122"/>
                              <a:cs typeface="Cambria Math" panose="02040503050406030204" charset="0"/>
                            </a:rPr>
                            <m:t>𝑖</m:t>
                          </m:r>
                          <m:r>
                            <a:rPr lang="en-US" altLang="zh-CN" sz="1800" i="1">
                              <a:latin typeface="Cambria Math" panose="02040503050406030204" charset="0"/>
                              <a:ea typeface="宋体" panose="02010600030101010101" pitchFamily="2" charset="-122"/>
                              <a:cs typeface="Cambria Math" panose="02040503050406030204" charset="0"/>
                            </a:rPr>
                            <m:t>=</m:t>
                          </m:r>
                          <m:r>
                            <a:rPr lang="en-US" altLang="zh-CN" sz="1800" i="1">
                              <a:latin typeface="Cambria Math" panose="02040503050406030204" charset="0"/>
                              <a:ea typeface="宋体" panose="02010600030101010101" pitchFamily="2" charset="-122"/>
                              <a:cs typeface="Cambria Math" panose="02040503050406030204" charset="0"/>
                            </a:rPr>
                            <m:t>1</m:t>
                          </m:r>
                        </m:sub>
                        <m:sup>
                          <m:r>
                            <a:rPr lang="en-US" altLang="zh-CN" sz="1800" i="1">
                              <a:latin typeface="Cambria Math" panose="02040503050406030204" charset="0"/>
                              <a:ea typeface="宋体" panose="02010600030101010101" pitchFamily="2" charset="-122"/>
                              <a:cs typeface="Cambria Math" panose="02040503050406030204" charset="0"/>
                            </a:rPr>
                            <m:t>𝑛</m:t>
                          </m:r>
                        </m:sup>
                        <m:e>
                          <m:r>
                            <a:rPr lang="en-US" altLang="zh-CN" sz="1800" i="1">
                              <a:latin typeface="Cambria Math" panose="02040503050406030204" charset="0"/>
                              <a:ea typeface="宋体" panose="02010600030101010101" pitchFamily="2" charset="-122"/>
                              <a:cs typeface="Cambria Math" panose="02040503050406030204" charset="0"/>
                            </a:rPr>
                            <m:t>‖</m:t>
                          </m:r>
                        </m:e>
                      </m:nary>
                      <m:r>
                        <a:rPr lang="en-US" altLang="zh-CN" sz="1800" i="1">
                          <a:latin typeface="Cambria Math" panose="02040503050406030204" charset="0"/>
                          <a:ea typeface="宋体" panose="02010600030101010101" pitchFamily="2" charset="-122"/>
                          <a:cs typeface="Cambria Math" panose="02040503050406030204" charset="0"/>
                        </a:rPr>
                        <m:t>𝛻</m:t>
                      </m:r>
                      <m:sSub>
                        <m:sSubPr>
                          <m:ctrlPr>
                            <a:rPr lang="en-US" altLang="zh-CN" sz="1800" i="1">
                              <a:latin typeface="Cambria Math" panose="02040503050406030204" charset="0"/>
                              <a:ea typeface="宋体" panose="02010600030101010101" pitchFamily="2" charset="-122"/>
                              <a:cs typeface="Cambria Math" panose="02040503050406030204" charset="0"/>
                            </a:rPr>
                          </m:ctrlPr>
                        </m:sSubPr>
                        <m:e>
                          <m:r>
                            <a:rPr lang="en-US" altLang="zh-CN" sz="1800" i="1">
                              <a:latin typeface="Cambria Math" panose="02040503050406030204" charset="0"/>
                              <a:ea typeface="宋体" panose="02010600030101010101" pitchFamily="2" charset="-122"/>
                              <a:cs typeface="Cambria Math" panose="02040503050406030204" charset="0"/>
                            </a:rPr>
                            <m:t>𝜓</m:t>
                          </m:r>
                        </m:e>
                        <m:sub>
                          <m:r>
                            <a:rPr lang="en-US" altLang="zh-CN" sz="1800" i="1">
                              <a:latin typeface="Cambria Math" panose="02040503050406030204" charset="0"/>
                              <a:ea typeface="宋体" panose="02010600030101010101" pitchFamily="2" charset="-122"/>
                              <a:cs typeface="Cambria Math" panose="02040503050406030204" charset="0"/>
                            </a:rPr>
                            <m:t>𝑖</m:t>
                          </m:r>
                        </m:sub>
                      </m:sSub>
                      <m:r>
                        <a:rPr lang="en-US" altLang="zh-CN" sz="1800" i="1">
                          <a:latin typeface="Cambria Math" panose="02040503050406030204" charset="0"/>
                          <a:ea typeface="宋体" panose="02010600030101010101" pitchFamily="2" charset="-122"/>
                          <a:cs typeface="Cambria Math" panose="02040503050406030204" charset="0"/>
                        </a:rPr>
                        <m:t>(</m:t>
                      </m:r>
                      <m:r>
                        <a:rPr lang="en-US" altLang="zh-CN" sz="1800" i="1">
                          <a:latin typeface="Cambria Math" panose="02040503050406030204" charset="0"/>
                          <a:ea typeface="宋体" panose="02010600030101010101" pitchFamily="2" charset="-122"/>
                          <a:cs typeface="Cambria Math" panose="02040503050406030204" charset="0"/>
                        </a:rPr>
                        <m:t>𝑤</m:t>
                      </m:r>
                      <m:r>
                        <a:rPr lang="en-US" altLang="zh-CN" sz="1800" i="1">
                          <a:latin typeface="Cambria Math" panose="02040503050406030204" charset="0"/>
                          <a:ea typeface="宋体" panose="02010600030101010101" pitchFamily="2" charset="-122"/>
                          <a:cs typeface="Cambria Math" panose="02040503050406030204" charset="0"/>
                        </a:rPr>
                        <m:t>)−</m:t>
                      </m:r>
                      <m:r>
                        <a:rPr lang="en-US" altLang="zh-CN" sz="1800" i="1">
                          <a:latin typeface="Cambria Math" panose="02040503050406030204" charset="0"/>
                          <a:ea typeface="宋体" panose="02010600030101010101" pitchFamily="2" charset="-122"/>
                          <a:cs typeface="Cambria Math" panose="02040503050406030204" charset="0"/>
                        </a:rPr>
                        <m:t>𝛻</m:t>
                      </m:r>
                      <m:sSub>
                        <m:sSubPr>
                          <m:ctrlPr>
                            <a:rPr lang="en-US" altLang="zh-CN" sz="1800" i="1">
                              <a:latin typeface="Cambria Math" panose="02040503050406030204" charset="0"/>
                              <a:ea typeface="宋体" panose="02010600030101010101" pitchFamily="2" charset="-122"/>
                              <a:cs typeface="Cambria Math" panose="02040503050406030204" charset="0"/>
                            </a:rPr>
                          </m:ctrlPr>
                        </m:sSubPr>
                        <m:e>
                          <m:r>
                            <a:rPr lang="en-US" altLang="zh-CN" sz="1800" i="1">
                              <a:latin typeface="Cambria Math" panose="02040503050406030204" charset="0"/>
                              <a:ea typeface="宋体" panose="02010600030101010101" pitchFamily="2" charset="-122"/>
                              <a:cs typeface="Cambria Math" panose="02040503050406030204" charset="0"/>
                            </a:rPr>
                            <m:t>𝜓</m:t>
                          </m:r>
                        </m:e>
                        <m:sub>
                          <m:r>
                            <a:rPr lang="en-US" altLang="zh-CN" sz="1800" i="1">
                              <a:latin typeface="Cambria Math" panose="02040503050406030204" charset="0"/>
                              <a:ea typeface="宋体" panose="02010600030101010101" pitchFamily="2" charset="-122"/>
                              <a:cs typeface="Cambria Math" panose="02040503050406030204" charset="0"/>
                            </a:rPr>
                            <m:t>𝑖</m:t>
                          </m:r>
                        </m:sub>
                      </m:sSub>
                      <m:r>
                        <a:rPr lang="en-US" altLang="zh-CN" sz="1800" i="1">
                          <a:latin typeface="Cambria Math" panose="02040503050406030204" charset="0"/>
                          <a:ea typeface="宋体" panose="02010600030101010101" pitchFamily="2" charset="-122"/>
                          <a:cs typeface="Cambria Math" panose="02040503050406030204" charset="0"/>
                        </a:rPr>
                        <m:t>(</m:t>
                      </m:r>
                      <m:sSup>
                        <m:sSupPr>
                          <m:ctrlPr>
                            <a:rPr lang="en-US" altLang="zh-CN" sz="1800" i="1">
                              <a:latin typeface="Cambria Math" panose="02040503050406030204" charset="0"/>
                              <a:ea typeface="宋体" panose="02010600030101010101" pitchFamily="2" charset="-122"/>
                              <a:cs typeface="Cambria Math" panose="02040503050406030204" charset="0"/>
                            </a:rPr>
                          </m:ctrlPr>
                        </m:sSupPr>
                        <m:e>
                          <m:r>
                            <a:rPr lang="en-US" altLang="zh-CN" sz="1800" i="1">
                              <a:latin typeface="Cambria Math" panose="02040503050406030204" charset="0"/>
                              <a:ea typeface="宋体" panose="02010600030101010101" pitchFamily="2" charset="-122"/>
                              <a:cs typeface="Cambria Math" panose="02040503050406030204" charset="0"/>
                            </a:rPr>
                            <m:t>𝑤</m:t>
                          </m:r>
                        </m:e>
                        <m:sup>
                          <m:r>
                            <a:rPr lang="en-US" altLang="zh-CN" sz="1800" i="1">
                              <a:latin typeface="Cambria Math" panose="02040503050406030204" charset="0"/>
                              <a:ea typeface="宋体" panose="02010600030101010101" pitchFamily="2" charset="-122"/>
                              <a:cs typeface="Cambria Math" panose="02040503050406030204" charset="0"/>
                            </a:rPr>
                            <m:t>∗</m:t>
                          </m:r>
                        </m:sup>
                      </m:sSup>
                      <m:r>
                        <a:rPr lang="en-US" altLang="zh-CN" sz="1800" i="1">
                          <a:latin typeface="Cambria Math" panose="02040503050406030204" charset="0"/>
                          <a:ea typeface="宋体" panose="02010600030101010101" pitchFamily="2" charset="-122"/>
                          <a:cs typeface="Cambria Math" panose="02040503050406030204" charset="0"/>
                        </a:rPr>
                        <m:t>)</m:t>
                      </m:r>
                      <m:sSup>
                        <m:sSupPr>
                          <m:ctrlPr>
                            <a:rPr lang="en-US" altLang="zh-CN" sz="1800" i="1">
                              <a:latin typeface="Cambria Math" panose="02040503050406030204" charset="0"/>
                              <a:ea typeface="宋体" panose="02010600030101010101" pitchFamily="2" charset="-122"/>
                              <a:cs typeface="Cambria Math" panose="02040503050406030204" charset="0"/>
                            </a:rPr>
                          </m:ctrlPr>
                        </m:sSupPr>
                        <m:e>
                          <m:r>
                            <a:rPr lang="en-US" altLang="zh-CN" sz="1800" i="1">
                              <a:latin typeface="Cambria Math" panose="02040503050406030204" charset="0"/>
                              <a:ea typeface="宋体" panose="02010600030101010101" pitchFamily="2" charset="-122"/>
                              <a:cs typeface="Cambria Math" panose="02040503050406030204" charset="0"/>
                            </a:rPr>
                            <m:t>‖</m:t>
                          </m:r>
                        </m:e>
                        <m:sup>
                          <m:r>
                            <a:rPr lang="en-US" altLang="zh-CN" sz="1800" i="1">
                              <a:latin typeface="Cambria Math" panose="02040503050406030204" charset="0"/>
                              <a:ea typeface="宋体" panose="02010600030101010101" pitchFamily="2" charset="-122"/>
                              <a:cs typeface="Cambria Math" panose="02040503050406030204" charset="0"/>
                            </a:rPr>
                            <m:t>2</m:t>
                          </m:r>
                        </m:sup>
                      </m:sSup>
                      <m:r>
                        <a:rPr lang="en-US" altLang="zh-CN" sz="1800" i="1">
                          <a:latin typeface="Cambria Math" panose="02040503050406030204" charset="0"/>
                          <a:ea typeface="宋体" panose="02010600030101010101" pitchFamily="2" charset="-122"/>
                          <a:cs typeface="Cambria Math" panose="02040503050406030204" charset="0"/>
                        </a:rPr>
                        <m:t>≤</m:t>
                      </m:r>
                      <m:r>
                        <a:rPr lang="en-US" altLang="zh-CN" sz="1800" i="1">
                          <a:latin typeface="Cambria Math" panose="02040503050406030204" charset="0"/>
                          <a:ea typeface="宋体" panose="02010600030101010101" pitchFamily="2" charset="-122"/>
                          <a:cs typeface="Cambria Math" panose="02040503050406030204" charset="0"/>
                        </a:rPr>
                        <m:t>2</m:t>
                      </m:r>
                      <m:r>
                        <a:rPr lang="en-US" altLang="zh-CN" sz="1800" i="1">
                          <a:latin typeface="Cambria Math" panose="02040503050406030204" charset="0"/>
                          <a:ea typeface="宋体" panose="02010600030101010101" pitchFamily="2" charset="-122"/>
                          <a:cs typeface="Cambria Math" panose="02040503050406030204" charset="0"/>
                        </a:rPr>
                        <m:t>𝐿</m:t>
                      </m:r>
                      <m:r>
                        <a:rPr lang="en-US" altLang="zh-CN" sz="1800" i="1">
                          <a:latin typeface="Cambria Math" panose="02040503050406030204" charset="0"/>
                          <a:ea typeface="宋体" panose="02010600030101010101" pitchFamily="2" charset="-122"/>
                          <a:cs typeface="Cambria Math" panose="02040503050406030204" charset="0"/>
                        </a:rPr>
                        <m:t>(</m:t>
                      </m:r>
                      <m:r>
                        <a:rPr lang="en-US" altLang="zh-CN" sz="1800" i="1">
                          <a:latin typeface="Cambria Math" panose="02040503050406030204" charset="0"/>
                          <a:ea typeface="宋体" panose="02010600030101010101" pitchFamily="2" charset="-122"/>
                          <a:cs typeface="Cambria Math" panose="02040503050406030204" charset="0"/>
                        </a:rPr>
                        <m:t>𝑃</m:t>
                      </m:r>
                      <m:r>
                        <a:rPr lang="en-US" altLang="zh-CN" sz="1800" i="1">
                          <a:latin typeface="Cambria Math" panose="02040503050406030204" charset="0"/>
                          <a:ea typeface="宋体" panose="02010600030101010101" pitchFamily="2" charset="-122"/>
                          <a:cs typeface="Cambria Math" panose="02040503050406030204" charset="0"/>
                        </a:rPr>
                        <m:t>(</m:t>
                      </m:r>
                      <m:r>
                        <a:rPr lang="en-US" altLang="zh-CN" sz="1800" i="1">
                          <a:latin typeface="Cambria Math" panose="02040503050406030204" charset="0"/>
                          <a:ea typeface="宋体" panose="02010600030101010101" pitchFamily="2" charset="-122"/>
                          <a:cs typeface="Cambria Math" panose="02040503050406030204" charset="0"/>
                        </a:rPr>
                        <m:t>𝑤</m:t>
                      </m:r>
                      <m:r>
                        <a:rPr lang="en-US" altLang="zh-CN" sz="1800" i="1">
                          <a:latin typeface="Cambria Math" panose="02040503050406030204" charset="0"/>
                          <a:ea typeface="宋体" panose="02010600030101010101" pitchFamily="2" charset="-122"/>
                          <a:cs typeface="Cambria Math" panose="02040503050406030204" charset="0"/>
                        </a:rPr>
                        <m:t>)−</m:t>
                      </m:r>
                      <m:r>
                        <a:rPr lang="en-US" altLang="zh-CN" sz="1800" i="1">
                          <a:latin typeface="Cambria Math" panose="02040503050406030204" charset="0"/>
                          <a:ea typeface="宋体" panose="02010600030101010101" pitchFamily="2" charset="-122"/>
                          <a:cs typeface="Cambria Math" panose="02040503050406030204" charset="0"/>
                        </a:rPr>
                        <m:t>𝑃</m:t>
                      </m:r>
                      <m:r>
                        <a:rPr lang="en-US" altLang="zh-CN" sz="1800" i="1">
                          <a:latin typeface="Cambria Math" panose="02040503050406030204" charset="0"/>
                          <a:ea typeface="宋体" panose="02010600030101010101" pitchFamily="2" charset="-122"/>
                          <a:cs typeface="Cambria Math" panose="02040503050406030204" charset="0"/>
                        </a:rPr>
                        <m:t>(</m:t>
                      </m:r>
                      <m:sSup>
                        <m:sSupPr>
                          <m:ctrlPr>
                            <a:rPr lang="en-US" altLang="zh-CN" sz="1800" i="1">
                              <a:latin typeface="Cambria Math" panose="02040503050406030204" charset="0"/>
                              <a:ea typeface="宋体" panose="02010600030101010101" pitchFamily="2" charset="-122"/>
                              <a:cs typeface="Cambria Math" panose="02040503050406030204" charset="0"/>
                            </a:rPr>
                          </m:ctrlPr>
                        </m:sSupPr>
                        <m:e>
                          <m:r>
                            <a:rPr lang="en-US" altLang="zh-CN" sz="1800" i="1">
                              <a:latin typeface="Cambria Math" panose="02040503050406030204" charset="0"/>
                              <a:ea typeface="宋体" panose="02010600030101010101" pitchFamily="2" charset="-122"/>
                              <a:cs typeface="Cambria Math" panose="02040503050406030204" charset="0"/>
                            </a:rPr>
                            <m:t>𝑤</m:t>
                          </m:r>
                        </m:e>
                        <m:sup>
                          <m:r>
                            <a:rPr lang="en-US" altLang="zh-CN" sz="1800" i="1">
                              <a:latin typeface="Cambria Math" panose="02040503050406030204" charset="0"/>
                              <a:ea typeface="宋体" panose="02010600030101010101" pitchFamily="2" charset="-122"/>
                              <a:cs typeface="Cambria Math" panose="02040503050406030204" charset="0"/>
                            </a:rPr>
                            <m:t>∗</m:t>
                          </m:r>
                        </m:sup>
                      </m:sSup>
                      <m:r>
                        <a:rPr lang="en-US" altLang="zh-CN" sz="1800" i="1">
                          <a:latin typeface="Cambria Math" panose="02040503050406030204" charset="0"/>
                          <a:ea typeface="宋体" panose="02010600030101010101" pitchFamily="2" charset="-122"/>
                          <a:cs typeface="Cambria Math" panose="02040503050406030204" charset="0"/>
                        </a:rPr>
                        <m:t>))</m:t>
                      </m:r>
                    </m:oMath>
                  </m:oMathPara>
                </a14:m>
                <a:endParaRPr lang="en-US" altLang="zh-CN" sz="1800" i="1">
                  <a:latin typeface="Cambria Math" panose="02040503050406030204" charset="0"/>
                  <a:ea typeface="宋体" panose="02010600030101010101" pitchFamily="2" charset="-122"/>
                  <a:cs typeface="Cambria Math" panose="02040503050406030204" charset="0"/>
                </a:endParaRPr>
              </a:p>
              <a:p>
                <a:pPr indent="457200"/>
                <a:r>
                  <a:rPr lang="zh-CN" altLang="en-US" sz="1800">
                    <a:latin typeface="Cambria Math" panose="02040503050406030204" charset="0"/>
                    <a:ea typeface="宋体" panose="02010600030101010101" pitchFamily="2" charset="-122"/>
                    <a:cs typeface="Cambria Math" panose="02040503050406030204" charset="0"/>
                  </a:rPr>
                  <a:t>得证</a:t>
                </a:r>
                <a:endParaRPr lang="zh-CN" altLang="en-US" sz="1800">
                  <a:latin typeface="Cambria Math" panose="02040503050406030204" charset="0"/>
                  <a:ea typeface="宋体" panose="02010600030101010101" pitchFamily="2" charset="-122"/>
                  <a:cs typeface="Cambria Math" panose="02040503050406030204" charset="0"/>
                </a:endParaRPr>
              </a:p>
            </p:txBody>
          </p:sp>
        </mc:Choice>
        <mc:Fallback>
          <p:sp>
            <p:nvSpPr>
              <p:cNvPr id="34" name="文本框 33"/>
              <p:cNvSpPr txBox="1">
                <a:spLocks noRot="1" noChangeAspect="1" noMove="1" noResize="1" noEditPoints="1" noAdjustHandles="1" noChangeArrowheads="1" noChangeShapeType="1" noTextEdit="1"/>
              </p:cNvSpPr>
              <p:nvPr/>
            </p:nvSpPr>
            <p:spPr>
              <a:xfrm>
                <a:off x="750570" y="2912745"/>
                <a:ext cx="10850245" cy="3176270"/>
              </a:xfrm>
              <a:prstGeom prst="rect">
                <a:avLst/>
              </a:prstGeom>
              <a:blipFill rotWithShape="1">
                <a:blip r:embed="rId19"/>
                <a:stretch>
                  <a:fillRect/>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0" y="-1270000"/>
            <a:ext cx="3810000" cy="3810000"/>
          </a:xfrm>
          <a:prstGeom prst="ellipse">
            <a:avLst/>
          </a:prstGeom>
          <a:solidFill>
            <a:srgbClr val="52B788">
              <a:alpha val="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232410" y="139700"/>
            <a:ext cx="784225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方差缩减论证</a:t>
            </a:r>
            <a:r>
              <a:rPr lang="en-US" altLang="zh-CN" sz="3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为何方差就缩减</a:t>
            </a:r>
            <a:r>
              <a:rPr lang="zh-CN" altLang="en-US" sz="3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了？</a:t>
            </a:r>
            <a:endParaRPr lang="zh-CN" altLang="en-US" sz="3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custDataLst>
              <p:tags r:id="rId1"/>
            </p:custDataLst>
          </p:nvPr>
        </p:nvSpPr>
        <p:spPr>
          <a:xfrm>
            <a:off x="508000" y="16510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5" name="AutoShape 5"/>
          <p:cNvSpPr/>
          <p:nvPr>
            <p:custDataLst>
              <p:tags r:id="rId2"/>
            </p:custDataLst>
          </p:nvPr>
        </p:nvSpPr>
        <p:spPr>
          <a:xfrm>
            <a:off x="1651000" y="1714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6" name="AutoShape 6"/>
          <p:cNvSpPr/>
          <p:nvPr>
            <p:custDataLst>
              <p:tags r:id="rId3"/>
            </p:custDataLst>
          </p:nvPr>
        </p:nvSpPr>
        <p:spPr>
          <a:xfrm>
            <a:off x="1651000" y="21590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
        <p:nvSpPr>
          <p:cNvPr id="8" name="AutoShape 8"/>
          <p:cNvSpPr/>
          <p:nvPr>
            <p:custDataLst>
              <p:tags r:id="rId4"/>
            </p:custDataLst>
          </p:nvPr>
        </p:nvSpPr>
        <p:spPr>
          <a:xfrm>
            <a:off x="508000" y="32385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9" name="AutoShape 9"/>
          <p:cNvSpPr/>
          <p:nvPr>
            <p:custDataLst>
              <p:tags r:id="rId5"/>
            </p:custDataLst>
          </p:nvPr>
        </p:nvSpPr>
        <p:spPr>
          <a:xfrm>
            <a:off x="1651000" y="3302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10" name="AutoShape 10"/>
          <p:cNvSpPr/>
          <p:nvPr>
            <p:custDataLst>
              <p:tags r:id="rId6"/>
            </p:custDataLst>
          </p:nvPr>
        </p:nvSpPr>
        <p:spPr>
          <a:xfrm>
            <a:off x="1651000" y="37465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cxnSp>
        <p:nvCxnSpPr>
          <p:cNvPr id="11" name="Connector 11"/>
          <p:cNvCxnSpPr/>
          <p:nvPr>
            <p:custDataLst>
              <p:tags r:id="rId7"/>
            </p:custDataLst>
          </p:nvPr>
        </p:nvCxnSpPr>
        <p:spPr>
          <a:xfrm rot="-8185">
            <a:off x="508008" y="4629150"/>
            <a:ext cx="5334000" cy="12700"/>
          </a:xfrm>
          <a:prstGeom prst="straightConnector1">
            <a:avLst/>
          </a:prstGeom>
          <a:solidFill>
            <a:srgbClr val="DEE0E3">
              <a:alpha val="100000"/>
            </a:srgbClr>
          </a:solidFill>
          <a:ln w="25400" cap="flat" cmpd="sng">
            <a:solidFill>
              <a:srgbClr val="D8F3DC">
                <a:alpha val="100000"/>
              </a:srgbClr>
            </a:solidFill>
            <a:prstDash val="solid"/>
            <a:round/>
            <a:headEnd type="none" w="lg" len="lg"/>
            <a:tailEnd type="none" w="lg" len="lg"/>
          </a:ln>
        </p:spPr>
      </p:cxnSp>
      <p:sp>
        <p:nvSpPr>
          <p:cNvPr id="12" name="AutoShape 12"/>
          <p:cNvSpPr/>
          <p:nvPr>
            <p:custDataLst>
              <p:tags r:id="rId8"/>
            </p:custDataLst>
          </p:nvPr>
        </p:nvSpPr>
        <p:spPr>
          <a:xfrm>
            <a:off x="508000" y="48260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mc:AlternateContent xmlns:mc="http://schemas.openxmlformats.org/markup-compatibility/2006">
        <mc:Choice xmlns:a14="http://schemas.microsoft.com/office/drawing/2010/main" Requires="a14">
          <p:sp>
            <p:nvSpPr>
              <p:cNvPr id="13" name="AutoShape 13"/>
              <p:cNvSpPr/>
              <p:nvPr>
                <p:custDataLst>
                  <p:tags r:id="rId9"/>
                </p:custDataLst>
              </p:nvPr>
            </p:nvSpPr>
            <p:spPr>
              <a:xfrm>
                <a:off x="750570" y="4648200"/>
                <a:ext cx="9461500" cy="847725"/>
              </a:xfrm>
              <a:prstGeom prst="rect">
                <a:avLst/>
              </a:prstGeom>
              <a:noFill/>
              <a:ln w="12700" cap="flat" cmpd="sng">
                <a:noFill/>
                <a:prstDash val="solid"/>
                <a:round/>
              </a:ln>
            </p:spPr>
            <p:txBody>
              <a:bodyPr vert="horz" wrap="square" lIns="0" tIns="0" rIns="0" bIns="0" rtlCol="0" anchor="ctr" anchorCtr="0"/>
              <a:lstStyle/>
              <a:p>
                <a:pPr marL="914400" lvl="2" indent="457200" algn="l">
                  <a:lnSpc>
                    <a:spcPct val="125000"/>
                  </a:lnSpc>
                  <a:defRPr/>
                </a:pPr>
                <a:r>
                  <a:rPr lang="zh-CN" altLang="en-US" sz="2000">
                    <a:latin typeface="Cambria Math" panose="02040503050406030204" charset="0"/>
                    <a:cs typeface="Cambria Math" panose="02040503050406030204" charset="0"/>
                  </a:rPr>
                  <a:t>由于</a:t>
                </a:r>
                <a:r>
                  <a:rPr lang="en-US" altLang="zh-CN" sz="2000">
                    <a:latin typeface="Cambria Math" panose="02040503050406030204" charset="0"/>
                    <a:cs typeface="Cambria Math" panose="02040503050406030204" charset="0"/>
                  </a:rPr>
                  <a:t>      </a:t>
                </a:r>
                <a14:m>
                  <m:oMath xmlns:m="http://schemas.openxmlformats.org/officeDocument/2006/math">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𝑎</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𝑏</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m:t>
                        </m:r>
                      </m:e>
                      <m:sup>
                        <m:r>
                          <a:rPr lang="en-US" altLang="zh-CN" sz="2000" i="1">
                            <a:latin typeface="Cambria Math" panose="02040503050406030204" charset="0"/>
                            <a:cs typeface="Cambria Math" panose="02040503050406030204" charset="0"/>
                          </a:rPr>
                          <m:t>2</m:t>
                        </m:r>
                      </m:sup>
                    </m:sSup>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2</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𝑎</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m:t>
                        </m:r>
                      </m:e>
                      <m:sup>
                        <m:r>
                          <a:rPr lang="en-US" altLang="zh-CN" sz="2000" i="1">
                            <a:latin typeface="Cambria Math" panose="02040503050406030204" charset="0"/>
                            <a:cs typeface="Cambria Math" panose="02040503050406030204" charset="0"/>
                          </a:rPr>
                          <m:t>2</m:t>
                        </m:r>
                      </m:sup>
                    </m:sSup>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2</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𝑏</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m:t>
                        </m:r>
                      </m:e>
                      <m:sup>
                        <m:r>
                          <a:rPr lang="en-US" altLang="zh-CN" sz="2000" i="1">
                            <a:latin typeface="Cambria Math" panose="02040503050406030204" charset="0"/>
                            <a:cs typeface="Cambria Math" panose="02040503050406030204" charset="0"/>
                          </a:rPr>
                          <m:t>2</m:t>
                        </m:r>
                      </m:sup>
                    </m:sSup>
                  </m:oMath>
                </a14:m>
                <a:r>
                  <a:rPr lang="en-US" altLang="zh-CN" sz="2000" i="1">
                    <a:latin typeface="Cambria Math" panose="02040503050406030204" charset="0"/>
                    <a:cs typeface="Cambria Math" panose="02040503050406030204" charset="0"/>
                  </a:rPr>
                  <a:t>  </a:t>
                </a:r>
                <a:endParaRPr lang="en-US" altLang="zh-CN" sz="2000" i="1">
                  <a:latin typeface="Cambria Math" panose="02040503050406030204" charset="0"/>
                  <a:cs typeface="Cambria Math" panose="02040503050406030204" charset="0"/>
                </a:endParaRPr>
              </a:p>
              <a:p>
                <a:pPr marL="914400" lvl="2" indent="457200" algn="l">
                  <a:lnSpc>
                    <a:spcPct val="125000"/>
                  </a:lnSpc>
                  <a:defRPr/>
                </a:pPr>
                <a:r>
                  <a:rPr lang="zh-CN" altLang="en-US" sz="2800">
                    <a:latin typeface="Cambria Math" panose="02040503050406030204" charset="0"/>
                    <a:ea typeface="宋体" panose="02010600030101010101" pitchFamily="2" charset="-122"/>
                    <a:cs typeface="Cambria Math" panose="02040503050406030204" charset="0"/>
                  </a:rPr>
                  <a:t>则</a:t>
                </a:r>
                <a14:m>
                  <m:oMath xmlns:m="http://schemas.openxmlformats.org/officeDocument/2006/math">
                    <m:r>
                      <a:rPr lang="en-US" altLang="zh-CN" sz="2800" i="1">
                        <a:latin typeface="Cambria Math" panose="02040503050406030204" charset="0"/>
                        <a:ea typeface="宋体" panose="02010600030101010101" pitchFamily="2" charset="-122"/>
                        <a:cs typeface="Cambria Math" panose="02040503050406030204" charset="0"/>
                      </a:rPr>
                      <m:t>𝔼</m:t>
                    </m:r>
                    <m:r>
                      <a:rPr lang="en-US" altLang="zh-CN" sz="2800" i="1">
                        <a:latin typeface="Cambria Math" panose="02040503050406030204" charset="0"/>
                        <a:ea typeface="宋体" panose="02010600030101010101" pitchFamily="2" charset="-122"/>
                        <a:cs typeface="Cambria Math" panose="02040503050406030204" charset="0"/>
                      </a:rPr>
                      <m:t>‖</m:t>
                    </m:r>
                    <m:sSub>
                      <m:sSubPr>
                        <m:ctrlPr>
                          <a:rPr lang="en-US" altLang="zh-CN" sz="2800" i="1">
                            <a:latin typeface="Cambria Math" panose="02040503050406030204" charset="0"/>
                            <a:ea typeface="宋体" panose="02010600030101010101" pitchFamily="2" charset="-122"/>
                            <a:cs typeface="Cambria Math" panose="02040503050406030204" charset="0"/>
                          </a:rPr>
                        </m:ctrlPr>
                      </m:sSubPr>
                      <m:e>
                        <m:r>
                          <a:rPr lang="en-US" altLang="zh-CN" sz="2800" i="1">
                            <a:latin typeface="Cambria Math" panose="02040503050406030204" charset="0"/>
                            <a:ea typeface="宋体" panose="02010600030101010101" pitchFamily="2" charset="-122"/>
                            <a:cs typeface="Cambria Math" panose="02040503050406030204" charset="0"/>
                          </a:rPr>
                          <m:t>𝑣</m:t>
                        </m:r>
                      </m:e>
                      <m:sub>
                        <m:r>
                          <a:rPr lang="en-US" altLang="zh-CN" sz="2800" i="1">
                            <a:latin typeface="Cambria Math" panose="02040503050406030204" charset="0"/>
                            <a:ea typeface="宋体" panose="02010600030101010101" pitchFamily="2" charset="-122"/>
                            <a:cs typeface="Cambria Math" panose="02040503050406030204" charset="0"/>
                          </a:rPr>
                          <m:t>𝑖</m:t>
                        </m:r>
                      </m:sub>
                    </m:sSub>
                    <m:sSup>
                      <m:sSupPr>
                        <m:ctrlPr>
                          <a:rPr lang="en-US" altLang="zh-CN" sz="2800" i="1">
                            <a:latin typeface="Cambria Math" panose="02040503050406030204" charset="0"/>
                            <a:ea typeface="宋体" panose="02010600030101010101" pitchFamily="2" charset="-122"/>
                            <a:cs typeface="Cambria Math" panose="02040503050406030204" charset="0"/>
                          </a:rPr>
                        </m:ctrlPr>
                      </m:sSupPr>
                      <m:e>
                        <m:r>
                          <a:rPr lang="en-US" altLang="zh-CN" sz="2800" i="1">
                            <a:latin typeface="Cambria Math" panose="02040503050406030204" charset="0"/>
                            <a:ea typeface="宋体" panose="02010600030101010101" pitchFamily="2" charset="-122"/>
                            <a:cs typeface="Cambria Math" panose="02040503050406030204" charset="0"/>
                          </a:rPr>
                          <m:t>‖</m:t>
                        </m:r>
                      </m:e>
                      <m:sup>
                        <m:r>
                          <a:rPr lang="en-US" altLang="zh-CN" sz="2800" i="1">
                            <a:latin typeface="Cambria Math" panose="02040503050406030204" charset="0"/>
                            <a:ea typeface="宋体" panose="02010600030101010101" pitchFamily="2" charset="-122"/>
                            <a:cs typeface="Cambria Math" panose="02040503050406030204" charset="0"/>
                          </a:rPr>
                          <m:t>2</m:t>
                        </m:r>
                      </m:sup>
                    </m:sSup>
                    <m:r>
                      <a:rPr lang="en-US" altLang="zh-CN" sz="2800" i="1">
                        <a:latin typeface="Cambria Math" panose="02040503050406030204" charset="0"/>
                        <a:ea typeface="宋体" panose="02010600030101010101" pitchFamily="2" charset="-122"/>
                        <a:cs typeface="Cambria Math" panose="02040503050406030204" charset="0"/>
                      </a:rPr>
                      <m:t>≤</m:t>
                    </m:r>
                    <m:r>
                      <a:rPr lang="en-US" altLang="zh-CN" sz="2800" i="1">
                        <a:latin typeface="Cambria Math" panose="02040503050406030204" charset="0"/>
                        <a:ea typeface="宋体" panose="02010600030101010101" pitchFamily="2" charset="-122"/>
                        <a:cs typeface="Cambria Math" panose="02040503050406030204" charset="0"/>
                      </a:rPr>
                      <m:t>2</m:t>
                    </m:r>
                    <m:r>
                      <a:rPr lang="en-US" altLang="zh-CN" sz="2800" i="1">
                        <a:latin typeface="Cambria Math" panose="02040503050406030204" charset="0"/>
                        <a:ea typeface="宋体" panose="02010600030101010101" pitchFamily="2" charset="-122"/>
                        <a:cs typeface="Cambria Math" panose="02040503050406030204" charset="0"/>
                      </a:rPr>
                      <m:t>𝔼</m:t>
                    </m:r>
                    <m:r>
                      <a:rPr lang="en-US" altLang="zh-CN" sz="2800" i="1">
                        <a:latin typeface="Cambria Math" panose="02040503050406030204" charset="0"/>
                        <a:ea typeface="宋体" panose="02010600030101010101" pitchFamily="2" charset="-122"/>
                        <a:cs typeface="Cambria Math" panose="02040503050406030204" charset="0"/>
                      </a:rPr>
                      <m:t>‖</m:t>
                    </m:r>
                    <m:r>
                      <a:rPr lang="en-US" altLang="zh-CN" sz="2800" i="1">
                        <a:latin typeface="Cambria Math" panose="02040503050406030204" charset="0"/>
                        <a:ea typeface="宋体" panose="02010600030101010101" pitchFamily="2" charset="-122"/>
                        <a:cs typeface="Cambria Math" panose="02040503050406030204" charset="0"/>
                      </a:rPr>
                      <m:t>𝑎</m:t>
                    </m:r>
                    <m:sSup>
                      <m:sSupPr>
                        <m:ctrlPr>
                          <a:rPr lang="en-US" altLang="zh-CN" sz="2800" i="1">
                            <a:latin typeface="Cambria Math" panose="02040503050406030204" charset="0"/>
                            <a:ea typeface="宋体" panose="02010600030101010101" pitchFamily="2" charset="-122"/>
                            <a:cs typeface="Cambria Math" panose="02040503050406030204" charset="0"/>
                          </a:rPr>
                        </m:ctrlPr>
                      </m:sSupPr>
                      <m:e>
                        <m:r>
                          <a:rPr lang="en-US" altLang="zh-CN" sz="2800" i="1">
                            <a:latin typeface="Cambria Math" panose="02040503050406030204" charset="0"/>
                            <a:ea typeface="宋体" panose="02010600030101010101" pitchFamily="2" charset="-122"/>
                            <a:cs typeface="Cambria Math" panose="02040503050406030204" charset="0"/>
                          </a:rPr>
                          <m:t>‖</m:t>
                        </m:r>
                      </m:e>
                      <m:sup>
                        <m:r>
                          <a:rPr lang="en-US" altLang="zh-CN" sz="2800" i="1">
                            <a:latin typeface="Cambria Math" panose="02040503050406030204" charset="0"/>
                            <a:ea typeface="宋体" panose="02010600030101010101" pitchFamily="2" charset="-122"/>
                            <a:cs typeface="Cambria Math" panose="02040503050406030204" charset="0"/>
                          </a:rPr>
                          <m:t>2</m:t>
                        </m:r>
                      </m:sup>
                    </m:sSup>
                    <m:r>
                      <a:rPr lang="en-US" altLang="zh-CN" sz="2800" i="1">
                        <a:latin typeface="Cambria Math" panose="02040503050406030204" charset="0"/>
                        <a:ea typeface="宋体" panose="02010600030101010101" pitchFamily="2" charset="-122"/>
                        <a:cs typeface="Cambria Math" panose="02040503050406030204" charset="0"/>
                      </a:rPr>
                      <m:t>+</m:t>
                    </m:r>
                    <m:r>
                      <a:rPr lang="en-US" altLang="zh-CN" sz="2800" i="1">
                        <a:latin typeface="Cambria Math" panose="02040503050406030204" charset="0"/>
                        <a:ea typeface="宋体" panose="02010600030101010101" pitchFamily="2" charset="-122"/>
                        <a:cs typeface="Cambria Math" panose="02040503050406030204" charset="0"/>
                      </a:rPr>
                      <m:t>2</m:t>
                    </m:r>
                    <m:r>
                      <a:rPr lang="en-US" altLang="zh-CN" sz="2800" i="1">
                        <a:latin typeface="Cambria Math" panose="02040503050406030204" charset="0"/>
                        <a:ea typeface="宋体" panose="02010600030101010101" pitchFamily="2" charset="-122"/>
                        <a:cs typeface="Cambria Math" panose="02040503050406030204" charset="0"/>
                      </a:rPr>
                      <m:t>𝔼</m:t>
                    </m:r>
                    <m:r>
                      <a:rPr lang="en-US" altLang="zh-CN" sz="2800" i="1">
                        <a:latin typeface="Cambria Math" panose="02040503050406030204" charset="0"/>
                        <a:ea typeface="宋体" panose="02010600030101010101" pitchFamily="2" charset="-122"/>
                        <a:cs typeface="Cambria Math" panose="02040503050406030204" charset="0"/>
                      </a:rPr>
                      <m:t>‖</m:t>
                    </m:r>
                    <m:r>
                      <a:rPr lang="en-US" altLang="zh-CN" sz="2800" i="1">
                        <a:latin typeface="Cambria Math" panose="02040503050406030204" charset="0"/>
                        <a:ea typeface="宋体" panose="02010600030101010101" pitchFamily="2" charset="-122"/>
                        <a:cs typeface="Cambria Math" panose="02040503050406030204" charset="0"/>
                      </a:rPr>
                      <m:t>𝑏</m:t>
                    </m:r>
                    <m:sSup>
                      <m:sSupPr>
                        <m:ctrlPr>
                          <a:rPr lang="en-US" altLang="zh-CN" sz="2800" i="1">
                            <a:latin typeface="Cambria Math" panose="02040503050406030204" charset="0"/>
                            <a:ea typeface="宋体" panose="02010600030101010101" pitchFamily="2" charset="-122"/>
                            <a:cs typeface="Cambria Math" panose="02040503050406030204" charset="0"/>
                          </a:rPr>
                        </m:ctrlPr>
                      </m:sSupPr>
                      <m:e>
                        <m:r>
                          <a:rPr lang="en-US" altLang="zh-CN" sz="2800" i="1">
                            <a:latin typeface="Cambria Math" panose="02040503050406030204" charset="0"/>
                            <a:ea typeface="宋体" panose="02010600030101010101" pitchFamily="2" charset="-122"/>
                            <a:cs typeface="Cambria Math" panose="02040503050406030204" charset="0"/>
                          </a:rPr>
                          <m:t>‖</m:t>
                        </m:r>
                      </m:e>
                      <m:sup>
                        <m:r>
                          <a:rPr lang="en-US" altLang="zh-CN" sz="2800" i="1">
                            <a:latin typeface="Cambria Math" panose="02040503050406030204" charset="0"/>
                            <a:ea typeface="宋体" panose="02010600030101010101" pitchFamily="2" charset="-122"/>
                            <a:cs typeface="Cambria Math" panose="02040503050406030204" charset="0"/>
                          </a:rPr>
                          <m:t>2</m:t>
                        </m:r>
                      </m:sup>
                    </m:sSup>
                  </m:oMath>
                </a14:m>
                <a:endParaRPr lang="en-US" altLang="zh-CN" sz="2800" i="1">
                  <a:latin typeface="Cambria Math" panose="02040503050406030204" charset="0"/>
                  <a:ea typeface="宋体" panose="02010600030101010101" pitchFamily="2" charset="-122"/>
                  <a:cs typeface="Cambria Math" panose="02040503050406030204" charset="0"/>
                </a:endParaRPr>
              </a:p>
            </p:txBody>
          </p:sp>
        </mc:Choice>
        <mc:Fallback>
          <p:sp>
            <p:nvSpPr>
              <p:cNvPr id="13" name="AutoShape 13"/>
              <p:cNvSpPr>
                <a:spLocks noRot="1" noChangeAspect="1" noMove="1" noResize="1" noEditPoints="1" noAdjustHandles="1" noChangeArrowheads="1" noChangeShapeType="1" noTextEdit="1"/>
              </p:cNvSpPr>
              <p:nvPr>
                <p:custDataLst>
                  <p:tags r:id="rId10"/>
                </p:custDataLst>
              </p:nvPr>
            </p:nvSpPr>
            <p:spPr>
              <a:xfrm>
                <a:off x="750570" y="4648200"/>
                <a:ext cx="9461500" cy="847725"/>
              </a:xfrm>
              <a:prstGeom prst="rect">
                <a:avLst/>
              </a:prstGeom>
              <a:blipFill rotWithShape="1">
                <a:blip r:embed="rId11"/>
                <a:stretch>
                  <a:fillRect t="-5243" b="-5393"/>
                </a:stretch>
              </a:blipFill>
              <a:ln w="12700" cap="flat" cmpd="sng">
                <a:noFill/>
                <a:prstDash val="solid"/>
                <a:round/>
              </a:ln>
            </p:spPr>
            <p:txBody>
              <a:bodyPr/>
              <a:lstStyle/>
              <a:p>
                <a:r>
                  <a:rPr lang="zh-CN" altLang="en-US">
                    <a:noFill/>
                  </a:rPr>
                  <a:t> </a:t>
                </a:r>
              </a:p>
            </p:txBody>
          </p:sp>
        </mc:Fallback>
      </mc:AlternateContent>
      <p:sp>
        <p:nvSpPr>
          <p:cNvPr id="15" name="AutoShape 15"/>
          <p:cNvSpPr/>
          <p:nvPr>
            <p:custDataLst>
              <p:tags r:id="rId12"/>
            </p:custDataLst>
          </p:nvPr>
        </p:nvSpPr>
        <p:spPr>
          <a:xfrm>
            <a:off x="6350000" y="16510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16" name="AutoShape 16"/>
          <p:cNvSpPr/>
          <p:nvPr>
            <p:custDataLst>
              <p:tags r:id="rId13"/>
            </p:custDataLst>
          </p:nvPr>
        </p:nvSpPr>
        <p:spPr>
          <a:xfrm>
            <a:off x="7493000" y="1714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17" name="AutoShape 17"/>
          <p:cNvSpPr/>
          <p:nvPr>
            <p:custDataLst>
              <p:tags r:id="rId14"/>
            </p:custDataLst>
          </p:nvPr>
        </p:nvSpPr>
        <p:spPr>
          <a:xfrm>
            <a:off x="7493000" y="21590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
        <p:nvSpPr>
          <p:cNvPr id="19" name="AutoShape 19"/>
          <p:cNvSpPr/>
          <p:nvPr>
            <p:custDataLst>
              <p:tags r:id="rId15"/>
            </p:custDataLst>
          </p:nvPr>
        </p:nvSpPr>
        <p:spPr>
          <a:xfrm>
            <a:off x="6350000" y="32385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20" name="AutoShape 20"/>
          <p:cNvSpPr/>
          <p:nvPr>
            <p:custDataLst>
              <p:tags r:id="rId16"/>
            </p:custDataLst>
          </p:nvPr>
        </p:nvSpPr>
        <p:spPr>
          <a:xfrm>
            <a:off x="7493000" y="3302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21" name="AutoShape 21"/>
          <p:cNvSpPr/>
          <p:nvPr>
            <p:custDataLst>
              <p:tags r:id="rId17"/>
            </p:custDataLst>
          </p:nvPr>
        </p:nvSpPr>
        <p:spPr>
          <a:xfrm>
            <a:off x="7493000" y="37465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cxnSp>
        <p:nvCxnSpPr>
          <p:cNvPr id="22" name="Connector 22"/>
          <p:cNvCxnSpPr/>
          <p:nvPr>
            <p:custDataLst>
              <p:tags r:id="rId18"/>
            </p:custDataLst>
          </p:nvPr>
        </p:nvCxnSpPr>
        <p:spPr>
          <a:xfrm rot="-8185">
            <a:off x="6350008" y="4629150"/>
            <a:ext cx="5334000" cy="12700"/>
          </a:xfrm>
          <a:prstGeom prst="straightConnector1">
            <a:avLst/>
          </a:prstGeom>
          <a:solidFill>
            <a:srgbClr val="DEE0E3">
              <a:alpha val="100000"/>
            </a:srgbClr>
          </a:solidFill>
          <a:ln w="25400" cap="flat" cmpd="sng">
            <a:solidFill>
              <a:srgbClr val="D8F3DC">
                <a:alpha val="100000"/>
              </a:srgbClr>
            </a:solidFill>
            <a:prstDash val="solid"/>
            <a:round/>
            <a:headEnd type="none" w="lg" len="lg"/>
            <a:tailEnd type="none" w="lg" len="lg"/>
          </a:ln>
        </p:spPr>
      </p:cxnSp>
      <p:sp>
        <p:nvSpPr>
          <p:cNvPr id="24" name="AutoShape 24"/>
          <p:cNvSpPr/>
          <p:nvPr>
            <p:custDataLst>
              <p:tags r:id="rId19"/>
            </p:custDataLst>
          </p:nvPr>
        </p:nvSpPr>
        <p:spPr>
          <a:xfrm>
            <a:off x="7493000" y="4889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25" name="AutoShape 25"/>
          <p:cNvSpPr/>
          <p:nvPr>
            <p:custDataLst>
              <p:tags r:id="rId20"/>
            </p:custDataLst>
          </p:nvPr>
        </p:nvSpPr>
        <p:spPr>
          <a:xfrm>
            <a:off x="7493000" y="53340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
        <p:nvSpPr>
          <p:cNvPr id="26" name="AutoShape 26"/>
          <p:cNvSpPr/>
          <p:nvPr/>
        </p:nvSpPr>
        <p:spPr>
          <a:xfrm>
            <a:off x="11176000" y="5842000"/>
            <a:ext cx="762000" cy="762000"/>
          </a:xfrm>
          <a:prstGeom prst="ellipse">
            <a:avLst/>
          </a:prstGeom>
          <a:solidFill>
            <a:srgbClr val="D8F3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10922000" y="6096000"/>
            <a:ext cx="304800" cy="304800"/>
          </a:xfrm>
          <a:prstGeom prst="ellipse">
            <a:avLst/>
          </a:prstGeom>
          <a:solidFill>
            <a:srgbClr val="52B788">
              <a:alpha val="30000"/>
            </a:srgbClr>
          </a:solidFill>
          <a:ln w="25400" cap="flat" cmpd="sng">
            <a:noFill/>
            <a:prstDash val="solid"/>
            <a:round/>
          </a:ln>
        </p:spPr>
        <p:txBody>
          <a:bodyPr vert="horz" wrap="square" lIns="63500" tIns="63500" rIns="63500" bIns="63500" rtlCol="0" anchor="ctr"/>
          <a:lstStyle/>
          <a:p>
            <a:pPr algn="ctr">
              <a:defRPr/>
            </a:pPr>
          </a:p>
        </p:txBody>
      </p:sp>
      <mc:AlternateContent xmlns:mc="http://schemas.openxmlformats.org/markup-compatibility/2006">
        <mc:Choice xmlns:a14="http://schemas.microsoft.com/office/drawing/2010/main" Requires="a14">
          <p:sp>
            <p:nvSpPr>
              <p:cNvPr id="28" name="文本框 27"/>
              <p:cNvSpPr txBox="1"/>
              <p:nvPr/>
            </p:nvSpPr>
            <p:spPr>
              <a:xfrm>
                <a:off x="1651000" y="974725"/>
                <a:ext cx="4445635" cy="405130"/>
              </a:xfrm>
              <a:prstGeom prst="rect">
                <a:avLst/>
              </a:prstGeom>
              <a:noFill/>
            </p:spPr>
            <p:txBody>
              <a:bodyPr wrap="square" rtlCol="0">
                <a:spAutoFit/>
              </a:bodyPr>
              <a:p>
                <a:r>
                  <a:rPr lang="zh-CN" altLang="en-US" sz="2000">
                    <a:latin typeface="Cambria Math" panose="02040503050406030204" charset="0"/>
                    <a:ea typeface="宋体" panose="02010600030101010101" pitchFamily="2" charset="-122"/>
                    <a:cs typeface="Cambria Math" panose="02040503050406030204" charset="0"/>
                  </a:rPr>
                  <a:t>有</a:t>
                </a:r>
                <a:r>
                  <a:rPr lang="en-US" altLang="zh-CN" sz="2000">
                    <a:latin typeface="Cambria Math" panose="02040503050406030204" charset="0"/>
                    <a:ea typeface="宋体" panose="02010600030101010101" pitchFamily="2" charset="-122"/>
                    <a:cs typeface="Cambria Math" panose="02040503050406030204" charset="0"/>
                  </a:rPr>
                  <a:t> </a:t>
                </a:r>
                <a:r>
                  <a:rPr lang="zh-CN" altLang="en-US" sz="2000">
                    <a:latin typeface="Cambria Math" panose="02040503050406030204" charset="0"/>
                    <a:ea typeface="宋体" panose="02010600030101010101" pitchFamily="2" charset="-122"/>
                    <a:cs typeface="Cambria Math" panose="02040503050406030204" charset="0"/>
                  </a:rPr>
                  <a:t>：</a:t>
                </a:r>
                <a14:m>
                  <m:oMath xmlns:m="http://schemas.openxmlformats.org/officeDocument/2006/math">
                    <m:sSub>
                      <m:sSubPr>
                        <m:ctrlPr>
                          <a:rPr lang="en-US" altLang="zh-CN" sz="2000" i="1">
                            <a:latin typeface="Cambria Math" panose="02040503050406030204" charset="0"/>
                            <a:ea typeface="宋体" panose="02010600030101010101" pitchFamily="2" charset="-122"/>
                            <a:cs typeface="Cambria Math" panose="02040503050406030204" charset="0"/>
                          </a:rPr>
                        </m:ctrlPr>
                      </m:sSubPr>
                      <m:e>
                        <m:r>
                          <m:rPr>
                            <m:sty m:val="p"/>
                          </m:rPr>
                          <a:rPr lang="en-US" altLang="zh-CN" sz="2000" i="1">
                            <a:latin typeface="Cambria Math" panose="02040503050406030204" charset="0"/>
                            <a:ea typeface="宋体" panose="02010600030101010101" pitchFamily="2" charset="-122"/>
                            <a:cs typeface="Cambria Math" panose="02040503050406030204" charset="0"/>
                          </a:rPr>
                          <m:t>v</m:t>
                        </m:r>
                      </m:e>
                      <m:sub>
                        <m:r>
                          <m:rPr>
                            <m:sty m:val="p"/>
                          </m:rPr>
                          <a:rPr lang="en-US" altLang="zh-CN" sz="2000" i="1">
                            <a:latin typeface="Cambria Math" panose="02040503050406030204" charset="0"/>
                            <a:ea typeface="宋体" panose="02010600030101010101" pitchFamily="2" charset="-122"/>
                            <a:cs typeface="Cambria Math" panose="02040503050406030204" charset="0"/>
                          </a:rPr>
                          <m:t>i</m:t>
                        </m:r>
                      </m:sub>
                    </m:sSub>
                    <m:r>
                      <a:rPr lang="en-US" altLang="zh-CN" sz="2000" i="1">
                        <a:latin typeface="Cambria Math" panose="02040503050406030204" charset="0"/>
                        <a:ea typeface="宋体" panose="02010600030101010101" pitchFamily="2" charset="-122"/>
                        <a:cs typeface="Cambria Math" panose="02040503050406030204" charset="0"/>
                      </a:rPr>
                      <m:t>=</m:t>
                    </m:r>
                    <m:r>
                      <a:rPr lang="en-US" altLang="zh-CN" sz="2000" i="1">
                        <a:latin typeface="Cambria Math" panose="02040503050406030204" charset="0"/>
                        <a:ea typeface="宋体" panose="02010600030101010101" pitchFamily="2" charset="-122"/>
                        <a:cs typeface="Cambria Math" panose="02040503050406030204" charset="0"/>
                      </a:rPr>
                      <m:t>𝛻</m:t>
                    </m:r>
                    <m:sSub>
                      <m:sSubPr>
                        <m:ctrlPr>
                          <a:rPr lang="en-US" altLang="zh-CN" sz="2000" i="1">
                            <a:latin typeface="Cambria Math" panose="02040503050406030204" charset="0"/>
                            <a:ea typeface="宋体" panose="02010600030101010101" pitchFamily="2" charset="-122"/>
                            <a:cs typeface="Cambria Math" panose="02040503050406030204" charset="0"/>
                          </a:rPr>
                        </m:ctrlPr>
                      </m:sSubPr>
                      <m:e>
                        <m:r>
                          <a:rPr lang="en-US" altLang="zh-CN" sz="2000" i="1">
                            <a:latin typeface="Cambria Math" panose="02040503050406030204" charset="0"/>
                            <a:ea typeface="宋体" panose="02010600030101010101" pitchFamily="2" charset="-122"/>
                            <a:cs typeface="Cambria Math" panose="02040503050406030204" charset="0"/>
                          </a:rPr>
                          <m:t>𝜓</m:t>
                        </m:r>
                      </m:e>
                      <m:sub>
                        <m:r>
                          <m:rPr>
                            <m:sty m:val="p"/>
                          </m:rPr>
                          <a:rPr lang="en-US" altLang="zh-CN" sz="2000" i="1">
                            <a:latin typeface="Cambria Math" panose="02040503050406030204" charset="0"/>
                            <a:ea typeface="宋体" panose="02010600030101010101" pitchFamily="2" charset="-122"/>
                            <a:cs typeface="Cambria Math" panose="02040503050406030204" charset="0"/>
                          </a:rPr>
                          <m:t>i</m:t>
                        </m:r>
                      </m:sub>
                    </m:sSub>
                    <m:r>
                      <a:rPr lang="en-US" altLang="zh-CN" sz="2000" i="1">
                        <a:latin typeface="Cambria Math" panose="02040503050406030204" charset="0"/>
                        <a:ea typeface="宋体" panose="02010600030101010101" pitchFamily="2" charset="-122"/>
                        <a:cs typeface="Cambria Math" panose="02040503050406030204" charset="0"/>
                      </a:rPr>
                      <m:t>(</m:t>
                    </m:r>
                    <m:r>
                      <m:rPr>
                        <m:sty m:val="p"/>
                      </m:rPr>
                      <a:rPr lang="en-US" altLang="zh-CN" sz="2000" i="1">
                        <a:latin typeface="Cambria Math" panose="02040503050406030204" charset="0"/>
                        <a:ea typeface="宋体" panose="02010600030101010101" pitchFamily="2" charset="-122"/>
                        <a:cs typeface="Cambria Math" panose="02040503050406030204" charset="0"/>
                      </a:rPr>
                      <m:t>w</m:t>
                    </m:r>
                    <m:r>
                      <a:rPr lang="en-US" altLang="zh-CN" sz="2000" i="1">
                        <a:latin typeface="Cambria Math" panose="02040503050406030204" charset="0"/>
                        <a:ea typeface="宋体" panose="02010600030101010101" pitchFamily="2" charset="-122"/>
                        <a:cs typeface="Cambria Math" panose="02040503050406030204" charset="0"/>
                      </a:rPr>
                      <m:t>)−</m:t>
                    </m:r>
                    <m:r>
                      <a:rPr lang="en-US" altLang="zh-CN" sz="2000" i="1">
                        <a:latin typeface="Cambria Math" panose="02040503050406030204" charset="0"/>
                        <a:ea typeface="宋体" panose="02010600030101010101" pitchFamily="2" charset="-122"/>
                        <a:cs typeface="Cambria Math" panose="02040503050406030204" charset="0"/>
                      </a:rPr>
                      <m:t>𝛻</m:t>
                    </m:r>
                    <m:sSub>
                      <m:sSubPr>
                        <m:ctrlPr>
                          <a:rPr lang="en-US" altLang="zh-CN" sz="2000" i="1">
                            <a:latin typeface="Cambria Math" panose="02040503050406030204" charset="0"/>
                            <a:ea typeface="宋体" panose="02010600030101010101" pitchFamily="2" charset="-122"/>
                            <a:cs typeface="Cambria Math" panose="02040503050406030204" charset="0"/>
                          </a:rPr>
                        </m:ctrlPr>
                      </m:sSubPr>
                      <m:e>
                        <m:r>
                          <a:rPr lang="en-US" altLang="zh-CN" sz="2000" i="1">
                            <a:latin typeface="Cambria Math" panose="02040503050406030204" charset="0"/>
                            <a:ea typeface="宋体" panose="02010600030101010101" pitchFamily="2" charset="-122"/>
                            <a:cs typeface="Cambria Math" panose="02040503050406030204" charset="0"/>
                          </a:rPr>
                          <m:t>𝜓</m:t>
                        </m:r>
                      </m:e>
                      <m:sub>
                        <m:r>
                          <m:rPr>
                            <m:sty m:val="p"/>
                          </m:rPr>
                          <a:rPr lang="en-US" altLang="zh-CN" sz="2000" i="1">
                            <a:latin typeface="Cambria Math" panose="02040503050406030204" charset="0"/>
                            <a:ea typeface="宋体" panose="02010600030101010101" pitchFamily="2" charset="-122"/>
                            <a:cs typeface="Cambria Math" panose="02040503050406030204" charset="0"/>
                          </a:rPr>
                          <m:t>i</m:t>
                        </m:r>
                      </m:sub>
                    </m:sSub>
                    <m:r>
                      <a:rPr lang="en-US" altLang="zh-CN" sz="2000" i="1">
                        <a:latin typeface="Cambria Math" panose="02040503050406030204" charset="0"/>
                        <a:ea typeface="宋体" panose="02010600030101010101" pitchFamily="2" charset="-122"/>
                        <a:cs typeface="Cambria Math" panose="02040503050406030204" charset="0"/>
                      </a:rPr>
                      <m:t>(</m:t>
                    </m:r>
                    <m:acc>
                      <m:accPr>
                        <m:chr m:val="̃"/>
                        <m:ctrlPr>
                          <a:rPr lang="en-US" altLang="zh-CN" sz="2000" i="1">
                            <a:latin typeface="Cambria Math" panose="02040503050406030204" charset="0"/>
                            <a:ea typeface="宋体" panose="02010600030101010101" pitchFamily="2" charset="-122"/>
                            <a:cs typeface="Cambria Math" panose="02040503050406030204" charset="0"/>
                          </a:rPr>
                        </m:ctrlPr>
                      </m:accPr>
                      <m:e>
                        <m:r>
                          <m:rPr>
                            <m:sty m:val="p"/>
                          </m:rPr>
                          <a:rPr lang="en-US" altLang="zh-CN" sz="2000" i="1">
                            <a:latin typeface="Cambria Math" panose="02040503050406030204" charset="0"/>
                            <a:ea typeface="宋体" panose="02010600030101010101" pitchFamily="2" charset="-122"/>
                            <a:cs typeface="Cambria Math" panose="02040503050406030204" charset="0"/>
                          </a:rPr>
                          <m:t>w</m:t>
                        </m:r>
                      </m:e>
                    </m:acc>
                    <m:r>
                      <a:rPr lang="en-US" altLang="zh-CN" sz="2000" i="1">
                        <a:latin typeface="Cambria Math" panose="02040503050406030204" charset="0"/>
                        <a:ea typeface="宋体" panose="02010600030101010101" pitchFamily="2" charset="-122"/>
                        <a:cs typeface="Cambria Math" panose="02040503050406030204" charset="0"/>
                      </a:rPr>
                      <m:t>)+</m:t>
                    </m:r>
                    <m:r>
                      <a:rPr lang="en-US" altLang="zh-CN" sz="2000" i="1">
                        <a:latin typeface="Cambria Math" panose="02040503050406030204" charset="0"/>
                        <a:ea typeface="宋体" panose="02010600030101010101" pitchFamily="2" charset="-122"/>
                        <a:cs typeface="Cambria Math" panose="02040503050406030204" charset="0"/>
                      </a:rPr>
                      <m:t>𝛻</m:t>
                    </m:r>
                    <m:r>
                      <m:rPr>
                        <m:sty m:val="p"/>
                      </m:rPr>
                      <a:rPr lang="en-US" altLang="zh-CN" sz="2000" i="1">
                        <a:latin typeface="Cambria Math" panose="02040503050406030204" charset="0"/>
                        <a:ea typeface="宋体" panose="02010600030101010101" pitchFamily="2" charset="-122"/>
                        <a:cs typeface="Cambria Math" panose="02040503050406030204" charset="0"/>
                      </a:rPr>
                      <m:t>P</m:t>
                    </m:r>
                    <m:r>
                      <a:rPr lang="en-US" altLang="zh-CN" sz="2000" i="1">
                        <a:latin typeface="Cambria Math" panose="02040503050406030204" charset="0"/>
                        <a:ea typeface="宋体" panose="02010600030101010101" pitchFamily="2" charset="-122"/>
                        <a:cs typeface="Cambria Math" panose="02040503050406030204" charset="0"/>
                      </a:rPr>
                      <m:t>(</m:t>
                    </m:r>
                    <m:acc>
                      <m:accPr>
                        <m:chr m:val="̃"/>
                        <m:ctrlPr>
                          <a:rPr lang="en-US" altLang="zh-CN" sz="2000" i="1">
                            <a:latin typeface="Cambria Math" panose="02040503050406030204" charset="0"/>
                            <a:ea typeface="宋体" panose="02010600030101010101" pitchFamily="2" charset="-122"/>
                            <a:cs typeface="Cambria Math" panose="02040503050406030204" charset="0"/>
                          </a:rPr>
                        </m:ctrlPr>
                      </m:accPr>
                      <m:e>
                        <m:r>
                          <m:rPr>
                            <m:sty m:val="p"/>
                          </m:rPr>
                          <a:rPr lang="en-US" altLang="zh-CN" sz="2000" i="1">
                            <a:latin typeface="Cambria Math" panose="02040503050406030204" charset="0"/>
                            <a:ea typeface="宋体" panose="02010600030101010101" pitchFamily="2" charset="-122"/>
                            <a:cs typeface="Cambria Math" panose="02040503050406030204" charset="0"/>
                          </a:rPr>
                          <m:t>w</m:t>
                        </m:r>
                      </m:e>
                    </m:acc>
                    <m:r>
                      <a:rPr lang="en-US" altLang="zh-CN" sz="2000" i="1">
                        <a:latin typeface="Cambria Math" panose="02040503050406030204" charset="0"/>
                        <a:ea typeface="宋体" panose="02010600030101010101" pitchFamily="2" charset="-122"/>
                        <a:cs typeface="Cambria Math" panose="02040503050406030204" charset="0"/>
                      </a:rPr>
                      <m:t>)</m:t>
                    </m:r>
                  </m:oMath>
                </a14:m>
                <a:endParaRPr lang="en-US" altLang="zh-CN" sz="2000" i="1">
                  <a:latin typeface="Cambria Math" panose="02040503050406030204" charset="0"/>
                  <a:ea typeface="宋体" panose="02010600030101010101" pitchFamily="2" charset="-122"/>
                  <a:cs typeface="Cambria Math" panose="02040503050406030204" charset="0"/>
                </a:endParaRPr>
              </a:p>
            </p:txBody>
          </p:sp>
        </mc:Choice>
        <mc:Fallback>
          <p:sp>
            <p:nvSpPr>
              <p:cNvPr id="28" name="文本框 27"/>
              <p:cNvSpPr txBox="1">
                <a:spLocks noRot="1" noChangeAspect="1" noMove="1" noResize="1" noEditPoints="1" noAdjustHandles="1" noChangeArrowheads="1" noChangeShapeType="1" noTextEdit="1"/>
              </p:cNvSpPr>
              <p:nvPr/>
            </p:nvSpPr>
            <p:spPr>
              <a:xfrm>
                <a:off x="1651000" y="974725"/>
                <a:ext cx="4445635" cy="405130"/>
              </a:xfrm>
              <a:prstGeom prst="rect">
                <a:avLst/>
              </a:prstGeom>
              <a:blipFill rotWithShape="1">
                <a:blip r:embed="rId2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文本框 28"/>
              <p:cNvSpPr txBox="1"/>
              <p:nvPr/>
            </p:nvSpPr>
            <p:spPr>
              <a:xfrm>
                <a:off x="751205" y="1510030"/>
                <a:ext cx="10051415" cy="653415"/>
              </a:xfrm>
              <a:prstGeom prst="rect">
                <a:avLst/>
              </a:prstGeom>
              <a:noFill/>
            </p:spPr>
            <p:txBody>
              <a:bodyPr wrap="square" rtlCol="0">
                <a:spAutoFit/>
              </a:bodyPr>
              <a:p>
                <a:r>
                  <a:rPr lang="zh-CN" altLang="en-US" sz="2800"/>
                  <a:t>目标：</a:t>
                </a:r>
                <a:r>
                  <a:rPr lang="en-US" altLang="zh-CN" sz="2800"/>
                  <a:t> </a:t>
                </a:r>
                <a14:m>
                  <m:oMath xmlns:m="http://schemas.openxmlformats.org/officeDocument/2006/math">
                    <m:sSub>
                      <m:sSubPr>
                        <m:ctrlPr>
                          <a:rPr lang="en-US" altLang="zh-CN" sz="2800" i="1">
                            <a:latin typeface="Cambria Math" panose="02040503050406030204" charset="0"/>
                            <a:cs typeface="Cambria Math" panose="02040503050406030204" charset="0"/>
                          </a:rPr>
                        </m:ctrlPr>
                      </m:sSubPr>
                      <m:e>
                        <m:r>
                          <a:rPr lang="en-US" altLang="zh-CN" sz="2800" i="1">
                            <a:latin typeface="Cambria Math" panose="02040503050406030204" charset="0"/>
                            <a:cs typeface="Cambria Math" panose="02040503050406030204" charset="0"/>
                          </a:rPr>
                          <m:t>𝑣</m:t>
                        </m:r>
                      </m:e>
                      <m:sub>
                        <m:r>
                          <a:rPr lang="en-US" altLang="zh-CN" sz="2800" i="1">
                            <a:latin typeface="Cambria Math" panose="02040503050406030204" charset="0"/>
                            <a:cs typeface="Cambria Math" panose="02040503050406030204" charset="0"/>
                          </a:rPr>
                          <m:t>𝑖</m:t>
                        </m:r>
                      </m:sub>
                    </m:sSub>
                  </m:oMath>
                </a14:m>
                <a:r>
                  <a:rPr lang="en-US" altLang="zh-CN" sz="2800" i="1">
                    <a:latin typeface="Cambria Math" panose="02040503050406030204" charset="0"/>
                    <a:cs typeface="Cambria Math" panose="02040503050406030204" charset="0"/>
                  </a:rPr>
                  <a:t> </a:t>
                </a:r>
                <a:r>
                  <a:rPr lang="zh-CN" altLang="en-US" sz="2800">
                    <a:latin typeface="Cambria Math" panose="02040503050406030204" charset="0"/>
                    <a:cs typeface="Cambria Math" panose="02040503050406030204" charset="0"/>
                  </a:rPr>
                  <a:t>的波动小于</a:t>
                </a:r>
                <a14:m>
                  <m:oMath xmlns:m="http://schemas.openxmlformats.org/officeDocument/2006/math">
                    <m:r>
                      <a:rPr lang="en-US" altLang="zh-CN" sz="2800" i="1">
                        <a:latin typeface="Cambria Math" panose="02040503050406030204" charset="0"/>
                        <a:cs typeface="Cambria Math" panose="02040503050406030204" charset="0"/>
                      </a:rPr>
                      <m:t>𝛻</m:t>
                    </m:r>
                    <m:sSub>
                      <m:sSubPr>
                        <m:ctrlPr>
                          <a:rPr lang="en-US" altLang="zh-CN" sz="2800" i="1">
                            <a:latin typeface="Cambria Math" panose="02040503050406030204" charset="0"/>
                            <a:cs typeface="Cambria Math" panose="02040503050406030204" charset="0"/>
                          </a:rPr>
                        </m:ctrlPr>
                      </m:sSubPr>
                      <m:e>
                        <m:r>
                          <a:rPr lang="en-US" altLang="zh-CN" sz="2800" i="1">
                            <a:latin typeface="Cambria Math" panose="02040503050406030204" charset="0"/>
                            <a:cs typeface="Cambria Math" panose="02040503050406030204" charset="0"/>
                          </a:rPr>
                          <m:t>𝜓</m:t>
                        </m:r>
                      </m:e>
                      <m:sub>
                        <m:r>
                          <a:rPr lang="en-US" altLang="zh-CN" sz="2800" i="1">
                            <a:latin typeface="Cambria Math" panose="02040503050406030204" charset="0"/>
                            <a:cs typeface="Cambria Math" panose="02040503050406030204" charset="0"/>
                          </a:rPr>
                          <m:t>𝑖</m:t>
                        </m:r>
                      </m:sub>
                    </m:sSub>
                    <m:r>
                      <a:rPr lang="en-US" altLang="zh-CN" sz="2800" i="1">
                        <a:latin typeface="Cambria Math" panose="02040503050406030204" charset="0"/>
                        <a:cs typeface="Cambria Math" panose="02040503050406030204" charset="0"/>
                      </a:rPr>
                      <m:t>(</m:t>
                    </m:r>
                    <m:r>
                      <a:rPr lang="en-US" altLang="zh-CN" sz="2800" i="1">
                        <a:latin typeface="Cambria Math" panose="02040503050406030204" charset="0"/>
                        <a:cs typeface="Cambria Math" panose="02040503050406030204" charset="0"/>
                      </a:rPr>
                      <m:t>𝑤</m:t>
                    </m:r>
                    <m:r>
                      <a:rPr lang="en-US" altLang="zh-CN" sz="2800" i="1">
                        <a:latin typeface="Cambria Math" panose="02040503050406030204" charset="0"/>
                        <a:cs typeface="Cambria Math" panose="02040503050406030204" charset="0"/>
                      </a:rPr>
                      <m:t>)</m:t>
                    </m:r>
                  </m:oMath>
                </a14:m>
                <a:r>
                  <a:rPr lang="en-US" altLang="zh-CN" sz="2800">
                    <a:latin typeface="Cambria Math" panose="02040503050406030204" charset="0"/>
                    <a:ea typeface="宋体" panose="02010600030101010101" pitchFamily="2" charset="-122"/>
                    <a:cs typeface="Cambria Math" panose="02040503050406030204" charset="0"/>
                  </a:rPr>
                  <a:t>(SGD</a:t>
                </a:r>
                <a:r>
                  <a:rPr lang="zh-CN" altLang="en-US" sz="2800">
                    <a:latin typeface="Cambria Math" panose="02040503050406030204" charset="0"/>
                    <a:ea typeface="宋体" panose="02010600030101010101" pitchFamily="2" charset="-122"/>
                    <a:cs typeface="Cambria Math" panose="02040503050406030204" charset="0"/>
                  </a:rPr>
                  <a:t>更新项</a:t>
                </a:r>
                <a:r>
                  <a:rPr lang="en-US" altLang="zh-CN" sz="2800">
                    <a:latin typeface="Cambria Math" panose="02040503050406030204" charset="0"/>
                    <a:ea typeface="宋体" panose="02010600030101010101" pitchFamily="2" charset="-122"/>
                    <a:cs typeface="Cambria Math" panose="02040503050406030204" charset="0"/>
                  </a:rPr>
                  <a:t>)</a:t>
                </a:r>
                <a:r>
                  <a:rPr lang="zh-CN" altLang="en-US" sz="2800">
                    <a:latin typeface="Cambria Math" panose="02040503050406030204" charset="0"/>
                    <a:ea typeface="宋体" panose="02010600030101010101" pitchFamily="2" charset="-122"/>
                    <a:cs typeface="Cambria Math" panose="02040503050406030204" charset="0"/>
                  </a:rPr>
                  <a:t>，即</a:t>
                </a:r>
                <a14:m>
                  <m:oMath xmlns:m="http://schemas.openxmlformats.org/officeDocument/2006/math">
                    <m:r>
                      <a:rPr lang="en-US" altLang="zh-CN" sz="2800" i="1">
                        <a:latin typeface="Cambria Math" panose="02040503050406030204" charset="0"/>
                        <a:ea typeface="宋体" panose="02010600030101010101" pitchFamily="2" charset="-122"/>
                        <a:cs typeface="Cambria Math" panose="02040503050406030204" charset="0"/>
                      </a:rPr>
                      <m:t>𝔼</m:t>
                    </m:r>
                    <m:sSup>
                      <m:sSupPr>
                        <m:ctrlPr>
                          <a:rPr lang="en-US" altLang="zh-CN" sz="2800" i="1">
                            <a:latin typeface="Cambria Math" panose="02040503050406030204" charset="0"/>
                            <a:ea typeface="宋体" panose="02010600030101010101" pitchFamily="2" charset="-122"/>
                            <a:cs typeface="Cambria Math" panose="02040503050406030204" charset="0"/>
                          </a:rPr>
                        </m:ctrlPr>
                      </m:sSupPr>
                      <m:e>
                        <m:d>
                          <m:dPr>
                            <m:begChr m:val="‖"/>
                            <m:endChr m:val="‖"/>
                            <m:ctrlPr>
                              <a:rPr lang="en-US" altLang="zh-CN" sz="2800" i="1">
                                <a:latin typeface="Cambria Math" panose="02040503050406030204" charset="0"/>
                                <a:ea typeface="宋体" panose="02010600030101010101" pitchFamily="2" charset="-122"/>
                                <a:cs typeface="Cambria Math" panose="02040503050406030204" charset="0"/>
                              </a:rPr>
                            </m:ctrlPr>
                          </m:dPr>
                          <m:e>
                            <m:sSub>
                              <m:sSubPr>
                                <m:ctrlPr>
                                  <a:rPr lang="en-US" altLang="zh-CN" sz="2800" i="1">
                                    <a:latin typeface="Cambria Math" panose="02040503050406030204" charset="0"/>
                                    <a:ea typeface="宋体" panose="02010600030101010101" pitchFamily="2" charset="-122"/>
                                    <a:cs typeface="Cambria Math" panose="02040503050406030204" charset="0"/>
                                  </a:rPr>
                                </m:ctrlPr>
                              </m:sSubPr>
                              <m:e>
                                <m:r>
                                  <a:rPr lang="en-US" altLang="zh-CN" sz="2800" i="1">
                                    <a:latin typeface="Cambria Math" panose="02040503050406030204" charset="0"/>
                                    <a:ea typeface="宋体" panose="02010600030101010101" pitchFamily="2" charset="-122"/>
                                    <a:cs typeface="Cambria Math" panose="02040503050406030204" charset="0"/>
                                  </a:rPr>
                                  <m:t>𝑣</m:t>
                                </m:r>
                              </m:e>
                              <m:sub>
                                <m:r>
                                  <a:rPr lang="en-US" altLang="zh-CN" sz="2800" i="1">
                                    <a:latin typeface="Cambria Math" panose="02040503050406030204" charset="0"/>
                                    <a:ea typeface="宋体" panose="02010600030101010101" pitchFamily="2" charset="-122"/>
                                    <a:cs typeface="Cambria Math" panose="02040503050406030204" charset="0"/>
                                  </a:rPr>
                                  <m:t>𝑖</m:t>
                                </m:r>
                              </m:sub>
                            </m:sSub>
                          </m:e>
                        </m:d>
                      </m:e>
                      <m:sup>
                        <m:r>
                          <a:rPr lang="en-US" altLang="zh-CN" sz="2800" i="1">
                            <a:latin typeface="Cambria Math" panose="02040503050406030204" charset="0"/>
                            <a:ea typeface="宋体" panose="02010600030101010101" pitchFamily="2" charset="-122"/>
                            <a:cs typeface="Cambria Math" panose="02040503050406030204" charset="0"/>
                          </a:rPr>
                          <m:t>2</m:t>
                        </m:r>
                      </m:sup>
                    </m:sSup>
                  </m:oMath>
                </a14:m>
                <a:r>
                  <a:rPr lang="en-US" altLang="zh-CN" sz="2800" i="1">
                    <a:latin typeface="Cambria Math" panose="02040503050406030204" charset="0"/>
                    <a:ea typeface="宋体" panose="02010600030101010101" pitchFamily="2" charset="-122"/>
                    <a:cs typeface="Cambria Math" panose="02040503050406030204" charset="0"/>
                  </a:rPr>
                  <a:t> </a:t>
                </a:r>
                <a:r>
                  <a:rPr lang="zh-CN" altLang="en-US" sz="2800">
                    <a:latin typeface="Cambria Math" panose="02040503050406030204" charset="0"/>
                    <a:ea typeface="宋体" panose="02010600030101010101" pitchFamily="2" charset="-122"/>
                    <a:cs typeface="Cambria Math" panose="02040503050406030204" charset="0"/>
                  </a:rPr>
                  <a:t>会变小</a:t>
                </a:r>
                <a:endParaRPr lang="zh-CN" altLang="en-US" sz="2800">
                  <a:latin typeface="Cambria Math" panose="02040503050406030204" charset="0"/>
                  <a:ea typeface="宋体" panose="02010600030101010101" pitchFamily="2" charset="-122"/>
                  <a:cs typeface="Cambria Math" panose="02040503050406030204" charset="0"/>
                </a:endParaRPr>
              </a:p>
            </p:txBody>
          </p:sp>
        </mc:Choice>
        <mc:Fallback>
          <p:sp>
            <p:nvSpPr>
              <p:cNvPr id="29" name="文本框 28"/>
              <p:cNvSpPr txBox="1">
                <a:spLocks noRot="1" noChangeAspect="1" noMove="1" noResize="1" noEditPoints="1" noAdjustHandles="1" noChangeArrowheads="1" noChangeShapeType="1" noTextEdit="1"/>
              </p:cNvSpPr>
              <p:nvPr/>
            </p:nvSpPr>
            <p:spPr>
              <a:xfrm>
                <a:off x="751205" y="1510030"/>
                <a:ext cx="10051415" cy="653415"/>
              </a:xfrm>
              <a:prstGeom prst="rect">
                <a:avLst/>
              </a:prstGeom>
              <a:blipFill rotWithShape="1">
                <a:blip r:embed="rId2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文本框 29"/>
              <p:cNvSpPr txBox="1"/>
              <p:nvPr/>
            </p:nvSpPr>
            <p:spPr>
              <a:xfrm>
                <a:off x="1524000" y="2109470"/>
                <a:ext cx="6202045" cy="398780"/>
              </a:xfrm>
              <a:prstGeom prst="rect">
                <a:avLst/>
              </a:prstGeom>
              <a:noFill/>
            </p:spPr>
            <p:txBody>
              <a:bodyPr wrap="square" rtlCol="0">
                <a:spAutoFit/>
              </a:bodyPr>
              <a:p>
                <a:r>
                  <a:rPr lang="zh-CN" altLang="en-US" sz="2000"/>
                  <a:t>令</a:t>
                </a:r>
                <a:r>
                  <a:rPr lang="en-US" altLang="zh-CN" sz="2000"/>
                  <a:t>   </a:t>
                </a:r>
                <a14:m>
                  <m:oMath xmlns:m="http://schemas.openxmlformats.org/officeDocument/2006/math">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𝑤</m:t>
                        </m:r>
                      </m:e>
                      <m:sup>
                        <m:r>
                          <a:rPr lang="en-US" altLang="zh-CN" sz="2000" i="1">
                            <a:latin typeface="Cambria Math" panose="02040503050406030204" charset="0"/>
                            <a:cs typeface="Cambria Math" panose="02040503050406030204" charset="0"/>
                          </a:rPr>
                          <m:t>∗</m:t>
                        </m:r>
                      </m:sup>
                    </m:sSup>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𝑎𝑟𝑔</m:t>
                    </m:r>
                    <m:r>
                      <a:rPr lang="en-US" altLang="zh-CN" sz="2000" i="1">
                        <a:latin typeface="Cambria Math" panose="02040503050406030204" charset="0"/>
                        <a:cs typeface="Cambria Math" panose="02040503050406030204" charset="0"/>
                      </a:rPr>
                      <m:t> </m:t>
                    </m:r>
                    <m:r>
                      <a:rPr lang="en-US" altLang="zh-CN" sz="2000" i="1">
                        <a:latin typeface="Cambria Math" panose="02040503050406030204" charset="0"/>
                        <a:cs typeface="Cambria Math" panose="02040503050406030204" charset="0"/>
                      </a:rPr>
                      <m:t>𝑚𝑖𝑛</m:t>
                    </m:r>
                    <m:r>
                      <a:rPr lang="en-US" altLang="zh-CN" sz="2000" i="1">
                        <a:latin typeface="Cambria Math" panose="02040503050406030204" charset="0"/>
                        <a:cs typeface="Cambria Math" panose="02040503050406030204" charset="0"/>
                      </a:rPr>
                      <m:t> </m:t>
                    </m:r>
                    <m:r>
                      <a:rPr lang="en-US" altLang="zh-CN" sz="2000" i="1">
                        <a:latin typeface="Cambria Math" panose="02040503050406030204" charset="0"/>
                        <a:cs typeface="Cambria Math" panose="02040503050406030204" charset="0"/>
                      </a:rPr>
                      <m:t>𝑃</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𝑤</m:t>
                    </m:r>
                    <m:r>
                      <a:rPr lang="en-US" altLang="zh-CN" sz="2000" i="1">
                        <a:latin typeface="Cambria Math" panose="02040503050406030204" charset="0"/>
                        <a:cs typeface="Cambria Math" panose="02040503050406030204" charset="0"/>
                      </a:rPr>
                      <m:t>)</m:t>
                    </m:r>
                  </m:oMath>
                </a14:m>
                <a:r>
                  <a:rPr lang="zh-CN" altLang="en-US" sz="2000">
                    <a:latin typeface="Cambria Math" panose="02040503050406030204" charset="0"/>
                    <a:ea typeface="宋体" panose="02010600030101010101" pitchFamily="2" charset="-122"/>
                    <a:cs typeface="Cambria Math" panose="02040503050406030204" charset="0"/>
                  </a:rPr>
                  <a:t>，则</a:t>
                </a:r>
                <a14:m>
                  <m:oMath xmlns:m="http://schemas.openxmlformats.org/officeDocument/2006/math">
                    <m:r>
                      <a:rPr lang="en-US" altLang="zh-CN" sz="2000" i="1">
                        <a:latin typeface="Cambria Math" panose="02040503050406030204" charset="0"/>
                        <a:ea typeface="宋体" panose="02010600030101010101" pitchFamily="2" charset="-122"/>
                        <a:cs typeface="Cambria Math" panose="02040503050406030204" charset="0"/>
                      </a:rPr>
                      <m:t>𝛻</m:t>
                    </m:r>
                    <m:r>
                      <a:rPr lang="en-US" altLang="zh-CN" sz="2000" i="1">
                        <a:latin typeface="Cambria Math" panose="02040503050406030204" charset="0"/>
                        <a:ea typeface="宋体" panose="02010600030101010101" pitchFamily="2" charset="-122"/>
                        <a:cs typeface="Cambria Math" panose="02040503050406030204" charset="0"/>
                      </a:rPr>
                      <m:t>𝑃</m:t>
                    </m:r>
                    <m:r>
                      <a:rPr lang="en-US" altLang="zh-CN" sz="2000" i="1">
                        <a:latin typeface="Cambria Math" panose="02040503050406030204" charset="0"/>
                        <a:ea typeface="宋体" panose="02010600030101010101" pitchFamily="2" charset="-122"/>
                        <a:cs typeface="Cambria Math" panose="02040503050406030204" charset="0"/>
                      </a:rPr>
                      <m:t>(</m:t>
                    </m:r>
                    <m:sSup>
                      <m:sSupPr>
                        <m:ctrlPr>
                          <a:rPr lang="en-US" altLang="zh-CN" sz="2000" i="1">
                            <a:latin typeface="Cambria Math" panose="02040503050406030204" charset="0"/>
                            <a:ea typeface="宋体" panose="02010600030101010101" pitchFamily="2" charset="-122"/>
                            <a:cs typeface="Cambria Math" panose="02040503050406030204" charset="0"/>
                          </a:rPr>
                        </m:ctrlPr>
                      </m:sSupPr>
                      <m:e>
                        <m:r>
                          <a:rPr lang="en-US" altLang="zh-CN" sz="2000" i="1">
                            <a:latin typeface="Cambria Math" panose="02040503050406030204" charset="0"/>
                            <a:ea typeface="宋体" panose="02010600030101010101" pitchFamily="2" charset="-122"/>
                            <a:cs typeface="Cambria Math" panose="02040503050406030204" charset="0"/>
                          </a:rPr>
                          <m:t>𝑤</m:t>
                        </m:r>
                      </m:e>
                      <m:sup>
                        <m:r>
                          <a:rPr lang="en-US" altLang="zh-CN" sz="2000" i="1">
                            <a:latin typeface="Cambria Math" panose="02040503050406030204" charset="0"/>
                            <a:ea typeface="宋体" panose="02010600030101010101" pitchFamily="2" charset="-122"/>
                            <a:cs typeface="Cambria Math" panose="02040503050406030204" charset="0"/>
                          </a:rPr>
                          <m:t>∗</m:t>
                        </m:r>
                      </m:sup>
                    </m:sSup>
                    <m:r>
                      <a:rPr lang="en-US" altLang="zh-CN" sz="2000" i="1">
                        <a:latin typeface="Cambria Math" panose="02040503050406030204" charset="0"/>
                        <a:ea typeface="宋体" panose="02010600030101010101" pitchFamily="2" charset="-122"/>
                        <a:cs typeface="Cambria Math" panose="02040503050406030204" charset="0"/>
                      </a:rPr>
                      <m:t>)=</m:t>
                    </m:r>
                    <m:r>
                      <a:rPr lang="en-US" altLang="zh-CN" sz="2000" i="1">
                        <a:latin typeface="Cambria Math" panose="02040503050406030204" charset="0"/>
                        <a:ea typeface="宋体" panose="02010600030101010101" pitchFamily="2" charset="-122"/>
                        <a:cs typeface="Cambria Math" panose="02040503050406030204" charset="0"/>
                      </a:rPr>
                      <m:t>0</m:t>
                    </m:r>
                  </m:oMath>
                </a14:m>
                <a:endParaRPr lang="en-US" altLang="zh-CN" sz="2000" i="1">
                  <a:latin typeface="Cambria Math" panose="02040503050406030204" charset="0"/>
                  <a:ea typeface="宋体" panose="02010600030101010101" pitchFamily="2" charset="-122"/>
                  <a:cs typeface="Cambria Math" panose="02040503050406030204" charset="0"/>
                </a:endParaRPr>
              </a:p>
            </p:txBody>
          </p:sp>
        </mc:Choice>
        <mc:Fallback>
          <p:sp>
            <p:nvSpPr>
              <p:cNvPr id="30" name="文本框 29"/>
              <p:cNvSpPr txBox="1">
                <a:spLocks noRot="1" noChangeAspect="1" noMove="1" noResize="1" noEditPoints="1" noAdjustHandles="1" noChangeArrowheads="1" noChangeShapeType="1" noTextEdit="1"/>
              </p:cNvSpPr>
              <p:nvPr/>
            </p:nvSpPr>
            <p:spPr>
              <a:xfrm>
                <a:off x="1524000" y="2109470"/>
                <a:ext cx="6202045" cy="398780"/>
              </a:xfrm>
              <a:prstGeom prst="rect">
                <a:avLst/>
              </a:prstGeom>
              <a:blipFill rotWithShape="1">
                <a:blip r:embed="rId2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文本框 30"/>
              <p:cNvSpPr txBox="1"/>
              <p:nvPr/>
            </p:nvSpPr>
            <p:spPr>
              <a:xfrm>
                <a:off x="1012190" y="2660015"/>
                <a:ext cx="7884160" cy="398780"/>
              </a:xfrm>
              <a:prstGeom prst="rect">
                <a:avLst/>
              </a:prstGeom>
              <a:noFill/>
            </p:spPr>
            <p:txBody>
              <a:bodyPr wrap="square" rtlCol="0">
                <a:spAutoFit/>
              </a:bodyPr>
              <a:p>
                <a:r>
                  <a:rPr lang="zh-CN" altLang="en-US" sz="2000">
                    <a:latin typeface="Cambria Math" panose="02040503050406030204" charset="0"/>
                    <a:cs typeface="Cambria Math" panose="02040503050406030204" charset="0"/>
                  </a:rPr>
                  <a:t>变化原</a:t>
                </a:r>
                <a:r>
                  <a:rPr lang="zh-CN" altLang="en-US" sz="2000">
                    <a:latin typeface="Cambria Math" panose="02040503050406030204" charset="0"/>
                    <a:cs typeface="Cambria Math" panose="02040503050406030204" charset="0"/>
                  </a:rPr>
                  <a:t>式：</a:t>
                </a:r>
                <a:r>
                  <a:rPr lang="en-US" altLang="zh-CN" sz="2000">
                    <a:latin typeface="Cambria Math" panose="02040503050406030204" charset="0"/>
                    <a:cs typeface="Cambria Math" panose="02040503050406030204" charset="0"/>
                  </a:rPr>
                  <a:t>  </a:t>
                </a:r>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𝑣</m:t>
                        </m:r>
                      </m:e>
                      <m:sub>
                        <m:r>
                          <a:rPr lang="en-US" altLang="zh-CN" sz="2000" i="1">
                            <a:latin typeface="Cambria Math" panose="02040503050406030204" charset="0"/>
                            <a:cs typeface="Cambria Math" panose="02040503050406030204" charset="0"/>
                          </a:rPr>
                          <m:t>𝑖</m:t>
                        </m:r>
                      </m:sub>
                    </m:sSub>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m:t>
                    </m:r>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𝜓</m:t>
                        </m:r>
                      </m:e>
                      <m:sub>
                        <m:r>
                          <a:rPr lang="en-US" altLang="zh-CN" sz="2000" i="1">
                            <a:latin typeface="Cambria Math" panose="02040503050406030204" charset="0"/>
                            <a:cs typeface="Cambria Math" panose="02040503050406030204" charset="0"/>
                          </a:rPr>
                          <m:t>𝑖</m:t>
                        </m:r>
                      </m:sub>
                    </m:sSub>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𝑤</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m:t>
                    </m:r>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𝜓</m:t>
                        </m:r>
                      </m:e>
                      <m:sub>
                        <m:r>
                          <a:rPr lang="en-US" altLang="zh-CN" sz="2000" i="1">
                            <a:latin typeface="Cambria Math" panose="02040503050406030204" charset="0"/>
                            <a:cs typeface="Cambria Math" panose="02040503050406030204" charset="0"/>
                          </a:rPr>
                          <m:t>𝑖</m:t>
                        </m:r>
                      </m:sub>
                    </m:sSub>
                    <m:r>
                      <a:rPr lang="en-US" altLang="zh-CN" sz="2000" i="1">
                        <a:latin typeface="Cambria Math" panose="02040503050406030204" charset="0"/>
                        <a:cs typeface="Cambria Math" panose="02040503050406030204" charset="0"/>
                      </a:rPr>
                      <m:t>(</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𝑤</m:t>
                        </m:r>
                      </m:e>
                      <m:sup>
                        <m:r>
                          <a:rPr lang="en-US" altLang="zh-CN" sz="2000" i="1">
                            <a:latin typeface="Cambria Math" panose="02040503050406030204" charset="0"/>
                            <a:cs typeface="Cambria Math" panose="02040503050406030204" charset="0"/>
                          </a:rPr>
                          <m:t>∗</m:t>
                        </m:r>
                      </m:sup>
                    </m:sSup>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m:t>
                    </m:r>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𝜓</m:t>
                        </m:r>
                      </m:e>
                      <m:sub>
                        <m:r>
                          <a:rPr lang="en-US" altLang="zh-CN" sz="2000" i="1">
                            <a:latin typeface="Cambria Math" panose="02040503050406030204" charset="0"/>
                            <a:cs typeface="Cambria Math" panose="02040503050406030204" charset="0"/>
                          </a:rPr>
                          <m:t>𝑖</m:t>
                        </m:r>
                      </m:sub>
                    </m:sSub>
                    <m:r>
                      <a:rPr lang="en-US" altLang="zh-CN" sz="2000" i="1">
                        <a:latin typeface="Cambria Math" panose="02040503050406030204" charset="0"/>
                        <a:cs typeface="Cambria Math" panose="02040503050406030204" charset="0"/>
                      </a:rPr>
                      <m:t>(</m:t>
                    </m:r>
                    <m:acc>
                      <m:accPr>
                        <m:chr m:val="̃"/>
                        <m:ctrlPr>
                          <a:rPr lang="en-US" altLang="zh-CN" sz="2000" i="1">
                            <a:latin typeface="Cambria Math" panose="02040503050406030204" charset="0"/>
                            <a:cs typeface="Cambria Math" panose="02040503050406030204" charset="0"/>
                          </a:rPr>
                        </m:ctrlPr>
                      </m:accPr>
                      <m:e>
                        <m:r>
                          <a:rPr lang="en-US" altLang="zh-CN" sz="2000" i="1">
                            <a:latin typeface="Cambria Math" panose="02040503050406030204" charset="0"/>
                            <a:cs typeface="Cambria Math" panose="02040503050406030204" charset="0"/>
                          </a:rPr>
                          <m:t>𝑤</m:t>
                        </m:r>
                      </m:e>
                    </m:acc>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m:t>
                    </m:r>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𝜓</m:t>
                        </m:r>
                      </m:e>
                      <m:sub>
                        <m:r>
                          <a:rPr lang="en-US" altLang="zh-CN" sz="2000" i="1">
                            <a:latin typeface="Cambria Math" panose="02040503050406030204" charset="0"/>
                            <a:cs typeface="Cambria Math" panose="02040503050406030204" charset="0"/>
                          </a:rPr>
                          <m:t>𝑖</m:t>
                        </m:r>
                      </m:sub>
                    </m:sSub>
                    <m:r>
                      <a:rPr lang="en-US" altLang="zh-CN" sz="2000" i="1">
                        <a:latin typeface="Cambria Math" panose="02040503050406030204" charset="0"/>
                        <a:cs typeface="Cambria Math" panose="02040503050406030204" charset="0"/>
                      </a:rPr>
                      <m:t>(</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𝑤</m:t>
                        </m:r>
                      </m:e>
                      <m:sup>
                        <m:r>
                          <a:rPr lang="en-US" altLang="zh-CN" sz="2000" i="1">
                            <a:latin typeface="Cambria Math" panose="02040503050406030204" charset="0"/>
                            <a:cs typeface="Cambria Math" panose="02040503050406030204" charset="0"/>
                          </a:rPr>
                          <m:t>∗</m:t>
                        </m:r>
                      </m:sup>
                    </m:sSup>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𝑃</m:t>
                    </m:r>
                    <m:r>
                      <a:rPr lang="en-US" altLang="zh-CN" sz="2000" i="1">
                        <a:latin typeface="Cambria Math" panose="02040503050406030204" charset="0"/>
                        <a:cs typeface="Cambria Math" panose="02040503050406030204" charset="0"/>
                      </a:rPr>
                      <m:t>(</m:t>
                    </m:r>
                    <m:acc>
                      <m:accPr>
                        <m:chr m:val="̃"/>
                        <m:ctrlPr>
                          <a:rPr lang="en-US" altLang="zh-CN" sz="2000" i="1">
                            <a:latin typeface="Cambria Math" panose="02040503050406030204" charset="0"/>
                            <a:cs typeface="Cambria Math" panose="02040503050406030204" charset="0"/>
                          </a:rPr>
                        </m:ctrlPr>
                      </m:accPr>
                      <m:e>
                        <m:r>
                          <a:rPr lang="en-US" altLang="zh-CN" sz="2000" i="1">
                            <a:latin typeface="Cambria Math" panose="02040503050406030204" charset="0"/>
                            <a:cs typeface="Cambria Math" panose="02040503050406030204" charset="0"/>
                          </a:rPr>
                          <m:t>𝑤</m:t>
                        </m:r>
                      </m:e>
                    </m:acc>
                    <m:r>
                      <a:rPr lang="en-US" altLang="zh-CN" sz="2000" i="1">
                        <a:latin typeface="Cambria Math" panose="02040503050406030204" charset="0"/>
                        <a:cs typeface="Cambria Math" panose="02040503050406030204" charset="0"/>
                      </a:rPr>
                      <m:t>)</m:t>
                    </m:r>
                  </m:oMath>
                </a14:m>
                <a:endParaRPr lang="en-US" altLang="zh-CN" sz="2000" i="1">
                  <a:latin typeface="Cambria Math" panose="02040503050406030204" charset="0"/>
                  <a:cs typeface="Cambria Math" panose="02040503050406030204" charset="0"/>
                </a:endParaRPr>
              </a:p>
            </p:txBody>
          </p:sp>
        </mc:Choice>
        <mc:Fallback>
          <p:sp>
            <p:nvSpPr>
              <p:cNvPr id="31" name="文本框 30"/>
              <p:cNvSpPr txBox="1">
                <a:spLocks noRot="1" noChangeAspect="1" noMove="1" noResize="1" noEditPoints="1" noAdjustHandles="1" noChangeArrowheads="1" noChangeShapeType="1" noTextEdit="1"/>
              </p:cNvSpPr>
              <p:nvPr/>
            </p:nvSpPr>
            <p:spPr>
              <a:xfrm>
                <a:off x="1012190" y="2660015"/>
                <a:ext cx="7884160" cy="398780"/>
              </a:xfrm>
              <a:prstGeom prst="rect">
                <a:avLst/>
              </a:prstGeom>
              <a:blipFill rotWithShape="1">
                <a:blip r:embed="rId2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2" name="文本框 31"/>
              <p:cNvSpPr txBox="1"/>
              <p:nvPr/>
            </p:nvSpPr>
            <p:spPr>
              <a:xfrm>
                <a:off x="1375410" y="3118485"/>
                <a:ext cx="7408545" cy="398780"/>
              </a:xfrm>
              <a:prstGeom prst="rect">
                <a:avLst/>
              </a:prstGeom>
              <a:noFill/>
            </p:spPr>
            <p:txBody>
              <a:bodyPr wrap="square" rtlCol="0">
                <a:spAutoFit/>
              </a:bodyPr>
              <a:p>
                <a14:m>
                  <m:oMath xmlns:m="http://schemas.openxmlformats.org/officeDocument/2006/math">
                    <m:r>
                      <a:rPr lang="en-US" altLang="zh-CN" sz="2000" i="1">
                        <a:latin typeface="Cambria Math" panose="02040503050406030204" charset="0"/>
                        <a:cs typeface="Cambria Math" panose="02040503050406030204" charset="0"/>
                      </a:rPr>
                      <m:t>𝑎</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m:t>
                    </m:r>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𝜓</m:t>
                        </m:r>
                      </m:e>
                      <m:sub>
                        <m:r>
                          <a:rPr lang="en-US" altLang="zh-CN" sz="2000" i="1">
                            <a:latin typeface="Cambria Math" panose="02040503050406030204" charset="0"/>
                            <a:cs typeface="Cambria Math" panose="02040503050406030204" charset="0"/>
                          </a:rPr>
                          <m:t>𝑖</m:t>
                        </m:r>
                      </m:sub>
                    </m:sSub>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𝑤</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m:t>
                    </m:r>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𝜓</m:t>
                        </m:r>
                      </m:e>
                      <m:sub>
                        <m:r>
                          <a:rPr lang="en-US" altLang="zh-CN" sz="2000" i="1">
                            <a:latin typeface="Cambria Math" panose="02040503050406030204" charset="0"/>
                            <a:cs typeface="Cambria Math" panose="02040503050406030204" charset="0"/>
                          </a:rPr>
                          <m:t>𝑖</m:t>
                        </m:r>
                      </m:sub>
                    </m:sSub>
                    <m:r>
                      <a:rPr lang="en-US" altLang="zh-CN" sz="2000" i="1">
                        <a:latin typeface="Cambria Math" panose="02040503050406030204" charset="0"/>
                        <a:cs typeface="Cambria Math" panose="02040503050406030204" charset="0"/>
                      </a:rPr>
                      <m:t>(</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𝑤</m:t>
                        </m:r>
                      </m:e>
                      <m:sup>
                        <m:r>
                          <a:rPr lang="en-US" altLang="zh-CN" sz="2000" i="1">
                            <a:latin typeface="Cambria Math" panose="02040503050406030204" charset="0"/>
                            <a:cs typeface="Cambria Math" panose="02040503050406030204" charset="0"/>
                          </a:rPr>
                          <m:t>∗</m:t>
                        </m:r>
                      </m:sup>
                    </m:sSup>
                    <m:r>
                      <a:rPr lang="en-US" altLang="zh-CN" sz="2000" i="1">
                        <a:latin typeface="Cambria Math" panose="02040503050406030204" charset="0"/>
                        <a:cs typeface="Cambria Math" panose="02040503050406030204" charset="0"/>
                      </a:rPr>
                      <m:t>)</m:t>
                    </m:r>
                  </m:oMath>
                </a14:m>
                <a:r>
                  <a:rPr lang="zh-CN" altLang="en-US" sz="2000">
                    <a:latin typeface="Cambria Math" panose="02040503050406030204" charset="0"/>
                    <a:ea typeface="宋体" panose="02010600030101010101" pitchFamily="2" charset="-122"/>
                    <a:cs typeface="Cambria Math" panose="02040503050406030204" charset="0"/>
                  </a:rPr>
                  <a:t>，</a:t>
                </a:r>
                <a14:m>
                  <m:oMath xmlns:m="http://schemas.openxmlformats.org/officeDocument/2006/math">
                    <m:r>
                      <a:rPr lang="en-US" altLang="zh-CN" sz="2000" i="1">
                        <a:latin typeface="Cambria Math" panose="02040503050406030204" charset="0"/>
                        <a:ea typeface="宋体" panose="02010600030101010101" pitchFamily="2" charset="-122"/>
                        <a:cs typeface="Cambria Math" panose="02040503050406030204" charset="0"/>
                      </a:rPr>
                      <m:t>𝑏</m:t>
                    </m:r>
                    <m:r>
                      <a:rPr lang="en-US" altLang="zh-CN" sz="2000" i="1">
                        <a:latin typeface="Cambria Math" panose="02040503050406030204" charset="0"/>
                        <a:ea typeface="宋体" panose="02010600030101010101" pitchFamily="2" charset="-122"/>
                        <a:cs typeface="Cambria Math" panose="02040503050406030204" charset="0"/>
                      </a:rPr>
                      <m:t>=−(</m:t>
                    </m:r>
                    <m:r>
                      <a:rPr lang="en-US" altLang="zh-CN" sz="2000" i="1">
                        <a:latin typeface="Cambria Math" panose="02040503050406030204" charset="0"/>
                        <a:ea typeface="宋体" panose="02010600030101010101" pitchFamily="2" charset="-122"/>
                        <a:cs typeface="Cambria Math" panose="02040503050406030204" charset="0"/>
                      </a:rPr>
                      <m:t>𝛻</m:t>
                    </m:r>
                    <m:sSub>
                      <m:sSubPr>
                        <m:ctrlPr>
                          <a:rPr lang="en-US" altLang="zh-CN" sz="2000" i="1">
                            <a:latin typeface="Cambria Math" panose="02040503050406030204" charset="0"/>
                            <a:ea typeface="宋体" panose="02010600030101010101" pitchFamily="2" charset="-122"/>
                            <a:cs typeface="Cambria Math" panose="02040503050406030204" charset="0"/>
                          </a:rPr>
                        </m:ctrlPr>
                      </m:sSubPr>
                      <m:e>
                        <m:r>
                          <a:rPr lang="en-US" altLang="zh-CN" sz="2000" i="1">
                            <a:latin typeface="Cambria Math" panose="02040503050406030204" charset="0"/>
                            <a:ea typeface="宋体" panose="02010600030101010101" pitchFamily="2" charset="-122"/>
                            <a:cs typeface="Cambria Math" panose="02040503050406030204" charset="0"/>
                          </a:rPr>
                          <m:t>𝜓</m:t>
                        </m:r>
                      </m:e>
                      <m:sub>
                        <m:r>
                          <a:rPr lang="en-US" altLang="zh-CN" sz="2000" i="1">
                            <a:latin typeface="Cambria Math" panose="02040503050406030204" charset="0"/>
                            <a:ea typeface="宋体" panose="02010600030101010101" pitchFamily="2" charset="-122"/>
                            <a:cs typeface="Cambria Math" panose="02040503050406030204" charset="0"/>
                          </a:rPr>
                          <m:t>𝑖</m:t>
                        </m:r>
                      </m:sub>
                    </m:sSub>
                    <m:r>
                      <a:rPr lang="en-US" altLang="zh-CN" sz="2000" i="1">
                        <a:latin typeface="Cambria Math" panose="02040503050406030204" charset="0"/>
                        <a:ea typeface="宋体" panose="02010600030101010101" pitchFamily="2" charset="-122"/>
                        <a:cs typeface="Cambria Math" panose="02040503050406030204" charset="0"/>
                      </a:rPr>
                      <m:t>(</m:t>
                    </m:r>
                    <m:acc>
                      <m:accPr>
                        <m:chr m:val="̃"/>
                        <m:ctrlPr>
                          <a:rPr lang="en-US" altLang="zh-CN" sz="2000" i="1">
                            <a:latin typeface="Cambria Math" panose="02040503050406030204" charset="0"/>
                            <a:ea typeface="宋体" panose="02010600030101010101" pitchFamily="2" charset="-122"/>
                            <a:cs typeface="Cambria Math" panose="02040503050406030204" charset="0"/>
                          </a:rPr>
                        </m:ctrlPr>
                      </m:accPr>
                      <m:e>
                        <m:r>
                          <a:rPr lang="en-US" altLang="zh-CN" sz="2000" i="1">
                            <a:latin typeface="Cambria Math" panose="02040503050406030204" charset="0"/>
                            <a:ea typeface="宋体" panose="02010600030101010101" pitchFamily="2" charset="-122"/>
                            <a:cs typeface="Cambria Math" panose="02040503050406030204" charset="0"/>
                          </a:rPr>
                          <m:t>𝑤</m:t>
                        </m:r>
                      </m:e>
                    </m:acc>
                    <m:r>
                      <a:rPr lang="en-US" altLang="zh-CN" sz="2000" i="1">
                        <a:latin typeface="Cambria Math" panose="02040503050406030204" charset="0"/>
                        <a:ea typeface="宋体" panose="02010600030101010101" pitchFamily="2" charset="-122"/>
                        <a:cs typeface="Cambria Math" panose="02040503050406030204" charset="0"/>
                      </a:rPr>
                      <m:t>)−</m:t>
                    </m:r>
                    <m:r>
                      <a:rPr lang="en-US" altLang="zh-CN" sz="2000" i="1">
                        <a:latin typeface="Cambria Math" panose="02040503050406030204" charset="0"/>
                        <a:ea typeface="宋体" panose="02010600030101010101" pitchFamily="2" charset="-122"/>
                        <a:cs typeface="Cambria Math" panose="02040503050406030204" charset="0"/>
                      </a:rPr>
                      <m:t>𝛻</m:t>
                    </m:r>
                    <m:sSub>
                      <m:sSubPr>
                        <m:ctrlPr>
                          <a:rPr lang="en-US" altLang="zh-CN" sz="2000" i="1">
                            <a:latin typeface="Cambria Math" panose="02040503050406030204" charset="0"/>
                            <a:ea typeface="宋体" panose="02010600030101010101" pitchFamily="2" charset="-122"/>
                            <a:cs typeface="Cambria Math" panose="02040503050406030204" charset="0"/>
                          </a:rPr>
                        </m:ctrlPr>
                      </m:sSubPr>
                      <m:e>
                        <m:r>
                          <a:rPr lang="en-US" altLang="zh-CN" sz="2000" i="1">
                            <a:latin typeface="Cambria Math" panose="02040503050406030204" charset="0"/>
                            <a:ea typeface="宋体" panose="02010600030101010101" pitchFamily="2" charset="-122"/>
                            <a:cs typeface="Cambria Math" panose="02040503050406030204" charset="0"/>
                          </a:rPr>
                          <m:t>𝜓</m:t>
                        </m:r>
                      </m:e>
                      <m:sub>
                        <m:r>
                          <a:rPr lang="en-US" altLang="zh-CN" sz="2000" i="1">
                            <a:latin typeface="Cambria Math" panose="02040503050406030204" charset="0"/>
                            <a:ea typeface="宋体" panose="02010600030101010101" pitchFamily="2" charset="-122"/>
                            <a:cs typeface="Cambria Math" panose="02040503050406030204" charset="0"/>
                          </a:rPr>
                          <m:t>𝑖</m:t>
                        </m:r>
                      </m:sub>
                    </m:sSub>
                    <m:r>
                      <a:rPr lang="en-US" altLang="zh-CN" sz="2000" i="1">
                        <a:latin typeface="Cambria Math" panose="02040503050406030204" charset="0"/>
                        <a:ea typeface="宋体" panose="02010600030101010101" pitchFamily="2" charset="-122"/>
                        <a:cs typeface="Cambria Math" panose="02040503050406030204" charset="0"/>
                      </a:rPr>
                      <m:t>(</m:t>
                    </m:r>
                    <m:sSup>
                      <m:sSupPr>
                        <m:ctrlPr>
                          <a:rPr lang="en-US" altLang="zh-CN" sz="2000" i="1">
                            <a:latin typeface="Cambria Math" panose="02040503050406030204" charset="0"/>
                            <a:ea typeface="宋体" panose="02010600030101010101" pitchFamily="2" charset="-122"/>
                            <a:cs typeface="Cambria Math" panose="02040503050406030204" charset="0"/>
                          </a:rPr>
                        </m:ctrlPr>
                      </m:sSupPr>
                      <m:e>
                        <m:r>
                          <a:rPr lang="en-US" altLang="zh-CN" sz="2000" i="1">
                            <a:latin typeface="Cambria Math" panose="02040503050406030204" charset="0"/>
                            <a:ea typeface="宋体" panose="02010600030101010101" pitchFamily="2" charset="-122"/>
                            <a:cs typeface="Cambria Math" panose="02040503050406030204" charset="0"/>
                          </a:rPr>
                          <m:t>𝑤</m:t>
                        </m:r>
                      </m:e>
                      <m:sup>
                        <m:r>
                          <a:rPr lang="en-US" altLang="zh-CN" sz="2000" i="1">
                            <a:latin typeface="Cambria Math" panose="02040503050406030204" charset="0"/>
                            <a:ea typeface="宋体" panose="02010600030101010101" pitchFamily="2" charset="-122"/>
                            <a:cs typeface="Cambria Math" panose="02040503050406030204" charset="0"/>
                          </a:rPr>
                          <m:t>∗</m:t>
                        </m:r>
                      </m:sup>
                    </m:sSup>
                    <m:r>
                      <a:rPr lang="en-US" altLang="zh-CN" sz="2000" i="1">
                        <a:latin typeface="Cambria Math" panose="02040503050406030204" charset="0"/>
                        <a:ea typeface="宋体" panose="02010600030101010101" pitchFamily="2" charset="-122"/>
                        <a:cs typeface="Cambria Math" panose="02040503050406030204" charset="0"/>
                      </a:rPr>
                      <m:t>))+</m:t>
                    </m:r>
                    <m:r>
                      <a:rPr lang="en-US" altLang="zh-CN" sz="2000" i="1">
                        <a:latin typeface="Cambria Math" panose="02040503050406030204" charset="0"/>
                        <a:ea typeface="宋体" panose="02010600030101010101" pitchFamily="2" charset="-122"/>
                        <a:cs typeface="Cambria Math" panose="02040503050406030204" charset="0"/>
                      </a:rPr>
                      <m:t>𝛻</m:t>
                    </m:r>
                    <m:r>
                      <a:rPr lang="en-US" altLang="zh-CN" sz="2000" i="1">
                        <a:latin typeface="Cambria Math" panose="02040503050406030204" charset="0"/>
                        <a:ea typeface="宋体" panose="02010600030101010101" pitchFamily="2" charset="-122"/>
                        <a:cs typeface="Cambria Math" panose="02040503050406030204" charset="0"/>
                      </a:rPr>
                      <m:t>𝑃</m:t>
                    </m:r>
                    <m:r>
                      <a:rPr lang="en-US" altLang="zh-CN" sz="2000" i="1">
                        <a:latin typeface="Cambria Math" panose="02040503050406030204" charset="0"/>
                        <a:ea typeface="宋体" panose="02010600030101010101" pitchFamily="2" charset="-122"/>
                        <a:cs typeface="Cambria Math" panose="02040503050406030204" charset="0"/>
                      </a:rPr>
                      <m:t>(</m:t>
                    </m:r>
                    <m:acc>
                      <m:accPr>
                        <m:chr m:val="̃"/>
                        <m:ctrlPr>
                          <a:rPr lang="en-US" altLang="zh-CN" sz="2000" i="1">
                            <a:latin typeface="Cambria Math" panose="02040503050406030204" charset="0"/>
                            <a:ea typeface="宋体" panose="02010600030101010101" pitchFamily="2" charset="-122"/>
                            <a:cs typeface="Cambria Math" panose="02040503050406030204" charset="0"/>
                          </a:rPr>
                        </m:ctrlPr>
                      </m:accPr>
                      <m:e>
                        <m:r>
                          <a:rPr lang="en-US" altLang="zh-CN" sz="2000" i="1">
                            <a:latin typeface="Cambria Math" panose="02040503050406030204" charset="0"/>
                            <a:ea typeface="宋体" panose="02010600030101010101" pitchFamily="2" charset="-122"/>
                            <a:cs typeface="Cambria Math" panose="02040503050406030204" charset="0"/>
                          </a:rPr>
                          <m:t>𝑤</m:t>
                        </m:r>
                      </m:e>
                    </m:acc>
                    <m:r>
                      <a:rPr lang="en-US" altLang="zh-CN" sz="2000" i="1">
                        <a:latin typeface="Cambria Math" panose="02040503050406030204" charset="0"/>
                        <a:ea typeface="宋体" panose="02010600030101010101" pitchFamily="2" charset="-122"/>
                        <a:cs typeface="Cambria Math" panose="02040503050406030204" charset="0"/>
                      </a:rPr>
                      <m:t>)</m:t>
                    </m:r>
                  </m:oMath>
                </a14:m>
                <a:endParaRPr lang="en-US" altLang="zh-CN" sz="2000" i="1">
                  <a:latin typeface="Cambria Math" panose="02040503050406030204" charset="0"/>
                  <a:ea typeface="宋体" panose="02010600030101010101" pitchFamily="2" charset="-122"/>
                  <a:cs typeface="Cambria Math" panose="02040503050406030204" charset="0"/>
                </a:endParaRPr>
              </a:p>
            </p:txBody>
          </p:sp>
        </mc:Choice>
        <mc:Fallback>
          <p:sp>
            <p:nvSpPr>
              <p:cNvPr id="32" name="文本框 31"/>
              <p:cNvSpPr txBox="1">
                <a:spLocks noRot="1" noChangeAspect="1" noMove="1" noResize="1" noEditPoints="1" noAdjustHandles="1" noChangeArrowheads="1" noChangeShapeType="1" noTextEdit="1"/>
              </p:cNvSpPr>
              <p:nvPr/>
            </p:nvSpPr>
            <p:spPr>
              <a:xfrm>
                <a:off x="1375410" y="3118485"/>
                <a:ext cx="7408545" cy="398780"/>
              </a:xfrm>
              <a:prstGeom prst="rect">
                <a:avLst/>
              </a:prstGeom>
              <a:blipFill rotWithShape="1">
                <a:blip r:embed="rId2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 name="文本框 32"/>
              <p:cNvSpPr txBox="1"/>
              <p:nvPr/>
            </p:nvSpPr>
            <p:spPr>
              <a:xfrm>
                <a:off x="2540000" y="3625850"/>
                <a:ext cx="4772025" cy="696595"/>
              </a:xfrm>
              <a:prstGeom prst="rect">
                <a:avLst/>
              </a:prstGeom>
              <a:noFill/>
            </p:spPr>
            <p:txBody>
              <a:bodyPr wrap="square" rtlCol="0">
                <a:spAutoFit/>
              </a:bodyPr>
              <a:p>
                <a:pPr algn="l"/>
                <a:r>
                  <a:rPr lang="en-US" altLang="zh-CN" sz="2000">
                    <a:latin typeface="Cambria Math" panose="02040503050406030204" charset="0"/>
                    <a:cs typeface="Cambria Math" panose="02040503050406030204" charset="0"/>
                  </a:rPr>
                  <a:t>       </a:t>
                </a:r>
                <a:r>
                  <a:rPr lang="zh-CN" altLang="en-US" sz="2000">
                    <a:latin typeface="Cambria Math" panose="02040503050406030204" charset="0"/>
                    <a:cs typeface="Cambria Math" panose="02040503050406030204" charset="0"/>
                  </a:rPr>
                  <a:t>那么</a:t>
                </a:r>
                <a:r>
                  <a:rPr lang="en-US" altLang="zh-CN" sz="2000">
                    <a:latin typeface="Cambria Math" panose="02040503050406030204" charset="0"/>
                    <a:cs typeface="Cambria Math" panose="02040503050406030204" charset="0"/>
                  </a:rPr>
                  <a:t>          </a:t>
                </a:r>
                <a14:m>
                  <m:oMath xmlns:m="http://schemas.openxmlformats.org/officeDocument/2006/math">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𝑣</m:t>
                        </m:r>
                      </m:e>
                      <m:sub>
                        <m:r>
                          <a:rPr lang="en-US" altLang="zh-CN" sz="2000" i="1">
                            <a:latin typeface="Cambria Math" panose="02040503050406030204" charset="0"/>
                            <a:cs typeface="Cambria Math" panose="02040503050406030204" charset="0"/>
                          </a:rPr>
                          <m:t>𝑖</m:t>
                        </m:r>
                      </m:sub>
                    </m:sSub>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𝑎</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𝑏</m:t>
                    </m:r>
                  </m:oMath>
                </a14:m>
                <a:endParaRPr lang="en-US" altLang="zh-CN" sz="2000" i="1">
                  <a:latin typeface="Cambria Math" panose="02040503050406030204" charset="0"/>
                  <a:cs typeface="Cambria Math" panose="02040503050406030204" charset="0"/>
                </a:endParaRPr>
              </a:p>
              <a:p>
                <a14:m>
                  <m:oMathPara xmlns:m="http://schemas.openxmlformats.org/officeDocument/2006/math">
                    <m:oMathParaPr>
                      <m:jc m:val="centerGroup"/>
                    </m:oMathParaPr>
                    <m:oMath xmlns:m="http://schemas.openxmlformats.org/officeDocument/2006/math">
                      <m:r>
                        <a:rPr lang="en-US" altLang="zh-CN" sz="2000" i="1">
                          <a:latin typeface="Cambria Math" panose="02040503050406030204" charset="0"/>
                          <a:cs typeface="Cambria Math" panose="02040503050406030204" charset="0"/>
                        </a:rPr>
                        <m:t>‖</m:t>
                      </m:r>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𝑣</m:t>
                          </m:r>
                        </m:e>
                        <m:sub>
                          <m:r>
                            <a:rPr lang="en-US" altLang="zh-CN" sz="2000" i="1">
                              <a:latin typeface="Cambria Math" panose="02040503050406030204" charset="0"/>
                              <a:cs typeface="Cambria Math" panose="02040503050406030204" charset="0"/>
                            </a:rPr>
                            <m:t>𝑖</m:t>
                          </m:r>
                        </m:sub>
                      </m:sSub>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m:t>
                          </m:r>
                        </m:e>
                        <m:sup>
                          <m:r>
                            <a:rPr lang="en-US" altLang="zh-CN" sz="2000" i="1">
                              <a:latin typeface="Cambria Math" panose="02040503050406030204" charset="0"/>
                              <a:cs typeface="Cambria Math" panose="02040503050406030204" charset="0"/>
                            </a:rPr>
                            <m:t>2</m:t>
                          </m:r>
                        </m:sup>
                      </m:sSup>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𝑎</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𝑏</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m:t>
                          </m:r>
                        </m:e>
                        <m:sup>
                          <m:r>
                            <a:rPr lang="en-US" altLang="zh-CN" sz="2000" i="1">
                              <a:latin typeface="Cambria Math" panose="02040503050406030204" charset="0"/>
                              <a:cs typeface="Cambria Math" panose="02040503050406030204" charset="0"/>
                            </a:rPr>
                            <m:t>2</m:t>
                          </m:r>
                        </m:sup>
                      </m:sSup>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𝑎</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m:t>
                          </m:r>
                        </m:e>
                        <m:sup>
                          <m:r>
                            <a:rPr lang="en-US" altLang="zh-CN" sz="2000" i="1">
                              <a:latin typeface="Cambria Math" panose="02040503050406030204" charset="0"/>
                              <a:cs typeface="Cambria Math" panose="02040503050406030204" charset="0"/>
                            </a:rPr>
                            <m:t>2</m:t>
                          </m:r>
                        </m:sup>
                      </m:sSup>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2</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𝑎</m:t>
                          </m:r>
                        </m:e>
                        <m:sup>
                          <m:r>
                            <a:rPr lang="en-US" altLang="zh-CN" sz="2000" i="1">
                              <a:latin typeface="Cambria Math" panose="02040503050406030204" charset="0"/>
                              <a:cs typeface="Cambria Math" panose="02040503050406030204" charset="0"/>
                            </a:rPr>
                            <m:t>𝑇</m:t>
                          </m:r>
                        </m:sup>
                      </m:sSup>
                      <m:r>
                        <a:rPr lang="en-US" altLang="zh-CN" sz="2000" i="1">
                          <a:latin typeface="Cambria Math" panose="02040503050406030204" charset="0"/>
                          <a:cs typeface="Cambria Math" panose="02040503050406030204" charset="0"/>
                        </a:rPr>
                        <m:t>𝑏</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𝑏</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m:t>
                          </m:r>
                        </m:e>
                        <m:sup>
                          <m:r>
                            <a:rPr lang="en-US" altLang="zh-CN" sz="2000" i="1">
                              <a:latin typeface="Cambria Math" panose="02040503050406030204" charset="0"/>
                              <a:cs typeface="Cambria Math" panose="02040503050406030204" charset="0"/>
                            </a:rPr>
                            <m:t>2</m:t>
                          </m:r>
                        </m:sup>
                      </m:sSup>
                    </m:oMath>
                  </m:oMathPara>
                </a14:m>
                <a:endParaRPr lang="en-US" altLang="zh-CN" sz="2000" i="1">
                  <a:latin typeface="Cambria Math" panose="02040503050406030204" charset="0"/>
                  <a:cs typeface="Cambria Math" panose="02040503050406030204" charset="0"/>
                </a:endParaRPr>
              </a:p>
            </p:txBody>
          </p:sp>
        </mc:Choice>
        <mc:Fallback>
          <p:sp>
            <p:nvSpPr>
              <p:cNvPr id="33" name="文本框 32"/>
              <p:cNvSpPr txBox="1">
                <a:spLocks noRot="1" noChangeAspect="1" noMove="1" noResize="1" noEditPoints="1" noAdjustHandles="1" noChangeArrowheads="1" noChangeShapeType="1" noTextEdit="1"/>
              </p:cNvSpPr>
              <p:nvPr/>
            </p:nvSpPr>
            <p:spPr>
              <a:xfrm>
                <a:off x="2540000" y="3625850"/>
                <a:ext cx="4772025" cy="696595"/>
              </a:xfrm>
              <a:prstGeom prst="rect">
                <a:avLst/>
              </a:prstGeom>
              <a:blipFill rotWithShape="1">
                <a:blip r:embed="rId26"/>
                <a:stretch>
                  <a:fillRect/>
                </a:stretch>
              </a:blipFill>
            </p:spPr>
            <p:txBody>
              <a:bodyPr/>
              <a:lstStyle/>
              <a:p>
                <a:r>
                  <a:rPr lang="zh-CN" alt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A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0" y="-1320800"/>
            <a:ext cx="3810000" cy="3810000"/>
          </a:xfrm>
          <a:prstGeom prst="ellipse">
            <a:avLst/>
          </a:prstGeom>
          <a:solidFill>
            <a:srgbClr val="52B788">
              <a:alpha val="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508000" y="508000"/>
            <a:ext cx="635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4" name="AutoShape 4"/>
          <p:cNvSpPr/>
          <p:nvPr>
            <p:custDataLst>
              <p:tags r:id="rId1"/>
            </p:custDataLst>
          </p:nvPr>
        </p:nvSpPr>
        <p:spPr>
          <a:xfrm>
            <a:off x="508000" y="16510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mc:AlternateContent xmlns:mc="http://schemas.openxmlformats.org/markup-compatibility/2006">
        <mc:Choice xmlns:a14="http://schemas.microsoft.com/office/drawing/2010/main" Requires="a14">
          <p:sp>
            <p:nvSpPr>
              <p:cNvPr id="5" name="AutoShape 5"/>
              <p:cNvSpPr/>
              <p:nvPr>
                <p:custDataLst>
                  <p:tags r:id="rId2"/>
                </p:custDataLst>
              </p:nvPr>
            </p:nvSpPr>
            <p:spPr>
              <a:xfrm>
                <a:off x="2121535" y="1570355"/>
                <a:ext cx="7948930" cy="65849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000">
                    <a:latin typeface="Cambria Math" panose="02040503050406030204" charset="0"/>
                    <a:cs typeface="Cambria Math" panose="02040503050406030204" charset="0"/>
                  </a:rPr>
                  <a:t>由</a:t>
                </a:r>
                <a:r>
                  <a:rPr lang="zh-CN" altLang="en-US" sz="2000">
                    <a:latin typeface="Cambria Math" panose="02040503050406030204" charset="0"/>
                    <a:cs typeface="Cambria Math" panose="02040503050406030204" charset="0"/>
                  </a:rPr>
                  <a:t>前文证：</a:t>
                </a:r>
                <a14:m>
                  <m:oMath xmlns:m="http://schemas.openxmlformats.org/officeDocument/2006/math">
                    <m:r>
                      <a:rPr lang="en-US" altLang="zh-CN" sz="2000">
                        <a:latin typeface="Cambria Math" panose="02040503050406030204" charset="0"/>
                        <a:cs typeface="Cambria Math" panose="02040503050406030204" charset="0"/>
                      </a:rPr>
                      <m:t> </m:t>
                    </m:r>
                    <m:f>
                      <m:fPr>
                        <m:ctrlPr>
                          <a:rPr lang="en-US" altLang="zh-CN" sz="2000" i="1">
                            <a:latin typeface="Cambria Math" panose="02040503050406030204" charset="0"/>
                            <a:cs typeface="Cambria Math" panose="02040503050406030204" charset="0"/>
                          </a:rPr>
                        </m:ctrlPr>
                      </m:fPr>
                      <m:num>
                        <m:r>
                          <a:rPr lang="en-US" altLang="zh-CN" sz="2000" i="1">
                            <a:latin typeface="Cambria Math" panose="02040503050406030204" charset="0"/>
                            <a:ea typeface="MS Mincho" charset="0"/>
                            <a:cs typeface="Cambria Math" panose="02040503050406030204" charset="0"/>
                          </a:rPr>
                          <m:t>1</m:t>
                        </m:r>
                      </m:num>
                      <m:den>
                        <m:r>
                          <a:rPr lang="en-US" altLang="zh-CN" sz="2000" i="1">
                            <a:latin typeface="Cambria Math" panose="02040503050406030204" charset="0"/>
                            <a:cs typeface="Cambria Math" panose="02040503050406030204" charset="0"/>
                          </a:rPr>
                          <m:t>𝑛</m:t>
                        </m:r>
                      </m:den>
                    </m:f>
                    <m:nary>
                      <m:naryPr>
                        <m:chr m:val="∑"/>
                        <m:limLoc m:val="subSup"/>
                        <m:supHide m:val="on"/>
                        <m:ctrlPr>
                          <a:rPr lang="en-US" altLang="zh-CN" sz="2000" i="1">
                            <a:latin typeface="Cambria Math" panose="02040503050406030204" charset="0"/>
                            <a:cs typeface="Cambria Math" panose="02040503050406030204" charset="0"/>
                          </a:rPr>
                        </m:ctrlPr>
                      </m:naryPr>
                      <m:sub>
                        <m:r>
                          <a:rPr lang="en-US" altLang="zh-CN" sz="2000" i="1">
                            <a:latin typeface="Cambria Math" panose="02040503050406030204" charset="0"/>
                            <a:cs typeface="Cambria Math" panose="02040503050406030204" charset="0"/>
                          </a:rPr>
                          <m:t>𝑖</m:t>
                        </m:r>
                      </m:sub>
                      <m:sup/>
                      <m:e>
                        <m:r>
                          <a:rPr lang="en-US" altLang="zh-CN" sz="2000" i="1">
                            <a:latin typeface="Cambria Math" panose="02040503050406030204" charset="0"/>
                            <a:ea typeface="MS Mincho" charset="0"/>
                            <a:cs typeface="Cambria Math" panose="02040503050406030204" charset="0"/>
                          </a:rPr>
                          <m:t>‖</m:t>
                        </m:r>
                      </m:e>
                    </m:nary>
                    <m:r>
                      <a:rPr lang="en-US" altLang="zh-CN" sz="2000" i="1">
                        <a:latin typeface="Cambria Math" panose="02040503050406030204" charset="0"/>
                        <a:ea typeface="MS Mincho" charset="0"/>
                        <a:cs typeface="Cambria Math" panose="02040503050406030204" charset="0"/>
                      </a:rPr>
                      <m:t>𝛻</m:t>
                    </m:r>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ea typeface="MS Mincho" charset="0"/>
                            <a:cs typeface="Cambria Math" panose="02040503050406030204" charset="0"/>
                          </a:rPr>
                          <m:t>𝜓</m:t>
                        </m:r>
                      </m:e>
                      <m:sub>
                        <m:r>
                          <a:rPr lang="en-US" altLang="zh-CN" sz="2000" i="1">
                            <a:latin typeface="Cambria Math" panose="02040503050406030204" charset="0"/>
                            <a:cs typeface="Cambria Math" panose="02040503050406030204" charset="0"/>
                          </a:rPr>
                          <m:t>𝑖</m:t>
                        </m:r>
                      </m:sub>
                    </m:sSub>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cs typeface="Cambria Math" panose="02040503050406030204" charset="0"/>
                      </a:rPr>
                      <m:t>𝑤</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ea typeface="MS Mincho" charset="0"/>
                        <a:cs typeface="Cambria Math" panose="02040503050406030204" charset="0"/>
                      </a:rPr>
                      <m:t>𝛻</m:t>
                    </m:r>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ea typeface="MS Mincho" charset="0"/>
                            <a:cs typeface="Cambria Math" panose="02040503050406030204" charset="0"/>
                          </a:rPr>
                          <m:t>𝜓</m:t>
                        </m:r>
                      </m:e>
                      <m:sub>
                        <m:r>
                          <a:rPr lang="en-US" altLang="zh-CN" sz="2000" i="1">
                            <a:latin typeface="Cambria Math" panose="02040503050406030204" charset="0"/>
                            <a:cs typeface="Cambria Math" panose="02040503050406030204" charset="0"/>
                          </a:rPr>
                          <m:t>𝑖</m:t>
                        </m:r>
                      </m:sub>
                    </m:sSub>
                    <m:r>
                      <a:rPr lang="en-US" altLang="zh-CN" sz="2000" i="1">
                        <a:latin typeface="Cambria Math" panose="02040503050406030204" charset="0"/>
                        <a:ea typeface="MS Mincho" charset="0"/>
                        <a:cs typeface="Cambria Math" panose="02040503050406030204" charset="0"/>
                      </a:rPr>
                      <m:t>(</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𝑤</m:t>
                        </m:r>
                      </m:e>
                      <m:sup>
                        <m:r>
                          <a:rPr lang="en-US" altLang="zh-CN" sz="2000" i="1">
                            <a:latin typeface="Cambria Math" panose="02040503050406030204" charset="0"/>
                            <a:ea typeface="MS Mincho" charset="0"/>
                            <a:cs typeface="Cambria Math" panose="02040503050406030204" charset="0"/>
                          </a:rPr>
                          <m:t>∗</m:t>
                        </m:r>
                      </m:sup>
                    </m:sSup>
                    <m:r>
                      <a:rPr lang="en-US" altLang="zh-CN" sz="2000" i="1">
                        <a:latin typeface="Cambria Math" panose="02040503050406030204" charset="0"/>
                        <a:ea typeface="MS Mincho" charset="0"/>
                        <a:cs typeface="Cambria Math" panose="02040503050406030204" charset="0"/>
                      </a:rPr>
                      <m:t>)</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ea typeface="MS Mincho" charset="0"/>
                            <a:cs typeface="Cambria Math" panose="02040503050406030204" charset="0"/>
                          </a:rPr>
                          <m:t>‖</m:t>
                        </m:r>
                      </m:e>
                      <m:sup>
                        <m:r>
                          <a:rPr lang="en-US" altLang="zh-CN" sz="2000" i="1">
                            <a:latin typeface="Cambria Math" panose="02040503050406030204" charset="0"/>
                            <a:ea typeface="MS Mincho" charset="0"/>
                            <a:cs typeface="Cambria Math" panose="02040503050406030204" charset="0"/>
                          </a:rPr>
                          <m:t>2</m:t>
                        </m:r>
                      </m:sup>
                    </m:sSup>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ea typeface="MS Mincho" charset="0"/>
                        <a:cs typeface="Cambria Math" panose="02040503050406030204" charset="0"/>
                      </a:rPr>
                      <m:t>2</m:t>
                    </m:r>
                    <m:r>
                      <a:rPr lang="en-US" altLang="zh-CN" sz="2000" i="1">
                        <a:latin typeface="Cambria Math" panose="02040503050406030204" charset="0"/>
                        <a:cs typeface="Cambria Math" panose="02040503050406030204" charset="0"/>
                      </a:rPr>
                      <m:t>𝐿</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cs typeface="Cambria Math" panose="02040503050406030204" charset="0"/>
                      </a:rPr>
                      <m:t>𝑃</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cs typeface="Cambria Math" panose="02040503050406030204" charset="0"/>
                      </a:rPr>
                      <m:t>𝑤</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cs typeface="Cambria Math" panose="02040503050406030204" charset="0"/>
                      </a:rPr>
                      <m:t>𝑃</m:t>
                    </m:r>
                    <m:r>
                      <a:rPr lang="en-US" altLang="zh-CN" sz="2000" i="1">
                        <a:latin typeface="Cambria Math" panose="02040503050406030204" charset="0"/>
                        <a:ea typeface="MS Mincho" charset="0"/>
                        <a:cs typeface="Cambria Math" panose="02040503050406030204" charset="0"/>
                      </a:rPr>
                      <m:t>(</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𝑤</m:t>
                        </m:r>
                      </m:e>
                      <m:sup>
                        <m:r>
                          <a:rPr lang="en-US" altLang="zh-CN" sz="2000" i="1">
                            <a:latin typeface="Cambria Math" panose="02040503050406030204" charset="0"/>
                            <a:ea typeface="MS Mincho" charset="0"/>
                            <a:cs typeface="Cambria Math" panose="02040503050406030204" charset="0"/>
                          </a:rPr>
                          <m:t>∗</m:t>
                        </m:r>
                      </m:sup>
                    </m:sSup>
                    <m:r>
                      <a:rPr lang="en-US" altLang="zh-CN" sz="2000" i="1">
                        <a:latin typeface="Cambria Math" panose="02040503050406030204" charset="0"/>
                        <a:ea typeface="MS Mincho" charset="0"/>
                        <a:cs typeface="Cambria Math" panose="02040503050406030204" charset="0"/>
                      </a:rPr>
                      <m:t>))</m:t>
                    </m:r>
                  </m:oMath>
                </a14:m>
                <a:endParaRPr lang="en-US" altLang="zh-CN" sz="1100" i="1">
                  <a:latin typeface="Cambria Math" panose="02040503050406030204" charset="0"/>
                  <a:cs typeface="Cambria Math" panose="02040503050406030204" charset="0"/>
                </a:endParaRPr>
              </a:p>
            </p:txBody>
          </p:sp>
        </mc:Choice>
        <mc:Fallback>
          <p:sp>
            <p:nvSpPr>
              <p:cNvPr id="5" name="AutoShape 5"/>
              <p:cNvSpPr>
                <a:spLocks noRot="1" noChangeAspect="1" noMove="1" noResize="1" noEditPoints="1" noAdjustHandles="1" noChangeArrowheads="1" noChangeShapeType="1" noTextEdit="1"/>
              </p:cNvSpPr>
              <p:nvPr>
                <p:custDataLst>
                  <p:tags r:id="rId3"/>
                </p:custDataLst>
              </p:nvPr>
            </p:nvSpPr>
            <p:spPr>
              <a:xfrm>
                <a:off x="2121535" y="1570355"/>
                <a:ext cx="7948930" cy="658495"/>
              </a:xfrm>
              <a:prstGeom prst="rect">
                <a:avLst/>
              </a:prstGeom>
              <a:blipFill rotWithShape="1">
                <a:blip r:embed="rId4"/>
                <a:stretch>
                  <a:fillRect/>
                </a:stretch>
              </a:blipFill>
              <a:ln w="12700" cap="flat" cmpd="sng">
                <a:noFill/>
                <a:prstDash val="solid"/>
                <a:round/>
              </a:ln>
            </p:spPr>
            <p:txBody>
              <a:bodyPr/>
              <a:lstStyle/>
              <a:p>
                <a:r>
                  <a:rPr lang="zh-CN" altLang="en-US">
                    <a:noFill/>
                  </a:rPr>
                  <a:t> </a:t>
                </a:r>
              </a:p>
            </p:txBody>
          </p:sp>
        </mc:Fallback>
      </mc:AlternateContent>
      <p:sp>
        <p:nvSpPr>
          <p:cNvPr id="6" name="AutoShape 6"/>
          <p:cNvSpPr/>
          <p:nvPr>
            <p:custDataLst>
              <p:tags r:id="rId5"/>
            </p:custDataLst>
          </p:nvPr>
        </p:nvSpPr>
        <p:spPr>
          <a:xfrm>
            <a:off x="1651000" y="2135505"/>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cxnSp>
        <p:nvCxnSpPr>
          <p:cNvPr id="7" name="Connector 7"/>
          <p:cNvCxnSpPr/>
          <p:nvPr>
            <p:custDataLst>
              <p:tags r:id="rId6"/>
            </p:custDataLst>
          </p:nvPr>
        </p:nvCxnSpPr>
        <p:spPr>
          <a:xfrm rot="-8185">
            <a:off x="508008" y="3041650"/>
            <a:ext cx="5334000" cy="12700"/>
          </a:xfrm>
          <a:prstGeom prst="straightConnector1">
            <a:avLst/>
          </a:prstGeom>
          <a:solidFill>
            <a:srgbClr val="DEE0E3">
              <a:alpha val="100000"/>
            </a:srgbClr>
          </a:solidFill>
          <a:ln w="25400" cap="flat" cmpd="sng">
            <a:solidFill>
              <a:srgbClr val="D8F3DC">
                <a:alpha val="100000"/>
              </a:srgbClr>
            </a:solidFill>
            <a:prstDash val="solid"/>
            <a:round/>
            <a:headEnd type="none" w="lg" len="lg"/>
            <a:tailEnd type="none" w="lg" len="lg"/>
          </a:ln>
        </p:spPr>
      </p:cxnSp>
      <p:sp>
        <p:nvSpPr>
          <p:cNvPr id="8" name="AutoShape 8"/>
          <p:cNvSpPr/>
          <p:nvPr>
            <p:custDataLst>
              <p:tags r:id="rId7"/>
            </p:custDataLst>
          </p:nvPr>
        </p:nvSpPr>
        <p:spPr>
          <a:xfrm>
            <a:off x="508000" y="32385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9" name="AutoShape 9"/>
          <p:cNvSpPr/>
          <p:nvPr>
            <p:custDataLst>
              <p:tags r:id="rId8"/>
            </p:custDataLst>
          </p:nvPr>
        </p:nvSpPr>
        <p:spPr>
          <a:xfrm>
            <a:off x="1651000" y="3302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mc:AlternateContent xmlns:mc="http://schemas.openxmlformats.org/markup-compatibility/2006">
        <mc:Choice xmlns:a14="http://schemas.microsoft.com/office/drawing/2010/main" Requires="a14">
          <p:sp>
            <p:nvSpPr>
              <p:cNvPr id="10" name="AutoShape 10"/>
              <p:cNvSpPr/>
              <p:nvPr>
                <p:custDataLst>
                  <p:tags r:id="rId9"/>
                </p:custDataLst>
              </p:nvPr>
            </p:nvSpPr>
            <p:spPr>
              <a:xfrm>
                <a:off x="1969770" y="3479800"/>
                <a:ext cx="6108065" cy="212026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altLang="zh-CN" sz="2000">
                    <a:latin typeface="Cambria Math" panose="02040503050406030204" charset="0"/>
                    <a:cs typeface="Cambria Math" panose="02040503050406030204" charset="0"/>
                  </a:rPr>
                  <a:t>      </a:t>
                </a:r>
                <a:r>
                  <a:rPr lang="zh-CN" altLang="en-US" sz="2000">
                    <a:latin typeface="Cambria Math" panose="02040503050406030204" charset="0"/>
                    <a:cs typeface="Cambria Math" panose="02040503050406030204" charset="0"/>
                  </a:rPr>
                  <a:t>有</a:t>
                </a:r>
                <a:r>
                  <a:rPr lang="en-US" altLang="zh-CN" sz="2000">
                    <a:latin typeface="Cambria Math" panose="02040503050406030204" charset="0"/>
                    <a:cs typeface="Cambria Math" panose="02040503050406030204" charset="0"/>
                  </a:rPr>
                  <a:t>           </a:t>
                </a:r>
                <a14:m>
                  <m:oMath xmlns:m="http://schemas.openxmlformats.org/officeDocument/2006/math">
                    <m:r>
                      <a:rPr lang="en-US" altLang="zh-CN" sz="2000" i="1">
                        <a:latin typeface="Cambria Math" panose="02040503050406030204" charset="0"/>
                        <a:cs typeface="Cambria Math" panose="02040503050406030204" charset="0"/>
                      </a:rPr>
                      <m:t>𝑏</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m:t>
                    </m:r>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𝜓</m:t>
                        </m:r>
                      </m:e>
                      <m:sub>
                        <m:r>
                          <a:rPr lang="en-US" altLang="zh-CN" sz="2000" i="1">
                            <a:latin typeface="Cambria Math" panose="02040503050406030204" charset="0"/>
                            <a:cs typeface="Cambria Math" panose="02040503050406030204" charset="0"/>
                          </a:rPr>
                          <m:t>𝑖</m:t>
                        </m:r>
                      </m:sub>
                    </m:sSub>
                    <m:r>
                      <a:rPr lang="en-US" altLang="zh-CN" sz="2000" i="1">
                        <a:latin typeface="Cambria Math" panose="02040503050406030204" charset="0"/>
                        <a:cs typeface="Cambria Math" panose="02040503050406030204" charset="0"/>
                      </a:rPr>
                      <m:t>(</m:t>
                    </m:r>
                    <m:acc>
                      <m:accPr>
                        <m:chr m:val="̃"/>
                        <m:ctrlPr>
                          <a:rPr lang="en-US" altLang="zh-CN" sz="2000" i="1">
                            <a:latin typeface="Cambria Math" panose="02040503050406030204" charset="0"/>
                            <a:cs typeface="Cambria Math" panose="02040503050406030204" charset="0"/>
                          </a:rPr>
                        </m:ctrlPr>
                      </m:accPr>
                      <m:e>
                        <m:r>
                          <a:rPr lang="en-US" altLang="zh-CN" sz="2000" i="1">
                            <a:latin typeface="Cambria Math" panose="02040503050406030204" charset="0"/>
                            <a:cs typeface="Cambria Math" panose="02040503050406030204" charset="0"/>
                          </a:rPr>
                          <m:t>𝑤</m:t>
                        </m:r>
                      </m:e>
                    </m:acc>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m:t>
                    </m:r>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𝜓</m:t>
                        </m:r>
                      </m:e>
                      <m:sub>
                        <m:r>
                          <a:rPr lang="en-US" altLang="zh-CN" sz="2000" i="1">
                            <a:latin typeface="Cambria Math" panose="02040503050406030204" charset="0"/>
                            <a:cs typeface="Cambria Math" panose="02040503050406030204" charset="0"/>
                          </a:rPr>
                          <m:t>𝑖</m:t>
                        </m:r>
                      </m:sub>
                    </m:sSub>
                    <m:r>
                      <a:rPr lang="en-US" altLang="zh-CN" sz="2000" i="1">
                        <a:latin typeface="Cambria Math" panose="02040503050406030204" charset="0"/>
                        <a:cs typeface="Cambria Math" panose="02040503050406030204" charset="0"/>
                      </a:rPr>
                      <m:t>(</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𝑤</m:t>
                        </m:r>
                      </m:e>
                      <m:sup>
                        <m:r>
                          <a:rPr lang="en-US" altLang="zh-CN" sz="2000" i="1">
                            <a:latin typeface="Cambria Math" panose="02040503050406030204" charset="0"/>
                            <a:cs typeface="Cambria Math" panose="02040503050406030204" charset="0"/>
                          </a:rPr>
                          <m:t>∗</m:t>
                        </m:r>
                      </m:sup>
                    </m:sSup>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𝑃</m:t>
                    </m:r>
                    <m:r>
                      <a:rPr lang="en-US" altLang="zh-CN" sz="2000" i="1">
                        <a:latin typeface="Cambria Math" panose="02040503050406030204" charset="0"/>
                        <a:cs typeface="Cambria Math" panose="02040503050406030204" charset="0"/>
                      </a:rPr>
                      <m:t>(</m:t>
                    </m:r>
                    <m:acc>
                      <m:accPr>
                        <m:chr m:val="̃"/>
                        <m:ctrlPr>
                          <a:rPr lang="en-US" altLang="zh-CN" sz="2000" i="1">
                            <a:latin typeface="Cambria Math" panose="02040503050406030204" charset="0"/>
                            <a:cs typeface="Cambria Math" panose="02040503050406030204" charset="0"/>
                          </a:rPr>
                        </m:ctrlPr>
                      </m:accPr>
                      <m:e>
                        <m:r>
                          <a:rPr lang="en-US" altLang="zh-CN" sz="2000" i="1">
                            <a:latin typeface="Cambria Math" panose="02040503050406030204" charset="0"/>
                            <a:cs typeface="Cambria Math" panose="02040503050406030204" charset="0"/>
                          </a:rPr>
                          <m:t>𝑤</m:t>
                        </m:r>
                      </m:e>
                    </m:acc>
                    <m:r>
                      <a:rPr lang="en-US" altLang="zh-CN" sz="2000" i="1">
                        <a:latin typeface="Cambria Math" panose="02040503050406030204" charset="0"/>
                        <a:cs typeface="Cambria Math" panose="02040503050406030204" charset="0"/>
                      </a:rPr>
                      <m:t>)</m:t>
                    </m:r>
                  </m:oMath>
                </a14:m>
                <a:endParaRPr lang="en-US" altLang="zh-CN" sz="2000" i="1">
                  <a:latin typeface="Cambria Math" panose="02040503050406030204" charset="0"/>
                  <a:cs typeface="Cambria Math" panose="02040503050406030204" charset="0"/>
                </a:endParaRPr>
              </a:p>
              <a:p>
                <a:pPr marL="0" indent="0" algn="l">
                  <a:lnSpc>
                    <a:spcPct val="108000"/>
                  </a:lnSpc>
                  <a:defRPr/>
                </a:pPr>
                <a:r>
                  <a:rPr lang="en-US" altLang="zh-CN" sz="2000">
                    <a:latin typeface="Cambria Math" panose="02040503050406030204" charset="0"/>
                    <a:cs typeface="Cambria Math" panose="02040503050406030204" charset="0"/>
                  </a:rPr>
                  <a:t>      </a:t>
                </a:r>
                <a:r>
                  <a:rPr lang="zh-CN" altLang="en-US" sz="2000">
                    <a:latin typeface="Cambria Math" panose="02040503050406030204" charset="0"/>
                    <a:cs typeface="Cambria Math" panose="02040503050406030204" charset="0"/>
                  </a:rPr>
                  <a:t>有</a:t>
                </a:r>
                <a:r>
                  <a:rPr lang="en-US" altLang="zh-CN" sz="2000">
                    <a:latin typeface="Cambria Math" panose="02040503050406030204" charset="0"/>
                    <a:cs typeface="Cambria Math" panose="02040503050406030204" charset="0"/>
                  </a:rPr>
                  <a:t>          </a:t>
                </a:r>
                <a14:m>
                  <m:oMath xmlns:m="http://schemas.openxmlformats.org/officeDocument/2006/math">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𝑃</m:t>
                    </m:r>
                    <m:r>
                      <a:rPr lang="en-US" altLang="zh-CN" sz="2000" i="1">
                        <a:latin typeface="Cambria Math" panose="02040503050406030204" charset="0"/>
                        <a:cs typeface="Cambria Math" panose="02040503050406030204" charset="0"/>
                      </a:rPr>
                      <m:t>(</m:t>
                    </m:r>
                    <m:acc>
                      <m:accPr>
                        <m:chr m:val="̃"/>
                        <m:ctrlPr>
                          <a:rPr lang="en-US" altLang="zh-CN" sz="2000" i="1">
                            <a:latin typeface="Cambria Math" panose="02040503050406030204" charset="0"/>
                            <a:cs typeface="Cambria Math" panose="02040503050406030204" charset="0"/>
                          </a:rPr>
                        </m:ctrlPr>
                      </m:accPr>
                      <m:e>
                        <m:r>
                          <a:rPr lang="en-US" altLang="zh-CN" sz="2000" i="1">
                            <a:latin typeface="Cambria Math" panose="02040503050406030204" charset="0"/>
                            <a:cs typeface="Cambria Math" panose="02040503050406030204" charset="0"/>
                          </a:rPr>
                          <m:t>𝑤</m:t>
                        </m:r>
                      </m:e>
                    </m:acc>
                    <m:r>
                      <a:rPr lang="en-US" altLang="zh-CN" sz="2000" i="1">
                        <a:latin typeface="Cambria Math" panose="02040503050406030204" charset="0"/>
                        <a:cs typeface="Cambria Math" panose="02040503050406030204" charset="0"/>
                      </a:rPr>
                      <m:t>)=</m:t>
                    </m:r>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𝔼</m:t>
                        </m:r>
                      </m:e>
                      <m:sub>
                        <m:r>
                          <a:rPr lang="en-US" altLang="zh-CN" sz="2000" i="1">
                            <a:latin typeface="Cambria Math" panose="02040503050406030204" charset="0"/>
                            <a:cs typeface="Cambria Math" panose="02040503050406030204" charset="0"/>
                          </a:rPr>
                          <m:t>𝑖</m:t>
                        </m:r>
                      </m:sub>
                    </m:sSub>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m:t>
                    </m:r>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𝜓</m:t>
                        </m:r>
                      </m:e>
                      <m:sub>
                        <m:r>
                          <a:rPr lang="en-US" altLang="zh-CN" sz="2000" i="1">
                            <a:latin typeface="Cambria Math" panose="02040503050406030204" charset="0"/>
                            <a:cs typeface="Cambria Math" panose="02040503050406030204" charset="0"/>
                          </a:rPr>
                          <m:t>𝑖</m:t>
                        </m:r>
                      </m:sub>
                    </m:sSub>
                    <m:r>
                      <a:rPr lang="en-US" altLang="zh-CN" sz="2000" i="1">
                        <a:latin typeface="Cambria Math" panose="02040503050406030204" charset="0"/>
                        <a:cs typeface="Cambria Math" panose="02040503050406030204" charset="0"/>
                      </a:rPr>
                      <m:t>(</m:t>
                    </m:r>
                    <m:acc>
                      <m:accPr>
                        <m:chr m:val="̃"/>
                        <m:ctrlPr>
                          <a:rPr lang="en-US" altLang="zh-CN" sz="2000" i="1">
                            <a:latin typeface="Cambria Math" panose="02040503050406030204" charset="0"/>
                            <a:cs typeface="Cambria Math" panose="02040503050406030204" charset="0"/>
                          </a:rPr>
                        </m:ctrlPr>
                      </m:accPr>
                      <m:e>
                        <m:r>
                          <a:rPr lang="en-US" altLang="zh-CN" sz="2000" i="1">
                            <a:latin typeface="Cambria Math" panose="02040503050406030204" charset="0"/>
                            <a:cs typeface="Cambria Math" panose="02040503050406030204" charset="0"/>
                          </a:rPr>
                          <m:t>𝑤</m:t>
                        </m:r>
                      </m:e>
                    </m:acc>
                    <m:r>
                      <a:rPr lang="en-US" altLang="zh-CN" sz="2000" i="1">
                        <a:latin typeface="Cambria Math" panose="02040503050406030204" charset="0"/>
                        <a:cs typeface="Cambria Math" panose="02040503050406030204" charset="0"/>
                      </a:rPr>
                      <m:t>)]</m:t>
                    </m:r>
                  </m:oMath>
                </a14:m>
                <a:endParaRPr lang="en-US" altLang="zh-CN" sz="2000" i="1">
                  <a:latin typeface="Cambria Math" panose="02040503050406030204" charset="0"/>
                  <a:cs typeface="Cambria Math" panose="02040503050406030204" charset="0"/>
                </a:endParaRPr>
              </a:p>
              <a:p>
                <a:pPr marL="0" indent="0" algn="l">
                  <a:lnSpc>
                    <a:spcPct val="108000"/>
                  </a:lnSpc>
                  <a:defRPr/>
                </a:pPr>
                <a:r>
                  <a:rPr lang="en-US" altLang="zh-CN" sz="2000">
                    <a:latin typeface="Cambria Math" panose="02040503050406030204" charset="0"/>
                    <a:cs typeface="Cambria Math" panose="02040503050406030204" charset="0"/>
                  </a:rPr>
                  <a:t>      </a:t>
                </a:r>
                <a:r>
                  <a:rPr lang="zh-CN" altLang="en-US" sz="2000">
                    <a:latin typeface="Cambria Math" panose="02040503050406030204" charset="0"/>
                    <a:cs typeface="Cambria Math" panose="02040503050406030204" charset="0"/>
                  </a:rPr>
                  <a:t>方差性质</a:t>
                </a:r>
                <a:r>
                  <a:rPr lang="en-US" altLang="zh-CN" sz="2000">
                    <a:latin typeface="Cambria Math" panose="02040503050406030204" charset="0"/>
                    <a:cs typeface="Cambria Math" panose="02040503050406030204" charset="0"/>
                  </a:rPr>
                  <a:t>    </a:t>
                </a:r>
                <a14:m>
                  <m:oMath xmlns:m="http://schemas.openxmlformats.org/officeDocument/2006/math">
                    <m:r>
                      <a:rPr lang="en-US" altLang="zh-CN" sz="2000" i="1">
                        <a:latin typeface="Cambria Math" panose="02040503050406030204" charset="0"/>
                        <a:cs typeface="Cambria Math" panose="02040503050406030204" charset="0"/>
                      </a:rPr>
                      <m:t>𝔼</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𝑋</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𝔼</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𝑋</m:t>
                    </m:r>
                    <m:r>
                      <a:rPr lang="en-US" altLang="zh-CN" sz="2000" i="1">
                        <a:latin typeface="Cambria Math" panose="02040503050406030204" charset="0"/>
                        <a:cs typeface="Cambria Math" panose="02040503050406030204" charset="0"/>
                      </a:rPr>
                      <m:t>]</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m:t>
                        </m:r>
                      </m:e>
                      <m:sup>
                        <m:r>
                          <a:rPr lang="en-US" altLang="zh-CN" sz="2000" i="1">
                            <a:latin typeface="Cambria Math" panose="02040503050406030204" charset="0"/>
                            <a:cs typeface="Cambria Math" panose="02040503050406030204" charset="0"/>
                          </a:rPr>
                          <m:t>2</m:t>
                        </m:r>
                      </m:sup>
                    </m:sSup>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𝔼</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𝑋</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m:t>
                        </m:r>
                      </m:e>
                      <m:sup>
                        <m:r>
                          <a:rPr lang="en-US" altLang="zh-CN" sz="2000" i="1">
                            <a:latin typeface="Cambria Math" panose="02040503050406030204" charset="0"/>
                            <a:cs typeface="Cambria Math" panose="02040503050406030204" charset="0"/>
                          </a:rPr>
                          <m:t>2</m:t>
                        </m:r>
                      </m:sup>
                    </m:sSup>
                  </m:oMath>
                </a14:m>
                <a:endParaRPr lang="en-US" altLang="zh-CN" sz="2000" i="1">
                  <a:latin typeface="Cambria Math" panose="02040503050406030204" charset="0"/>
                  <a:cs typeface="Cambria Math" panose="02040503050406030204" charset="0"/>
                </a:endParaRPr>
              </a:p>
              <a:p>
                <a:pPr marL="0" indent="0" algn="l">
                  <a:lnSpc>
                    <a:spcPct val="108000"/>
                  </a:lnSpc>
                  <a:defRPr/>
                </a:pPr>
                <a:r>
                  <a:rPr lang="en-US" altLang="zh-CN" sz="2400">
                    <a:latin typeface="Cambria Math" panose="02040503050406030204" charset="0"/>
                    <a:cs typeface="Cambria Math" panose="02040503050406030204" charset="0"/>
                  </a:rPr>
                  <a:t>     </a:t>
                </a:r>
                <a:r>
                  <a:rPr lang="zh-CN" altLang="en-US" sz="2400">
                    <a:latin typeface="Cambria Math" panose="02040503050406030204" charset="0"/>
                    <a:cs typeface="Cambria Math" panose="02040503050406030204" charset="0"/>
                  </a:rPr>
                  <a:t>则有</a:t>
                </a:r>
                <a:r>
                  <a:rPr lang="en-US" altLang="zh-CN" sz="2400">
                    <a:latin typeface="Cambria Math" panose="02040503050406030204" charset="0"/>
                    <a:cs typeface="Cambria Math" panose="02040503050406030204" charset="0"/>
                  </a:rPr>
                  <a:t>       </a:t>
                </a:r>
                <a14:m>
                  <m:oMath xmlns:m="http://schemas.openxmlformats.org/officeDocument/2006/math">
                    <m:r>
                      <a:rPr lang="en-US" altLang="zh-CN" sz="2400" i="1">
                        <a:latin typeface="Cambria Math" panose="02040503050406030204" charset="0"/>
                        <a:cs typeface="Cambria Math" panose="02040503050406030204" charset="0"/>
                      </a:rPr>
                      <m:t>𝐸</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𝑏</m:t>
                    </m:r>
                    <m:sSup>
                      <m:sSupPr>
                        <m:ctrlPr>
                          <a:rPr lang="en-US" altLang="zh-CN" sz="2400" i="1">
                            <a:latin typeface="Cambria Math" panose="02040503050406030204" charset="0"/>
                            <a:cs typeface="Cambria Math" panose="02040503050406030204" charset="0"/>
                          </a:rPr>
                        </m:ctrlPr>
                      </m:sSupPr>
                      <m:e>
                        <m:r>
                          <a:rPr lang="en-US" altLang="zh-CN" sz="2400" i="1">
                            <a:latin typeface="Cambria Math" panose="02040503050406030204" charset="0"/>
                            <a:cs typeface="Cambria Math" panose="02040503050406030204" charset="0"/>
                          </a:rPr>
                          <m:t>‖</m:t>
                        </m:r>
                      </m:e>
                      <m:sup>
                        <m:r>
                          <a:rPr lang="en-US" altLang="zh-CN" sz="2400" i="1">
                            <a:latin typeface="Cambria Math" panose="02040503050406030204" charset="0"/>
                            <a:cs typeface="Cambria Math" panose="02040503050406030204" charset="0"/>
                          </a:rPr>
                          <m:t>2</m:t>
                        </m:r>
                      </m:sup>
                    </m:sSup>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2</m:t>
                    </m:r>
                    <m:r>
                      <a:rPr lang="en-US" altLang="zh-CN" sz="2400" i="1">
                        <a:latin typeface="Cambria Math" panose="02040503050406030204" charset="0"/>
                        <a:cs typeface="Cambria Math" panose="02040503050406030204" charset="0"/>
                      </a:rPr>
                      <m:t>𝐿</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𝑃</m:t>
                    </m:r>
                    <m:r>
                      <a:rPr lang="en-US" altLang="zh-CN" sz="2400" i="1">
                        <a:latin typeface="Cambria Math" panose="02040503050406030204" charset="0"/>
                        <a:cs typeface="Cambria Math" panose="02040503050406030204" charset="0"/>
                      </a:rPr>
                      <m:t>(</m:t>
                    </m:r>
                    <m:acc>
                      <m:accPr>
                        <m:chr m:val="̃"/>
                        <m:ctrlPr>
                          <a:rPr lang="en-US" altLang="zh-CN" sz="2400" i="1">
                            <a:latin typeface="Cambria Math" panose="02040503050406030204" charset="0"/>
                            <a:cs typeface="Cambria Math" panose="02040503050406030204" charset="0"/>
                          </a:rPr>
                        </m:ctrlPr>
                      </m:accPr>
                      <m:e>
                        <m:r>
                          <a:rPr lang="en-US" altLang="zh-CN" sz="2400" i="1">
                            <a:latin typeface="Cambria Math" panose="02040503050406030204" charset="0"/>
                            <a:cs typeface="Cambria Math" panose="02040503050406030204" charset="0"/>
                          </a:rPr>
                          <m:t>𝑤</m:t>
                        </m:r>
                      </m:e>
                    </m:acc>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𝑃</m:t>
                    </m:r>
                    <m:r>
                      <a:rPr lang="en-US" altLang="zh-CN" sz="2400" i="1">
                        <a:latin typeface="Cambria Math" panose="02040503050406030204" charset="0"/>
                        <a:cs typeface="Cambria Math" panose="02040503050406030204" charset="0"/>
                      </a:rPr>
                      <m:t>(</m:t>
                    </m:r>
                    <m:sSup>
                      <m:sSupPr>
                        <m:ctrlPr>
                          <a:rPr lang="en-US" altLang="zh-CN" sz="2400" i="1">
                            <a:latin typeface="Cambria Math" panose="02040503050406030204" charset="0"/>
                            <a:cs typeface="Cambria Math" panose="02040503050406030204" charset="0"/>
                          </a:rPr>
                        </m:ctrlPr>
                      </m:sSupPr>
                      <m:e>
                        <m:r>
                          <a:rPr lang="en-US" altLang="zh-CN" sz="2400" i="1">
                            <a:latin typeface="Cambria Math" panose="02040503050406030204" charset="0"/>
                            <a:cs typeface="Cambria Math" panose="02040503050406030204" charset="0"/>
                          </a:rPr>
                          <m:t>𝑤</m:t>
                        </m:r>
                      </m:e>
                      <m:sup>
                        <m:r>
                          <a:rPr lang="en-US" altLang="zh-CN" sz="2400" i="1">
                            <a:latin typeface="Cambria Math" panose="02040503050406030204" charset="0"/>
                            <a:cs typeface="Cambria Math" panose="02040503050406030204" charset="0"/>
                          </a:rPr>
                          <m:t>∗</m:t>
                        </m:r>
                      </m:sup>
                    </m:sSup>
                    <m:r>
                      <a:rPr lang="en-US" altLang="zh-CN" sz="2400" i="1">
                        <a:latin typeface="Cambria Math" panose="02040503050406030204" charset="0"/>
                        <a:cs typeface="Cambria Math" panose="02040503050406030204" charset="0"/>
                      </a:rPr>
                      <m:t>))</m:t>
                    </m:r>
                  </m:oMath>
                </a14:m>
                <a:endParaRPr lang="en-US" altLang="zh-CN" sz="2400" i="1">
                  <a:latin typeface="Cambria Math" panose="02040503050406030204" charset="0"/>
                  <a:cs typeface="Cambria Math" panose="02040503050406030204" charset="0"/>
                </a:endParaRPr>
              </a:p>
            </p:txBody>
          </p:sp>
        </mc:Choice>
        <mc:Fallback>
          <p:sp>
            <p:nvSpPr>
              <p:cNvPr id="10" name="AutoShape 10"/>
              <p:cNvSpPr>
                <a:spLocks noRot="1" noChangeAspect="1" noMove="1" noResize="1" noEditPoints="1" noAdjustHandles="1" noChangeArrowheads="1" noChangeShapeType="1" noTextEdit="1"/>
              </p:cNvSpPr>
              <p:nvPr>
                <p:custDataLst>
                  <p:tags r:id="rId10"/>
                </p:custDataLst>
              </p:nvPr>
            </p:nvSpPr>
            <p:spPr>
              <a:xfrm>
                <a:off x="1969770" y="3479800"/>
                <a:ext cx="6108065" cy="2120265"/>
              </a:xfrm>
              <a:prstGeom prst="rect">
                <a:avLst/>
              </a:prstGeom>
              <a:blipFill rotWithShape="1">
                <a:blip r:embed="rId11"/>
                <a:stretch>
                  <a:fillRect/>
                </a:stretch>
              </a:blipFill>
              <a:ln w="12700" cap="flat" cmpd="sng">
                <a:noFill/>
                <a:prstDash val="solid"/>
                <a:round/>
              </a:ln>
            </p:spPr>
            <p:txBody>
              <a:bodyPr/>
              <a:lstStyle/>
              <a:p>
                <a:r>
                  <a:rPr lang="zh-CN" altLang="en-US">
                    <a:noFill/>
                  </a:rPr>
                  <a:t> </a:t>
                </a:r>
              </a:p>
            </p:txBody>
          </p:sp>
        </mc:Fallback>
      </mc:AlternateContent>
      <p:sp>
        <p:nvSpPr>
          <p:cNvPr id="16" name="AutoShape 16"/>
          <p:cNvSpPr/>
          <p:nvPr>
            <p:custDataLst>
              <p:tags r:id="rId12"/>
            </p:custDataLst>
          </p:nvPr>
        </p:nvSpPr>
        <p:spPr>
          <a:xfrm>
            <a:off x="7493000" y="1714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cxnSp>
        <p:nvCxnSpPr>
          <p:cNvPr id="18" name="Connector 18"/>
          <p:cNvCxnSpPr/>
          <p:nvPr>
            <p:custDataLst>
              <p:tags r:id="rId13"/>
            </p:custDataLst>
          </p:nvPr>
        </p:nvCxnSpPr>
        <p:spPr>
          <a:xfrm rot="-8185">
            <a:off x="6350008" y="3041650"/>
            <a:ext cx="5334000" cy="12700"/>
          </a:xfrm>
          <a:prstGeom prst="straightConnector1">
            <a:avLst/>
          </a:prstGeom>
          <a:solidFill>
            <a:srgbClr val="DEE0E3">
              <a:alpha val="100000"/>
            </a:srgbClr>
          </a:solidFill>
          <a:ln w="25400" cap="flat" cmpd="sng">
            <a:solidFill>
              <a:srgbClr val="D8F3DC">
                <a:alpha val="100000"/>
              </a:srgbClr>
            </a:solidFill>
            <a:prstDash val="solid"/>
            <a:round/>
            <a:headEnd type="none" w="lg" len="lg"/>
            <a:tailEnd type="none" w="lg" len="lg"/>
          </a:ln>
        </p:spPr>
      </p:cxnSp>
      <p:sp>
        <p:nvSpPr>
          <p:cNvPr id="19" name="AutoShape 19"/>
          <p:cNvSpPr/>
          <p:nvPr>
            <p:custDataLst>
              <p:tags r:id="rId14"/>
            </p:custDataLst>
          </p:nvPr>
        </p:nvSpPr>
        <p:spPr>
          <a:xfrm>
            <a:off x="6350000" y="32385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20" name="AutoShape 20"/>
          <p:cNvSpPr/>
          <p:nvPr>
            <p:custDataLst>
              <p:tags r:id="rId15"/>
            </p:custDataLst>
          </p:nvPr>
        </p:nvSpPr>
        <p:spPr>
          <a:xfrm>
            <a:off x="7493000" y="3302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21" name="AutoShape 21"/>
          <p:cNvSpPr/>
          <p:nvPr>
            <p:custDataLst>
              <p:tags r:id="rId16"/>
            </p:custDataLst>
          </p:nvPr>
        </p:nvSpPr>
        <p:spPr>
          <a:xfrm>
            <a:off x="7493000" y="37465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
        <p:nvSpPr>
          <p:cNvPr id="26" name="AutoShape 26"/>
          <p:cNvSpPr/>
          <p:nvPr/>
        </p:nvSpPr>
        <p:spPr>
          <a:xfrm>
            <a:off x="11176000" y="5842000"/>
            <a:ext cx="762000" cy="762000"/>
          </a:xfrm>
          <a:prstGeom prst="ellipse">
            <a:avLst/>
          </a:prstGeom>
          <a:solidFill>
            <a:srgbClr val="D8F3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10922000" y="6096000"/>
            <a:ext cx="304800" cy="304800"/>
          </a:xfrm>
          <a:prstGeom prst="ellipse">
            <a:avLst/>
          </a:prstGeom>
          <a:solidFill>
            <a:srgbClr val="52B788">
              <a:alpha val="30000"/>
            </a:srgbClr>
          </a:solidFill>
          <a:ln w="25400" cap="flat" cmpd="sng">
            <a:noFill/>
            <a:prstDash val="solid"/>
            <a:round/>
          </a:ln>
        </p:spPr>
        <p:txBody>
          <a:bodyPr vert="horz" wrap="square" lIns="63500" tIns="63500" rIns="63500" bIns="63500" rtlCol="0" anchor="ctr"/>
          <a:lstStyle/>
          <a:p>
            <a:pPr algn="ctr">
              <a:defRPr/>
            </a:pPr>
          </a:p>
        </p:txBody>
      </p:sp>
      <mc:AlternateContent xmlns:mc="http://schemas.openxmlformats.org/markup-compatibility/2006">
        <mc:Choice xmlns:a14="http://schemas.microsoft.com/office/drawing/2010/main" Requires="a14">
          <p:sp>
            <p:nvSpPr>
              <p:cNvPr id="28" name="文本框 27"/>
              <p:cNvSpPr txBox="1"/>
              <p:nvPr/>
            </p:nvSpPr>
            <p:spPr>
              <a:xfrm>
                <a:off x="0" y="0"/>
                <a:ext cx="4064000" cy="531495"/>
              </a:xfrm>
              <a:prstGeom prst="rect">
                <a:avLst/>
              </a:prstGeom>
              <a:noFill/>
            </p:spPr>
            <p:txBody>
              <a:bodyPr wrap="square" rtlCol="0">
                <a:noAutofit/>
              </a:bodyPr>
              <a:p>
                <a:r>
                  <a:rPr lang="zh-CN" altLang="en-US" sz="2400" b="1">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对于第一项</a:t>
                </a:r>
                <a14:m>
                  <m:oMath xmlns:m="http://schemas.openxmlformats.org/officeDocument/2006/math">
                    <m:r>
                      <a:rPr lang="en-US" altLang="zh-CN" sz="2400" b="1" i="1">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t>𝔼</m:t>
                    </m:r>
                    <m:r>
                      <a:rPr lang="en-US" altLang="zh-CN" sz="2400" b="1" i="1">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2400" b="1" i="1">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t>𝑎</m:t>
                    </m:r>
                    <m:sSup>
                      <m:sSupPr>
                        <m:ctrlPr>
                          <a:rPr lang="en-US" altLang="zh-CN" sz="2400" b="1" i="1">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pPr>
                      <m:e>
                        <m:r>
                          <a:rPr lang="en-US" altLang="zh-CN" sz="2400" b="1" i="1">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t>‖</m:t>
                        </m:r>
                      </m:e>
                      <m:sup>
                        <m:r>
                          <a:rPr lang="en-US" altLang="zh-CN" sz="2400" b="1" i="1">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t>2</m:t>
                        </m:r>
                      </m:sup>
                    </m:sSup>
                  </m:oMath>
                </a14:m>
                <a:endParaRPr lang="en-US" altLang="zh-CN" sz="2400" b="1" i="1">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endParaRPr>
              </a:p>
              <a:p>
                <a:endParaRPr lang="zh-CN" altLang="en-US" sz="2400"/>
              </a:p>
            </p:txBody>
          </p:sp>
        </mc:Choice>
        <mc:Fallback>
          <p:sp>
            <p:nvSpPr>
              <p:cNvPr id="28" name="文本框 27"/>
              <p:cNvSpPr txBox="1">
                <a:spLocks noRot="1" noChangeAspect="1" noMove="1" noResize="1" noEditPoints="1" noAdjustHandles="1" noChangeArrowheads="1" noChangeShapeType="1" noTextEdit="1"/>
              </p:cNvSpPr>
              <p:nvPr/>
            </p:nvSpPr>
            <p:spPr>
              <a:xfrm>
                <a:off x="0" y="0"/>
                <a:ext cx="4064000" cy="531495"/>
              </a:xfrm>
              <a:prstGeom prst="rect">
                <a:avLst/>
              </a:prstGeom>
              <a:blipFill rotWithShape="1">
                <a:blip r:embed="rId17"/>
                <a:stretch>
                  <a:fillRect b="-4850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文本框 29"/>
              <p:cNvSpPr txBox="1"/>
              <p:nvPr/>
            </p:nvSpPr>
            <p:spPr>
              <a:xfrm>
                <a:off x="3625850" y="813435"/>
                <a:ext cx="5612130" cy="837565"/>
              </a:xfrm>
              <a:prstGeom prst="rect">
                <a:avLst/>
              </a:prstGeom>
              <a:noFill/>
            </p:spPr>
            <p:txBody>
              <a:bodyPr wrap="square" rtlCol="0" anchor="t">
                <a:spAutoFit/>
              </a:bodyPr>
              <a:p>
                <a:pPr algn="l"/>
                <a:r>
                  <a:rPr lang="zh-CN" altLang="en-US" sz="2000">
                    <a:latin typeface="Cambria Math" panose="02040503050406030204" charset="0"/>
                    <a:cs typeface="Cambria Math" panose="02040503050406030204" charset="0"/>
                  </a:rPr>
                  <a:t>有</a:t>
                </a:r>
                <a:r>
                  <a:rPr lang="en-US" altLang="zh-CN" sz="2000">
                    <a:latin typeface="Cambria Math" panose="02040503050406030204" charset="0"/>
                    <a:cs typeface="Cambria Math" panose="02040503050406030204" charset="0"/>
                  </a:rPr>
                  <a:t>    </a:t>
                </a:r>
                <a14:m>
                  <m:oMath xmlns:m="http://schemas.openxmlformats.org/officeDocument/2006/math">
                    <m:r>
                      <a:rPr lang="en-US" altLang="zh-CN" sz="2000" i="1">
                        <a:latin typeface="Cambria Math" panose="02040503050406030204" charset="0"/>
                        <a:cs typeface="Cambria Math" panose="02040503050406030204" charset="0"/>
                      </a:rPr>
                      <m:t>𝑎</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m:t>
                    </m:r>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𝜓</m:t>
                        </m:r>
                      </m:e>
                      <m:sub>
                        <m:r>
                          <a:rPr lang="en-US" altLang="zh-CN" sz="2000" i="1">
                            <a:latin typeface="Cambria Math" panose="02040503050406030204" charset="0"/>
                            <a:cs typeface="Cambria Math" panose="02040503050406030204" charset="0"/>
                          </a:rPr>
                          <m:t>𝑖</m:t>
                        </m:r>
                      </m:sub>
                    </m:sSub>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𝑤</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m:t>
                    </m:r>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cs typeface="Cambria Math" panose="02040503050406030204" charset="0"/>
                          </a:rPr>
                          <m:t>𝜓</m:t>
                        </m:r>
                      </m:e>
                      <m:sub>
                        <m:r>
                          <a:rPr lang="en-US" altLang="zh-CN" sz="2000" i="1">
                            <a:latin typeface="Cambria Math" panose="02040503050406030204" charset="0"/>
                            <a:cs typeface="Cambria Math" panose="02040503050406030204" charset="0"/>
                          </a:rPr>
                          <m:t>𝑖</m:t>
                        </m:r>
                      </m:sub>
                    </m:sSub>
                    <m:r>
                      <a:rPr lang="en-US" altLang="zh-CN" sz="2000" i="1">
                        <a:latin typeface="Cambria Math" panose="02040503050406030204" charset="0"/>
                        <a:cs typeface="Cambria Math" panose="02040503050406030204" charset="0"/>
                      </a:rPr>
                      <m:t>(</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𝑤</m:t>
                        </m:r>
                      </m:e>
                      <m:sup>
                        <m:r>
                          <a:rPr lang="en-US" altLang="zh-CN" sz="2000" i="1">
                            <a:latin typeface="Cambria Math" panose="02040503050406030204" charset="0"/>
                            <a:cs typeface="Cambria Math" panose="02040503050406030204" charset="0"/>
                          </a:rPr>
                          <m:t>∗</m:t>
                        </m:r>
                      </m:sup>
                    </m:sSup>
                    <m:r>
                      <a:rPr lang="en-US" altLang="zh-CN" sz="2000" i="1">
                        <a:latin typeface="Cambria Math" panose="02040503050406030204" charset="0"/>
                        <a:cs typeface="Cambria Math" panose="02040503050406030204" charset="0"/>
                      </a:rPr>
                      <m:t>)</m:t>
                    </m:r>
                  </m:oMath>
                </a14:m>
                <a:endParaRPr lang="en-US" altLang="zh-CN" sz="2000" i="1">
                  <a:latin typeface="Cambria Math" panose="02040503050406030204" charset="0"/>
                  <a:cs typeface="Cambria Math" panose="02040503050406030204" charset="0"/>
                </a:endParaRPr>
              </a:p>
              <a:p>
                <a:pPr algn="l"/>
                <a:r>
                  <a:rPr lang="zh-CN" altLang="en-US" sz="2000">
                    <a:latin typeface="Cambria Math" panose="02040503050406030204" charset="0"/>
                    <a:cs typeface="Cambria Math" panose="02040503050406030204" charset="0"/>
                  </a:rPr>
                  <a:t>则</a:t>
                </a:r>
                <a14:m>
                  <m:oMath xmlns:m="http://schemas.openxmlformats.org/officeDocument/2006/math">
                    <m:r>
                      <a:rPr lang="en-US" altLang="zh-CN" sz="2000" i="1">
                        <a:latin typeface="Cambria Math" panose="02040503050406030204" charset="0"/>
                        <a:ea typeface="MS Mincho" charset="0"/>
                        <a:cs typeface="Cambria Math" panose="02040503050406030204" charset="0"/>
                      </a:rPr>
                      <m:t>𝔼</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cs typeface="Cambria Math" panose="02040503050406030204" charset="0"/>
                      </a:rPr>
                      <m:t>𝑎</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ea typeface="MS Mincho" charset="0"/>
                            <a:cs typeface="Cambria Math" panose="02040503050406030204" charset="0"/>
                          </a:rPr>
                          <m:t>‖</m:t>
                        </m:r>
                      </m:e>
                      <m:sup>
                        <m:r>
                          <a:rPr lang="en-US" altLang="zh-CN" sz="2000" i="1">
                            <a:latin typeface="Cambria Math" panose="02040503050406030204" charset="0"/>
                            <a:ea typeface="MS Mincho" charset="0"/>
                            <a:cs typeface="Cambria Math" panose="02040503050406030204" charset="0"/>
                          </a:rPr>
                          <m:t>2</m:t>
                        </m:r>
                      </m:sup>
                    </m:sSup>
                    <m:r>
                      <a:rPr lang="en-US" altLang="zh-CN" sz="2000" i="1">
                        <a:latin typeface="Cambria Math" panose="02040503050406030204" charset="0"/>
                        <a:ea typeface="MS Mincho" charset="0"/>
                        <a:cs typeface="Cambria Math" panose="02040503050406030204" charset="0"/>
                      </a:rPr>
                      <m:t>=</m:t>
                    </m:r>
                    <m:f>
                      <m:fPr>
                        <m:ctrlPr>
                          <a:rPr lang="en-US" altLang="zh-CN" sz="2000" i="1">
                            <a:latin typeface="Cambria Math" panose="02040503050406030204" charset="0"/>
                            <a:cs typeface="Cambria Math" panose="02040503050406030204" charset="0"/>
                          </a:rPr>
                        </m:ctrlPr>
                      </m:fPr>
                      <m:num>
                        <m:r>
                          <a:rPr lang="en-US" altLang="zh-CN" sz="2000" i="1">
                            <a:latin typeface="Cambria Math" panose="02040503050406030204" charset="0"/>
                            <a:ea typeface="MS Mincho" charset="0"/>
                            <a:cs typeface="Cambria Math" panose="02040503050406030204" charset="0"/>
                          </a:rPr>
                          <m:t>1</m:t>
                        </m:r>
                      </m:num>
                      <m:den>
                        <m:r>
                          <a:rPr lang="en-US" altLang="zh-CN" sz="2000" i="1">
                            <a:latin typeface="Cambria Math" panose="02040503050406030204" charset="0"/>
                            <a:cs typeface="Cambria Math" panose="02040503050406030204" charset="0"/>
                          </a:rPr>
                          <m:t>𝑛</m:t>
                        </m:r>
                      </m:den>
                    </m:f>
                    <m:nary>
                      <m:naryPr>
                        <m:chr m:val="∑"/>
                        <m:limLoc m:val="subSup"/>
                        <m:supHide m:val="on"/>
                        <m:ctrlPr>
                          <a:rPr lang="en-US" altLang="zh-CN" sz="2000" i="1">
                            <a:latin typeface="Cambria Math" panose="02040503050406030204" charset="0"/>
                            <a:cs typeface="Cambria Math" panose="02040503050406030204" charset="0"/>
                          </a:rPr>
                        </m:ctrlPr>
                      </m:naryPr>
                      <m:sub>
                        <m:r>
                          <a:rPr lang="en-US" altLang="zh-CN" sz="2000" i="1">
                            <a:latin typeface="Cambria Math" panose="02040503050406030204" charset="0"/>
                            <a:cs typeface="Cambria Math" panose="02040503050406030204" charset="0"/>
                          </a:rPr>
                          <m:t>𝑖</m:t>
                        </m:r>
                      </m:sub>
                      <m:sup/>
                      <m:e>
                        <m:r>
                          <a:rPr lang="en-US" altLang="zh-CN" sz="2000" i="1">
                            <a:latin typeface="Cambria Math" panose="02040503050406030204" charset="0"/>
                            <a:ea typeface="MS Mincho" charset="0"/>
                            <a:cs typeface="Cambria Math" panose="02040503050406030204" charset="0"/>
                          </a:rPr>
                          <m:t>‖</m:t>
                        </m:r>
                      </m:e>
                    </m:nary>
                    <m:r>
                      <a:rPr lang="en-US" altLang="zh-CN" sz="2000" i="1">
                        <a:latin typeface="Cambria Math" panose="02040503050406030204" charset="0"/>
                        <a:ea typeface="MS Mincho" charset="0"/>
                        <a:cs typeface="Cambria Math" panose="02040503050406030204" charset="0"/>
                      </a:rPr>
                      <m:t>𝛻</m:t>
                    </m:r>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ea typeface="MS Mincho" charset="0"/>
                            <a:cs typeface="Cambria Math" panose="02040503050406030204" charset="0"/>
                          </a:rPr>
                          <m:t>𝜓</m:t>
                        </m:r>
                      </m:e>
                      <m:sub>
                        <m:r>
                          <a:rPr lang="en-US" altLang="zh-CN" sz="2000" i="1">
                            <a:latin typeface="Cambria Math" panose="02040503050406030204" charset="0"/>
                            <a:cs typeface="Cambria Math" panose="02040503050406030204" charset="0"/>
                          </a:rPr>
                          <m:t>𝑖</m:t>
                        </m:r>
                      </m:sub>
                    </m:sSub>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cs typeface="Cambria Math" panose="02040503050406030204" charset="0"/>
                      </a:rPr>
                      <m:t>𝑤</m:t>
                    </m:r>
                    <m:r>
                      <a:rPr lang="en-US" altLang="zh-CN" sz="2000" i="1">
                        <a:latin typeface="Cambria Math" panose="02040503050406030204" charset="0"/>
                        <a:ea typeface="MS Mincho" charset="0"/>
                        <a:cs typeface="Cambria Math" panose="02040503050406030204" charset="0"/>
                      </a:rPr>
                      <m:t>)−</m:t>
                    </m:r>
                    <m:r>
                      <a:rPr lang="en-US" altLang="zh-CN" sz="2000" i="1">
                        <a:latin typeface="Cambria Math" panose="02040503050406030204" charset="0"/>
                        <a:ea typeface="MS Mincho" charset="0"/>
                        <a:cs typeface="Cambria Math" panose="02040503050406030204" charset="0"/>
                      </a:rPr>
                      <m:t>𝛻</m:t>
                    </m:r>
                    <m:sSub>
                      <m:sSubPr>
                        <m:ctrlPr>
                          <a:rPr lang="en-US" altLang="zh-CN" sz="2000" i="1">
                            <a:latin typeface="Cambria Math" panose="02040503050406030204" charset="0"/>
                            <a:cs typeface="Cambria Math" panose="02040503050406030204" charset="0"/>
                          </a:rPr>
                        </m:ctrlPr>
                      </m:sSubPr>
                      <m:e>
                        <m:r>
                          <a:rPr lang="en-US" altLang="zh-CN" sz="2000" i="1">
                            <a:latin typeface="Cambria Math" panose="02040503050406030204" charset="0"/>
                            <a:ea typeface="MS Mincho" charset="0"/>
                            <a:cs typeface="Cambria Math" panose="02040503050406030204" charset="0"/>
                          </a:rPr>
                          <m:t>𝜓</m:t>
                        </m:r>
                      </m:e>
                      <m:sub>
                        <m:r>
                          <a:rPr lang="en-US" altLang="zh-CN" sz="2000" i="1">
                            <a:latin typeface="Cambria Math" panose="02040503050406030204" charset="0"/>
                            <a:cs typeface="Cambria Math" panose="02040503050406030204" charset="0"/>
                          </a:rPr>
                          <m:t>𝑖</m:t>
                        </m:r>
                      </m:sub>
                    </m:sSub>
                    <m:r>
                      <a:rPr lang="en-US" altLang="zh-CN" sz="2000" i="1">
                        <a:latin typeface="Cambria Math" panose="02040503050406030204" charset="0"/>
                        <a:ea typeface="MS Mincho" charset="0"/>
                        <a:cs typeface="Cambria Math" panose="02040503050406030204" charset="0"/>
                      </a:rPr>
                      <m:t>(</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𝑤</m:t>
                        </m:r>
                      </m:e>
                      <m:sup>
                        <m:r>
                          <a:rPr lang="en-US" altLang="zh-CN" sz="2000" i="1">
                            <a:latin typeface="Cambria Math" panose="02040503050406030204" charset="0"/>
                            <a:ea typeface="MS Mincho" charset="0"/>
                            <a:cs typeface="Cambria Math" panose="02040503050406030204" charset="0"/>
                          </a:rPr>
                          <m:t>∗</m:t>
                        </m:r>
                      </m:sup>
                    </m:sSup>
                    <m:r>
                      <a:rPr lang="en-US" altLang="zh-CN" sz="2000" i="1">
                        <a:latin typeface="Cambria Math" panose="02040503050406030204" charset="0"/>
                        <a:ea typeface="MS Mincho" charset="0"/>
                        <a:cs typeface="Cambria Math" panose="02040503050406030204" charset="0"/>
                      </a:rPr>
                      <m:t>)</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ea typeface="MS Mincho" charset="0"/>
                            <a:cs typeface="Cambria Math" panose="02040503050406030204" charset="0"/>
                          </a:rPr>
                          <m:t>‖</m:t>
                        </m:r>
                      </m:e>
                      <m:sup>
                        <m:r>
                          <a:rPr lang="en-US" altLang="zh-CN" sz="2000" i="1">
                            <a:latin typeface="Cambria Math" panose="02040503050406030204" charset="0"/>
                            <a:ea typeface="MS Mincho" charset="0"/>
                            <a:cs typeface="Cambria Math" panose="02040503050406030204" charset="0"/>
                          </a:rPr>
                          <m:t>2</m:t>
                        </m:r>
                      </m:sup>
                    </m:sSup>
                  </m:oMath>
                </a14:m>
                <a:endParaRPr lang="en-US" altLang="zh-CN" sz="2000" i="1">
                  <a:latin typeface="Cambria Math" panose="02040503050406030204" charset="0"/>
                  <a:cs typeface="Cambria Math" panose="02040503050406030204" charset="0"/>
                </a:endParaRPr>
              </a:p>
            </p:txBody>
          </p:sp>
        </mc:Choice>
        <mc:Fallback>
          <p:sp>
            <p:nvSpPr>
              <p:cNvPr id="30" name="文本框 29"/>
              <p:cNvSpPr txBox="1">
                <a:spLocks noRot="1" noChangeAspect="1" noMove="1" noResize="1" noEditPoints="1" noAdjustHandles="1" noChangeArrowheads="1" noChangeShapeType="1" noTextEdit="1"/>
              </p:cNvSpPr>
              <p:nvPr/>
            </p:nvSpPr>
            <p:spPr>
              <a:xfrm>
                <a:off x="3625850" y="813435"/>
                <a:ext cx="5612130" cy="837565"/>
              </a:xfrm>
              <a:prstGeom prst="rect">
                <a:avLst/>
              </a:prstGeom>
              <a:blipFill rotWithShape="1">
                <a:blip r:embed="rId18"/>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文本框 28"/>
              <p:cNvSpPr txBox="1"/>
              <p:nvPr/>
            </p:nvSpPr>
            <p:spPr>
              <a:xfrm>
                <a:off x="128270" y="3035300"/>
                <a:ext cx="4064000" cy="531495"/>
              </a:xfrm>
              <a:prstGeom prst="rect">
                <a:avLst/>
              </a:prstGeom>
              <a:noFill/>
            </p:spPr>
            <p:txBody>
              <a:bodyPr wrap="square" rtlCol="0">
                <a:noAutofit/>
              </a:bodyPr>
              <a:p>
                <a:r>
                  <a:rPr lang="zh-CN" altLang="en-US" sz="2400" b="1">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对于第二项</a:t>
                </a:r>
                <a14:m>
                  <m:oMath xmlns:m="http://schemas.openxmlformats.org/officeDocument/2006/math">
                    <m:r>
                      <a:rPr lang="en-US" altLang="zh-CN" sz="2400" b="1" i="1">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t>𝔼</m:t>
                    </m:r>
                    <m:r>
                      <a:rPr lang="en-US" altLang="zh-CN" sz="2400" b="1" i="1">
                        <a:solidFill>
                          <a:srgbClr val="1B4332"/>
                        </a:solidFill>
                        <a:latin typeface="Cambria Math" panose="02040503050406030204" charset="0"/>
                        <a:ea typeface="MS Mincho" charset="0"/>
                        <a:cs typeface="Cambria Math" panose="02040503050406030204" charset="0"/>
                        <a:sym typeface="Noto Sans SC" panose="020B0200000000000000" charset="-122"/>
                      </a:rPr>
                      <m:t>‖</m:t>
                    </m:r>
                    <m:r>
                      <a:rPr lang="en-US" altLang="zh-CN" sz="2400" b="1" i="1">
                        <a:solidFill>
                          <a:srgbClr val="1B4332"/>
                        </a:solidFill>
                        <a:latin typeface="Cambria Math" panose="02040503050406030204" charset="0"/>
                        <a:ea typeface="MS Mincho" charset="0"/>
                        <a:cs typeface="Cambria Math" panose="02040503050406030204" charset="0"/>
                        <a:sym typeface="Noto Sans SC" panose="020B0200000000000000" charset="-122"/>
                      </a:rPr>
                      <m:t>𝑏</m:t>
                    </m:r>
                    <m:sSup>
                      <m:sSupPr>
                        <m:ctrlPr>
                          <a:rPr lang="en-US" altLang="zh-CN" sz="2400" b="1" i="1">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pPr>
                      <m:e>
                        <m:r>
                          <a:rPr lang="en-US" altLang="zh-CN" sz="2400" b="1" i="1">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t>‖</m:t>
                        </m:r>
                      </m:e>
                      <m:sup>
                        <m:r>
                          <a:rPr lang="en-US" altLang="zh-CN" sz="2400" b="1" i="1">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rPr>
                          <m:t>2</m:t>
                        </m:r>
                      </m:sup>
                    </m:sSup>
                  </m:oMath>
                </a14:m>
                <a:endParaRPr lang="en-US" altLang="zh-CN" sz="2400" b="1" i="1">
                  <a:solidFill>
                    <a:srgbClr val="1B4332"/>
                  </a:solidFill>
                  <a:latin typeface="Cambria Math" panose="02040503050406030204" charset="0"/>
                  <a:ea typeface="Noto Sans SC" panose="020B0200000000000000" charset="-122"/>
                  <a:cs typeface="Cambria Math" panose="02040503050406030204" charset="0"/>
                  <a:sym typeface="Noto Sans SC" panose="020B0200000000000000" charset="-122"/>
                </a:endParaRPr>
              </a:p>
              <a:p>
                <a:endParaRPr lang="zh-CN" altLang="en-US" sz="2400"/>
              </a:p>
            </p:txBody>
          </p:sp>
        </mc:Choice>
        <mc:Fallback>
          <p:sp>
            <p:nvSpPr>
              <p:cNvPr id="29" name="文本框 28"/>
              <p:cNvSpPr txBox="1">
                <a:spLocks noRot="1" noChangeAspect="1" noMove="1" noResize="1" noEditPoints="1" noAdjustHandles="1" noChangeArrowheads="1" noChangeShapeType="1" noTextEdit="1"/>
              </p:cNvSpPr>
              <p:nvPr/>
            </p:nvSpPr>
            <p:spPr>
              <a:xfrm>
                <a:off x="128270" y="3035300"/>
                <a:ext cx="4064000" cy="531495"/>
              </a:xfrm>
              <a:prstGeom prst="rect">
                <a:avLst/>
              </a:prstGeom>
              <a:blipFill rotWithShape="1">
                <a:blip r:embed="rId19"/>
                <a:stretch>
                  <a:fillRect b="-4850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文本框 30"/>
              <p:cNvSpPr txBox="1"/>
              <p:nvPr/>
            </p:nvSpPr>
            <p:spPr>
              <a:xfrm>
                <a:off x="3067050" y="2327275"/>
                <a:ext cx="5612130" cy="476250"/>
              </a:xfrm>
              <a:prstGeom prst="rect">
                <a:avLst/>
              </a:prstGeom>
              <a:noFill/>
            </p:spPr>
            <p:txBody>
              <a:bodyPr wrap="square" rtlCol="0">
                <a:spAutoFit/>
              </a:bodyPr>
              <a:p>
                <a:r>
                  <a:rPr lang="zh-CN" altLang="en-US" sz="2400"/>
                  <a:t>则有：</a:t>
                </a:r>
                <a14:m>
                  <m:oMath xmlns:m="http://schemas.openxmlformats.org/officeDocument/2006/math">
                    <m:r>
                      <a:rPr lang="en-US" altLang="zh-CN" sz="2400" i="1">
                        <a:latin typeface="Cambria Math" panose="02040503050406030204" charset="0"/>
                        <a:cs typeface="Cambria Math" panose="02040503050406030204" charset="0"/>
                      </a:rPr>
                      <m:t>𝐸</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𝑎</m:t>
                    </m:r>
                    <m:sSup>
                      <m:sSupPr>
                        <m:ctrlPr>
                          <a:rPr lang="en-US" altLang="zh-CN" sz="2400" i="1">
                            <a:latin typeface="Cambria Math" panose="02040503050406030204" charset="0"/>
                            <a:cs typeface="Cambria Math" panose="02040503050406030204" charset="0"/>
                          </a:rPr>
                        </m:ctrlPr>
                      </m:sSupPr>
                      <m:e>
                        <m:r>
                          <a:rPr lang="en-US" altLang="zh-CN" sz="2400" i="1">
                            <a:latin typeface="Cambria Math" panose="02040503050406030204" charset="0"/>
                            <a:cs typeface="Cambria Math" panose="02040503050406030204" charset="0"/>
                          </a:rPr>
                          <m:t>‖</m:t>
                        </m:r>
                      </m:e>
                      <m:sup>
                        <m:r>
                          <a:rPr lang="en-US" altLang="zh-CN" sz="2400" i="1">
                            <a:latin typeface="Cambria Math" panose="02040503050406030204" charset="0"/>
                            <a:cs typeface="Cambria Math" panose="02040503050406030204" charset="0"/>
                          </a:rPr>
                          <m:t>2</m:t>
                        </m:r>
                      </m:sup>
                    </m:sSup>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2</m:t>
                    </m:r>
                    <m:r>
                      <a:rPr lang="en-US" altLang="zh-CN" sz="2400" i="1">
                        <a:latin typeface="Cambria Math" panose="02040503050406030204" charset="0"/>
                        <a:cs typeface="Cambria Math" panose="02040503050406030204" charset="0"/>
                      </a:rPr>
                      <m:t>𝐿</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𝑃</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𝑤</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𝑃</m:t>
                    </m:r>
                    <m:r>
                      <a:rPr lang="en-US" altLang="zh-CN" sz="2400" i="1">
                        <a:latin typeface="Cambria Math" panose="02040503050406030204" charset="0"/>
                        <a:cs typeface="Cambria Math" panose="02040503050406030204" charset="0"/>
                      </a:rPr>
                      <m:t>(</m:t>
                    </m:r>
                    <m:sSup>
                      <m:sSupPr>
                        <m:ctrlPr>
                          <a:rPr lang="en-US" altLang="zh-CN" sz="2400" i="1">
                            <a:latin typeface="Cambria Math" panose="02040503050406030204" charset="0"/>
                            <a:cs typeface="Cambria Math" panose="02040503050406030204" charset="0"/>
                          </a:rPr>
                        </m:ctrlPr>
                      </m:sSupPr>
                      <m:e>
                        <m:r>
                          <a:rPr lang="en-US" altLang="zh-CN" sz="2400" i="1">
                            <a:latin typeface="Cambria Math" panose="02040503050406030204" charset="0"/>
                            <a:cs typeface="Cambria Math" panose="02040503050406030204" charset="0"/>
                          </a:rPr>
                          <m:t>𝑤</m:t>
                        </m:r>
                      </m:e>
                      <m:sup>
                        <m:r>
                          <a:rPr lang="en-US" altLang="zh-CN" sz="2400" i="1">
                            <a:latin typeface="Cambria Math" panose="02040503050406030204" charset="0"/>
                            <a:cs typeface="Cambria Math" panose="02040503050406030204" charset="0"/>
                          </a:rPr>
                          <m:t>∗</m:t>
                        </m:r>
                      </m:sup>
                    </m:sSup>
                    <m:r>
                      <a:rPr lang="en-US" altLang="zh-CN" sz="2400" i="1">
                        <a:latin typeface="Cambria Math" panose="02040503050406030204" charset="0"/>
                        <a:cs typeface="Cambria Math" panose="02040503050406030204" charset="0"/>
                      </a:rPr>
                      <m:t>))</m:t>
                    </m:r>
                  </m:oMath>
                </a14:m>
                <a:endParaRPr lang="en-US" altLang="zh-CN" sz="2400" i="1">
                  <a:latin typeface="Cambria Math" panose="02040503050406030204" charset="0"/>
                  <a:cs typeface="Cambria Math" panose="02040503050406030204" charset="0"/>
                </a:endParaRPr>
              </a:p>
            </p:txBody>
          </p:sp>
        </mc:Choice>
        <mc:Fallback>
          <p:sp>
            <p:nvSpPr>
              <p:cNvPr id="31" name="文本框 30"/>
              <p:cNvSpPr txBox="1">
                <a:spLocks noRot="1" noChangeAspect="1" noMove="1" noResize="1" noEditPoints="1" noAdjustHandles="1" noChangeArrowheads="1" noChangeShapeType="1" noTextEdit="1"/>
              </p:cNvSpPr>
              <p:nvPr/>
            </p:nvSpPr>
            <p:spPr>
              <a:xfrm>
                <a:off x="3067050" y="2327275"/>
                <a:ext cx="5612130" cy="476250"/>
              </a:xfrm>
              <a:prstGeom prst="rect">
                <a:avLst/>
              </a:prstGeom>
              <a:blipFill rotWithShape="1">
                <a:blip r:embed="rId20"/>
                <a:stretch>
                  <a:fillRect/>
                </a:stretch>
              </a:blipFill>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A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308100" y="-1270000"/>
            <a:ext cx="3810000" cy="3810000"/>
          </a:xfrm>
          <a:prstGeom prst="ellipse">
            <a:avLst/>
          </a:prstGeom>
          <a:solidFill>
            <a:srgbClr val="52B788">
              <a:alpha val="8000"/>
            </a:srgbClr>
          </a:solidFill>
          <a:ln w="25400" cap="flat" cmpd="sng">
            <a:noFill/>
            <a:prstDash val="solid"/>
            <a:round/>
          </a:ln>
        </p:spPr>
        <p:txBody>
          <a:bodyPr vert="horz" wrap="square" lIns="63500" tIns="63500" rIns="63500" bIns="63500" rtlCol="0" anchor="ctr"/>
          <a:lstStyle/>
          <a:p>
            <a:pPr algn="ctr">
              <a:defRPr/>
            </a:pPr>
          </a:p>
        </p:txBody>
      </p:sp>
      <p:cxnSp>
        <p:nvCxnSpPr>
          <p:cNvPr id="7" name="Connector 7"/>
          <p:cNvCxnSpPr/>
          <p:nvPr>
            <p:custDataLst>
              <p:tags r:id="rId1"/>
            </p:custDataLst>
          </p:nvPr>
        </p:nvCxnSpPr>
        <p:spPr>
          <a:xfrm rot="-8185">
            <a:off x="508008" y="3041650"/>
            <a:ext cx="5334000" cy="12700"/>
          </a:xfrm>
          <a:prstGeom prst="straightConnector1">
            <a:avLst/>
          </a:prstGeom>
          <a:solidFill>
            <a:srgbClr val="DEE0E3">
              <a:alpha val="100000"/>
            </a:srgbClr>
          </a:solidFill>
          <a:ln w="25400" cap="flat" cmpd="sng">
            <a:solidFill>
              <a:srgbClr val="D8F3DC">
                <a:alpha val="100000"/>
              </a:srgbClr>
            </a:solidFill>
            <a:prstDash val="solid"/>
            <a:round/>
            <a:headEnd type="none" w="lg" len="lg"/>
            <a:tailEnd type="none" w="lg" len="lg"/>
          </a:ln>
        </p:spPr>
      </p:cxnSp>
      <p:cxnSp>
        <p:nvCxnSpPr>
          <p:cNvPr id="11" name="Connector 11"/>
          <p:cNvCxnSpPr/>
          <p:nvPr>
            <p:custDataLst>
              <p:tags r:id="rId2"/>
            </p:custDataLst>
          </p:nvPr>
        </p:nvCxnSpPr>
        <p:spPr>
          <a:xfrm rot="-8185">
            <a:off x="508008" y="4629150"/>
            <a:ext cx="5334000" cy="12700"/>
          </a:xfrm>
          <a:prstGeom prst="straightConnector1">
            <a:avLst/>
          </a:prstGeom>
          <a:solidFill>
            <a:srgbClr val="DEE0E3">
              <a:alpha val="100000"/>
            </a:srgbClr>
          </a:solidFill>
          <a:ln w="25400" cap="flat" cmpd="sng">
            <a:solidFill>
              <a:srgbClr val="D8F3DC">
                <a:alpha val="100000"/>
              </a:srgbClr>
            </a:solidFill>
            <a:prstDash val="solid"/>
            <a:round/>
            <a:headEnd type="none" w="lg" len="lg"/>
            <a:tailEnd type="none" w="lg" len="lg"/>
          </a:ln>
        </p:spPr>
      </p:cxnSp>
      <p:cxnSp>
        <p:nvCxnSpPr>
          <p:cNvPr id="18" name="Connector 18"/>
          <p:cNvCxnSpPr/>
          <p:nvPr>
            <p:custDataLst>
              <p:tags r:id="rId3"/>
            </p:custDataLst>
          </p:nvPr>
        </p:nvCxnSpPr>
        <p:spPr>
          <a:xfrm rot="-8185">
            <a:off x="6350008" y="3041650"/>
            <a:ext cx="5334000" cy="12700"/>
          </a:xfrm>
          <a:prstGeom prst="straightConnector1">
            <a:avLst/>
          </a:prstGeom>
          <a:solidFill>
            <a:srgbClr val="DEE0E3">
              <a:alpha val="100000"/>
            </a:srgbClr>
          </a:solidFill>
          <a:ln w="25400" cap="flat" cmpd="sng">
            <a:solidFill>
              <a:srgbClr val="D8F3DC">
                <a:alpha val="100000"/>
              </a:srgbClr>
            </a:solidFill>
            <a:prstDash val="solid"/>
            <a:round/>
            <a:headEnd type="none" w="lg" len="lg"/>
            <a:tailEnd type="none" w="lg" len="lg"/>
          </a:ln>
        </p:spPr>
      </p:cxnSp>
      <p:sp>
        <p:nvSpPr>
          <p:cNvPr id="19" name="AutoShape 19"/>
          <p:cNvSpPr/>
          <p:nvPr>
            <p:custDataLst>
              <p:tags r:id="rId4"/>
            </p:custDataLst>
          </p:nvPr>
        </p:nvSpPr>
        <p:spPr>
          <a:xfrm>
            <a:off x="6278245" y="31750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cxnSp>
        <p:nvCxnSpPr>
          <p:cNvPr id="22" name="Connector 22"/>
          <p:cNvCxnSpPr/>
          <p:nvPr>
            <p:custDataLst>
              <p:tags r:id="rId5"/>
            </p:custDataLst>
          </p:nvPr>
        </p:nvCxnSpPr>
        <p:spPr>
          <a:xfrm rot="-8185">
            <a:off x="6350008" y="4629150"/>
            <a:ext cx="5334000" cy="12700"/>
          </a:xfrm>
          <a:prstGeom prst="straightConnector1">
            <a:avLst/>
          </a:prstGeom>
          <a:solidFill>
            <a:srgbClr val="DEE0E3">
              <a:alpha val="100000"/>
            </a:srgbClr>
          </a:solidFill>
          <a:ln w="25400" cap="flat" cmpd="sng">
            <a:solidFill>
              <a:srgbClr val="D8F3DC">
                <a:alpha val="100000"/>
              </a:srgbClr>
            </a:solidFill>
            <a:prstDash val="solid"/>
            <a:round/>
            <a:headEnd type="none" w="lg" len="lg"/>
            <a:tailEnd type="none" w="lg" len="lg"/>
          </a:ln>
        </p:spPr>
      </p:cxnSp>
      <p:sp>
        <p:nvSpPr>
          <p:cNvPr id="26" name="AutoShape 26"/>
          <p:cNvSpPr/>
          <p:nvPr/>
        </p:nvSpPr>
        <p:spPr>
          <a:xfrm>
            <a:off x="11176000" y="5842000"/>
            <a:ext cx="762000" cy="762000"/>
          </a:xfrm>
          <a:prstGeom prst="ellipse">
            <a:avLst/>
          </a:prstGeom>
          <a:solidFill>
            <a:srgbClr val="D8F3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10922000" y="6096000"/>
            <a:ext cx="304800" cy="304800"/>
          </a:xfrm>
          <a:prstGeom prst="ellipse">
            <a:avLst/>
          </a:prstGeom>
          <a:solidFill>
            <a:srgbClr val="52B788">
              <a:alpha val="30000"/>
            </a:srgbClr>
          </a:solidFill>
          <a:ln w="25400" cap="flat" cmpd="sng">
            <a:noFill/>
            <a:prstDash val="solid"/>
            <a:round/>
          </a:ln>
        </p:spPr>
        <p:txBody>
          <a:bodyPr vert="horz" wrap="square" lIns="63500" tIns="63500" rIns="63500" bIns="63500" rtlCol="0" anchor="ctr"/>
          <a:lstStyle/>
          <a:p>
            <a:pPr algn="ctr">
              <a:defRPr/>
            </a:pPr>
          </a:p>
        </p:txBody>
      </p:sp>
      <mc:AlternateContent xmlns:mc="http://schemas.openxmlformats.org/markup-compatibility/2006">
        <mc:Choice xmlns:a14="http://schemas.microsoft.com/office/drawing/2010/main" Requires="a14">
          <p:sp>
            <p:nvSpPr>
              <p:cNvPr id="28" name="文本框 27"/>
              <p:cNvSpPr txBox="1"/>
              <p:nvPr/>
            </p:nvSpPr>
            <p:spPr>
              <a:xfrm>
                <a:off x="1845310" y="1030605"/>
                <a:ext cx="7799705" cy="2091690"/>
              </a:xfrm>
              <a:prstGeom prst="rect">
                <a:avLst/>
              </a:prstGeom>
              <a:noFill/>
            </p:spPr>
            <p:txBody>
              <a:bodyPr wrap="square" rtlCol="0">
                <a:noAutofit/>
              </a:bodyPr>
              <a:p>
                <a:r>
                  <a:rPr lang="zh-CN" altLang="en-US" sz="2400"/>
                  <a:t>合并两部分，则有：</a:t>
                </a:r>
                <a:endParaRPr lang="zh-CN" altLang="en-US" sz="2400"/>
              </a:p>
              <a:p>
                <a14:m>
                  <m:oMathPara xmlns:m="http://schemas.openxmlformats.org/officeDocument/2006/math">
                    <m:oMathParaPr>
                      <m:jc m:val="centerGroup"/>
                    </m:oMathParaPr>
                    <m:oMath xmlns:m="http://schemas.openxmlformats.org/officeDocument/2006/math">
                      <m:r>
                        <a:rPr lang="en-US" altLang="zh-CN" sz="2400" i="1">
                          <a:latin typeface="Cambria Math" panose="02040503050406030204" charset="0"/>
                          <a:cs typeface="Cambria Math" panose="02040503050406030204" charset="0"/>
                        </a:rPr>
                        <m:t>𝐸</m:t>
                      </m:r>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𝑣</m:t>
                          </m:r>
                        </m:e>
                        <m:sub>
                          <m:r>
                            <a:rPr lang="en-US" altLang="zh-CN" sz="2400" i="1">
                              <a:latin typeface="Cambria Math" panose="02040503050406030204" charset="0"/>
                              <a:cs typeface="Cambria Math" panose="02040503050406030204" charset="0"/>
                            </a:rPr>
                            <m:t>𝑖</m:t>
                          </m:r>
                        </m:sub>
                      </m:sSub>
                      <m:sSup>
                        <m:sSupPr>
                          <m:ctrlPr>
                            <a:rPr lang="en-US" altLang="zh-CN" sz="2400" i="1">
                              <a:latin typeface="Cambria Math" panose="02040503050406030204" charset="0"/>
                              <a:cs typeface="Cambria Math" panose="02040503050406030204" charset="0"/>
                            </a:rPr>
                          </m:ctrlPr>
                        </m:sSupPr>
                        <m:e>
                          <m:r>
                            <a:rPr lang="en-US" altLang="zh-CN" sz="2400" i="1">
                              <a:latin typeface="Cambria Math" panose="02040503050406030204" charset="0"/>
                              <a:cs typeface="Cambria Math" panose="02040503050406030204" charset="0"/>
                            </a:rPr>
                            <m:t>‖</m:t>
                          </m:r>
                        </m:e>
                        <m:sup>
                          <m:r>
                            <a:rPr lang="en-US" altLang="zh-CN" sz="2400" i="1">
                              <a:latin typeface="Cambria Math" panose="02040503050406030204" charset="0"/>
                              <a:cs typeface="Cambria Math" panose="02040503050406030204" charset="0"/>
                            </a:rPr>
                            <m:t>2</m:t>
                          </m:r>
                        </m:sup>
                      </m:sSup>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4</m:t>
                      </m:r>
                      <m:r>
                        <a:rPr lang="en-US" altLang="zh-CN" sz="2400" i="1">
                          <a:latin typeface="Cambria Math" panose="02040503050406030204" charset="0"/>
                          <a:cs typeface="Cambria Math" panose="02040503050406030204" charset="0"/>
                        </a:rPr>
                        <m:t>𝐿</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𝑃</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𝑤</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𝑃</m:t>
                      </m:r>
                      <m:r>
                        <a:rPr lang="en-US" altLang="zh-CN" sz="2400" i="1">
                          <a:latin typeface="Cambria Math" panose="02040503050406030204" charset="0"/>
                          <a:cs typeface="Cambria Math" panose="02040503050406030204" charset="0"/>
                        </a:rPr>
                        <m:t>(</m:t>
                      </m:r>
                      <m:sSup>
                        <m:sSupPr>
                          <m:ctrlPr>
                            <a:rPr lang="en-US" altLang="zh-CN" sz="2400" i="1">
                              <a:latin typeface="Cambria Math" panose="02040503050406030204" charset="0"/>
                              <a:cs typeface="Cambria Math" panose="02040503050406030204" charset="0"/>
                            </a:rPr>
                          </m:ctrlPr>
                        </m:sSupPr>
                        <m:e>
                          <m:r>
                            <a:rPr lang="en-US" altLang="zh-CN" sz="2400" i="1">
                              <a:latin typeface="Cambria Math" panose="02040503050406030204" charset="0"/>
                              <a:cs typeface="Cambria Math" panose="02040503050406030204" charset="0"/>
                            </a:rPr>
                            <m:t>𝑤</m:t>
                          </m:r>
                        </m:e>
                        <m:sup>
                          <m:r>
                            <a:rPr lang="en-US" altLang="zh-CN" sz="2400" i="1">
                              <a:latin typeface="Cambria Math" panose="02040503050406030204" charset="0"/>
                              <a:cs typeface="Cambria Math" panose="02040503050406030204" charset="0"/>
                            </a:rPr>
                            <m:t>∗</m:t>
                          </m:r>
                        </m:sup>
                      </m:sSup>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𝑃</m:t>
                      </m:r>
                      <m:r>
                        <a:rPr lang="en-US" altLang="zh-CN" sz="2400" i="1">
                          <a:latin typeface="Cambria Math" panose="02040503050406030204" charset="0"/>
                          <a:cs typeface="Cambria Math" panose="02040503050406030204" charset="0"/>
                        </a:rPr>
                        <m:t>(</m:t>
                      </m:r>
                      <m:acc>
                        <m:accPr>
                          <m:chr m:val="̃"/>
                          <m:ctrlPr>
                            <a:rPr lang="en-US" altLang="zh-CN" sz="2400" i="1">
                              <a:latin typeface="Cambria Math" panose="02040503050406030204" charset="0"/>
                              <a:cs typeface="Cambria Math" panose="02040503050406030204" charset="0"/>
                            </a:rPr>
                          </m:ctrlPr>
                        </m:accPr>
                        <m:e>
                          <m:r>
                            <a:rPr lang="en-US" altLang="zh-CN" sz="2400" i="1">
                              <a:latin typeface="Cambria Math" panose="02040503050406030204" charset="0"/>
                              <a:cs typeface="Cambria Math" panose="02040503050406030204" charset="0"/>
                            </a:rPr>
                            <m:t>𝑤</m:t>
                          </m:r>
                        </m:e>
                      </m:acc>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𝑃</m:t>
                      </m:r>
                      <m:r>
                        <a:rPr lang="en-US" altLang="zh-CN" sz="2400" i="1">
                          <a:latin typeface="Cambria Math" panose="02040503050406030204" charset="0"/>
                          <a:cs typeface="Cambria Math" panose="02040503050406030204" charset="0"/>
                        </a:rPr>
                        <m:t>(</m:t>
                      </m:r>
                      <m:sSup>
                        <m:sSupPr>
                          <m:ctrlPr>
                            <a:rPr lang="en-US" altLang="zh-CN" sz="2400" i="1">
                              <a:latin typeface="Cambria Math" panose="02040503050406030204" charset="0"/>
                              <a:cs typeface="Cambria Math" panose="02040503050406030204" charset="0"/>
                            </a:rPr>
                          </m:ctrlPr>
                        </m:sSupPr>
                        <m:e>
                          <m:r>
                            <a:rPr lang="en-US" altLang="zh-CN" sz="2400" i="1">
                              <a:latin typeface="Cambria Math" panose="02040503050406030204" charset="0"/>
                              <a:cs typeface="Cambria Math" panose="02040503050406030204" charset="0"/>
                            </a:rPr>
                            <m:t>𝑤</m:t>
                          </m:r>
                        </m:e>
                        <m:sup>
                          <m:r>
                            <a:rPr lang="en-US" altLang="zh-CN" sz="2400" i="1">
                              <a:latin typeface="Cambria Math" panose="02040503050406030204" charset="0"/>
                              <a:cs typeface="Cambria Math" panose="02040503050406030204" charset="0"/>
                            </a:rPr>
                            <m:t>∗</m:t>
                          </m:r>
                        </m:sup>
                      </m:sSup>
                      <m:r>
                        <a:rPr lang="en-US" altLang="zh-CN" sz="2400" i="1">
                          <a:latin typeface="Cambria Math" panose="02040503050406030204" charset="0"/>
                          <a:cs typeface="Cambria Math" panose="02040503050406030204" charset="0"/>
                        </a:rPr>
                        <m:t>)]</m:t>
                      </m:r>
                    </m:oMath>
                  </m:oMathPara>
                </a14:m>
                <a:endParaRPr lang="en-US" altLang="zh-CN" sz="2400" i="1">
                  <a:latin typeface="Cambria Math" panose="02040503050406030204" charset="0"/>
                  <a:cs typeface="Cambria Math" panose="02040503050406030204" charset="0"/>
                </a:endParaRPr>
              </a:p>
              <a:p>
                <a:r>
                  <a:rPr lang="zh-CN" altLang="en-US" sz="2400">
                    <a:latin typeface="Cambria Math" panose="02040503050406030204" charset="0"/>
                    <a:cs typeface="Cambria Math" panose="02040503050406030204" charset="0"/>
                  </a:rPr>
                  <a:t>训练过程中有：</a:t>
                </a:r>
                <a:r>
                  <a:rPr lang="en-US" altLang="zh-CN" sz="2400">
                    <a:latin typeface="Cambria Math" panose="02040503050406030204" charset="0"/>
                    <a:cs typeface="Cambria Math" panose="02040503050406030204" charset="0"/>
                  </a:rPr>
                  <a:t>			</a:t>
                </a:r>
                <a:endParaRPr lang="en-US" altLang="zh-CN" sz="2400">
                  <a:latin typeface="Cambria Math" panose="02040503050406030204" charset="0"/>
                  <a:cs typeface="Cambria Math" panose="02040503050406030204" charset="0"/>
                </a:endParaRPr>
              </a:p>
              <a:p>
                <a:pPr marL="1371600" lvl="3" indent="457200"/>
                <a:r>
                  <a:rPr lang="en-US" altLang="zh-CN" sz="2400">
                    <a:latin typeface="Cambria Math" panose="02040503050406030204" charset="0"/>
                    <a:cs typeface="Cambria Math" panose="02040503050406030204" charset="0"/>
                  </a:rPr>
                  <a:t> </a:t>
                </a:r>
                <a14:m>
                  <m:oMath xmlns:m="http://schemas.openxmlformats.org/officeDocument/2006/math">
                    <m:r>
                      <a:rPr lang="en-US" altLang="zh-CN" sz="2400" i="1">
                        <a:latin typeface="Cambria Math" panose="02040503050406030204" charset="0"/>
                        <a:cs typeface="Cambria Math" panose="02040503050406030204" charset="0"/>
                      </a:rPr>
                      <m:t>𝑤</m:t>
                    </m:r>
                    <m:r>
                      <a:rPr lang="en-US" altLang="zh-CN" sz="2400" i="1">
                        <a:latin typeface="Cambria Math" panose="02040503050406030204" charset="0"/>
                        <a:cs typeface="Cambria Math" panose="02040503050406030204" charset="0"/>
                      </a:rPr>
                      <m:t>→</m:t>
                    </m:r>
                    <m:sSup>
                      <m:sSupPr>
                        <m:ctrlPr>
                          <a:rPr lang="en-US" altLang="zh-CN" sz="2400" i="1">
                            <a:latin typeface="Cambria Math" panose="02040503050406030204" charset="0"/>
                            <a:cs typeface="Cambria Math" panose="02040503050406030204" charset="0"/>
                          </a:rPr>
                        </m:ctrlPr>
                      </m:sSupPr>
                      <m:e>
                        <m:r>
                          <a:rPr lang="en-US" altLang="zh-CN" sz="2400" i="1">
                            <a:latin typeface="Cambria Math" panose="02040503050406030204" charset="0"/>
                            <a:cs typeface="Cambria Math" panose="02040503050406030204" charset="0"/>
                          </a:rPr>
                          <m:t>𝑤</m:t>
                        </m:r>
                      </m:e>
                      <m:sup>
                        <m:r>
                          <a:rPr lang="en-US" altLang="zh-CN" sz="2400" i="1">
                            <a:latin typeface="Cambria Math" panose="02040503050406030204" charset="0"/>
                            <a:cs typeface="Cambria Math" panose="02040503050406030204" charset="0"/>
                          </a:rPr>
                          <m:t>∗</m:t>
                        </m:r>
                      </m:sup>
                    </m:sSup>
                  </m:oMath>
                </a14:m>
                <a:endParaRPr lang="en-US" altLang="zh-CN" sz="2400" i="1">
                  <a:latin typeface="Cambria Math" panose="02040503050406030204" charset="0"/>
                  <a:cs typeface="Cambria Math" panose="02040503050406030204" charset="0"/>
                </a:endParaRPr>
              </a:p>
              <a:p>
                <a:r>
                  <a:rPr lang="zh-CN" altLang="en-US" sz="2400">
                    <a:latin typeface="Cambria Math" panose="02040503050406030204" charset="0"/>
                    <a:cs typeface="Cambria Math" panose="02040503050406030204" charset="0"/>
                  </a:rPr>
                  <a:t>同时有：</a:t>
                </a:r>
                <a:endParaRPr lang="zh-CN" altLang="en-US" sz="2400">
                  <a:latin typeface="Cambria Math" panose="02040503050406030204" charset="0"/>
                  <a:cs typeface="Cambria Math" panose="02040503050406030204" charset="0"/>
                </a:endParaRPr>
              </a:p>
              <a:p>
                <a:pPr marL="1371600" lvl="3" indent="457200"/>
                <a:r>
                  <a:rPr lang="en-US" altLang="zh-CN" sz="2400">
                    <a:latin typeface="Cambria Math" panose="02040503050406030204" charset="0"/>
                    <a:cs typeface="Cambria Math" panose="02040503050406030204" charset="0"/>
                  </a:rPr>
                  <a:t> </a:t>
                </a:r>
                <a14:m>
                  <m:oMath xmlns:m="http://schemas.openxmlformats.org/officeDocument/2006/math">
                    <m:acc>
                      <m:accPr>
                        <m:chr m:val="̃"/>
                        <m:ctrlPr>
                          <a:rPr lang="en-US" altLang="zh-CN" sz="2400" i="1">
                            <a:latin typeface="Cambria Math" panose="02040503050406030204" charset="0"/>
                            <a:cs typeface="Cambria Math" panose="02040503050406030204" charset="0"/>
                          </a:rPr>
                        </m:ctrlPr>
                      </m:accPr>
                      <m:e>
                        <m:r>
                          <a:rPr lang="en-US" altLang="zh-CN" sz="2400" i="1">
                            <a:latin typeface="Cambria Math" panose="02040503050406030204" charset="0"/>
                            <a:cs typeface="Cambria Math" panose="02040503050406030204" charset="0"/>
                          </a:rPr>
                          <m:t>𝑤</m:t>
                        </m:r>
                      </m:e>
                    </m:acc>
                    <m:r>
                      <a:rPr lang="en-US" altLang="zh-CN" sz="2400" i="1">
                        <a:latin typeface="Cambria Math" panose="02040503050406030204" charset="0"/>
                        <a:cs typeface="Cambria Math" panose="02040503050406030204" charset="0"/>
                      </a:rPr>
                      <m:t>→</m:t>
                    </m:r>
                    <m:sSup>
                      <m:sSupPr>
                        <m:ctrlPr>
                          <a:rPr lang="en-US" altLang="zh-CN" sz="2400" i="1">
                            <a:latin typeface="Cambria Math" panose="02040503050406030204" charset="0"/>
                            <a:cs typeface="Cambria Math" panose="02040503050406030204" charset="0"/>
                          </a:rPr>
                        </m:ctrlPr>
                      </m:sSupPr>
                      <m:e>
                        <m:r>
                          <a:rPr lang="en-US" altLang="zh-CN" sz="2400" i="1">
                            <a:latin typeface="Cambria Math" panose="02040503050406030204" charset="0"/>
                            <a:cs typeface="Cambria Math" panose="02040503050406030204" charset="0"/>
                          </a:rPr>
                          <m:t>𝑤</m:t>
                        </m:r>
                      </m:e>
                      <m:sup>
                        <m:r>
                          <a:rPr lang="en-US" altLang="zh-CN" sz="2400" i="1">
                            <a:latin typeface="Cambria Math" panose="02040503050406030204" charset="0"/>
                            <a:cs typeface="Cambria Math" panose="02040503050406030204" charset="0"/>
                          </a:rPr>
                          <m:t>∗</m:t>
                        </m:r>
                      </m:sup>
                    </m:sSup>
                  </m:oMath>
                </a14:m>
                <a:endParaRPr lang="en-US" altLang="zh-CN" sz="2400" i="1">
                  <a:latin typeface="Cambria Math" panose="02040503050406030204" charset="0"/>
                  <a:cs typeface="Cambria Math" panose="02040503050406030204" charset="0"/>
                </a:endParaRPr>
              </a:p>
              <a:p>
                <a:r>
                  <a:rPr lang="zh-CN" altLang="en-US" sz="2400">
                    <a:latin typeface="Cambria Math" panose="02040503050406030204" charset="0"/>
                    <a:cs typeface="Cambria Math" panose="02040503050406030204" charset="0"/>
                  </a:rPr>
                  <a:t>则有：</a:t>
                </a:r>
                <a:endParaRPr lang="zh-CN" altLang="en-US" sz="2400">
                  <a:latin typeface="Cambria Math" panose="02040503050406030204" charset="0"/>
                  <a:cs typeface="Cambria Math" panose="02040503050406030204" charset="0"/>
                </a:endParaRPr>
              </a:p>
              <a:p>
                <a:pPr marL="1371600" lvl="3" indent="457200"/>
                <a:r>
                  <a:rPr lang="en-US" altLang="zh-CN" sz="2400">
                    <a:latin typeface="Cambria Math" panose="02040503050406030204" charset="0"/>
                    <a:cs typeface="Cambria Math" panose="02040503050406030204" charset="0"/>
                  </a:rPr>
                  <a:t> </a:t>
                </a:r>
                <a14:m>
                  <m:oMath xmlns:m="http://schemas.openxmlformats.org/officeDocument/2006/math">
                    <m:r>
                      <a:rPr lang="en-US" altLang="zh-CN" sz="2400" i="1">
                        <a:latin typeface="Cambria Math" panose="02040503050406030204" charset="0"/>
                        <a:cs typeface="Cambria Math" panose="02040503050406030204" charset="0"/>
                      </a:rPr>
                      <m:t>𝑃</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𝑤</m:t>
                    </m:r>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𝑃</m:t>
                    </m:r>
                    <m:r>
                      <a:rPr lang="en-US" altLang="zh-CN" sz="2400" i="1">
                        <a:latin typeface="Cambria Math" panose="02040503050406030204" charset="0"/>
                        <a:cs typeface="Cambria Math" panose="02040503050406030204" charset="0"/>
                      </a:rPr>
                      <m:t>(</m:t>
                    </m:r>
                    <m:sSup>
                      <m:sSupPr>
                        <m:ctrlPr>
                          <a:rPr lang="en-US" altLang="zh-CN" sz="2400" i="1">
                            <a:latin typeface="Cambria Math" panose="02040503050406030204" charset="0"/>
                            <a:cs typeface="Cambria Math" panose="02040503050406030204" charset="0"/>
                          </a:rPr>
                        </m:ctrlPr>
                      </m:sSupPr>
                      <m:e>
                        <m:r>
                          <a:rPr lang="en-US" altLang="zh-CN" sz="2400" i="1">
                            <a:latin typeface="Cambria Math" panose="02040503050406030204" charset="0"/>
                            <a:cs typeface="Cambria Math" panose="02040503050406030204" charset="0"/>
                          </a:rPr>
                          <m:t>𝑤</m:t>
                        </m:r>
                      </m:e>
                      <m:sup>
                        <m:r>
                          <a:rPr lang="en-US" altLang="zh-CN" sz="2400" i="1">
                            <a:latin typeface="Cambria Math" panose="02040503050406030204" charset="0"/>
                            <a:cs typeface="Cambria Math" panose="02040503050406030204" charset="0"/>
                          </a:rPr>
                          <m:t>∗</m:t>
                        </m:r>
                      </m:sup>
                    </m:sSup>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0</m:t>
                    </m:r>
                  </m:oMath>
                </a14:m>
                <a:r>
                  <a:rPr lang="en-US" altLang="zh-CN" sz="2400" i="1">
                    <a:latin typeface="Cambria Math" panose="02040503050406030204" charset="0"/>
                    <a:cs typeface="Cambria Math" panose="02040503050406030204" charset="0"/>
                  </a:rPr>
                  <a:t>   </a:t>
                </a:r>
                <a:r>
                  <a:rPr lang="zh-CN" altLang="en-US" sz="2400">
                    <a:latin typeface="Cambria Math" panose="02040503050406030204" charset="0"/>
                    <a:cs typeface="Cambria Math" panose="02040503050406030204" charset="0"/>
                  </a:rPr>
                  <a:t>和</a:t>
                </a:r>
                <a:r>
                  <a:rPr lang="en-US" altLang="zh-CN" sz="2400">
                    <a:latin typeface="Cambria Math" panose="02040503050406030204" charset="0"/>
                    <a:cs typeface="Cambria Math" panose="02040503050406030204" charset="0"/>
                  </a:rPr>
                  <a:t> </a:t>
                </a:r>
                <a14:m>
                  <m:oMath xmlns:m="http://schemas.openxmlformats.org/officeDocument/2006/math">
                    <m:r>
                      <a:rPr lang="en-US" altLang="zh-CN" sz="2400" i="1">
                        <a:latin typeface="Cambria Math" panose="02040503050406030204" charset="0"/>
                        <a:cs typeface="Cambria Math" panose="02040503050406030204" charset="0"/>
                      </a:rPr>
                      <m:t>𝑃</m:t>
                    </m:r>
                    <m:r>
                      <a:rPr lang="en-US" altLang="zh-CN" sz="2400" i="1">
                        <a:latin typeface="Cambria Math" panose="02040503050406030204" charset="0"/>
                        <a:cs typeface="Cambria Math" panose="02040503050406030204" charset="0"/>
                      </a:rPr>
                      <m:t>(</m:t>
                    </m:r>
                    <m:acc>
                      <m:accPr>
                        <m:chr m:val="̃"/>
                        <m:ctrlPr>
                          <a:rPr lang="en-US" altLang="zh-CN" sz="2400" i="1">
                            <a:latin typeface="Cambria Math" panose="02040503050406030204" charset="0"/>
                            <a:cs typeface="Cambria Math" panose="02040503050406030204" charset="0"/>
                          </a:rPr>
                        </m:ctrlPr>
                      </m:accPr>
                      <m:e>
                        <m:r>
                          <a:rPr lang="en-US" altLang="zh-CN" sz="2400" i="1">
                            <a:latin typeface="Cambria Math" panose="02040503050406030204" charset="0"/>
                            <a:cs typeface="Cambria Math" panose="02040503050406030204" charset="0"/>
                          </a:rPr>
                          <m:t>𝑤</m:t>
                        </m:r>
                      </m:e>
                    </m:acc>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𝑃</m:t>
                    </m:r>
                    <m:r>
                      <a:rPr lang="en-US" altLang="zh-CN" sz="2400" i="1">
                        <a:latin typeface="Cambria Math" panose="02040503050406030204" charset="0"/>
                        <a:cs typeface="Cambria Math" panose="02040503050406030204" charset="0"/>
                      </a:rPr>
                      <m:t>(</m:t>
                    </m:r>
                    <m:sSup>
                      <m:sSupPr>
                        <m:ctrlPr>
                          <a:rPr lang="en-US" altLang="zh-CN" sz="2400" i="1">
                            <a:latin typeface="Cambria Math" panose="02040503050406030204" charset="0"/>
                            <a:cs typeface="Cambria Math" panose="02040503050406030204" charset="0"/>
                          </a:rPr>
                        </m:ctrlPr>
                      </m:sSupPr>
                      <m:e>
                        <m:r>
                          <a:rPr lang="en-US" altLang="zh-CN" sz="2400" i="1">
                            <a:latin typeface="Cambria Math" panose="02040503050406030204" charset="0"/>
                            <a:cs typeface="Cambria Math" panose="02040503050406030204" charset="0"/>
                          </a:rPr>
                          <m:t>𝑤</m:t>
                        </m:r>
                      </m:e>
                      <m:sup>
                        <m:r>
                          <a:rPr lang="en-US" altLang="zh-CN" sz="2400" i="1">
                            <a:latin typeface="Cambria Math" panose="02040503050406030204" charset="0"/>
                            <a:cs typeface="Cambria Math" panose="02040503050406030204" charset="0"/>
                          </a:rPr>
                          <m:t>∗</m:t>
                        </m:r>
                      </m:sup>
                    </m:sSup>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0</m:t>
                    </m:r>
                  </m:oMath>
                </a14:m>
                <a:endParaRPr lang="en-US" altLang="zh-CN" sz="2400" i="1">
                  <a:latin typeface="Cambria Math" panose="02040503050406030204" charset="0"/>
                  <a:cs typeface="Cambria Math" panose="02040503050406030204" charset="0"/>
                </a:endParaRPr>
              </a:p>
              <a:p>
                <a:r>
                  <a:rPr lang="zh-CN" altLang="en-US" sz="2400">
                    <a:latin typeface="Cambria Math" panose="02040503050406030204" charset="0"/>
                    <a:cs typeface="Cambria Math" panose="02040503050406030204" charset="0"/>
                  </a:rPr>
                  <a:t>因此</a:t>
                </a:r>
                <a:endParaRPr lang="zh-CN" altLang="en-US" sz="2400">
                  <a:latin typeface="Cambria Math" panose="02040503050406030204" charset="0"/>
                  <a:cs typeface="Cambria Math" panose="02040503050406030204" charset="0"/>
                </a:endParaRPr>
              </a:p>
              <a:p>
                <a:pPr marL="1371600" lvl="3" indent="457200"/>
                <a14:m>
                  <m:oMathPara xmlns:m="http://schemas.openxmlformats.org/officeDocument/2006/math">
                    <m:oMathParaPr>
                      <m:jc m:val="left"/>
                    </m:oMathParaPr>
                    <m:oMath xmlns:m="http://schemas.openxmlformats.org/officeDocument/2006/math">
                      <m:r>
                        <a:rPr lang="en-US" altLang="zh-CN" sz="2400" i="1">
                          <a:latin typeface="Cambria Math" panose="02040503050406030204" charset="0"/>
                          <a:cs typeface="Cambria Math" panose="02040503050406030204" charset="0"/>
                        </a:rPr>
                        <m:t>𝐸</m:t>
                      </m:r>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𝑣</m:t>
                          </m:r>
                        </m:e>
                        <m:sub>
                          <m:r>
                            <a:rPr lang="en-US" altLang="zh-CN" sz="2400" i="1">
                              <a:latin typeface="Cambria Math" panose="02040503050406030204" charset="0"/>
                              <a:cs typeface="Cambria Math" panose="02040503050406030204" charset="0"/>
                            </a:rPr>
                            <m:t>𝑖</m:t>
                          </m:r>
                        </m:sub>
                      </m:sSub>
                      <m:sSup>
                        <m:sSupPr>
                          <m:ctrlPr>
                            <a:rPr lang="en-US" altLang="zh-CN" sz="2400" i="1">
                              <a:latin typeface="Cambria Math" panose="02040503050406030204" charset="0"/>
                              <a:cs typeface="Cambria Math" panose="02040503050406030204" charset="0"/>
                            </a:rPr>
                          </m:ctrlPr>
                        </m:sSupPr>
                        <m:e>
                          <m:r>
                            <a:rPr lang="en-US" altLang="zh-CN" sz="2400" i="1">
                              <a:latin typeface="Cambria Math" panose="02040503050406030204" charset="0"/>
                              <a:cs typeface="Cambria Math" panose="02040503050406030204" charset="0"/>
                            </a:rPr>
                            <m:t>‖</m:t>
                          </m:r>
                        </m:e>
                        <m:sup>
                          <m:r>
                            <a:rPr lang="en-US" altLang="zh-CN" sz="2400" i="1">
                              <a:latin typeface="Cambria Math" panose="02040503050406030204" charset="0"/>
                              <a:cs typeface="Cambria Math" panose="02040503050406030204" charset="0"/>
                            </a:rPr>
                            <m:t>2</m:t>
                          </m:r>
                        </m:sup>
                      </m:sSup>
                      <m:r>
                        <a:rPr lang="en-US" altLang="zh-CN" sz="2400" i="1">
                          <a:latin typeface="Cambria Math" panose="02040503050406030204" charset="0"/>
                          <a:cs typeface="Cambria Math" panose="02040503050406030204" charset="0"/>
                        </a:rPr>
                        <m:t>→</m:t>
                      </m:r>
                      <m:r>
                        <a:rPr lang="en-US" altLang="zh-CN" sz="2400" i="1">
                          <a:latin typeface="Cambria Math" panose="02040503050406030204" charset="0"/>
                          <a:cs typeface="Cambria Math" panose="02040503050406030204" charset="0"/>
                        </a:rPr>
                        <m:t>0</m:t>
                      </m:r>
                    </m:oMath>
                  </m:oMathPara>
                </a14:m>
                <a:endParaRPr lang="en-US" altLang="zh-CN" sz="2400" i="1">
                  <a:latin typeface="Cambria Math" panose="02040503050406030204" charset="0"/>
                  <a:cs typeface="Cambria Math" panose="02040503050406030204" charset="0"/>
                </a:endParaRPr>
              </a:p>
              <a:p>
                <a:pPr marL="1371600" lvl="3" indent="457200"/>
                <a:endParaRPr lang="en-US" altLang="zh-CN" sz="2400" i="1">
                  <a:latin typeface="Cambria Math" panose="02040503050406030204" charset="0"/>
                  <a:cs typeface="Cambria Math" panose="02040503050406030204" charset="0"/>
                </a:endParaRPr>
              </a:p>
              <a:p>
                <a:r>
                  <a:rPr lang="zh-CN" altLang="en-US" sz="2400">
                    <a:latin typeface="Cambria Math" panose="02040503050406030204" charset="0"/>
                    <a:cs typeface="Cambria Math" panose="02040503050406030204" charset="0"/>
                  </a:rPr>
                  <a:t>也就是，</a:t>
                </a:r>
                <a:r>
                  <a:rPr lang="en-US" altLang="zh-CN" sz="2400">
                    <a:latin typeface="Cambria Math" panose="02040503050406030204" charset="0"/>
                    <a:cs typeface="Cambria Math" panose="02040503050406030204" charset="0"/>
                  </a:rPr>
                  <a:t>SVRG</a:t>
                </a:r>
                <a:r>
                  <a:rPr lang="zh-CN" altLang="en-US" sz="2400">
                    <a:latin typeface="Cambria Math" panose="02040503050406030204" charset="0"/>
                    <a:cs typeface="Cambria Math" panose="02040503050406030204" charset="0"/>
                  </a:rPr>
                  <a:t>梯度噪声</a:t>
                </a:r>
                <a:r>
                  <a:rPr lang="zh-CN" altLang="en-US" sz="2400">
                    <a:latin typeface="Cambria Math" panose="02040503050406030204" charset="0"/>
                    <a:cs typeface="Cambria Math" panose="02040503050406030204" charset="0"/>
                  </a:rPr>
                  <a:t>逐渐消失</a:t>
                </a:r>
                <a:endParaRPr lang="zh-CN" altLang="en-US" sz="2400">
                  <a:latin typeface="Cambria Math" panose="02040503050406030204" charset="0"/>
                  <a:cs typeface="Cambria Math" panose="02040503050406030204" charset="0"/>
                </a:endParaRPr>
              </a:p>
            </p:txBody>
          </p:sp>
        </mc:Choice>
        <mc:Fallback>
          <p:sp>
            <p:nvSpPr>
              <p:cNvPr id="28" name="文本框 27"/>
              <p:cNvSpPr txBox="1">
                <a:spLocks noRot="1" noChangeAspect="1" noMove="1" noResize="1" noEditPoints="1" noAdjustHandles="1" noChangeArrowheads="1" noChangeShapeType="1" noTextEdit="1"/>
              </p:cNvSpPr>
              <p:nvPr/>
            </p:nvSpPr>
            <p:spPr>
              <a:xfrm>
                <a:off x="1845310" y="1030605"/>
                <a:ext cx="7799705" cy="2091690"/>
              </a:xfrm>
              <a:prstGeom prst="rect">
                <a:avLst/>
              </a:prstGeom>
              <a:blipFill rotWithShape="1">
                <a:blip r:embed="rId6"/>
                <a:stretch>
                  <a:fillRect b="-111141"/>
                </a:stretch>
              </a:blipFill>
            </p:spPr>
            <p:txBody>
              <a:bodyPr/>
              <a:lstStyle/>
              <a:p>
                <a:r>
                  <a:rPr lang="zh-CN" alt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4445000"/>
            <a:ext cx="3810000" cy="3810000"/>
          </a:xfrm>
          <a:prstGeom prst="ellipse">
            <a:avLst/>
          </a:prstGeom>
          <a:solidFill>
            <a:srgbClr val="E76F51">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635000"/>
            <a:ext cx="2540000" cy="2540000"/>
          </a:xfrm>
          <a:prstGeom prst="ellipse">
            <a:avLst/>
          </a:prstGeom>
          <a:solidFill>
            <a:srgbClr val="1B4332">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方差缩减推导</a:t>
            </a:r>
            <a:endParaRPr lang="en-US" sz="1100"/>
          </a:p>
        </p:txBody>
      </p:sp>
      <p:sp>
        <p:nvSpPr>
          <p:cNvPr id="5" name="AutoShape 5"/>
          <p:cNvSpPr/>
          <p:nvPr/>
        </p:nvSpPr>
        <p:spPr>
          <a:xfrm>
            <a:off x="508000" y="1460500"/>
            <a:ext cx="6604000" cy="1016000"/>
          </a:xfrm>
          <a:prstGeom prst="roundRect">
            <a:avLst>
              <a:gd name="adj" fmla="val 0"/>
            </a:avLst>
          </a:prstGeom>
          <a:solidFill>
            <a:srgbClr val="1B4332">
              <a:alpha val="4000"/>
            </a:srgbClr>
          </a:solidFill>
          <a:ln w="25400" cap="flat" cmpd="sng">
            <a:noFill/>
            <a:prstDash val="solid"/>
            <a:round/>
          </a:ln>
        </p:spPr>
        <p:txBody>
          <a:bodyPr vert="horz" wrap="square" lIns="63500" tIns="63500" rIns="63500" bIns="63500" rtlCol="0" anchor="ctr"/>
          <a:lstStyle/>
          <a:p>
            <a:pPr algn="ctr">
              <a:defRPr/>
            </a:pPr>
          </a:p>
        </p:txBody>
      </p:sp>
      <mc:AlternateContent xmlns:mc="http://schemas.openxmlformats.org/markup-compatibility/2006">
        <mc:Choice xmlns:a14="http://schemas.microsoft.com/office/drawing/2010/main" Requires="a14">
          <p:sp>
            <p:nvSpPr>
              <p:cNvPr id="6" name="AutoShape 6"/>
              <p:cNvSpPr/>
              <p:nvPr/>
            </p:nvSpPr>
            <p:spPr>
              <a:xfrm>
                <a:off x="698500" y="1587500"/>
                <a:ext cx="635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01 核心定义：方差缩减梯度</a:t>
                </a:r>
                <a:endParaRPr lang="en-US" sz="1100"/>
              </a:p>
              <a:p>
                <a:pPr marL="0" indent="0" algn="l">
                  <a:lnSpc>
                    <a:spcPct val="100000"/>
                  </a:lnSpc>
                </a:pPr>
                <a14:m>
                  <m:oMath xmlns:m="http://schemas.openxmlformats.org/officeDocument/2006/math">
                    <m:r>
                      <m:rPr>
                        <m:sty m:val="p"/>
                      </m:rPr>
                      <a:rPr lang="en-US" altLang="zh-CN" sz="1800" b="0" i="1" u="none" strike="noStrike">
                        <a:solidFill>
                          <a:srgbClr val="2D6A4F"/>
                        </a:solidFill>
                        <a:latin typeface="Cambria Math" panose="02040503050406030204" charset="0"/>
                        <a:ea typeface="Noto Sans SC" panose="020B0200000000000000" charset="-122"/>
                        <a:cs typeface="Cambria Math" panose="02040503050406030204" charset="0"/>
                        <a:sym typeface="Noto Sans SC" panose="020B0200000000000000" charset="-122"/>
                      </a:rPr>
                      <m:t>v</m:t>
                    </m:r>
                    <m:r>
                      <a:rPr lang="en-US" altLang="zh-CN" sz="1800" b="0" i="1" u="none" strike="noStrike">
                        <a:solidFill>
                          <a:srgbClr val="2D6A4F"/>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800" b="0" i="1" u="none" strike="noStrike">
                        <a:solidFill>
                          <a:srgbClr val="2D6A4F"/>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1800" b="0" i="1" u="none" strike="noStrike">
                            <a:solidFill>
                              <a:srgbClr val="2D6A4F"/>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m:rPr>
                            <m:sty m:val="p"/>
                          </m:rPr>
                          <a:rPr lang="en-US" altLang="zh-CN" sz="1800" b="0" i="1" u="none" strike="noStrike">
                            <a:solidFill>
                              <a:srgbClr val="2D6A4F"/>
                            </a:solidFill>
                            <a:latin typeface="Cambria Math" panose="02040503050406030204" charset="0"/>
                            <a:ea typeface="Noto Sans SC" panose="020B0200000000000000" charset="-122"/>
                            <a:cs typeface="Cambria Math" panose="02040503050406030204" charset="0"/>
                            <a:sym typeface="Noto Sans SC" panose="020B0200000000000000" charset="-122"/>
                          </a:rPr>
                          <m:t>f</m:t>
                        </m:r>
                      </m:e>
                      <m:sub>
                        <m:r>
                          <m:rPr>
                            <m:sty m:val="p"/>
                          </m:rPr>
                          <a:rPr lang="en-US" altLang="zh-CN" sz="1800" b="0" i="1" u="none" strike="noStrike">
                            <a:solidFill>
                              <a:srgbClr val="2D6A4F"/>
                            </a:solidFill>
                            <a:latin typeface="Cambria Math" panose="02040503050406030204" charset="0"/>
                            <a:ea typeface="Noto Sans SC" panose="020B0200000000000000" charset="-122"/>
                            <a:cs typeface="Cambria Math" panose="02040503050406030204" charset="0"/>
                            <a:sym typeface="Noto Sans SC" panose="020B0200000000000000" charset="-122"/>
                          </a:rPr>
                          <m:t>i</m:t>
                        </m:r>
                      </m:sub>
                    </m:sSub>
                    <m:r>
                      <a:rPr lang="en-US" altLang="zh-CN" sz="1800" b="0" i="1" u="none" strike="noStrike">
                        <a:solidFill>
                          <a:srgbClr val="2D6A4F"/>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m:rPr>
                        <m:sty m:val="p"/>
                      </m:rPr>
                      <a:rPr lang="en-US" altLang="zh-CN" sz="1800" b="0" i="1" u="none" strike="noStrike">
                        <a:solidFill>
                          <a:srgbClr val="2D6A4F"/>
                        </a:solidFill>
                        <a:latin typeface="Cambria Math" panose="02040503050406030204" charset="0"/>
                        <a:ea typeface="Noto Sans SC" panose="020B0200000000000000" charset="-122"/>
                        <a:cs typeface="Cambria Math" panose="02040503050406030204" charset="0"/>
                        <a:sym typeface="Noto Sans SC" panose="020B0200000000000000" charset="-122"/>
                      </a:rPr>
                      <m:t>w</m:t>
                    </m:r>
                    <m:r>
                      <a:rPr lang="en-US" altLang="zh-CN" sz="1800" b="0" i="1" u="none" strike="noStrike">
                        <a:solidFill>
                          <a:srgbClr val="2D6A4F"/>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800" b="0" i="1" u="none" strike="noStrike">
                        <a:solidFill>
                          <a:srgbClr val="2D6A4F"/>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1800" b="0" i="1" u="none" strike="noStrike">
                            <a:solidFill>
                              <a:srgbClr val="2D6A4F"/>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m:rPr>
                            <m:sty m:val="p"/>
                          </m:rPr>
                          <a:rPr lang="en-US" altLang="zh-CN" sz="1800" b="0" i="1" u="none" strike="noStrike">
                            <a:solidFill>
                              <a:srgbClr val="2D6A4F"/>
                            </a:solidFill>
                            <a:latin typeface="Cambria Math" panose="02040503050406030204" charset="0"/>
                            <a:ea typeface="Noto Sans SC" panose="020B0200000000000000" charset="-122"/>
                            <a:cs typeface="Cambria Math" panose="02040503050406030204" charset="0"/>
                            <a:sym typeface="Noto Sans SC" panose="020B0200000000000000" charset="-122"/>
                          </a:rPr>
                          <m:t>f</m:t>
                        </m:r>
                      </m:e>
                      <m:sub>
                        <m:r>
                          <m:rPr>
                            <m:sty m:val="p"/>
                          </m:rPr>
                          <a:rPr lang="en-US" altLang="zh-CN" sz="1800" b="0" i="1" u="none" strike="noStrike">
                            <a:solidFill>
                              <a:srgbClr val="2D6A4F"/>
                            </a:solidFill>
                            <a:latin typeface="Cambria Math" panose="02040503050406030204" charset="0"/>
                            <a:ea typeface="Noto Sans SC" panose="020B0200000000000000" charset="-122"/>
                            <a:cs typeface="Cambria Math" panose="02040503050406030204" charset="0"/>
                            <a:sym typeface="Noto Sans SC" panose="020B0200000000000000" charset="-122"/>
                          </a:rPr>
                          <m:t>i</m:t>
                        </m:r>
                      </m:sub>
                    </m:sSub>
                    <m:r>
                      <a:rPr lang="en-US" altLang="zh-CN" sz="1800" b="0" i="1" u="none" strike="noStrike">
                        <a:solidFill>
                          <a:srgbClr val="2D6A4F"/>
                        </a:solidFill>
                        <a:latin typeface="Cambria Math" panose="02040503050406030204" charset="0"/>
                        <a:ea typeface="Noto Sans SC" panose="020B0200000000000000" charset="-122"/>
                        <a:cs typeface="Cambria Math" panose="02040503050406030204" charset="0"/>
                        <a:sym typeface="Noto Sans SC" panose="020B0200000000000000" charset="-122"/>
                      </a:rPr>
                      <m:t>(</m:t>
                    </m:r>
                    <m:acc>
                      <m:accPr>
                        <m:chr m:val="̃"/>
                        <m:ctrlPr>
                          <a:rPr lang="en-US" altLang="zh-CN" sz="1800" b="0" i="1" u="none" strike="noStrike">
                            <a:solidFill>
                              <a:srgbClr val="2D6A4F"/>
                            </a:solidFill>
                            <a:latin typeface="Cambria Math" panose="02040503050406030204" charset="0"/>
                            <a:ea typeface="Noto Sans SC" panose="020B0200000000000000" charset="-122"/>
                            <a:cs typeface="Cambria Math" panose="02040503050406030204" charset="0"/>
                            <a:sym typeface="Noto Sans SC" panose="020B0200000000000000" charset="-122"/>
                          </a:rPr>
                        </m:ctrlPr>
                      </m:accPr>
                      <m:e>
                        <m:r>
                          <m:rPr>
                            <m:sty m:val="p"/>
                          </m:rPr>
                          <a:rPr lang="en-US" altLang="zh-CN" sz="1800" b="0" i="1" u="none" strike="noStrike">
                            <a:solidFill>
                              <a:srgbClr val="2D6A4F"/>
                            </a:solidFill>
                            <a:latin typeface="Cambria Math" panose="02040503050406030204" charset="0"/>
                            <a:ea typeface="Noto Sans SC" panose="020B0200000000000000" charset="-122"/>
                            <a:cs typeface="Cambria Math" panose="02040503050406030204" charset="0"/>
                            <a:sym typeface="Noto Sans SC" panose="020B0200000000000000" charset="-122"/>
                          </a:rPr>
                          <m:t>w</m:t>
                        </m:r>
                      </m:e>
                    </m:acc>
                    <m:r>
                      <a:rPr lang="en-US" altLang="zh-CN" sz="1800" b="0" i="1" u="none" strike="noStrike">
                        <a:solidFill>
                          <a:srgbClr val="2D6A4F"/>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800" b="0" i="1" u="none" strike="noStrike">
                        <a:solidFill>
                          <a:srgbClr val="2D6A4F"/>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m:rPr>
                        <m:sty m:val="p"/>
                      </m:rPr>
                      <a:rPr lang="en-US" altLang="zh-CN" sz="1800" b="0" i="1" u="none" strike="noStrike">
                        <a:solidFill>
                          <a:srgbClr val="2D6A4F"/>
                        </a:solidFill>
                        <a:latin typeface="Cambria Math" panose="02040503050406030204" charset="0"/>
                        <a:ea typeface="Noto Sans SC" panose="020B0200000000000000" charset="-122"/>
                        <a:cs typeface="Cambria Math" panose="02040503050406030204" charset="0"/>
                        <a:sym typeface="Noto Sans SC" panose="020B0200000000000000" charset="-122"/>
                      </a:rPr>
                      <m:t>f</m:t>
                    </m:r>
                    <m:r>
                      <a:rPr lang="en-US" altLang="zh-CN" sz="1800" b="0" i="1" u="none" strike="noStrike">
                        <a:solidFill>
                          <a:srgbClr val="2D6A4F"/>
                        </a:solidFill>
                        <a:latin typeface="Cambria Math" panose="02040503050406030204" charset="0"/>
                        <a:ea typeface="Noto Sans SC" panose="020B0200000000000000" charset="-122"/>
                        <a:cs typeface="Cambria Math" panose="02040503050406030204" charset="0"/>
                        <a:sym typeface="Noto Sans SC" panose="020B0200000000000000" charset="-122"/>
                      </a:rPr>
                      <m:t>(</m:t>
                    </m:r>
                    <m:acc>
                      <m:accPr>
                        <m:chr m:val="̃"/>
                        <m:ctrlPr>
                          <a:rPr lang="en-US" altLang="zh-CN" sz="1800" b="0" i="1" u="none" strike="noStrike">
                            <a:solidFill>
                              <a:srgbClr val="2D6A4F"/>
                            </a:solidFill>
                            <a:latin typeface="Cambria Math" panose="02040503050406030204" charset="0"/>
                            <a:ea typeface="Noto Sans SC" panose="020B0200000000000000" charset="-122"/>
                            <a:cs typeface="Cambria Math" panose="02040503050406030204" charset="0"/>
                            <a:sym typeface="Noto Sans SC" panose="020B0200000000000000" charset="-122"/>
                          </a:rPr>
                        </m:ctrlPr>
                      </m:accPr>
                      <m:e>
                        <m:r>
                          <m:rPr>
                            <m:sty m:val="p"/>
                          </m:rPr>
                          <a:rPr lang="en-US" altLang="zh-CN" sz="1800" b="0" i="1" u="none" strike="noStrike">
                            <a:solidFill>
                              <a:srgbClr val="2D6A4F"/>
                            </a:solidFill>
                            <a:latin typeface="Cambria Math" panose="02040503050406030204" charset="0"/>
                            <a:ea typeface="Noto Sans SC" panose="020B0200000000000000" charset="-122"/>
                            <a:cs typeface="Cambria Math" panose="02040503050406030204" charset="0"/>
                            <a:sym typeface="Noto Sans SC" panose="020B0200000000000000" charset="-122"/>
                          </a:rPr>
                          <m:t>w</m:t>
                        </m:r>
                      </m:e>
                    </m:acc>
                    <m:r>
                      <a:rPr lang="en-US" altLang="zh-CN" sz="1800" b="0" i="1" u="none" strike="noStrike">
                        <a:solidFill>
                          <a:srgbClr val="2D6A4F"/>
                        </a:solidFill>
                        <a:latin typeface="Cambria Math" panose="02040503050406030204" charset="0"/>
                        <a:ea typeface="Noto Sans SC" panose="020B0200000000000000" charset="-122"/>
                        <a:cs typeface="Cambria Math" panose="02040503050406030204" charset="0"/>
                        <a:sym typeface="Noto Sans SC" panose="020B0200000000000000" charset="-122"/>
                      </a:rPr>
                      <m:t>)</m:t>
                    </m:r>
                  </m:oMath>
                </a14:m>
                <a:r>
                  <a:rPr lang="en-US" sz="14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（利用参考点 </a:t>
                </a:r>
                <a14:m>
                  <m:oMath xmlns:m="http://schemas.openxmlformats.org/officeDocument/2006/math">
                    <m:acc>
                      <m:accPr>
                        <m:chr m:val="̃"/>
                        <m:ctrlPr>
                          <a:rPr lang="en-US" altLang="zh-CN" sz="1400" b="0" i="1" u="none" strike="noStrike">
                            <a:solidFill>
                              <a:srgbClr val="525252"/>
                            </a:solidFill>
                            <a:latin typeface="Cambria Math" panose="02040503050406030204" charset="0"/>
                            <a:ea typeface="Noto Sans SC" panose="020B0200000000000000" charset="-122"/>
                            <a:cs typeface="Cambria Math" panose="02040503050406030204" charset="0"/>
                            <a:sym typeface="Noto Sans SC" panose="020B0200000000000000" charset="-122"/>
                          </a:rPr>
                        </m:ctrlPr>
                      </m:accPr>
                      <m:e>
                        <m:r>
                          <a:rPr lang="en-US" altLang="zh-CN" sz="1400" b="0" i="1" u="none" strike="noStrike">
                            <a:solidFill>
                              <a:srgbClr val="525252"/>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acc>
                  </m:oMath>
                </a14:m>
                <a:r>
                  <a:rPr lang="en-US" sz="14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修正当前梯度）</a:t>
                </a:r>
                <a:endParaRPr lang="en-US" sz="14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mc:Choice>
        <mc:Fallback>
          <p:sp>
            <p:nvSpPr>
              <p:cNvPr id="6" name="AutoShape 6"/>
              <p:cNvSpPr>
                <a:spLocks noRot="1" noChangeAspect="1" noMove="1" noResize="1" noEditPoints="1" noAdjustHandles="1" noChangeArrowheads="1" noChangeShapeType="1" noTextEdit="1"/>
              </p:cNvSpPr>
              <p:nvPr/>
            </p:nvSpPr>
            <p:spPr>
              <a:xfrm>
                <a:off x="698500" y="1587500"/>
                <a:ext cx="6350000" cy="889000"/>
              </a:xfrm>
              <a:prstGeom prst="rect">
                <a:avLst/>
              </a:prstGeom>
              <a:blipFill rotWithShape="1">
                <a:blip r:embed="rId1"/>
                <a:stretch>
                  <a:fillRect/>
                </a:stretch>
              </a:blipFill>
              <a:ln w="12700" cap="flat" cmpd="sng">
                <a:noFill/>
                <a:prstDash val="solid"/>
                <a:round/>
              </a:ln>
            </p:spPr>
            <p:txBody>
              <a:bodyPr/>
              <a:lstStyle/>
              <a:p>
                <a:r>
                  <a:rPr lang="zh-CN" altLang="en-US">
                    <a:noFill/>
                  </a:rPr>
                  <a:t> </a:t>
                </a:r>
              </a:p>
            </p:txBody>
          </p:sp>
        </mc:Fallback>
      </mc:AlternateContent>
      <p:sp>
        <p:nvSpPr>
          <p:cNvPr id="7" name="AutoShape 7"/>
          <p:cNvSpPr/>
          <p:nvPr/>
        </p:nvSpPr>
        <p:spPr>
          <a:xfrm>
            <a:off x="508000" y="2603500"/>
            <a:ext cx="6604000" cy="1016000"/>
          </a:xfrm>
          <a:prstGeom prst="roundRect">
            <a:avLst>
              <a:gd name="adj" fmla="val 0"/>
            </a:avLst>
          </a:prstGeom>
          <a:solidFill>
            <a:srgbClr val="1B4332">
              <a:alpha val="4000"/>
            </a:srgbClr>
          </a:solidFill>
          <a:ln w="25400" cap="flat" cmpd="sng">
            <a:noFill/>
            <a:prstDash val="solid"/>
            <a:round/>
          </a:ln>
        </p:spPr>
        <p:txBody>
          <a:bodyPr vert="horz" wrap="square" lIns="63500" tIns="63500" rIns="63500" bIns="63500" rtlCol="0" anchor="ctr"/>
          <a:lstStyle/>
          <a:p>
            <a:pPr algn="ctr">
              <a:defRPr/>
            </a:pPr>
          </a:p>
        </p:txBody>
      </p:sp>
      <mc:AlternateContent xmlns:mc="http://schemas.openxmlformats.org/markup-compatibility/2006">
        <mc:Choice xmlns:a14="http://schemas.microsoft.com/office/drawing/2010/main" Requires="a14">
          <p:sp>
            <p:nvSpPr>
              <p:cNvPr id="8" name="AutoShape 8"/>
              <p:cNvSpPr/>
              <p:nvPr/>
            </p:nvSpPr>
            <p:spPr>
              <a:xfrm>
                <a:off x="698500" y="2730500"/>
                <a:ext cx="635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02 前提条件：梯度 Lipschitz 连续 (L-smooth)</a:t>
                </a:r>
                <a:endParaRPr lang="en-US" sz="1100"/>
              </a:p>
              <a:p>
                <a:pPr marL="0" indent="0" algn="l">
                  <a:lnSpc>
                    <a:spcPct val="100000"/>
                  </a:lnSpc>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14:m>
                  <m:oMath xmlns:m="http://schemas.openxmlformats.org/officeDocument/2006/math">
                    <m:r>
                      <a:rPr lang="en-US" altLang="zh-CN" sz="16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6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16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m:rPr>
                            <m:sty m:val="p"/>
                          </m:rPr>
                          <a:rPr lang="en-US" altLang="zh-CN" sz="16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f</m:t>
                        </m:r>
                      </m:e>
                      <m:sub>
                        <m:r>
                          <m:rPr>
                            <m:sty m:val="p"/>
                          </m:rPr>
                          <a:rPr lang="en-US" altLang="zh-CN" sz="16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i</m:t>
                        </m:r>
                      </m:sub>
                    </m:sSub>
                    <m:r>
                      <a:rPr lang="en-US" altLang="zh-CN" sz="16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m:rPr>
                        <m:sty m:val="p"/>
                      </m:rPr>
                      <a:rPr lang="en-US" altLang="zh-CN" sz="16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w</m:t>
                    </m:r>
                    <m:r>
                      <a:rPr lang="en-US" altLang="zh-CN" sz="16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6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16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m:rPr>
                            <m:sty m:val="p"/>
                          </m:rPr>
                          <a:rPr lang="en-US" altLang="zh-CN" sz="16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f</m:t>
                        </m:r>
                      </m:e>
                      <m:sub>
                        <m:r>
                          <m:rPr>
                            <m:sty m:val="p"/>
                          </m:rPr>
                          <a:rPr lang="en-US" altLang="zh-CN" sz="16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i</m:t>
                        </m:r>
                      </m:sub>
                    </m:sSub>
                    <m:r>
                      <a:rPr lang="en-US" altLang="zh-CN" sz="16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acc>
                      <m:accPr>
                        <m:chr m:val="̃"/>
                        <m:ctrlPr>
                          <a:rPr lang="en-US" altLang="zh-CN" sz="16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accPr>
                      <m:e>
                        <m:r>
                          <m:rPr>
                            <m:sty m:val="p"/>
                          </m:rPr>
                          <a:rPr lang="en-US" altLang="zh-CN" sz="16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w</m:t>
                        </m:r>
                      </m:e>
                    </m:acc>
                    <m:r>
                      <a:rPr lang="en-US" altLang="zh-CN" sz="16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m:rPr>
                        <m:sty m:val="p"/>
                      </m:rPr>
                      <a:rPr lang="en-US" altLang="zh-CN" sz="16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L</m:t>
                    </m:r>
                    <m:r>
                      <a:rPr lang="en-US" altLang="zh-CN" sz="16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m:rPr>
                        <m:sty m:val="p"/>
                      </m:rPr>
                      <a:rPr lang="en-US" altLang="zh-CN" sz="16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w</m:t>
                    </m:r>
                    <m:r>
                      <a:rPr lang="en-US" altLang="zh-CN" sz="16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acc>
                      <m:accPr>
                        <m:chr m:val="̃"/>
                        <m:ctrlPr>
                          <a:rPr lang="en-US" altLang="zh-CN" sz="16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ctrlPr>
                      </m:accPr>
                      <m:e>
                        <m:r>
                          <m:rPr>
                            <m:sty m:val="p"/>
                          </m:rPr>
                          <a:rPr lang="en-US" altLang="zh-CN" sz="16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w</m:t>
                        </m:r>
                      </m:e>
                    </m:acc>
                    <m:r>
                      <a:rPr lang="en-US" altLang="zh-CN" sz="1600" b="0" i="1" u="none" strike="noStrike">
                        <a:solidFill>
                          <a:srgbClr val="374151"/>
                        </a:solidFill>
                        <a:latin typeface="Cambria Math" panose="02040503050406030204" charset="0"/>
                        <a:ea typeface="Noto Sans SC" panose="020B0200000000000000" charset="-122"/>
                        <a:cs typeface="Cambria Math" panose="02040503050406030204" charset="0"/>
                        <a:sym typeface="Noto Sans SC" panose="020B0200000000000000" charset="-122"/>
                      </a:rPr>
                      <m:t>‖</m:t>
                    </m:r>
                  </m:oMath>
                </a14:m>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（函数梯度变化受距离约束）</a:t>
                </a:r>
                <a:endPar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mc:Choice>
        <mc:Fallback>
          <p:sp>
            <p:nvSpPr>
              <p:cNvPr id="8" name="AutoShape 8"/>
              <p:cNvSpPr>
                <a:spLocks noRot="1" noChangeAspect="1" noMove="1" noResize="1" noEditPoints="1" noAdjustHandles="1" noChangeArrowheads="1" noChangeShapeType="1" noTextEdit="1"/>
              </p:cNvSpPr>
              <p:nvPr/>
            </p:nvSpPr>
            <p:spPr>
              <a:xfrm>
                <a:off x="698500" y="2730500"/>
                <a:ext cx="6350000" cy="889000"/>
              </a:xfrm>
              <a:prstGeom prst="rect">
                <a:avLst/>
              </a:prstGeom>
              <a:blipFill rotWithShape="1">
                <a:blip r:embed="rId2"/>
                <a:stretch>
                  <a:fillRect/>
                </a:stretch>
              </a:blipFill>
              <a:ln w="12700" cap="flat" cmpd="sng">
                <a:noFill/>
                <a:prstDash val="solid"/>
                <a:round/>
              </a:ln>
            </p:spPr>
            <p:txBody>
              <a:bodyPr/>
              <a:lstStyle/>
              <a:p>
                <a:r>
                  <a:rPr lang="zh-CN" altLang="en-US">
                    <a:noFill/>
                  </a:rPr>
                  <a:t> </a:t>
                </a:r>
              </a:p>
            </p:txBody>
          </p:sp>
        </mc:Fallback>
      </mc:AlternateContent>
      <p:sp>
        <p:nvSpPr>
          <p:cNvPr id="9" name="AutoShape 9"/>
          <p:cNvSpPr/>
          <p:nvPr/>
        </p:nvSpPr>
        <p:spPr>
          <a:xfrm>
            <a:off x="508000" y="3746500"/>
            <a:ext cx="6604000" cy="1270000"/>
          </a:xfrm>
          <a:prstGeom prst="roundRect">
            <a:avLst>
              <a:gd name="adj" fmla="val 0"/>
            </a:avLst>
          </a:prstGeom>
          <a:solidFill>
            <a:srgbClr val="86EFAC">
              <a:alpha val="25000"/>
            </a:srgbClr>
          </a:solidFill>
          <a:ln w="12700" cap="flat" cmpd="sng">
            <a:solidFill>
              <a:srgbClr val="22C55E">
                <a:alpha val="100000"/>
              </a:srgbClr>
            </a:solidFill>
            <a:prstDash val="solid"/>
            <a:round/>
          </a:ln>
        </p:spPr>
        <p:txBody>
          <a:bodyPr vert="horz" wrap="square" lIns="63500" tIns="63500" rIns="63500" bIns="63500" rtlCol="0" anchor="ctr"/>
          <a:lstStyle/>
          <a:p>
            <a:pPr algn="ctr">
              <a:defRPr/>
            </a:pPr>
          </a:p>
        </p:txBody>
      </p:sp>
      <mc:AlternateContent xmlns:mc="http://schemas.openxmlformats.org/markup-compatibility/2006">
        <mc:Choice xmlns:a14="http://schemas.microsoft.com/office/drawing/2010/main" Requires="a14">
          <p:sp>
            <p:nvSpPr>
              <p:cNvPr id="10" name="AutoShape 10"/>
              <p:cNvSpPr/>
              <p:nvPr/>
            </p:nvSpPr>
            <p:spPr>
              <a:xfrm>
                <a:off x="698500" y="3873500"/>
                <a:ext cx="635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03 关键推导：方差上界估计</a:t>
                </a:r>
                <a:endParaRPr lang="en-US" sz="1100"/>
              </a:p>
              <a:p>
                <a:pPr marL="0" indent="0" algn="l">
                  <a:lnSpc>
                    <a:spcPct val="108000"/>
                  </a:lnSpc>
                </a:pPr>
                <a14:m>
                  <m:oMathPara xmlns:m="http://schemas.openxmlformats.org/officeDocument/2006/math">
                    <m:oMathParaPr>
                      <m:jc m:val="centerGroup"/>
                    </m:oMathParaPr>
                    <m:oMath xmlns:m="http://schemas.openxmlformats.org/officeDocument/2006/math">
                      <m:r>
                        <a:rPr lang="en-US" altLang="zh-CN" sz="1800" b="1" i="1" u="none" strike="noStrike">
                          <a:solidFill>
                            <a:srgbClr val="15803D"/>
                          </a:solidFill>
                          <a:latin typeface="Cambria Math" panose="02040503050406030204" charset="0"/>
                          <a:ea typeface="Noto Sans SC" panose="020B0200000000000000" charset="-122"/>
                          <a:cs typeface="Cambria Math" panose="02040503050406030204" charset="0"/>
                          <a:sym typeface="Noto Sans SC" panose="020B0200000000000000" charset="-122"/>
                        </a:rPr>
                        <m:t>𝑉𝑎𝑟</m:t>
                      </m:r>
                      <m:r>
                        <a:rPr lang="en-US" altLang="zh-CN" sz="1800" b="1" i="1" u="none" strike="noStrike">
                          <a:solidFill>
                            <a:srgbClr val="15803D"/>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800" b="1" i="1" u="none" strike="noStrike">
                          <a:solidFill>
                            <a:srgbClr val="15803D"/>
                          </a:solidFill>
                          <a:latin typeface="Cambria Math" panose="02040503050406030204" charset="0"/>
                          <a:ea typeface="Noto Sans SC" panose="020B0200000000000000" charset="-122"/>
                          <a:cs typeface="Cambria Math" panose="02040503050406030204" charset="0"/>
                          <a:sym typeface="Noto Sans SC" panose="020B0200000000000000" charset="-122"/>
                        </a:rPr>
                        <m:t>𝑣</m:t>
                      </m:r>
                      <m:r>
                        <a:rPr lang="en-US" altLang="zh-CN" sz="1800" b="1" i="1" u="none" strike="noStrike">
                          <a:solidFill>
                            <a:srgbClr val="15803D"/>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p>
                        <m:sSupPr>
                          <m:ctrlPr>
                            <a:rPr lang="en-US" altLang="zh-CN" sz="1800" b="1" i="1" u="none" strike="noStrike">
                              <a:solidFill>
                                <a:srgbClr val="15803D"/>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pPr>
                        <m:e>
                          <m:r>
                            <a:rPr lang="en-US" altLang="zh-CN" sz="1800" b="1" i="1" u="none" strike="noStrike">
                              <a:solidFill>
                                <a:srgbClr val="15803D"/>
                              </a:solidFill>
                              <a:latin typeface="Cambria Math" panose="02040503050406030204" charset="0"/>
                              <a:ea typeface="Noto Sans SC" panose="020B0200000000000000" charset="-122"/>
                              <a:cs typeface="Cambria Math" panose="02040503050406030204" charset="0"/>
                              <a:sym typeface="Noto Sans SC" panose="020B0200000000000000" charset="-122"/>
                            </a:rPr>
                            <m:t>𝐿</m:t>
                          </m:r>
                        </m:e>
                        <m:sup>
                          <m:r>
                            <a:rPr lang="en-US" altLang="zh-CN" sz="1800" b="1" i="1" u="none" strike="noStrike">
                              <a:solidFill>
                                <a:srgbClr val="15803D"/>
                              </a:solidFill>
                              <a:latin typeface="Cambria Math" panose="02040503050406030204" charset="0"/>
                              <a:ea typeface="Noto Sans SC" panose="020B0200000000000000" charset="-122"/>
                              <a:cs typeface="Cambria Math" panose="02040503050406030204" charset="0"/>
                              <a:sym typeface="Noto Sans SC" panose="020B0200000000000000" charset="-122"/>
                            </a:rPr>
                            <m:t>2</m:t>
                          </m:r>
                        </m:sup>
                      </m:sSup>
                      <m:r>
                        <a:rPr lang="en-US" altLang="zh-CN" sz="1800" b="1" i="1" u="none" strike="noStrike">
                          <a:solidFill>
                            <a:srgbClr val="15803D"/>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800" b="1" i="1" u="none" strike="noStrike">
                          <a:solidFill>
                            <a:srgbClr val="15803D"/>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r>
                        <a:rPr lang="en-US" altLang="zh-CN" sz="1800" b="1" i="1" u="none" strike="noStrike">
                          <a:solidFill>
                            <a:srgbClr val="15803D"/>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800" b="1" i="1" u="none" strike="noStrike">
                          <a:solidFill>
                            <a:srgbClr val="15803D"/>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sSup>
                        <m:sSupPr>
                          <m:ctrlPr>
                            <a:rPr lang="en-US" altLang="zh-CN" sz="1800" b="1" i="1" u="none" strike="noStrike">
                              <a:solidFill>
                                <a:srgbClr val="15803D"/>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pPr>
                        <m:e>
                          <m:r>
                            <a:rPr lang="en-US" altLang="zh-CN" sz="1800" b="1" i="1" u="none" strike="noStrike">
                              <a:solidFill>
                                <a:srgbClr val="15803D"/>
                              </a:solidFill>
                              <a:latin typeface="Cambria Math" panose="02040503050406030204" charset="0"/>
                              <a:ea typeface="Noto Sans SC" panose="020B0200000000000000" charset="-122"/>
                              <a:cs typeface="Cambria Math" panose="02040503050406030204" charset="0"/>
                              <a:sym typeface="Noto Sans SC" panose="020B0200000000000000" charset="-122"/>
                            </a:rPr>
                            <m:t>‖</m:t>
                          </m:r>
                        </m:e>
                        <m:sup>
                          <m:r>
                            <a:rPr lang="en-US" altLang="zh-CN" sz="1800" b="1" i="1" u="none" strike="noStrike">
                              <a:solidFill>
                                <a:srgbClr val="15803D"/>
                              </a:solidFill>
                              <a:latin typeface="Cambria Math" panose="02040503050406030204" charset="0"/>
                              <a:ea typeface="Noto Sans SC" panose="020B0200000000000000" charset="-122"/>
                              <a:cs typeface="Cambria Math" panose="02040503050406030204" charset="0"/>
                              <a:sym typeface="Noto Sans SC" panose="020B0200000000000000" charset="-122"/>
                            </a:rPr>
                            <m:t>2</m:t>
                          </m:r>
                        </m:sup>
                      </m:sSup>
                    </m:oMath>
                  </m:oMathPara>
                </a14:m>
                <a:endParaRPr lang="en-US" altLang="zh-CN" sz="1800" b="1" i="1" u="none" strike="noStrike">
                  <a:solidFill>
                    <a:srgbClr val="15803D"/>
                  </a:solidFill>
                  <a:latin typeface="Cambria Math" panose="02040503050406030204" charset="0"/>
                  <a:ea typeface="Noto Sans SC" panose="020B0200000000000000" charset="-122"/>
                  <a:cs typeface="Cambria Math" panose="02040503050406030204" charset="0"/>
                  <a:sym typeface="Noto Sans SC" panose="020B0200000000000000" charset="-122"/>
                </a:endParaRPr>
              </a:p>
              <a:p>
                <a:pPr marL="0" indent="0" algn="l">
                  <a:lnSpc>
                    <a:spcPct val="125000"/>
                  </a:lnSpc>
                </a:pPr>
                <a:r>
                  <a:rPr lang="en-US" sz="1400" b="0"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结论：方差大小与当前点到参考点的距离平方成正比，距离越近，方差越小。</a:t>
                </a:r>
                <a:endParaRPr lang="en-US" sz="1400" b="0"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mc:Choice>
        <mc:Fallback>
          <p:sp>
            <p:nvSpPr>
              <p:cNvPr id="10" name="AutoShape 10"/>
              <p:cNvSpPr>
                <a:spLocks noRot="1" noChangeAspect="1" noMove="1" noResize="1" noEditPoints="1" noAdjustHandles="1" noChangeArrowheads="1" noChangeShapeType="1" noTextEdit="1"/>
              </p:cNvSpPr>
              <p:nvPr/>
            </p:nvSpPr>
            <p:spPr>
              <a:xfrm>
                <a:off x="698500" y="3873500"/>
                <a:ext cx="6350000" cy="1143000"/>
              </a:xfrm>
              <a:prstGeom prst="rect">
                <a:avLst/>
              </a:prstGeom>
              <a:blipFill rotWithShape="1">
                <a:blip r:embed="rId3"/>
                <a:stretch>
                  <a:fillRect/>
                </a:stretch>
              </a:blipFill>
              <a:ln w="12700" cap="flat" cmpd="sng">
                <a:noFill/>
                <a:prstDash val="solid"/>
                <a:round/>
              </a:ln>
            </p:spPr>
            <p:txBody>
              <a:bodyPr/>
              <a:lstStyle/>
              <a:p>
                <a:r>
                  <a:rPr lang="zh-CN" altLang="en-US">
                    <a:noFill/>
                  </a:rPr>
                  <a:t> </a:t>
                </a:r>
              </a:p>
            </p:txBody>
          </p:sp>
        </mc:Fallback>
      </mc:AlternateContent>
      <p:sp>
        <p:nvSpPr>
          <p:cNvPr id="11" name="AutoShape 11"/>
          <p:cNvSpPr/>
          <p:nvPr/>
        </p:nvSpPr>
        <p:spPr>
          <a:xfrm>
            <a:off x="7366000" y="1460500"/>
            <a:ext cx="4318000" cy="3556000"/>
          </a:xfrm>
          <a:prstGeom prst="roundRect">
            <a:avLst>
              <a:gd name="adj" fmla="val 0"/>
            </a:avLst>
          </a:prstGeom>
          <a:solidFill>
            <a:srgbClr val="F3F4F6">
              <a:alpha val="6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cxnSp>
        <p:nvCxnSpPr>
          <p:cNvPr id="12" name="Connector 12"/>
          <p:cNvCxnSpPr/>
          <p:nvPr/>
        </p:nvCxnSpPr>
        <p:spPr>
          <a:xfrm rot="-11854">
            <a:off x="7620011" y="4438650"/>
            <a:ext cx="3683000" cy="12700"/>
          </a:xfrm>
          <a:prstGeom prst="line">
            <a:avLst/>
          </a:prstGeom>
          <a:solidFill>
            <a:srgbClr val="DEE0E3">
              <a:alpha val="100000"/>
            </a:srgbClr>
          </a:solidFill>
          <a:ln w="25400" cap="flat" cmpd="sng">
            <a:solidFill>
              <a:srgbClr val="6B7280">
                <a:alpha val="100000"/>
              </a:srgbClr>
            </a:solidFill>
            <a:prstDash val="solid"/>
            <a:round/>
            <a:headEnd type="none" w="lg" len="lg"/>
            <a:tailEnd type="arrow" w="sm" len="sm"/>
          </a:ln>
        </p:spPr>
      </p:cxnSp>
      <p:cxnSp>
        <p:nvCxnSpPr>
          <p:cNvPr id="13" name="Connector 13"/>
          <p:cNvCxnSpPr/>
          <p:nvPr/>
        </p:nvCxnSpPr>
        <p:spPr>
          <a:xfrm rot="-5417188">
            <a:off x="6350000" y="3168634"/>
            <a:ext cx="2540000" cy="12700"/>
          </a:xfrm>
          <a:prstGeom prst="line">
            <a:avLst/>
          </a:prstGeom>
          <a:solidFill>
            <a:srgbClr val="DEE0E3">
              <a:alpha val="100000"/>
            </a:srgbClr>
          </a:solidFill>
          <a:ln w="25400" cap="flat" cmpd="sng">
            <a:solidFill>
              <a:srgbClr val="6B7280">
                <a:alpha val="100000"/>
              </a:srgbClr>
            </a:solidFill>
            <a:prstDash val="solid"/>
            <a:round/>
            <a:headEnd type="none" w="lg" len="lg"/>
            <a:tailEnd type="arrow" w="sm" len="sm"/>
          </a:ln>
        </p:spPr>
      </p:cxnSp>
      <p:sp>
        <p:nvSpPr>
          <p:cNvPr id="14" name="AutoShape 14"/>
          <p:cNvSpPr/>
          <p:nvPr/>
        </p:nvSpPr>
        <p:spPr>
          <a:xfrm>
            <a:off x="10541000" y="4508500"/>
            <a:ext cx="127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内循环步数 t</a:t>
            </a:r>
            <a:endParaRPr lang="en-US" sz="1100"/>
          </a:p>
        </p:txBody>
      </p:sp>
      <p:sp>
        <p:nvSpPr>
          <p:cNvPr id="15" name="AutoShape 15"/>
          <p:cNvSpPr/>
          <p:nvPr/>
        </p:nvSpPr>
        <p:spPr>
          <a:xfrm>
            <a:off x="7683500" y="1905000"/>
            <a:ext cx="127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Var(vₜ)</a:t>
            </a:r>
            <a:endParaRPr lang="en-US" sz="1100"/>
          </a:p>
        </p:txBody>
      </p:sp>
      <p:sp>
        <p:nvSpPr>
          <p:cNvPr id="16" name="AutoShape 16"/>
          <p:cNvSpPr/>
          <p:nvPr/>
        </p:nvSpPr>
        <p:spPr>
          <a:xfrm>
            <a:off x="7620000" y="2159000"/>
            <a:ext cx="3556000" cy="2286000"/>
          </a:xfrm>
          <a:prstGeom prst="roundRect">
            <a:avLst>
              <a:gd name="adj" fmla="val 0"/>
            </a:avLst>
          </a:prstGeom>
          <a:solidFill>
            <a:srgbClr val="000000">
              <a:alpha val="0"/>
            </a:srgbClr>
          </a:solidFill>
          <a:ln w="38100" cap="flat" cmpd="sng">
            <a:solidFill>
              <a:srgbClr val="E76F51">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255000" y="25400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E76F51"/>
                </a:solidFill>
                <a:latin typeface="Noto Sans SC" panose="020B0200000000000000" charset="-122"/>
                <a:ea typeface="Noto Sans SC" panose="020B0200000000000000" charset="-122"/>
                <a:cs typeface="Noto Sans SC" panose="020B0200000000000000" charset="-122"/>
                <a:sym typeface="Noto Sans SC" panose="020B0200000000000000" charset="-122"/>
              </a:rPr>
              <a:t>方差随距离增大而膨胀</a:t>
            </a:r>
            <a:endParaRPr lang="en-US" sz="1100"/>
          </a:p>
        </p:txBody>
      </p:sp>
      <p:cxnSp>
        <p:nvCxnSpPr>
          <p:cNvPr id="18" name="Connector 18"/>
          <p:cNvCxnSpPr/>
          <p:nvPr/>
        </p:nvCxnSpPr>
        <p:spPr>
          <a:xfrm rot="5380901">
            <a:off x="9271000" y="3295668"/>
            <a:ext cx="2286000" cy="12700"/>
          </a:xfrm>
          <a:prstGeom prst="line">
            <a:avLst/>
          </a:prstGeom>
          <a:solidFill>
            <a:srgbClr val="DEE0E3">
              <a:alpha val="100000"/>
            </a:srgbClr>
          </a:solidFill>
          <a:ln w="12700" cap="flat" cmpd="sng">
            <a:solidFill>
              <a:srgbClr val="1B4332">
                <a:alpha val="100000"/>
              </a:srgbClr>
            </a:solidFill>
            <a:prstDash val="dash"/>
            <a:round/>
            <a:headEnd type="none" w="med" len="med"/>
            <a:tailEnd type="none" w="med" len="med"/>
          </a:ln>
        </p:spPr>
      </p:cxnSp>
      <p:sp>
        <p:nvSpPr>
          <p:cNvPr id="19" name="AutoShape 19"/>
          <p:cNvSpPr/>
          <p:nvPr/>
        </p:nvSpPr>
        <p:spPr>
          <a:xfrm>
            <a:off x="10477500" y="3556000"/>
            <a:ext cx="114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外循环重置</a:t>
            </a:r>
            <a:br>
              <a:rPr lang="en-US" sz="1200" b="0"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参考点更新</a:t>
            </a:r>
            <a:endParaRPr lang="en-US" sz="1100"/>
          </a:p>
        </p:txBody>
      </p:sp>
      <p:sp>
        <p:nvSpPr>
          <p:cNvPr id="20" name="AutoShape 20"/>
          <p:cNvSpPr/>
          <p:nvPr/>
        </p:nvSpPr>
        <p:spPr>
          <a:xfrm>
            <a:off x="508000" y="5346700"/>
            <a:ext cx="11176000" cy="1079500"/>
          </a:xfrm>
          <a:prstGeom prst="roundRect">
            <a:avLst>
              <a:gd name="adj" fmla="val 0"/>
            </a:avLst>
          </a:prstGeom>
          <a:solidFill>
            <a:srgbClr val="1B433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762000" y="5486400"/>
            <a:ext cx="533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数学本质：</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方差与参数距离的平方成正比（Var ∝ ||w - w̃||²）。当迭代点逼近参考点时，梯度估计的方差趋近于零，精度极高。</a:t>
            </a:r>
            <a:endParaRPr lang="en-US" sz="1100"/>
          </a:p>
        </p:txBody>
      </p:sp>
      <p:cxnSp>
        <p:nvCxnSpPr>
          <p:cNvPr id="22" name="Connector 22"/>
          <p:cNvCxnSpPr/>
          <p:nvPr/>
        </p:nvCxnSpPr>
        <p:spPr>
          <a:xfrm rot="5337502">
            <a:off x="5746750" y="5867458"/>
            <a:ext cx="698500" cy="12700"/>
          </a:xfrm>
          <a:prstGeom prst="line">
            <a:avLst/>
          </a:prstGeom>
          <a:solidFill>
            <a:srgbClr val="DEE0E3">
              <a:alpha val="100000"/>
            </a:srgbClr>
          </a:solidFill>
          <a:ln w="12700" cap="flat" cmpd="sng">
            <a:solidFill>
              <a:srgbClr val="FFFFFF">
                <a:alpha val="30000"/>
              </a:srgbClr>
            </a:solidFill>
            <a:prstDash val="solid"/>
            <a:round/>
            <a:headEnd type="none" w="med" len="med"/>
            <a:tailEnd type="none" w="med" len="med"/>
          </a:ln>
        </p:spPr>
      </p:cxnSp>
      <p:sp>
        <p:nvSpPr>
          <p:cNvPr id="23" name="AutoShape 23"/>
          <p:cNvSpPr/>
          <p:nvPr/>
        </p:nvSpPr>
        <p:spPr>
          <a:xfrm>
            <a:off x="6286500" y="5486400"/>
            <a:ext cx="533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工程启示：</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必须控制内循环步数防止方差爆炸；通过外循环定期重置参考点，是维持低方差梯度估计的核心手段。</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52B788">
              <a:alpha val="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F59E0B">
              <a:alpha val="8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508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收敛性：线性收敛速率</a:t>
            </a:r>
            <a:endParaRPr lang="en-US" sz="1100"/>
          </a:p>
        </p:txBody>
      </p:sp>
      <p:sp>
        <p:nvSpPr>
          <p:cNvPr id="5" name="AutoShape 5"/>
          <p:cNvSpPr/>
          <p:nvPr/>
        </p:nvSpPr>
        <p:spPr>
          <a:xfrm>
            <a:off x="508000" y="1397000"/>
            <a:ext cx="1117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在目标函数满足强凸性（参数 μ）与 L-smooth 光滑性的双重条件下，SVRG 算法突破了传统随机梯度下降的局限，实现了</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线性收敛</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（几何收敛）。其误差上界随迭代次数呈指数级衰减，确保了算法在大规模优化问题中的高效性。</a:t>
            </a:r>
            <a:endParaRPr lang="en-US" sz="1100"/>
          </a:p>
        </p:txBody>
      </p:sp>
      <p:sp>
        <p:nvSpPr>
          <p:cNvPr id="6" name="AutoShape 6"/>
          <p:cNvSpPr/>
          <p:nvPr/>
        </p:nvSpPr>
        <p:spPr>
          <a:xfrm>
            <a:off x="508000" y="2413000"/>
            <a:ext cx="11176000" cy="1016000"/>
          </a:xfrm>
          <a:prstGeom prst="roundRect">
            <a:avLst>
              <a:gd name="adj" fmla="val 0"/>
            </a:avLst>
          </a:prstGeom>
          <a:solidFill>
            <a:srgbClr val="52B788">
              <a:alpha val="10000"/>
            </a:srgbClr>
          </a:solidFill>
          <a:ln w="12700" cap="flat" cmpd="sng">
            <a:solidFill>
              <a:srgbClr val="52B788">
                <a:alpha val="40000"/>
              </a:srgbClr>
            </a:solidFill>
            <a:prstDash val="solid"/>
            <a:round/>
          </a:ln>
        </p:spPr>
        <p:txBody>
          <a:bodyPr vert="horz" wrap="square" lIns="63500" tIns="63500" rIns="63500" bIns="63500" rtlCol="0" anchor="ctr"/>
          <a:lstStyle/>
          <a:p>
            <a:pPr algn="ctr">
              <a:defRPr/>
            </a:pPr>
          </a:p>
        </p:txBody>
      </p:sp>
      <mc:AlternateContent xmlns:mc="http://schemas.openxmlformats.org/markup-compatibility/2006">
        <mc:Choice xmlns:a14="http://schemas.microsoft.com/office/drawing/2010/main" Requires="a14">
          <p:sp>
            <p:nvSpPr>
              <p:cNvPr id="7" name="AutoShape 7"/>
              <p:cNvSpPr/>
              <p:nvPr/>
            </p:nvSpPr>
            <p:spPr>
              <a:xfrm>
                <a:off x="762000" y="2609850"/>
                <a:ext cx="1066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14:m>
                  <m:oMath xmlns:m="http://schemas.openxmlformats.org/officeDocument/2006/math">
                    <m: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𝔼</m:t>
                    </m:r>
                    <m: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𝑓</m:t>
                    </m:r>
                    <m: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sub>
                        <m: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𝑠</m:t>
                        </m:r>
                      </m:sub>
                    </m:sSub>
                    <m: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𝑓</m:t>
                    </m:r>
                    <m: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p>
                      <m:sSupPr>
                        <m:ctrlP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pPr>
                      <m:e>
                        <m: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sup>
                        <m: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m:t>
                        </m:r>
                      </m:sup>
                    </m:sSup>
                    <m: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p>
                      <m:sSupPr>
                        <m:ctrlP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pPr>
                      <m:e>
                        <m: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𝜌</m:t>
                        </m:r>
                      </m:e>
                      <m:sup>
                        <m: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𝑠</m:t>
                        </m:r>
                      </m:sup>
                    </m:sSup>
                    <m: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𝑓</m:t>
                    </m:r>
                    <m: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b>
                      <m:sSubPr>
                        <m:ctrlP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bPr>
                      <m:e>
                        <m: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sub>
                        <m: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0</m:t>
                        </m:r>
                      </m:sub>
                    </m:sSub>
                    <m: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m:t>
                    </m:r>
                    <m: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𝑓</m:t>
                    </m:r>
                    <m: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m:t>
                    </m:r>
                    <m:sSup>
                      <m:sSupPr>
                        <m:ctrlP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ctrlPr>
                      </m:sSupPr>
                      <m:e>
                        <m: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𝑤</m:t>
                        </m:r>
                      </m:e>
                      <m:sup>
                        <m: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m:t>
                        </m:r>
                      </m:sup>
                    </m:sSup>
                    <m:r>
                      <a:rPr lang="en-US" altLang="zh-CN" sz="1800" b="0" i="1" u="none" strike="noStrike">
                        <a:solidFill>
                          <a:srgbClr val="1F2937"/>
                        </a:solidFill>
                        <a:latin typeface="Cambria Math" panose="02040503050406030204" charset="0"/>
                        <a:ea typeface="Noto Sans SC" panose="020B0200000000000000" charset="-122"/>
                        <a:cs typeface="Cambria Math" panose="02040503050406030204" charset="0"/>
                        <a:sym typeface="Noto Sans SC" panose="020B0200000000000000" charset="-122"/>
                      </a:rPr>
                      <m:t>)]</m:t>
                    </m:r>
                  </m:oMath>
                </a14:m>
                <a:r>
                  <a:rPr lang="en-US" sz="18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，其中收缩因子 ρ ∈ (0, 1)，收敛速度由 ρ 决定</a:t>
                </a:r>
                <a:endParaRPr lang="en-US" sz="1100"/>
              </a:p>
            </p:txBody>
          </p:sp>
        </mc:Choice>
        <mc:Fallback>
          <p:sp>
            <p:nvSpPr>
              <p:cNvPr id="7" name="AutoShape 7"/>
              <p:cNvSpPr>
                <a:spLocks noRot="1" noChangeAspect="1" noMove="1" noResize="1" noEditPoints="1" noAdjustHandles="1" noChangeArrowheads="1" noChangeShapeType="1" noTextEdit="1"/>
              </p:cNvSpPr>
              <p:nvPr/>
            </p:nvSpPr>
            <p:spPr>
              <a:xfrm>
                <a:off x="762000" y="2609850"/>
                <a:ext cx="10668000" cy="762000"/>
              </a:xfrm>
              <a:prstGeom prst="rect">
                <a:avLst/>
              </a:prstGeom>
              <a:blipFill rotWithShape="1">
                <a:blip r:embed="rId2"/>
                <a:stretch>
                  <a:fillRect/>
                </a:stretch>
              </a:blipFill>
              <a:ln w="12700" cap="flat" cmpd="sng">
                <a:noFill/>
                <a:prstDash val="solid"/>
                <a:round/>
              </a:ln>
            </p:spPr>
            <p:txBody>
              <a:bodyPr/>
              <a:lstStyle/>
              <a:p>
                <a:r>
                  <a:rPr lang="zh-CN" altLang="en-US">
                    <a:noFill/>
                  </a:rPr>
                  <a:t> </a:t>
                </a:r>
              </a:p>
            </p:txBody>
          </p:sp>
        </mc:Fallback>
      </mc:AlternateContent>
      <p:graphicFrame>
        <p:nvGraphicFramePr>
          <p:cNvPr id="8" name="Table 8"/>
          <p:cNvGraphicFramePr>
            <a:graphicFrameLocks noGrp="1"/>
          </p:cNvGraphicFramePr>
          <p:nvPr/>
        </p:nvGraphicFramePr>
        <p:xfrm>
          <a:off x="508000" y="3683000"/>
          <a:ext cx="5588000" cy="2400300"/>
        </p:xfrm>
        <a:graphic>
          <a:graphicData uri="http://schemas.openxmlformats.org/drawingml/2006/table">
            <a:tbl>
              <a:tblPr>
                <a:effectLst/>
              </a:tblPr>
              <a:tblGrid>
                <a:gridCol w="1270000"/>
                <a:gridCol w="1397000"/>
                <a:gridCol w="1397000"/>
                <a:gridCol w="1524000"/>
              </a:tblGrid>
              <a:tr h="571500">
                <a:tc>
                  <a:txBody>
                    <a:bodyPr rtlCol="0"/>
                    <a:lstStyle/>
                    <a:p>
                      <a:pPr marL="0" indent="0" algn="ctr">
                        <a:lnSpc>
                          <a:spcPct val="100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评估指标</a:t>
                      </a:r>
                      <a:endParaRPr lang="en-US" sz="1100"/>
                    </a:p>
                  </a:txBody>
                  <a:tcPr marL="101600" marR="101600" marT="101600" marB="101600" anchor="t" anchorCtr="0">
                    <a:lnL>
                      <a:noFill/>
                    </a:lnL>
                    <a:lnR>
                      <a:noFill/>
                    </a:lnR>
                    <a:lnT>
                      <a:noFill/>
                    </a:lnT>
                    <a:lnB>
                      <a:noFill/>
                    </a:lnB>
                    <a:solidFill>
                      <a:srgbClr val="1B4332">
                        <a:alpha val="100000"/>
                      </a:srgbClr>
                    </a:solidFill>
                  </a:tcPr>
                </a:tc>
                <a:tc>
                  <a:txBody>
                    <a:bodyPr rtlCol="0"/>
                    <a:lstStyle/>
                    <a:p>
                      <a:pPr marL="0" indent="0" algn="ctr">
                        <a:lnSpc>
                          <a:spcPct val="100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GD</a:t>
                      </a:r>
                      <a:endParaRPr lang="en-US" sz="1100"/>
                    </a:p>
                  </a:txBody>
                  <a:tcPr marL="101600" marR="101600" marT="101600" marB="101600" anchor="t" anchorCtr="0">
                    <a:lnL>
                      <a:noFill/>
                    </a:lnL>
                    <a:lnR>
                      <a:noFill/>
                    </a:lnR>
                    <a:lnT>
                      <a:noFill/>
                    </a:lnT>
                    <a:lnB>
                      <a:noFill/>
                    </a:lnB>
                    <a:solidFill>
                      <a:srgbClr val="1B4332">
                        <a:alpha val="100000"/>
                      </a:srgbClr>
                    </a:solidFill>
                  </a:tcPr>
                </a:tc>
                <a:tc>
                  <a:txBody>
                    <a:bodyPr rtlCol="0"/>
                    <a:lstStyle/>
                    <a:p>
                      <a:pPr marL="0" indent="0" algn="ctr">
                        <a:lnSpc>
                          <a:spcPct val="100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SGD</a:t>
                      </a:r>
                      <a:endParaRPr lang="en-US" sz="1100"/>
                    </a:p>
                  </a:txBody>
                  <a:tcPr marL="101600" marR="101600" marT="101600" marB="101600" anchor="t" anchorCtr="0">
                    <a:lnL>
                      <a:noFill/>
                    </a:lnL>
                    <a:lnR>
                      <a:noFill/>
                    </a:lnR>
                    <a:lnT>
                      <a:noFill/>
                    </a:lnT>
                    <a:lnB>
                      <a:noFill/>
                    </a:lnB>
                    <a:solidFill>
                      <a:srgbClr val="1B4332">
                        <a:alpha val="100000"/>
                      </a:srgbClr>
                    </a:solidFill>
                  </a:tcPr>
                </a:tc>
                <a:tc>
                  <a:txBody>
                    <a:bodyPr rtlCol="0"/>
                    <a:lstStyle/>
                    <a:p>
                      <a:pPr marL="0" indent="0" algn="ctr">
                        <a:lnSpc>
                          <a:spcPct val="100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SVRG</a:t>
                      </a:r>
                      <a:endParaRPr lang="en-US" sz="1100"/>
                    </a:p>
                  </a:txBody>
                  <a:tcPr marL="101600" marR="101600" marT="101600" marB="101600" anchor="t" anchorCtr="0">
                    <a:lnL>
                      <a:noFill/>
                    </a:lnL>
                    <a:lnR>
                      <a:noFill/>
                    </a:lnR>
                    <a:lnT>
                      <a:noFill/>
                    </a:lnT>
                    <a:lnB>
                      <a:noFill/>
                    </a:lnB>
                    <a:solidFill>
                      <a:srgbClr val="1B4332">
                        <a:alpha val="100000"/>
                      </a:srgbClr>
                    </a:solidFill>
                  </a:tcPr>
                </a:tc>
              </a:tr>
              <a:tr h="609600">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收敛速率</a:t>
                      </a:r>
                      <a:endParaRPr lang="en-US" sz="1100"/>
                    </a:p>
                  </a:txBody>
                  <a:tcPr marL="101600" marR="101600" marT="101600" marB="101600" anchor="t" anchorCtr="0">
                    <a:lnL>
                      <a:noFill/>
                    </a:lnL>
                    <a:lnR>
                      <a:noFill/>
                    </a:lnR>
                    <a:lnT>
                      <a:noFill/>
                    </a:lnT>
                    <a:lnB>
                      <a:noFill/>
                    </a:lnB>
                    <a:solidFill>
                      <a:srgbClr val="F3F4F6">
                        <a:alpha val="100000"/>
                      </a:srgbClr>
                    </a:solid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线性收敛</a:t>
                      </a:r>
                      <a:endParaRPr lang="en-US" sz="1100"/>
                    </a:p>
                  </a:txBody>
                  <a:tcPr marL="101600" marR="101600" marT="101600" marB="101600" anchor="t" anchorCtr="0">
                    <a:lnL>
                      <a:noFill/>
                    </a:lnL>
                    <a:lnR>
                      <a:noFill/>
                    </a:lnR>
                    <a:lnT>
                      <a:noFill/>
                    </a:lnT>
                    <a:lnB>
                      <a:noFill/>
                    </a:lnB>
                    <a:solidFill>
                      <a:srgbClr val="F3F4F6">
                        <a:alpha val="100000"/>
                      </a:srgbClr>
                    </a:solid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次线性收敛</a:t>
                      </a:r>
                      <a:endParaRPr lang="en-US" sz="1100"/>
                    </a:p>
                  </a:txBody>
                  <a:tcPr marL="101600" marR="101600" marT="101600" marB="101600" anchor="t" anchorCtr="0">
                    <a:lnL>
                      <a:noFill/>
                    </a:lnL>
                    <a:lnR>
                      <a:noFill/>
                    </a:lnR>
                    <a:lnT>
                      <a:noFill/>
                    </a:lnT>
                    <a:lnB>
                      <a:noFill/>
                    </a:lnB>
                    <a:solidFill>
                      <a:srgbClr val="F3F4F6">
                        <a:alpha val="100000"/>
                      </a:srgbClr>
                    </a:solidFill>
                  </a:tcPr>
                </a:tc>
                <a:tc>
                  <a:txBody>
                    <a:bodyPr rtlCol="0"/>
                    <a:lstStyle/>
                    <a:p>
                      <a:pPr marL="0" indent="0" algn="ctr">
                        <a:lnSpc>
                          <a:spcPct val="100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线性收敛(更快)</a:t>
                      </a:r>
                      <a:endParaRPr lang="en-US" sz="1100"/>
                    </a:p>
                  </a:txBody>
                  <a:tcPr marL="101600" marR="101600" marT="101600" marB="101600" anchor="t" anchorCtr="0">
                    <a:lnL>
                      <a:noFill/>
                    </a:lnL>
                    <a:lnR>
                      <a:noFill/>
                    </a:lnR>
                    <a:lnT>
                      <a:noFill/>
                    </a:lnT>
                    <a:lnB>
                      <a:noFill/>
                    </a:lnB>
                    <a:solidFill>
                      <a:srgbClr val="52B788">
                        <a:alpha val="15000"/>
                      </a:srgbClr>
                    </a:solidFill>
                  </a:tcPr>
                </a:tc>
              </a:tr>
              <a:tr h="609600">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梯度复杂度</a:t>
                      </a:r>
                      <a:endParaRPr lang="en-US" sz="1100"/>
                    </a:p>
                  </a:txBody>
                  <a:tcPr marL="101600" marR="101600" marT="101600" marB="101600" anchor="t" anchorCtr="0">
                    <a:lnL>
                      <a:noFill/>
                    </a:lnL>
                    <a:lnR>
                      <a:noFill/>
                    </a:lnR>
                    <a:lnT>
                      <a:noFill/>
                    </a:lnT>
                    <a:lnB>
                      <a:noFill/>
                    </a:lnB>
                    <a:solidFill>
                      <a:srgbClr val="F3F4F6">
                        <a:alpha val="100000"/>
                      </a:srgbClr>
                    </a:solid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O(n log(1/ε))</a:t>
                      </a:r>
                      <a:endParaRPr lang="en-US" sz="1100"/>
                    </a:p>
                  </a:txBody>
                  <a:tcPr marL="101600" marR="101600" marT="101600" marB="101600" anchor="t" anchorCtr="0">
                    <a:lnL>
                      <a:noFill/>
                    </a:lnL>
                    <a:lnR>
                      <a:noFill/>
                    </a:lnR>
                    <a:lnT>
                      <a:noFill/>
                    </a:lnT>
                    <a:lnB>
                      <a:noFill/>
                    </a:lnB>
                    <a:solidFill>
                      <a:srgbClr val="F3F4F6">
                        <a:alpha val="100000"/>
                      </a:srgbClr>
                    </a:solid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O(1/ε)</a:t>
                      </a:r>
                      <a:endParaRPr lang="en-US" sz="1100"/>
                    </a:p>
                  </a:txBody>
                  <a:tcPr marL="101600" marR="101600" marT="101600" marB="101600" anchor="t" anchorCtr="0">
                    <a:lnL>
                      <a:noFill/>
                    </a:lnL>
                    <a:lnR>
                      <a:noFill/>
                    </a:lnR>
                    <a:lnT>
                      <a:noFill/>
                    </a:lnT>
                    <a:lnB>
                      <a:noFill/>
                    </a:lnB>
                    <a:solidFill>
                      <a:srgbClr val="F3F4F6">
                        <a:alpha val="100000"/>
                      </a:srgbClr>
                    </a:solidFill>
                  </a:tcPr>
                </a:tc>
                <a:tc>
                  <a:txBody>
                    <a:bodyPr rtlCol="0"/>
                    <a:lstStyle/>
                    <a:p>
                      <a:pPr marL="0" indent="0" algn="ctr">
                        <a:lnSpc>
                          <a:spcPct val="100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O((n+L/μ)log(1/ε))</a:t>
                      </a:r>
                      <a:endParaRPr lang="en-US" sz="1100"/>
                    </a:p>
                  </a:txBody>
                  <a:tcPr marL="101600" marR="101600" marT="101600" marB="101600" anchor="t" anchorCtr="0">
                    <a:lnL>
                      <a:noFill/>
                    </a:lnL>
                    <a:lnR>
                      <a:noFill/>
                    </a:lnR>
                    <a:lnT>
                      <a:noFill/>
                    </a:lnT>
                    <a:lnB>
                      <a:noFill/>
                    </a:lnB>
                    <a:solidFill>
                      <a:srgbClr val="52B788">
                        <a:alpha val="15000"/>
                      </a:srgbClr>
                    </a:solidFill>
                  </a:tcPr>
                </a:tc>
              </a:tr>
              <a:tr h="609600">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a:t>
                      </a:r>
                      <a:endParaRPr lang="en-US" sz="1100"/>
                    </a:p>
                  </a:txBody>
                  <a:tcPr marL="101600" marR="101600" marT="101600" marB="101600" anchor="t" anchorCtr="0">
                    <a:lnL>
                      <a:noFill/>
                    </a:lnL>
                    <a:lnR>
                      <a:noFill/>
                    </a:lnR>
                    <a:lnT>
                      <a:noFill/>
                    </a:lnT>
                    <a:lnB>
                      <a:noFill/>
                    </a:lnB>
                    <a:solidFill>
                      <a:srgbClr val="F3F4F6">
                        <a:alpha val="100000"/>
                      </a:srgbClr>
                    </a:solid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稳定无方差</a:t>
                      </a:r>
                      <a:endParaRPr lang="en-US" sz="1100"/>
                    </a:p>
                  </a:txBody>
                  <a:tcPr marL="101600" marR="101600" marT="101600" marB="101600" anchor="t" anchorCtr="0">
                    <a:lnL>
                      <a:noFill/>
                    </a:lnL>
                    <a:lnR>
                      <a:noFill/>
                    </a:lnR>
                    <a:lnT>
                      <a:noFill/>
                    </a:lnT>
                    <a:lnB>
                      <a:noFill/>
                    </a:lnB>
                    <a:solidFill>
                      <a:srgbClr val="F3F4F6">
                        <a:alpha val="100000"/>
                      </a:srgbClr>
                    </a:solid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计算开销小</a:t>
                      </a:r>
                      <a:endParaRPr lang="en-US" sz="1100"/>
                    </a:p>
                  </a:txBody>
                  <a:tcPr marL="101600" marR="101600" marT="101600" marB="101600" anchor="t" anchorCtr="0">
                    <a:lnL>
                      <a:noFill/>
                    </a:lnL>
                    <a:lnR>
                      <a:noFill/>
                    </a:lnR>
                    <a:lnT>
                      <a:noFill/>
                    </a:lnT>
                    <a:lnB>
                      <a:noFill/>
                    </a:lnB>
                    <a:solidFill>
                      <a:srgbClr val="F3F4F6">
                        <a:alpha val="100000"/>
                      </a:srgbClr>
                    </a:solidFill>
                  </a:tcPr>
                </a:tc>
                <a:tc>
                  <a:txBody>
                    <a:bodyPr rtlCol="0"/>
                    <a:lstStyle/>
                    <a:p>
                      <a:pPr marL="0" indent="0" algn="ctr">
                        <a:lnSpc>
                          <a:spcPct val="100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方差缩减，精度高</a:t>
                      </a:r>
                      <a:endParaRPr lang="en-US" sz="1100"/>
                    </a:p>
                  </a:txBody>
                  <a:tcPr marL="101600" marR="101600" marT="101600" marB="101600" anchor="t" anchorCtr="0">
                    <a:lnL>
                      <a:noFill/>
                    </a:lnL>
                    <a:lnR>
                      <a:noFill/>
                    </a:lnR>
                    <a:lnT>
                      <a:noFill/>
                    </a:lnT>
                    <a:lnB>
                      <a:noFill/>
                    </a:lnB>
                    <a:solidFill>
                      <a:srgbClr val="52B788">
                        <a:alpha val="15000"/>
                      </a:srgbClr>
                    </a:solidFill>
                  </a:tcPr>
                </a:tc>
              </a:tr>
            </a:tbl>
          </a:graphicData>
        </a:graphic>
      </p:graphicFrame>
      <p:graphicFrame>
        <p:nvGraphicFramePr>
          <p:cNvPr id="9" name="Chart 9"/>
          <p:cNvGraphicFramePr>
            <a:graphicFrameLocks noGrp="1"/>
          </p:cNvGraphicFramePr>
          <p:nvPr/>
        </p:nvGraphicFramePr>
        <p:xfrm>
          <a:off x="6350000" y="3683000"/>
          <a:ext cx="5334000" cy="2222500"/>
        </p:xfrm>
        <a:graphic>
          <a:graphicData uri="http://schemas.openxmlformats.org/drawingml/2006/chart">
            <c:chart xmlns:c="http://schemas.openxmlformats.org/drawingml/2006/chart" xmlns:r="http://schemas.openxmlformats.org/officeDocument/2006/relationships" r:id="rId1"/>
          </a:graphicData>
        </a:graphic>
      </p:graphicFrame>
      <p:sp>
        <p:nvSpPr>
          <p:cNvPr id="10" name="AutoShape 9"/>
          <p:cNvSpPr/>
          <p:nvPr/>
        </p:nvSpPr>
        <p:spPr>
          <a:xfrm>
            <a:off x="6350000" y="5969000"/>
            <a:ext cx="5334000" cy="571500"/>
          </a:xfrm>
          <a:prstGeom prst="roundRect">
            <a:avLst>
              <a:gd name="adj" fmla="val 0"/>
            </a:avLst>
          </a:prstGeom>
          <a:solidFill>
            <a:srgbClr val="F0FDF4">
              <a:alpha val="100000"/>
            </a:srgbClr>
          </a:solidFill>
          <a:ln w="12700" cap="flat" cmpd="sng">
            <a:solidFill>
              <a:srgbClr val="52B788">
                <a:alpha val="30000"/>
              </a:srgbClr>
            </a:solidFill>
            <a:prstDash val="solid"/>
            <a:round/>
          </a:ln>
        </p:spPr>
        <p:txBody>
          <a:bodyPr vert="horz" wrap="square" lIns="63500" tIns="63500" rIns="63500" bIns="63500" rtlCol="0" anchor="ctr"/>
          <a:lstStyle/>
          <a:p>
            <a:pPr algn="ctr">
              <a:defRPr/>
            </a:pPr>
          </a:p>
        </p:txBody>
      </p:sp>
      <p:sp>
        <p:nvSpPr>
          <p:cNvPr id="11" name="AutoShape 10"/>
          <p:cNvSpPr/>
          <p:nvPr/>
        </p:nvSpPr>
        <p:spPr>
          <a:xfrm>
            <a:off x="6477000" y="6032500"/>
            <a:ext cx="508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SVRG 在保持线性收敛速率的同时，通过方差缩减机制解决了 SGD 的精度瓶颈，在大规模数据场景下显著优于传统 GD 和 SGD。</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0" y="-635000"/>
            <a:ext cx="2540000" cy="2540000"/>
          </a:xfrm>
          <a:prstGeom prst="ellipse">
            <a:avLst/>
          </a:prstGeom>
          <a:solidFill>
            <a:srgbClr val="1B4332">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5715000"/>
            <a:ext cx="1905000" cy="1905000"/>
          </a:xfrm>
          <a:prstGeom prst="ellipse">
            <a:avLst/>
          </a:prstGeom>
          <a:solidFill>
            <a:srgbClr val="E67E22">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算法对比：GD / SGD / SVRG / SAGA</a:t>
            </a:r>
            <a:endParaRPr lang="en-US" sz="1100"/>
          </a:p>
        </p:txBody>
      </p:sp>
      <p:graphicFrame>
        <p:nvGraphicFramePr>
          <p:cNvPr id="5" name="Table 5"/>
          <p:cNvGraphicFramePr>
            <a:graphicFrameLocks noGrp="1"/>
          </p:cNvGraphicFramePr>
          <p:nvPr/>
        </p:nvGraphicFramePr>
        <p:xfrm>
          <a:off x="508000" y="1397000"/>
          <a:ext cx="11176000" cy="2603500"/>
        </p:xfrm>
        <a:graphic>
          <a:graphicData uri="http://schemas.openxmlformats.org/drawingml/2006/table">
            <a:tbl>
              <a:tblPr>
                <a:effectLst/>
              </a:tblPr>
              <a:tblGrid>
                <a:gridCol w="1524000"/>
                <a:gridCol w="1651000"/>
                <a:gridCol w="1778000"/>
                <a:gridCol w="1651000"/>
                <a:gridCol w="1524000"/>
                <a:gridCol w="3048000"/>
              </a:tblGrid>
              <a:tr h="571500">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算法类型</a:t>
                      </a:r>
                      <a:endParaRPr lang="en-US" sz="1100"/>
                    </a:p>
                  </a:txBody>
                  <a:tcPr marL="101600" marR="101600" marT="101600" marB="101600" anchor="t" anchorCtr="0">
                    <a:lnL>
                      <a:noFill/>
                    </a:lnL>
                    <a:lnR>
                      <a:noFill/>
                    </a:lnR>
                    <a:lnT>
                      <a:noFill/>
                    </a:lnT>
                    <a:lnB>
                      <a:noFill/>
                    </a:lnB>
                    <a:solidFill>
                      <a:srgbClr val="1B4332">
                        <a:alpha val="100000"/>
                      </a:srgbClr>
                    </a:solidFill>
                  </a:tcPr>
                </a:tc>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每步代价</a:t>
                      </a:r>
                      <a:endParaRPr lang="en-US" sz="1100"/>
                    </a:p>
                  </a:txBody>
                  <a:tcPr marL="101600" marR="101600" marT="101600" marB="101600" anchor="t" anchorCtr="0">
                    <a:lnL>
                      <a:noFill/>
                    </a:lnL>
                    <a:lnR>
                      <a:noFill/>
                    </a:lnR>
                    <a:lnT>
                      <a:noFill/>
                    </a:lnT>
                    <a:lnB>
                      <a:noFill/>
                    </a:lnB>
                    <a:solidFill>
                      <a:srgbClr val="1B4332">
                        <a:alpha val="100000"/>
                      </a:srgbClr>
                    </a:solidFill>
                  </a:tcPr>
                </a:tc>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梯度方差</a:t>
                      </a:r>
                      <a:endParaRPr lang="en-US" sz="1100"/>
                    </a:p>
                  </a:txBody>
                  <a:tcPr marL="101600" marR="101600" marT="101600" marB="101600" anchor="t" anchorCtr="0">
                    <a:lnL>
                      <a:noFill/>
                    </a:lnL>
                    <a:lnR>
                      <a:noFill/>
                    </a:lnR>
                    <a:lnT>
                      <a:noFill/>
                    </a:lnT>
                    <a:lnB>
                      <a:noFill/>
                    </a:lnB>
                    <a:solidFill>
                      <a:srgbClr val="1B4332">
                        <a:alpha val="100000"/>
                      </a:srgbClr>
                    </a:solidFill>
                  </a:tcPr>
                </a:tc>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收敛速率</a:t>
                      </a:r>
                      <a:endParaRPr lang="en-US" sz="1100"/>
                    </a:p>
                  </a:txBody>
                  <a:tcPr marL="101600" marR="101600" marT="101600" marB="101600" anchor="t" anchorCtr="0">
                    <a:lnL>
                      <a:noFill/>
                    </a:lnL>
                    <a:lnR>
                      <a:noFill/>
                    </a:lnR>
                    <a:lnT>
                      <a:noFill/>
                    </a:lnT>
                    <a:lnB>
                      <a:noFill/>
                    </a:lnB>
                    <a:solidFill>
                      <a:srgbClr val="1B4332">
                        <a:alpha val="100000"/>
                      </a:srgbClr>
                    </a:solidFill>
                  </a:tcPr>
                </a:tc>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内存开销</a:t>
                      </a:r>
                      <a:endParaRPr lang="en-US" sz="1100"/>
                    </a:p>
                  </a:txBody>
                  <a:tcPr marL="101600" marR="101600" marT="101600" marB="101600" anchor="t" anchorCtr="0">
                    <a:lnL>
                      <a:noFill/>
                    </a:lnL>
                    <a:lnR>
                      <a:noFill/>
                    </a:lnR>
                    <a:lnT>
                      <a:noFill/>
                    </a:lnT>
                    <a:lnB>
                      <a:noFill/>
                    </a:lnB>
                    <a:solidFill>
                      <a:srgbClr val="1B4332">
                        <a:alpha val="100000"/>
                      </a:srgbClr>
                    </a:solidFill>
                  </a:tcPr>
                </a:tc>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a:t>
                      </a:r>
                      <a:endParaRPr lang="en-US" sz="1100"/>
                    </a:p>
                  </a:txBody>
                  <a:tcPr marL="101600" marR="101600" marT="101600" marB="101600" anchor="t" anchorCtr="0">
                    <a:lnL>
                      <a:noFill/>
                    </a:lnL>
                    <a:lnR>
                      <a:noFill/>
                    </a:lnR>
                    <a:lnT>
                      <a:noFill/>
                    </a:lnT>
                    <a:lnB>
                      <a:noFill/>
                    </a:lnB>
                    <a:solidFill>
                      <a:srgbClr val="1B4332">
                        <a:alpha val="100000"/>
                      </a:srgbClr>
                    </a:solidFill>
                  </a:tcPr>
                </a:tc>
              </a:tr>
              <a:tr h="508000">
                <a:tc>
                  <a:txBody>
                    <a:bodyPr rtlCol="0"/>
                    <a:lstStyle/>
                    <a:p>
                      <a:pPr marL="0" indent="0" algn="ctr">
                        <a:lnSpc>
                          <a:spcPct val="100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GD</a:t>
                      </a:r>
                      <a:endParaRPr lang="en-US" sz="1100"/>
                    </a:p>
                  </a:txBody>
                  <a:tcPr marL="101600" marR="101600" marT="101600" marB="101600" anchor="t" anchorCtr="0">
                    <a:lnL>
                      <a:noFill/>
                    </a:lnL>
                    <a:lnR>
                      <a:noFill/>
                    </a:lnR>
                    <a:lnT>
                      <a:noFill/>
                    </a:lnT>
                    <a:lnB>
                      <a:noFill/>
                    </a:lnB>
                    <a:solidFill>
                      <a:srgbClr val="1B4332">
                        <a:alpha val="5000"/>
                      </a:srgbClr>
                    </a:solidFill>
                  </a:tcPr>
                </a:tc>
                <a:tc>
                  <a:txBody>
                    <a:bodyPr rtlCol="0"/>
                    <a:lstStyle/>
                    <a:p>
                      <a:pPr marL="0" indent="0" algn="ctr">
                        <a:lnSpc>
                          <a:spcPct val="100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O(n)</a:t>
                      </a:r>
                      <a:endParaRPr lang="en-US" sz="1100"/>
                    </a:p>
                  </a:txBody>
                  <a:tcPr marL="101600" marR="101600" marT="101600" marB="101600" anchor="t" anchorCtr="0">
                    <a:lnL>
                      <a:noFill/>
                    </a:lnL>
                    <a:lnR>
                      <a:noFill/>
                    </a:lnR>
                    <a:lnT>
                      <a:noFill/>
                    </a:lnT>
                    <a:lnB>
                      <a:noFill/>
                    </a:lnB>
                    <a:solidFill>
                      <a:srgbClr val="1B4332">
                        <a:alpha val="5000"/>
                      </a:srgbClr>
                    </a:solidFill>
                  </a:tcPr>
                </a:tc>
                <a:tc>
                  <a:txBody>
                    <a:bodyPr rtlCol="0"/>
                    <a:lstStyle/>
                    <a:p>
                      <a:pPr marL="0" indent="0" algn="ctr">
                        <a:lnSpc>
                          <a:spcPct val="100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无方差</a:t>
                      </a:r>
                      <a:endParaRPr lang="en-US" sz="1100"/>
                    </a:p>
                  </a:txBody>
                  <a:tcPr marL="101600" marR="101600" marT="101600" marB="101600" anchor="t" anchorCtr="0">
                    <a:lnL>
                      <a:noFill/>
                    </a:lnL>
                    <a:lnR>
                      <a:noFill/>
                    </a:lnR>
                    <a:lnT>
                      <a:noFill/>
                    </a:lnT>
                    <a:lnB>
                      <a:noFill/>
                    </a:lnB>
                    <a:solidFill>
                      <a:srgbClr val="1B4332">
                        <a:alpha val="5000"/>
                      </a:srgbClr>
                    </a:solidFill>
                  </a:tcPr>
                </a:tc>
                <a:tc>
                  <a:txBody>
                    <a:bodyPr rtlCol="0"/>
                    <a:lstStyle/>
                    <a:p>
                      <a:pPr marL="0" indent="0" algn="ctr">
                        <a:lnSpc>
                          <a:spcPct val="100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线性收敛</a:t>
                      </a:r>
                      <a:endParaRPr lang="en-US" sz="1100"/>
                    </a:p>
                  </a:txBody>
                  <a:tcPr marL="101600" marR="101600" marT="101600" marB="101600" anchor="t" anchorCtr="0">
                    <a:lnL>
                      <a:noFill/>
                    </a:lnL>
                    <a:lnR>
                      <a:noFill/>
                    </a:lnR>
                    <a:lnT>
                      <a:noFill/>
                    </a:lnT>
                    <a:lnB>
                      <a:noFill/>
                    </a:lnB>
                    <a:solidFill>
                      <a:srgbClr val="1B4332">
                        <a:alpha val="5000"/>
                      </a:srgbClr>
                    </a:solidFill>
                  </a:tcPr>
                </a:tc>
                <a:tc>
                  <a:txBody>
                    <a:bodyPr rtlCol="0"/>
                    <a:lstStyle/>
                    <a:p>
                      <a:pPr marL="0" indent="0" algn="ctr">
                        <a:lnSpc>
                          <a:spcPct val="100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O(1)</a:t>
                      </a:r>
                      <a:endParaRPr lang="en-US" sz="1100"/>
                    </a:p>
                  </a:txBody>
                  <a:tcPr marL="101600" marR="101600" marT="101600" marB="101600" anchor="t" anchorCtr="0">
                    <a:lnL>
                      <a:noFill/>
                    </a:lnL>
                    <a:lnR>
                      <a:noFill/>
                    </a:lnR>
                    <a:lnT>
                      <a:noFill/>
                    </a:lnT>
                    <a:lnB>
                      <a:noFill/>
                    </a:lnB>
                    <a:solidFill>
                      <a:srgbClr val="1B4332">
                        <a:alpha val="5000"/>
                      </a:srgbClr>
                    </a:solidFill>
                  </a:tcPr>
                </a:tc>
                <a:tc>
                  <a:txBody>
                    <a:bodyPr rtlCol="0"/>
                    <a:lstStyle/>
                    <a:p>
                      <a:pPr marL="127000" indent="0" algn="l">
                        <a:lnSpc>
                          <a:spcPct val="100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遍历全量样本计算梯度</a:t>
                      </a:r>
                      <a:endParaRPr lang="en-US" sz="1100"/>
                    </a:p>
                  </a:txBody>
                  <a:tcPr marL="101600" marR="101600" marT="101600" marB="101600" anchor="t" anchorCtr="0">
                    <a:lnL>
                      <a:noFill/>
                    </a:lnL>
                    <a:lnR>
                      <a:noFill/>
                    </a:lnR>
                    <a:lnT>
                      <a:noFill/>
                    </a:lnT>
                    <a:lnB>
                      <a:noFill/>
                    </a:lnB>
                    <a:solidFill>
                      <a:srgbClr val="1B4332">
                        <a:alpha val="5000"/>
                      </a:srgbClr>
                    </a:solidFill>
                  </a:tcPr>
                </a:tc>
              </a:tr>
              <a:tr h="508000">
                <a:tc>
                  <a:txBody>
                    <a:bodyPr rtlCol="0"/>
                    <a:lstStyle/>
                    <a:p>
                      <a:pPr marL="0" indent="0" algn="ctr">
                        <a:lnSpc>
                          <a:spcPct val="100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SGD</a:t>
                      </a:r>
                      <a:endParaRPr lang="en-US" sz="1100"/>
                    </a:p>
                  </a:txBody>
                  <a:tcPr marL="101600" marR="101600" marT="101600" marB="101600" anchor="t" anchorCtr="0">
                    <a:lnL>
                      <a:noFill/>
                    </a:lnL>
                    <a:lnR>
                      <a:noFill/>
                    </a:lnR>
                    <a:lnT>
                      <a:noFill/>
                    </a:lnT>
                    <a:lnB>
                      <a:noFill/>
                    </a:lnB>
                    <a:solidFill>
                      <a:srgbClr val="1B4332">
                        <a:alpha val="5000"/>
                      </a:srgbClr>
                    </a:solidFill>
                  </a:tcPr>
                </a:tc>
                <a:tc>
                  <a:txBody>
                    <a:bodyPr rtlCol="0"/>
                    <a:lstStyle/>
                    <a:p>
                      <a:pPr marL="0" indent="0" algn="ctr">
                        <a:lnSpc>
                          <a:spcPct val="100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O(1)</a:t>
                      </a:r>
                      <a:endParaRPr lang="en-US" sz="1100"/>
                    </a:p>
                  </a:txBody>
                  <a:tcPr marL="101600" marR="101600" marT="101600" marB="101600" anchor="t" anchorCtr="0">
                    <a:lnL>
                      <a:noFill/>
                    </a:lnL>
                    <a:lnR>
                      <a:noFill/>
                    </a:lnR>
                    <a:lnT>
                      <a:noFill/>
                    </a:lnT>
                    <a:lnB>
                      <a:noFill/>
                    </a:lnB>
                    <a:solidFill>
                      <a:srgbClr val="1B4332">
                        <a:alpha val="5000"/>
                      </a:srgbClr>
                    </a:solidFill>
                  </a:tcPr>
                </a:tc>
                <a:tc>
                  <a:txBody>
                    <a:bodyPr rtlCol="0"/>
                    <a:lstStyle/>
                    <a:p>
                      <a:pPr marL="0" indent="0" algn="ctr">
                        <a:lnSpc>
                          <a:spcPct val="100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高方差(σ²)</a:t>
                      </a:r>
                      <a:endParaRPr lang="en-US" sz="1100"/>
                    </a:p>
                  </a:txBody>
                  <a:tcPr marL="101600" marR="101600" marT="101600" marB="101600" anchor="t" anchorCtr="0">
                    <a:lnL>
                      <a:noFill/>
                    </a:lnL>
                    <a:lnR>
                      <a:noFill/>
                    </a:lnR>
                    <a:lnT>
                      <a:noFill/>
                    </a:lnT>
                    <a:lnB>
                      <a:noFill/>
                    </a:lnB>
                    <a:solidFill>
                      <a:srgbClr val="1B4332">
                        <a:alpha val="5000"/>
                      </a:srgbClr>
                    </a:solidFill>
                  </a:tcPr>
                </a:tc>
                <a:tc>
                  <a:txBody>
                    <a:bodyPr rtlCol="0"/>
                    <a:lstStyle/>
                    <a:p>
                      <a:pPr marL="0" indent="0" algn="ctr">
                        <a:lnSpc>
                          <a:spcPct val="100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次线性</a:t>
                      </a:r>
                      <a:endParaRPr lang="en-US" sz="1100"/>
                    </a:p>
                  </a:txBody>
                  <a:tcPr marL="101600" marR="101600" marT="101600" marB="101600" anchor="t" anchorCtr="0">
                    <a:lnL>
                      <a:noFill/>
                    </a:lnL>
                    <a:lnR>
                      <a:noFill/>
                    </a:lnR>
                    <a:lnT>
                      <a:noFill/>
                    </a:lnT>
                    <a:lnB>
                      <a:noFill/>
                    </a:lnB>
                    <a:solidFill>
                      <a:srgbClr val="1B4332">
                        <a:alpha val="5000"/>
                      </a:srgbClr>
                    </a:solidFill>
                  </a:tcPr>
                </a:tc>
                <a:tc>
                  <a:txBody>
                    <a:bodyPr rtlCol="0"/>
                    <a:lstStyle/>
                    <a:p>
                      <a:pPr marL="0" indent="0" algn="ctr">
                        <a:lnSpc>
                          <a:spcPct val="100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O(1)</a:t>
                      </a:r>
                      <a:endParaRPr lang="en-US" sz="1100"/>
                    </a:p>
                  </a:txBody>
                  <a:tcPr marL="101600" marR="101600" marT="101600" marB="101600" anchor="t" anchorCtr="0">
                    <a:lnL>
                      <a:noFill/>
                    </a:lnL>
                    <a:lnR>
                      <a:noFill/>
                    </a:lnR>
                    <a:lnT>
                      <a:noFill/>
                    </a:lnT>
                    <a:lnB>
                      <a:noFill/>
                    </a:lnB>
                    <a:solidFill>
                      <a:srgbClr val="1B4332">
                        <a:alpha val="5000"/>
                      </a:srgbClr>
                    </a:solidFill>
                  </a:tcPr>
                </a:tc>
                <a:tc>
                  <a:txBody>
                    <a:bodyPr rtlCol="0"/>
                    <a:lstStyle/>
                    <a:p>
                      <a:pPr marL="127000" indent="0" algn="l">
                        <a:lnSpc>
                          <a:spcPct val="100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单样本随机梯度估计</a:t>
                      </a:r>
                      <a:endParaRPr lang="en-US" sz="1100"/>
                    </a:p>
                  </a:txBody>
                  <a:tcPr marL="101600" marR="101600" marT="101600" marB="101600" anchor="t" anchorCtr="0">
                    <a:lnL>
                      <a:noFill/>
                    </a:lnL>
                    <a:lnR>
                      <a:noFill/>
                    </a:lnR>
                    <a:lnT>
                      <a:noFill/>
                    </a:lnT>
                    <a:lnB>
                      <a:noFill/>
                    </a:lnB>
                    <a:solidFill>
                      <a:srgbClr val="1B4332">
                        <a:alpha val="5000"/>
                      </a:srgbClr>
                    </a:solidFill>
                  </a:tcPr>
                </a:tc>
              </a:tr>
              <a:tr h="508000">
                <a:tc>
                  <a:txBody>
                    <a:bodyPr rtlCol="0"/>
                    <a:lstStyle/>
                    <a:p>
                      <a:pPr marL="0" indent="0" algn="ctr">
                        <a:lnSpc>
                          <a:spcPct val="100000"/>
                        </a:lnSpc>
                        <a:defRPr/>
                      </a:pPr>
                      <a:r>
                        <a:rPr lang="en-US" sz="13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SVRG</a:t>
                      </a:r>
                      <a:endParaRPr lang="en-US" sz="1100"/>
                    </a:p>
                  </a:txBody>
                  <a:tcPr marL="101600" marR="101600" marT="101600" marB="101600" anchor="t" anchorCtr="0">
                    <a:lnL>
                      <a:noFill/>
                    </a:lnL>
                    <a:lnR>
                      <a:noFill/>
                    </a:lnR>
                    <a:lnT>
                      <a:noFill/>
                    </a:lnT>
                    <a:lnB>
                      <a:noFill/>
                    </a:lnB>
                    <a:solidFill>
                      <a:srgbClr val="F0FFF4">
                        <a:alpha val="100000"/>
                      </a:srgbClr>
                    </a:solidFill>
                  </a:tcPr>
                </a:tc>
                <a:tc>
                  <a:txBody>
                    <a:bodyPr rtlCol="0"/>
                    <a:lstStyle/>
                    <a:p>
                      <a:pPr marL="0" indent="0" algn="ctr">
                        <a:lnSpc>
                          <a:spcPct val="100000"/>
                        </a:lnSpc>
                        <a:defRPr/>
                      </a:pPr>
                      <a:r>
                        <a:rPr lang="en-US" sz="13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O(1)</a:t>
                      </a:r>
                      <a:endParaRPr lang="en-US" sz="1100"/>
                    </a:p>
                  </a:txBody>
                  <a:tcPr marL="101600" marR="101600" marT="101600" marB="101600" anchor="t" anchorCtr="0">
                    <a:lnL>
                      <a:noFill/>
                    </a:lnL>
                    <a:lnR>
                      <a:noFill/>
                    </a:lnR>
                    <a:lnT>
                      <a:noFill/>
                    </a:lnT>
                    <a:lnB>
                      <a:noFill/>
                    </a:lnB>
                    <a:solidFill>
                      <a:srgbClr val="F0FFF4">
                        <a:alpha val="100000"/>
                      </a:srgbClr>
                    </a:solidFill>
                  </a:tcPr>
                </a:tc>
                <a:tc>
                  <a:txBody>
                    <a:bodyPr rtlCol="0"/>
                    <a:lstStyle/>
                    <a:p>
                      <a:pPr marL="0" indent="0" algn="ctr">
                        <a:lnSpc>
                          <a:spcPct val="100000"/>
                        </a:lnSpc>
                        <a:defRPr/>
                      </a:pPr>
                      <a:r>
                        <a:rPr lang="en-US" sz="13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低(依赖差距)</a:t>
                      </a:r>
                      <a:endParaRPr lang="en-US" sz="1100"/>
                    </a:p>
                  </a:txBody>
                  <a:tcPr marL="101600" marR="101600" marT="101600" marB="101600" anchor="t" anchorCtr="0">
                    <a:lnL>
                      <a:noFill/>
                    </a:lnL>
                    <a:lnR>
                      <a:noFill/>
                    </a:lnR>
                    <a:lnT>
                      <a:noFill/>
                    </a:lnT>
                    <a:lnB>
                      <a:noFill/>
                    </a:lnB>
                    <a:solidFill>
                      <a:srgbClr val="F0FFF4">
                        <a:alpha val="100000"/>
                      </a:srgbClr>
                    </a:solidFill>
                  </a:tcPr>
                </a:tc>
                <a:tc>
                  <a:txBody>
                    <a:bodyPr rtlCol="0"/>
                    <a:lstStyle/>
                    <a:p>
                      <a:pPr marL="0" indent="0" algn="ctr">
                        <a:lnSpc>
                          <a:spcPct val="100000"/>
                        </a:lnSpc>
                        <a:defRPr/>
                      </a:pPr>
                      <a:r>
                        <a:rPr lang="en-US" sz="13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线性收敛</a:t>
                      </a:r>
                      <a:endParaRPr lang="en-US" sz="1100"/>
                    </a:p>
                  </a:txBody>
                  <a:tcPr marL="101600" marR="101600" marT="101600" marB="101600" anchor="t" anchorCtr="0">
                    <a:lnL>
                      <a:noFill/>
                    </a:lnL>
                    <a:lnR>
                      <a:noFill/>
                    </a:lnR>
                    <a:lnT>
                      <a:noFill/>
                    </a:lnT>
                    <a:lnB>
                      <a:noFill/>
                    </a:lnB>
                    <a:solidFill>
                      <a:srgbClr val="F0FFF4">
                        <a:alpha val="100000"/>
                      </a:srgbClr>
                    </a:solidFill>
                  </a:tcPr>
                </a:tc>
                <a:tc>
                  <a:txBody>
                    <a:bodyPr rtlCol="0"/>
                    <a:lstStyle/>
                    <a:p>
                      <a:pPr marL="0" indent="0" algn="ctr">
                        <a:lnSpc>
                          <a:spcPct val="100000"/>
                        </a:lnSpc>
                        <a:defRPr/>
                      </a:pPr>
                      <a:r>
                        <a:rPr lang="en-US" sz="13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O(1)</a:t>
                      </a:r>
                      <a:endParaRPr lang="en-US" sz="1100"/>
                    </a:p>
                  </a:txBody>
                  <a:tcPr marL="101600" marR="101600" marT="101600" marB="101600" anchor="t" anchorCtr="0">
                    <a:lnL>
                      <a:noFill/>
                    </a:lnL>
                    <a:lnR>
                      <a:noFill/>
                    </a:lnR>
                    <a:lnT>
                      <a:noFill/>
                    </a:lnT>
                    <a:lnB>
                      <a:noFill/>
                    </a:lnB>
                    <a:solidFill>
                      <a:srgbClr val="F0FFF4">
                        <a:alpha val="100000"/>
                      </a:srgbClr>
                    </a:solidFill>
                  </a:tcPr>
                </a:tc>
                <a:tc>
                  <a:txBody>
                    <a:bodyPr rtlCol="0"/>
                    <a:lstStyle/>
                    <a:p>
                      <a:pPr marL="127000" indent="0" algn="l">
                        <a:lnSpc>
                          <a:spcPct val="100000"/>
                        </a:lnSpc>
                        <a:defRPr/>
                      </a:pPr>
                      <a:r>
                        <a:rPr lang="en-US" sz="13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定期全梯度 + 修正项</a:t>
                      </a:r>
                      <a:endParaRPr lang="en-US" sz="1100"/>
                    </a:p>
                  </a:txBody>
                  <a:tcPr marL="101600" marR="101600" marT="101600" marB="101600" anchor="t" anchorCtr="0">
                    <a:lnL>
                      <a:noFill/>
                    </a:lnL>
                    <a:lnR>
                      <a:noFill/>
                    </a:lnR>
                    <a:lnT>
                      <a:noFill/>
                    </a:lnT>
                    <a:lnB>
                      <a:noFill/>
                    </a:lnB>
                    <a:solidFill>
                      <a:srgbClr val="F0FFF4">
                        <a:alpha val="100000"/>
                      </a:srgbClr>
                    </a:solidFill>
                  </a:tcPr>
                </a:tc>
              </a:tr>
              <a:tr h="508000">
                <a:tc>
                  <a:txBody>
                    <a:bodyPr rtlCol="0"/>
                    <a:lstStyle/>
                    <a:p>
                      <a:pPr marL="0" indent="0" algn="ctr">
                        <a:lnSpc>
                          <a:spcPct val="100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SAGA</a:t>
                      </a:r>
                      <a:endParaRPr lang="en-US" sz="1100"/>
                    </a:p>
                  </a:txBody>
                  <a:tcPr marL="101600" marR="101600" marT="101600" marB="101600" anchor="t" anchorCtr="0">
                    <a:lnL>
                      <a:noFill/>
                    </a:lnL>
                    <a:lnR>
                      <a:noFill/>
                    </a:lnR>
                    <a:lnT>
                      <a:noFill/>
                    </a:lnT>
                    <a:lnB>
                      <a:noFill/>
                    </a:lnB>
                    <a:solidFill>
                      <a:srgbClr val="1B4332">
                        <a:alpha val="5000"/>
                      </a:srgbClr>
                    </a:solidFill>
                  </a:tcPr>
                </a:tc>
                <a:tc>
                  <a:txBody>
                    <a:bodyPr rtlCol="0"/>
                    <a:lstStyle/>
                    <a:p>
                      <a:pPr marL="0" indent="0" algn="ctr">
                        <a:lnSpc>
                          <a:spcPct val="100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O(1)</a:t>
                      </a:r>
                      <a:endParaRPr lang="en-US" sz="1100"/>
                    </a:p>
                  </a:txBody>
                  <a:tcPr marL="101600" marR="101600" marT="101600" marB="101600" anchor="t" anchorCtr="0">
                    <a:lnL>
                      <a:noFill/>
                    </a:lnL>
                    <a:lnR>
                      <a:noFill/>
                    </a:lnR>
                    <a:lnT>
                      <a:noFill/>
                    </a:lnT>
                    <a:lnB>
                      <a:noFill/>
                    </a:lnB>
                    <a:solidFill>
                      <a:srgbClr val="1B4332">
                        <a:alpha val="5000"/>
                      </a:srgbClr>
                    </a:solidFill>
                  </a:tcPr>
                </a:tc>
                <a:tc>
                  <a:txBody>
                    <a:bodyPr rtlCol="0"/>
                    <a:lstStyle/>
                    <a:p>
                      <a:pPr marL="0" indent="0" algn="ctr">
                        <a:lnSpc>
                          <a:spcPct val="100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极小</a:t>
                      </a:r>
                      <a:endParaRPr lang="en-US" sz="1100"/>
                    </a:p>
                  </a:txBody>
                  <a:tcPr marL="101600" marR="101600" marT="101600" marB="101600" anchor="t" anchorCtr="0">
                    <a:lnL>
                      <a:noFill/>
                    </a:lnL>
                    <a:lnR>
                      <a:noFill/>
                    </a:lnR>
                    <a:lnT>
                      <a:noFill/>
                    </a:lnT>
                    <a:lnB>
                      <a:noFill/>
                    </a:lnB>
                    <a:solidFill>
                      <a:srgbClr val="1B4332">
                        <a:alpha val="5000"/>
                      </a:srgbClr>
                    </a:solidFill>
                  </a:tcPr>
                </a:tc>
                <a:tc>
                  <a:txBody>
                    <a:bodyPr rtlCol="0"/>
                    <a:lstStyle/>
                    <a:p>
                      <a:pPr marL="0" indent="0" algn="ctr">
                        <a:lnSpc>
                          <a:spcPct val="100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线性收敛</a:t>
                      </a:r>
                      <a:endParaRPr lang="en-US" sz="1100"/>
                    </a:p>
                  </a:txBody>
                  <a:tcPr marL="101600" marR="101600" marT="101600" marB="101600" anchor="t" anchorCtr="0">
                    <a:lnL>
                      <a:noFill/>
                    </a:lnL>
                    <a:lnR>
                      <a:noFill/>
                    </a:lnR>
                    <a:lnT>
                      <a:noFill/>
                    </a:lnT>
                    <a:lnB>
                      <a:noFill/>
                    </a:lnB>
                    <a:solidFill>
                      <a:srgbClr val="1B4332">
                        <a:alpha val="5000"/>
                      </a:srgbClr>
                    </a:solidFill>
                  </a:tcPr>
                </a:tc>
                <a:tc>
                  <a:txBody>
                    <a:bodyPr rtlCol="0"/>
                    <a:lstStyle/>
                    <a:p>
                      <a:pPr marL="0" indent="0" algn="ctr">
                        <a:lnSpc>
                          <a:spcPct val="100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O(n)</a:t>
                      </a:r>
                      <a:endParaRPr lang="en-US" sz="1100"/>
                    </a:p>
                  </a:txBody>
                  <a:tcPr marL="101600" marR="101600" marT="101600" marB="101600" anchor="t" anchorCtr="0">
                    <a:lnL>
                      <a:noFill/>
                    </a:lnL>
                    <a:lnR>
                      <a:noFill/>
                    </a:lnR>
                    <a:lnT>
                      <a:noFill/>
                    </a:lnT>
                    <a:lnB>
                      <a:noFill/>
                    </a:lnB>
                    <a:solidFill>
                      <a:srgbClr val="1B4332">
                        <a:alpha val="5000"/>
                      </a:srgbClr>
                    </a:solidFill>
                  </a:tcPr>
                </a:tc>
                <a:tc>
                  <a:txBody>
                    <a:bodyPr rtlCol="0"/>
                    <a:lstStyle/>
                    <a:p>
                      <a:pPr marL="127000" indent="0" algn="l">
                        <a:lnSpc>
                          <a:spcPct val="100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维护梯度表 + 增量更新</a:t>
                      </a:r>
                      <a:endParaRPr lang="en-US" sz="1100"/>
                    </a:p>
                  </a:txBody>
                  <a:tcPr marL="101600" marR="101600" marT="101600" marB="101600" anchor="t" anchorCtr="0">
                    <a:lnL>
                      <a:noFill/>
                    </a:lnL>
                    <a:lnR>
                      <a:noFill/>
                    </a:lnR>
                    <a:lnT>
                      <a:noFill/>
                    </a:lnT>
                    <a:lnB>
                      <a:noFill/>
                    </a:lnB>
                    <a:solidFill>
                      <a:srgbClr val="1B4332">
                        <a:alpha val="5000"/>
                      </a:srgbClr>
                    </a:solidFill>
                  </a:tcPr>
                </a:tc>
              </a:tr>
            </a:tbl>
          </a:graphicData>
        </a:graphic>
      </p:graphicFrame>
      <p:sp>
        <p:nvSpPr>
          <p:cNvPr id="6" name="AutoShape 6"/>
          <p:cNvSpPr/>
          <p:nvPr/>
        </p:nvSpPr>
        <p:spPr>
          <a:xfrm>
            <a:off x="508000" y="4381500"/>
            <a:ext cx="5461000" cy="21590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698500" y="45085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 SVRG 的核心优势</a:t>
            </a:r>
            <a:endParaRPr lang="en-US" sz="1100"/>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8500" y="5016500"/>
            <a:ext cx="203200" cy="203200"/>
          </a:xfrm>
          <a:prstGeom prst="rect">
            <a:avLst/>
          </a:prstGeom>
        </p:spPr>
      </p:pic>
      <p:sp>
        <p:nvSpPr>
          <p:cNvPr id="9" name="AutoShape 9"/>
          <p:cNvSpPr/>
          <p:nvPr/>
        </p:nvSpPr>
        <p:spPr>
          <a:xfrm>
            <a:off x="952500" y="4978400"/>
            <a:ext cx="495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内存友好：</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仅需常数级内存开销 O(1)，无需存储历史梯度，适合大规模数据场景。</a:t>
            </a:r>
            <a:endParaRPr lang="en-US" sz="1100"/>
          </a:p>
        </p:txBody>
      </p:sp>
      <p:pic>
        <p:nvPicPr>
          <p:cNvPr id="10" name="Picture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8500" y="5461000"/>
            <a:ext cx="203200" cy="203200"/>
          </a:xfrm>
          <a:prstGeom prst="rect">
            <a:avLst/>
          </a:prstGeom>
        </p:spPr>
      </p:pic>
      <p:sp>
        <p:nvSpPr>
          <p:cNvPr id="11" name="AutoShape 11"/>
          <p:cNvSpPr/>
          <p:nvPr/>
        </p:nvSpPr>
        <p:spPr>
          <a:xfrm>
            <a:off x="952500" y="5422900"/>
            <a:ext cx="495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线性收敛：</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在强凸问题下实现线性收敛，收敛速度显著优于传统SGD。</a:t>
            </a:r>
            <a:endParaRPr lang="en-US" sz="1100"/>
          </a:p>
        </p:txBody>
      </p:sp>
      <p:pic>
        <p:nvPicPr>
          <p:cNvPr id="12" name="Picture 1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8500" y="5905500"/>
            <a:ext cx="203200" cy="203200"/>
          </a:xfrm>
          <a:prstGeom prst="rect">
            <a:avLst/>
          </a:prstGeom>
        </p:spPr>
      </p:pic>
      <p:sp>
        <p:nvSpPr>
          <p:cNvPr id="13" name="AutoShape 13"/>
          <p:cNvSpPr/>
          <p:nvPr/>
        </p:nvSpPr>
        <p:spPr>
          <a:xfrm>
            <a:off x="952500" y="5867400"/>
            <a:ext cx="495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参数稳定：</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支持使用常数学习率，无需随迭代衰减，大幅降低调参难度。</a:t>
            </a:r>
            <a:endParaRPr lang="en-US" sz="1100"/>
          </a:p>
        </p:txBody>
      </p:sp>
      <p:sp>
        <p:nvSpPr>
          <p:cNvPr id="14" name="AutoShape 14"/>
          <p:cNvSpPr/>
          <p:nvPr/>
        </p:nvSpPr>
        <p:spPr>
          <a:xfrm>
            <a:off x="6223000" y="4381500"/>
            <a:ext cx="5461000" cy="2159000"/>
          </a:xfrm>
          <a:prstGeom prst="roundRect">
            <a:avLst>
              <a:gd name="adj" fmla="val 0"/>
            </a:avLst>
          </a:prstGeom>
          <a:solidFill>
            <a:srgbClr val="F59E0B">
              <a:alpha val="8000"/>
            </a:srgbClr>
          </a:solidFill>
          <a:ln w="12700" cap="flat" cmpd="sng">
            <a:solidFill>
              <a:srgbClr val="F59E0B">
                <a:alpha val="2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413500" y="45085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B45309"/>
                </a:solidFill>
                <a:latin typeface="Noto Sans SC" panose="020B0200000000000000" charset="-122"/>
                <a:ea typeface="Noto Sans SC" panose="020B0200000000000000" charset="-122"/>
                <a:cs typeface="Noto Sans SC" panose="020B0200000000000000" charset="-122"/>
                <a:sym typeface="Noto Sans SC" panose="020B0200000000000000" charset="-122"/>
              </a:rPr>
              <a:t>⚠️ SVRG 的应用局限</a:t>
            </a:r>
            <a:endParaRPr lang="en-US" sz="1100"/>
          </a:p>
        </p:txBody>
      </p:sp>
      <p:pic>
        <p:nvPicPr>
          <p:cNvPr id="16" name="Picture 1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13500" y="5016500"/>
            <a:ext cx="203200" cy="203200"/>
          </a:xfrm>
          <a:prstGeom prst="rect">
            <a:avLst/>
          </a:prstGeom>
        </p:spPr>
      </p:pic>
      <p:sp>
        <p:nvSpPr>
          <p:cNvPr id="17" name="AutoShape 17"/>
          <p:cNvSpPr/>
          <p:nvPr/>
        </p:nvSpPr>
        <p:spPr>
          <a:xfrm>
            <a:off x="6667500" y="4978400"/>
            <a:ext cx="495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周期性开销：</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每个epoch需计算一次全量梯度，超大规模数据下有一定计算负担。</a:t>
            </a:r>
            <a:endParaRPr lang="en-US" sz="1100"/>
          </a:p>
        </p:txBody>
      </p:sp>
      <p:pic>
        <p:nvPicPr>
          <p:cNvPr id="18" name="Picture 1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13500" y="5461000"/>
            <a:ext cx="203200" cy="203200"/>
          </a:xfrm>
          <a:prstGeom prst="rect">
            <a:avLst/>
          </a:prstGeom>
        </p:spPr>
      </p:pic>
      <p:sp>
        <p:nvSpPr>
          <p:cNvPr id="19" name="AutoShape 19"/>
          <p:cNvSpPr/>
          <p:nvPr/>
        </p:nvSpPr>
        <p:spPr>
          <a:xfrm>
            <a:off x="6667500" y="5422900"/>
            <a:ext cx="495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非凸适用性：</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在非凸优化场景下，其理论收敛保证不如凸优化场景完善。</a:t>
            </a:r>
            <a:endParaRPr lang="en-US" sz="1100"/>
          </a:p>
        </p:txBody>
      </p:sp>
      <p:pic>
        <p:nvPicPr>
          <p:cNvPr id="20" name="Picture 2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13500" y="5905500"/>
            <a:ext cx="203200" cy="203200"/>
          </a:xfrm>
          <a:prstGeom prst="rect">
            <a:avLst/>
          </a:prstGeom>
        </p:spPr>
      </p:pic>
      <p:sp>
        <p:nvSpPr>
          <p:cNvPr id="21" name="AutoShape 21"/>
          <p:cNvSpPr/>
          <p:nvPr/>
        </p:nvSpPr>
        <p:spPr>
          <a:xfrm>
            <a:off x="6667500" y="5867400"/>
            <a:ext cx="495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调参依赖：</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内循环步数m需要手动调整，参数选择不当会直接影响收敛效率。</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0" y="-635000"/>
            <a:ext cx="2540000" cy="2540000"/>
          </a:xfrm>
          <a:prstGeom prst="ellipse">
            <a:avLst/>
          </a:prstGeom>
          <a:solidFill>
            <a:srgbClr val="2E7D32">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5334000"/>
            <a:ext cx="1905000" cy="1905000"/>
          </a:xfrm>
          <a:prstGeom prst="ellipse">
            <a:avLst/>
          </a:prstGeom>
          <a:solidFill>
            <a:srgbClr val="F57C00">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总结：优缺点与应用</a:t>
            </a:r>
            <a:endParaRPr lang="en-US" sz="1100"/>
          </a:p>
        </p:txBody>
      </p:sp>
      <p:sp>
        <p:nvSpPr>
          <p:cNvPr id="5" name="AutoShape 5"/>
          <p:cNvSpPr/>
          <p:nvPr/>
        </p:nvSpPr>
        <p:spPr>
          <a:xfrm>
            <a:off x="508000" y="1524000"/>
            <a:ext cx="5397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E7D32"/>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a:t>
            </a:r>
            <a:endParaRPr lang="en-US" sz="1100"/>
          </a:p>
        </p:txBody>
      </p:sp>
      <p:sp>
        <p:nvSpPr>
          <p:cNvPr id="6" name="AutoShape 6"/>
          <p:cNvSpPr/>
          <p:nvPr/>
        </p:nvSpPr>
        <p:spPr>
          <a:xfrm>
            <a:off x="508000" y="2032000"/>
            <a:ext cx="762000" cy="38100"/>
          </a:xfrm>
          <a:prstGeom prst="roundRect">
            <a:avLst>
              <a:gd name="adj" fmla="val 0"/>
            </a:avLst>
          </a:prstGeom>
          <a:solidFill>
            <a:srgbClr val="2E7D3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08000" y="2413000"/>
            <a:ext cx="254000" cy="254000"/>
          </a:xfrm>
          <a:prstGeom prst="rect">
            <a:avLst/>
          </a:prstGeom>
        </p:spPr>
      </p:pic>
      <p:sp>
        <p:nvSpPr>
          <p:cNvPr id="8" name="AutoShape 8"/>
          <p:cNvSpPr/>
          <p:nvPr/>
        </p:nvSpPr>
        <p:spPr>
          <a:xfrm>
            <a:off x="889000" y="2387600"/>
            <a:ext cx="501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线性收敛，精度更高</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相比SGD具有更优的线性收敛速率，解的精度更高，收敛更稳定。</a:t>
            </a:r>
            <a:endParaRPr lang="en-US" sz="1100"/>
          </a:p>
        </p:txBody>
      </p:sp>
      <p:pic>
        <p:nvPicPr>
          <p:cNvPr id="9" name="Picture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08000" y="3048000"/>
            <a:ext cx="254000" cy="254000"/>
          </a:xfrm>
          <a:prstGeom prst="rect">
            <a:avLst/>
          </a:prstGeom>
        </p:spPr>
      </p:pic>
      <p:sp>
        <p:nvSpPr>
          <p:cNvPr id="10" name="AutoShape 10"/>
          <p:cNvSpPr/>
          <p:nvPr/>
        </p:nvSpPr>
        <p:spPr>
          <a:xfrm>
            <a:off x="889000" y="3022600"/>
            <a:ext cx="501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调参简单，无需复杂调度</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采用常数学习率策略，无需设计复杂的学习率衰减或自适应机制。</a:t>
            </a:r>
            <a:endParaRPr lang="en-US" sz="1100"/>
          </a:p>
        </p:txBody>
      </p:sp>
      <p:pic>
        <p:nvPicPr>
          <p:cNvPr id="11" name="Picture 11"/>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08000" y="3683000"/>
            <a:ext cx="254000" cy="254000"/>
          </a:xfrm>
          <a:prstGeom prst="rect">
            <a:avLst/>
          </a:prstGeom>
        </p:spPr>
      </p:pic>
      <p:sp>
        <p:nvSpPr>
          <p:cNvPr id="12" name="AutoShape 12"/>
          <p:cNvSpPr/>
          <p:nvPr/>
        </p:nvSpPr>
        <p:spPr>
          <a:xfrm>
            <a:off x="889000" y="3657600"/>
            <a:ext cx="501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内存友好，适合大规模数据</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仅需O(1)额外空间，内存占用极低，完美适配海量数据集训练。</a:t>
            </a:r>
            <a:endParaRPr lang="en-US" sz="1100"/>
          </a:p>
        </p:txBody>
      </p:sp>
      <p:pic>
        <p:nvPicPr>
          <p:cNvPr id="13" name="Picture 1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08000" y="4318000"/>
            <a:ext cx="254000" cy="254000"/>
          </a:xfrm>
          <a:prstGeom prst="rect">
            <a:avLst/>
          </a:prstGeom>
        </p:spPr>
      </p:pic>
      <p:sp>
        <p:nvSpPr>
          <p:cNvPr id="14" name="AutoShape 14"/>
          <p:cNvSpPr/>
          <p:nvPr/>
        </p:nvSpPr>
        <p:spPr>
          <a:xfrm>
            <a:off x="889000" y="4292600"/>
            <a:ext cx="501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实现简易，工程成本低</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基于SGD框架，仅需增加周期性全梯度计算步骤，易于部署。</a:t>
            </a:r>
            <a:endParaRPr lang="en-US" sz="1100"/>
          </a:p>
        </p:txBody>
      </p:sp>
      <p:sp>
        <p:nvSpPr>
          <p:cNvPr id="15" name="AutoShape 15"/>
          <p:cNvSpPr/>
          <p:nvPr/>
        </p:nvSpPr>
        <p:spPr>
          <a:xfrm>
            <a:off x="6286500" y="1524000"/>
            <a:ext cx="5397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57C00"/>
                </a:solidFill>
                <a:latin typeface="Noto Sans SC" panose="020B0200000000000000" charset="-122"/>
                <a:ea typeface="Noto Sans SC" panose="020B0200000000000000" charset="-122"/>
                <a:cs typeface="Noto Sans SC" panose="020B0200000000000000" charset="-122"/>
                <a:sym typeface="Noto Sans SC" panose="020B0200000000000000" charset="-122"/>
              </a:rPr>
              <a:t>潜在局限</a:t>
            </a:r>
            <a:endParaRPr lang="en-US" sz="1100"/>
          </a:p>
        </p:txBody>
      </p:sp>
      <p:sp>
        <p:nvSpPr>
          <p:cNvPr id="16" name="AutoShape 16"/>
          <p:cNvSpPr/>
          <p:nvPr/>
        </p:nvSpPr>
        <p:spPr>
          <a:xfrm>
            <a:off x="6286500" y="2032000"/>
            <a:ext cx="762000" cy="38100"/>
          </a:xfrm>
          <a:prstGeom prst="roundRect">
            <a:avLst>
              <a:gd name="adj" fmla="val 0"/>
            </a:avLst>
          </a:prstGeom>
          <a:solidFill>
            <a:srgbClr val="F57C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86500" y="2413000"/>
            <a:ext cx="254000" cy="254000"/>
          </a:xfrm>
          <a:prstGeom prst="rect">
            <a:avLst/>
          </a:prstGeom>
        </p:spPr>
      </p:pic>
      <p:sp>
        <p:nvSpPr>
          <p:cNvPr id="18" name="AutoShape 18"/>
          <p:cNvSpPr/>
          <p:nvPr/>
        </p:nvSpPr>
        <p:spPr>
          <a:xfrm>
            <a:off x="6667500" y="2387600"/>
            <a:ext cx="501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全梯度开销，不适配纯在线</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每个epoch需计算一次全梯度(O(n))，难以处理无法遍历的数据流。</a:t>
            </a:r>
            <a:endParaRPr lang="en-US" sz="1100"/>
          </a:p>
        </p:txBody>
      </p:sp>
      <p:pic>
        <p:nvPicPr>
          <p:cNvPr id="19" name="Picture 1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86500" y="3048000"/>
            <a:ext cx="254000" cy="254000"/>
          </a:xfrm>
          <a:prstGeom prst="rect">
            <a:avLst/>
          </a:prstGeom>
        </p:spPr>
      </p:pic>
      <p:sp>
        <p:nvSpPr>
          <p:cNvPr id="20" name="AutoShape 20"/>
          <p:cNvSpPr/>
          <p:nvPr/>
        </p:nvSpPr>
        <p:spPr>
          <a:xfrm>
            <a:off x="6667500" y="3022600"/>
            <a:ext cx="501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超参敏感，需精细调试</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内循环步数m与学习率η需手动调优，参数设置不当会影响效果。</a:t>
            </a:r>
            <a:endParaRPr lang="en-US" sz="1100"/>
          </a:p>
        </p:txBody>
      </p:sp>
      <p:pic>
        <p:nvPicPr>
          <p:cNvPr id="21" name="Picture 2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86500" y="3683000"/>
            <a:ext cx="254000" cy="254000"/>
          </a:xfrm>
          <a:prstGeom prst="rect">
            <a:avLst/>
          </a:prstGeom>
        </p:spPr>
      </p:pic>
      <p:sp>
        <p:nvSpPr>
          <p:cNvPr id="22" name="AutoShape 22"/>
          <p:cNvSpPr/>
          <p:nvPr/>
        </p:nvSpPr>
        <p:spPr>
          <a:xfrm>
            <a:off x="6667500" y="3657600"/>
            <a:ext cx="501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非凸问题理论支撑较弱</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在非凸场景下缺乏严格的收敛理论证明，更多依赖实证效果。</a:t>
            </a:r>
            <a:endParaRPr lang="en-US" sz="1100"/>
          </a:p>
        </p:txBody>
      </p:sp>
      <p:pic>
        <p:nvPicPr>
          <p:cNvPr id="23" name="Picture 2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86500" y="4318000"/>
            <a:ext cx="254000" cy="254000"/>
          </a:xfrm>
          <a:prstGeom prst="rect">
            <a:avLst/>
          </a:prstGeom>
        </p:spPr>
      </p:pic>
      <p:sp>
        <p:nvSpPr>
          <p:cNvPr id="24" name="AutoShape 24"/>
          <p:cNvSpPr/>
          <p:nvPr/>
        </p:nvSpPr>
        <p:spPr>
          <a:xfrm>
            <a:off x="6667500" y="4292600"/>
            <a:ext cx="501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参考点更新存在滞后性</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内循环后期梯度估计可能存在偏差，导致收敛路径出现波动。</a:t>
            </a:r>
            <a:endParaRPr lang="en-US" sz="1100"/>
          </a:p>
        </p:txBody>
      </p:sp>
      <p:sp>
        <p:nvSpPr>
          <p:cNvPr id="25" name="AutoShape 25"/>
          <p:cNvSpPr/>
          <p:nvPr/>
        </p:nvSpPr>
        <p:spPr>
          <a:xfrm>
            <a:off x="508000" y="5207000"/>
            <a:ext cx="11176000" cy="1270000"/>
          </a:xfrm>
          <a:prstGeom prst="roundRect">
            <a:avLst>
              <a:gd name="adj" fmla="val 0"/>
            </a:avLst>
          </a:prstGeom>
          <a:solidFill>
            <a:srgbClr val="2E7D32">
              <a:alpha val="8000"/>
            </a:srgbClr>
          </a:solidFill>
          <a:ln w="12700" cap="flat" cmpd="sng">
            <a:solidFill>
              <a:srgbClr val="2E7D32">
                <a:alpha val="20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698500" y="5334000"/>
            <a:ext cx="533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1B5E20"/>
                </a:solidFill>
                <a:latin typeface="Noto Sans SC" panose="020B0200000000000000" charset="-122"/>
                <a:ea typeface="Noto Sans SC" panose="020B0200000000000000" charset="-122"/>
                <a:cs typeface="Noto Sans SC" panose="020B0200000000000000" charset="-122"/>
                <a:sym typeface="Noto Sans SC" panose="020B0200000000000000" charset="-122"/>
              </a:rPr>
              <a:t>🚀 最佳适用场景</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适用于大规模机器学习模型（如逻辑回归、SVM、神经网络预训练）；针对有限和优化问题（经验风险最小化）；数据量大但可完整加载和遍历的离线训练场景。</a:t>
            </a:r>
            <a:endParaRPr lang="en-US" sz="1100"/>
          </a:p>
        </p:txBody>
      </p:sp>
      <p:cxnSp>
        <p:nvCxnSpPr>
          <p:cNvPr id="27" name="Connector 27"/>
          <p:cNvCxnSpPr/>
          <p:nvPr/>
        </p:nvCxnSpPr>
        <p:spPr>
          <a:xfrm rot="5350892">
            <a:off x="5651500" y="5835695"/>
            <a:ext cx="889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28" name="AutoShape 28"/>
          <p:cNvSpPr/>
          <p:nvPr/>
        </p:nvSpPr>
        <p:spPr>
          <a:xfrm>
            <a:off x="6286500" y="5334000"/>
            <a:ext cx="533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BF360C"/>
                </a:solidFill>
                <a:latin typeface="Noto Sans SC" panose="020B0200000000000000" charset="-122"/>
                <a:ea typeface="Noto Sans SC" panose="020B0200000000000000" charset="-122"/>
                <a:cs typeface="Noto Sans SC" panose="020B0200000000000000" charset="-122"/>
                <a:sym typeface="Noto Sans SC" panose="020B0200000000000000" charset="-122"/>
              </a:rPr>
              <a:t>🚫 不建议使用场景</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纯在线学习、高速数据流处理场景；无法一次性加载全量数据或无法计算全梯度的环境；对实时性要求极高的低延迟在线推断任务。</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B433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0" y="-1270000"/>
            <a:ext cx="5080000" cy="5080000"/>
          </a:xfrm>
          <a:prstGeom prst="ellipse">
            <a:avLst/>
          </a:prstGeom>
          <a:solidFill>
            <a:srgbClr val="52B788">
              <a:alpha val="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0" y="4445000"/>
            <a:ext cx="3810000" cy="3810000"/>
          </a:xfrm>
          <a:prstGeom prst="ellipse">
            <a:avLst/>
          </a:prstGeom>
          <a:solidFill>
            <a:srgbClr val="52B788">
              <a:alpha val="8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508000"/>
            <a:ext cx="1016000" cy="76200"/>
          </a:xfrm>
          <a:prstGeom prst="roundRect">
            <a:avLst>
              <a:gd name="adj" fmla="val 0"/>
            </a:avLst>
          </a:prstGeom>
          <a:solidFill>
            <a:srgbClr val="2D6A4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508000" y="508000"/>
            <a:ext cx="76200" cy="508000"/>
          </a:xfrm>
          <a:prstGeom prst="roundRect">
            <a:avLst>
              <a:gd name="adj" fmla="val 0"/>
            </a:avLst>
          </a:prstGeom>
          <a:solidFill>
            <a:srgbClr val="2D6A4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668000" y="508000"/>
            <a:ext cx="1016000" cy="76200"/>
          </a:xfrm>
          <a:prstGeom prst="roundRect">
            <a:avLst>
              <a:gd name="adj" fmla="val 0"/>
            </a:avLst>
          </a:prstGeom>
          <a:solidFill>
            <a:srgbClr val="2D6A4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1607800" y="508000"/>
            <a:ext cx="76200" cy="508000"/>
          </a:xfrm>
          <a:prstGeom prst="roundRect">
            <a:avLst>
              <a:gd name="adj" fmla="val 0"/>
            </a:avLst>
          </a:prstGeom>
          <a:solidFill>
            <a:srgbClr val="2D6A4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508000" y="6273800"/>
            <a:ext cx="1016000" cy="76200"/>
          </a:xfrm>
          <a:prstGeom prst="roundRect">
            <a:avLst>
              <a:gd name="adj" fmla="val 0"/>
            </a:avLst>
          </a:prstGeom>
          <a:solidFill>
            <a:srgbClr val="2D6A4F">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508000" y="5842000"/>
            <a:ext cx="76200" cy="508000"/>
          </a:xfrm>
          <a:prstGeom prst="roundRect">
            <a:avLst>
              <a:gd name="adj" fmla="val 0"/>
            </a:avLst>
          </a:prstGeom>
          <a:solidFill>
            <a:srgbClr val="2D6A4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668000" y="6273800"/>
            <a:ext cx="1016000" cy="76200"/>
          </a:xfrm>
          <a:prstGeom prst="roundRect">
            <a:avLst>
              <a:gd name="adj" fmla="val 0"/>
            </a:avLst>
          </a:prstGeom>
          <a:solidFill>
            <a:srgbClr val="2D6A4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1607800" y="5842000"/>
            <a:ext cx="76200" cy="508000"/>
          </a:xfrm>
          <a:prstGeom prst="roundRect">
            <a:avLst>
              <a:gd name="adj" fmla="val 0"/>
            </a:avLst>
          </a:prstGeom>
          <a:solidFill>
            <a:srgbClr val="2D6A4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0" y="762000"/>
            <a:ext cx="12192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7200" b="1" i="0" u="none" strike="noStrike">
                <a:solidFill>
                  <a:srgbClr val="FFFFFF"/>
                </a:solidFill>
                <a:latin typeface="Poppins"/>
                <a:ea typeface="Poppins"/>
                <a:cs typeface="Poppins"/>
                <a:sym typeface="Poppins"/>
              </a:rPr>
              <a:t>Thanks</a:t>
            </a:r>
            <a:endParaRPr lang="en-US" sz="1100"/>
          </a:p>
        </p:txBody>
      </p:sp>
      <p:sp>
        <p:nvSpPr>
          <p:cNvPr id="13" name="AutoShape 13"/>
          <p:cNvSpPr/>
          <p:nvPr/>
        </p:nvSpPr>
        <p:spPr>
          <a:xfrm>
            <a:off x="0" y="2286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a:solidFill>
                  <a:srgbClr val="B7E4C7"/>
                </a:solidFill>
                <a:latin typeface="Noto Sans SC" panose="020B0200000000000000" charset="-122"/>
                <a:ea typeface="Noto Sans SC" panose="020B0200000000000000" charset="-122"/>
                <a:cs typeface="Noto Sans SC" panose="020B0200000000000000" charset="-122"/>
                <a:sym typeface="Noto Sans SC" panose="020B0200000000000000" charset="-122"/>
              </a:rPr>
              <a:t>让随机梯度下降既快又准</a:t>
            </a:r>
            <a:endParaRPr lang="en-US" sz="1100"/>
          </a:p>
        </p:txBody>
      </p:sp>
      <p:sp>
        <p:nvSpPr>
          <p:cNvPr id="14" name="AutoShape 14"/>
          <p:cNvSpPr/>
          <p:nvPr/>
        </p:nvSpPr>
        <p:spPr>
          <a:xfrm>
            <a:off x="1016000" y="3467100"/>
            <a:ext cx="101600" cy="101600"/>
          </a:xfrm>
          <a:prstGeom prst="roundRect">
            <a:avLst>
              <a:gd name="adj" fmla="val 0"/>
            </a:avLst>
          </a:prstGeom>
          <a:solidFill>
            <a:srgbClr val="95D5B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1270000" y="3403600"/>
            <a:ext cx="488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95D5B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1. Johnson, R., &amp; Zhang, T. (2013). Accelerating stochastic gradient descent using predictive variance reduction. </a:t>
            </a:r>
            <a:r>
              <a:rPr lang="en-US" sz="1400" b="0" i="1" u="none" strike="noStrike">
                <a:solidFill>
                  <a:srgbClr val="95D5B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NeurIPS</a:t>
            </a:r>
            <a:r>
              <a:rPr lang="en-US" sz="1400" b="0" i="0" u="none" strike="noStrike">
                <a:solidFill>
                  <a:srgbClr val="95D5B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t>
            </a:r>
            <a:endParaRPr lang="en-US" sz="1100"/>
          </a:p>
        </p:txBody>
      </p:sp>
      <p:sp>
        <p:nvSpPr>
          <p:cNvPr id="16" name="AutoShape 16"/>
          <p:cNvSpPr/>
          <p:nvPr/>
        </p:nvSpPr>
        <p:spPr>
          <a:xfrm>
            <a:off x="1016000" y="4483100"/>
            <a:ext cx="101600" cy="101600"/>
          </a:xfrm>
          <a:prstGeom prst="roundRect">
            <a:avLst>
              <a:gd name="adj" fmla="val 0"/>
            </a:avLst>
          </a:prstGeom>
          <a:solidFill>
            <a:srgbClr val="95D5B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270000" y="4419600"/>
            <a:ext cx="488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95D5B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2. Defazio, A., Bach, F., &amp; Lacoste-Julien, S. (2014). SAGA: A fast incremental gradient method with support for non-strongly convex composite objectives. </a:t>
            </a:r>
            <a:r>
              <a:rPr lang="en-US" sz="1400" b="0" i="1" u="none" strike="noStrike">
                <a:solidFill>
                  <a:srgbClr val="95D5B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NeurIPS</a:t>
            </a:r>
            <a:r>
              <a:rPr lang="en-US" sz="1400" b="0" i="0" u="none" strike="noStrike">
                <a:solidFill>
                  <a:srgbClr val="95D5B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t>
            </a:r>
            <a:endParaRPr lang="en-US" sz="1100"/>
          </a:p>
        </p:txBody>
      </p:sp>
      <p:sp>
        <p:nvSpPr>
          <p:cNvPr id="18" name="AutoShape 18"/>
          <p:cNvSpPr/>
          <p:nvPr/>
        </p:nvSpPr>
        <p:spPr>
          <a:xfrm>
            <a:off x="6350000" y="3467100"/>
            <a:ext cx="101600" cy="101600"/>
          </a:xfrm>
          <a:prstGeom prst="roundRect">
            <a:avLst>
              <a:gd name="adj" fmla="val 0"/>
            </a:avLst>
          </a:prstGeom>
          <a:solidFill>
            <a:srgbClr val="95D5B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604000" y="3403600"/>
            <a:ext cx="488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95D5B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3. Allen-Zhu, Z. (2017). Katyusha: The first direct acceleration of stochastic gradient methods. </a:t>
            </a:r>
            <a:r>
              <a:rPr lang="en-US" sz="1400" b="0" i="1" u="none" strike="noStrike">
                <a:solidFill>
                  <a:srgbClr val="95D5B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STOC</a:t>
            </a:r>
            <a:r>
              <a:rPr lang="en-US" sz="1400" b="0" i="0" u="none" strike="noStrike">
                <a:solidFill>
                  <a:srgbClr val="95D5B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t>
            </a:r>
            <a:endParaRPr lang="en-US" sz="1100"/>
          </a:p>
        </p:txBody>
      </p:sp>
      <p:sp>
        <p:nvSpPr>
          <p:cNvPr id="20" name="AutoShape 20"/>
          <p:cNvSpPr/>
          <p:nvPr/>
        </p:nvSpPr>
        <p:spPr>
          <a:xfrm>
            <a:off x="6350000" y="4483100"/>
            <a:ext cx="101600" cy="101600"/>
          </a:xfrm>
          <a:prstGeom prst="roundRect">
            <a:avLst>
              <a:gd name="adj" fmla="val 0"/>
            </a:avLst>
          </a:prstGeom>
          <a:solidFill>
            <a:srgbClr val="95D5B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604000" y="4419600"/>
            <a:ext cx="488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95D5B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4. Nguyen, L. M., et al. (2017). SARAH: A novel method for machine learning problems using recursive gradient. </a:t>
            </a:r>
            <a:r>
              <a:rPr lang="en-US" sz="1400" b="0" i="1" u="none" strike="noStrike">
                <a:solidFill>
                  <a:srgbClr val="95D5B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ICML</a:t>
            </a:r>
            <a:r>
              <a:rPr lang="en-US" sz="1400" b="0" i="0" u="none" strike="noStrike">
                <a:solidFill>
                  <a:srgbClr val="95D5B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t>
            </a:r>
            <a:endParaRPr lang="en-US" sz="1100"/>
          </a:p>
        </p:txBody>
      </p:sp>
      <p:sp>
        <p:nvSpPr>
          <p:cNvPr id="22" name="AutoShape 22"/>
          <p:cNvSpPr/>
          <p:nvPr/>
        </p:nvSpPr>
        <p:spPr>
          <a:xfrm>
            <a:off x="0" y="5588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52B788"/>
                </a:solidFill>
                <a:latin typeface="Poppins"/>
                <a:ea typeface="Poppins"/>
                <a:cs typeface="Poppins"/>
                <a:sym typeface="Poppins"/>
              </a:rPr>
              <a:t>Q &amp; A</a:t>
            </a:r>
            <a:endParaRPr lang="en-US" sz="1100"/>
          </a:p>
        </p:txBody>
      </p:sp>
      <p:pic>
        <p:nvPicPr>
          <p:cNvPr id="23" name="Picture 23"/>
          <p:cNvPicPr>
            <a:picLocks noChangeAspect="1"/>
          </p:cNvPicPr>
          <p:nvPr/>
        </p:nvPicPr>
        <p:blipFill>
          <a:blip r:embed="rId1"/>
          <a:stretch>
            <a:fillRect/>
          </a:stretch>
        </p:blipFill>
        <p:spPr>
          <a:xfrm>
            <a:off x="10668000" y="6190112"/>
            <a:ext cx="1524000" cy="66788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B433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2032000"/>
            <a:ext cx="3302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0" b="1" i="0" u="none" strike="noStrike">
                <a:solidFill>
                  <a:srgbClr val="52B788">
                    <a:alpha val="20000"/>
                  </a:srgbClr>
                </a:solidFill>
                <a:latin typeface="Poppins"/>
                <a:ea typeface="Poppins"/>
                <a:cs typeface="Poppins"/>
                <a:sym typeface="Poppins"/>
              </a:rPr>
              <a:t>02</a:t>
            </a:r>
            <a:endParaRPr lang="en-US" sz="1100"/>
          </a:p>
        </p:txBody>
      </p:sp>
      <p:sp>
        <p:nvSpPr>
          <p:cNvPr id="3" name="AutoShape 3"/>
          <p:cNvSpPr/>
          <p:nvPr/>
        </p:nvSpPr>
        <p:spPr>
          <a:xfrm>
            <a:off x="4064000" y="1778000"/>
            <a:ext cx="736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a:t>
            </a:r>
            <a:endParaRPr lang="en-US" sz="1100"/>
          </a:p>
        </p:txBody>
      </p:sp>
      <p:sp>
        <p:nvSpPr>
          <p:cNvPr id="4" name="AutoShape 4"/>
          <p:cNvSpPr/>
          <p:nvPr/>
        </p:nvSpPr>
        <p:spPr>
          <a:xfrm>
            <a:off x="4064000" y="3175000"/>
            <a:ext cx="736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2200" b="0" i="0" u="none" strike="noStrike">
                <a:solidFill>
                  <a:srgbClr val="B7E4C7"/>
                </a:solidFill>
                <a:latin typeface="Noto Sans SC" panose="020B0200000000000000" charset="-122"/>
                <a:ea typeface="Noto Sans SC" panose="020B0200000000000000" charset="-122"/>
                <a:cs typeface="Noto Sans SC" panose="020B0200000000000000" charset="-122"/>
                <a:sym typeface="Noto Sans SC" panose="020B0200000000000000" charset="-122"/>
              </a:rPr>
              <a:t>方差缩减 — 如何让随机梯度“既快又准”</a:t>
            </a:r>
            <a:endParaRPr lang="en-US" sz="1100"/>
          </a:p>
        </p:txBody>
      </p:sp>
      <p:sp>
        <p:nvSpPr>
          <p:cNvPr id="5" name="AutoShape 5"/>
          <p:cNvSpPr/>
          <p:nvPr/>
        </p:nvSpPr>
        <p:spPr>
          <a:xfrm>
            <a:off x="9017000" y="1143000"/>
            <a:ext cx="2413000" cy="2413000"/>
          </a:xfrm>
          <a:prstGeom prst="ellipse">
            <a:avLst/>
          </a:prstGeom>
          <a:solidFill>
            <a:srgbClr val="FFFFFF">
              <a:alpha val="0"/>
            </a:srgbClr>
          </a:solidFill>
          <a:ln w="25400" cap="flat" cmpd="sng">
            <a:solidFill>
              <a:srgbClr val="52B788">
                <a:alpha val="15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9398000" y="1524000"/>
            <a:ext cx="1651000" cy="1651000"/>
          </a:xfrm>
          <a:prstGeom prst="ellipse">
            <a:avLst/>
          </a:prstGeom>
          <a:solidFill>
            <a:srgbClr val="FFFFFF">
              <a:alpha val="0"/>
            </a:srgbClr>
          </a:solidFill>
          <a:ln w="25400" cap="flat" cmpd="sng">
            <a:solidFill>
              <a:srgbClr val="52B788">
                <a:alpha val="3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9779000" y="1905000"/>
            <a:ext cx="889000" cy="889000"/>
          </a:xfrm>
          <a:prstGeom prst="ellipse">
            <a:avLst/>
          </a:prstGeom>
          <a:solidFill>
            <a:srgbClr val="FFFFFF">
              <a:alpha val="0"/>
            </a:srgbClr>
          </a:solidFill>
          <a:ln w="25400" cap="flat" cmpd="sng">
            <a:solidFill>
              <a:srgbClr val="52B788">
                <a:alpha val="6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10160000" y="2286000"/>
            <a:ext cx="127000" cy="127000"/>
          </a:xfrm>
          <a:prstGeom prst="ellipse">
            <a:avLst/>
          </a:prstGeom>
          <a:solidFill>
            <a:srgbClr val="52B788">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5080000" y="4889500"/>
            <a:ext cx="76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6000" b="0" i="0" u="none" strike="noStrike">
                <a:solidFill>
                  <a:srgbClr val="52B788">
                    <a:alpha val="30196"/>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t>
            </a:r>
            <a:endParaRPr lang="en-US" sz="1100"/>
          </a:p>
        </p:txBody>
      </p:sp>
      <p:sp>
        <p:nvSpPr>
          <p:cNvPr id="10" name="AutoShape 10"/>
          <p:cNvSpPr/>
          <p:nvPr/>
        </p:nvSpPr>
        <p:spPr>
          <a:xfrm>
            <a:off x="5842000" y="5143500"/>
            <a:ext cx="596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800" b="0" i="1" u="none" strike="noStrike">
                <a:solidFill>
                  <a:srgbClr val="95D5B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If we can reduce the variance of the stochastic gradient, we can use a constant learning rate and still converge. — Johnson &amp; Zhang, 2013</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C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D8F3DC">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5080000"/>
            <a:ext cx="2540000" cy="2540000"/>
          </a:xfrm>
          <a:prstGeom prst="ellipse">
            <a:avLst/>
          </a:prstGeom>
          <a:solidFill>
            <a:srgbClr val="D8F3DC">
              <a:alpha val="4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SVRG 的变体与扩展</a:t>
            </a:r>
            <a:endParaRPr lang="en-US" sz="1100"/>
          </a:p>
        </p:txBody>
      </p:sp>
      <p:sp>
        <p:nvSpPr>
          <p:cNvPr id="5" name="AutoShape 5"/>
          <p:cNvSpPr/>
          <p:nvPr/>
        </p:nvSpPr>
        <p:spPr>
          <a:xfrm>
            <a:off x="508000" y="1524000"/>
            <a:ext cx="5397500" cy="2095500"/>
          </a:xfrm>
          <a:prstGeom prst="roundRect">
            <a:avLst>
              <a:gd name="adj" fmla="val 0"/>
            </a:avLst>
          </a:prstGeom>
          <a:solidFill>
            <a:srgbClr val="FFFFFF">
              <a:alpha val="100000"/>
            </a:srgbClr>
          </a:solidFill>
          <a:ln w="25400" cap="flat" cmpd="sng">
            <a:solidFill>
              <a:srgbClr val="D8F3DC">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698500" y="1714500"/>
            <a:ext cx="355600" cy="355600"/>
          </a:xfrm>
          <a:prstGeom prst="ellipse">
            <a:avLst/>
          </a:prstGeom>
          <a:solidFill>
            <a:srgbClr val="C8E6C9">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698500" y="1714500"/>
            <a:ext cx="355600" cy="355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endParaRPr lang="en-US" sz="1100"/>
          </a:p>
        </p:txBody>
      </p:sp>
      <p:sp>
        <p:nvSpPr>
          <p:cNvPr id="8" name="AutoShape 8"/>
          <p:cNvSpPr/>
          <p:nvPr/>
        </p:nvSpPr>
        <p:spPr>
          <a:xfrm>
            <a:off x="1206500" y="1714500"/>
            <a:ext cx="45085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SVRG++ (Stacked SVRG)</a:t>
            </a:r>
            <a:endParaRPr lang="en-US" sz="1100"/>
          </a:p>
          <a:p>
            <a:pPr marL="0" indent="0" algn="l">
              <a:lnSpc>
                <a:spcPct val="100000"/>
              </a:lnSpc>
            </a:pPr>
            <a:r>
              <a:rPr lang="en-US" sz="1200" b="0" i="0" u="none" strike="noStrike">
                <a:solidFill>
                  <a:srgbClr val="6C757D"/>
                </a:solidFill>
                <a:latin typeface="Poppins"/>
                <a:ea typeface="Poppins"/>
                <a:cs typeface="Poppins"/>
                <a:sym typeface="Poppins"/>
              </a:rPr>
              <a:t>渐进式方差缩减框架</a:t>
            </a:r>
            <a:endParaRPr lang="en-US" sz="1200" b="0" i="0" u="none" strike="noStrike">
              <a:solidFill>
                <a:srgbClr val="6C757D"/>
              </a:solidFill>
              <a:latin typeface="Poppins"/>
              <a:ea typeface="Poppins"/>
              <a:cs typeface="Poppins"/>
              <a:sym typeface="Poppins"/>
            </a:endParaRPr>
          </a:p>
          <a:p>
            <a:pPr marL="0" indent="0" algn="l">
              <a:lnSpc>
                <a:spcPct val="108000"/>
              </a:lnSpc>
            </a:pPr>
            <a:r>
              <a:rPr lang="en-US" sz="1400" b="0" i="0" u="none" strike="noStrike">
                <a:solidFill>
                  <a:srgbClr val="2D6A4F"/>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利用前序 epoch 的梯度历史信息进行多层方差缩减，实现渐进式优化。通过累积历史梯度来进一步降低随机梯度的波动，在不显著增加计算量的前提下，有效提升算法的收敛速度与稳定性。</a:t>
            </a:r>
            <a:endParaRPr lang="en-US" sz="1400" b="0" i="0" u="none" strike="noStrike">
              <a:solidFill>
                <a:srgbClr val="2D6A4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6286500" y="1524000"/>
            <a:ext cx="5397500" cy="2095500"/>
          </a:xfrm>
          <a:prstGeom prst="roundRect">
            <a:avLst>
              <a:gd name="adj" fmla="val 0"/>
            </a:avLst>
          </a:prstGeom>
          <a:solidFill>
            <a:srgbClr val="FFFFFF">
              <a:alpha val="100000"/>
            </a:srgbClr>
          </a:solidFill>
          <a:ln w="25400" cap="flat" cmpd="sng">
            <a:solidFill>
              <a:srgbClr val="D8F3DC">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477000" y="1714500"/>
            <a:ext cx="355600" cy="355600"/>
          </a:xfrm>
          <a:prstGeom prst="ellipse">
            <a:avLst/>
          </a:prstGeom>
          <a:solidFill>
            <a:srgbClr val="C8E6C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477000" y="1714500"/>
            <a:ext cx="355600" cy="355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endParaRPr lang="en-US" sz="1100"/>
          </a:p>
        </p:txBody>
      </p:sp>
      <p:sp>
        <p:nvSpPr>
          <p:cNvPr id="12" name="AutoShape 12"/>
          <p:cNvSpPr/>
          <p:nvPr/>
        </p:nvSpPr>
        <p:spPr>
          <a:xfrm>
            <a:off x="6985000" y="1714500"/>
            <a:ext cx="45085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Katyusha</a:t>
            </a:r>
            <a:endParaRPr lang="en-US" sz="1100"/>
          </a:p>
          <a:p>
            <a:pPr marL="0" indent="0" algn="l">
              <a:lnSpc>
                <a:spcPct val="100000"/>
              </a:lnSpc>
            </a:pPr>
            <a:r>
              <a:rPr lang="en-US" sz="1200" b="0" i="0" u="none" strike="noStrike">
                <a:solidFill>
                  <a:srgbClr val="6C757D"/>
                </a:solidFill>
                <a:latin typeface="Poppins"/>
                <a:ea typeface="Poppins"/>
                <a:cs typeface="Poppins"/>
                <a:sym typeface="Poppins"/>
              </a:rPr>
              <a:t>Allen-Zhu, 2017</a:t>
            </a:r>
            <a:endParaRPr lang="en-US" sz="1200" b="0" i="0" u="none" strike="noStrike">
              <a:solidFill>
                <a:srgbClr val="6C757D"/>
              </a:solidFill>
              <a:latin typeface="Poppins"/>
              <a:ea typeface="Poppins"/>
              <a:cs typeface="Poppins"/>
              <a:sym typeface="Poppins"/>
            </a:endParaRPr>
          </a:p>
          <a:p>
            <a:pPr marL="0" indent="0" algn="l">
              <a:lnSpc>
                <a:spcPct val="108000"/>
              </a:lnSpc>
            </a:pPr>
            <a:r>
              <a:rPr lang="en-US" sz="1400" b="0" i="0" u="none" strike="noStrike">
                <a:solidFill>
                  <a:srgbClr val="2D6A4F"/>
                </a:solidFill>
                <a:latin typeface="Noto Sans SC" panose="020B0200000000000000" charset="-122"/>
                <a:ea typeface="Noto Sans SC" panose="020B0200000000000000" charset="-122"/>
                <a:cs typeface="Noto Sans SC" panose="020B0200000000000000" charset="-122"/>
                <a:sym typeface="Noto Sans SC" panose="020B0200000000000000" charset="-122"/>
              </a:rPr>
              <a:t>首个实现直接加速的随机方差缩减方法，创新性融合了 Nesterov 动量技术。其理论收敛速率达到 O((n + √(nL/μ))log(1/ε))，在强凸优化问题中展现出卓越的收敛效率，是加速 SVRG 的经典代表。</a:t>
            </a:r>
            <a:endParaRPr lang="en-US" sz="1400" b="0" i="0" u="none" strike="noStrike">
              <a:solidFill>
                <a:srgbClr val="2D6A4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508000" y="3810000"/>
            <a:ext cx="5397500" cy="2095500"/>
          </a:xfrm>
          <a:prstGeom prst="roundRect">
            <a:avLst>
              <a:gd name="adj" fmla="val 0"/>
            </a:avLst>
          </a:prstGeom>
          <a:solidFill>
            <a:srgbClr val="FFFFFF">
              <a:alpha val="100000"/>
            </a:srgbClr>
          </a:solidFill>
          <a:ln w="25400" cap="flat" cmpd="sng">
            <a:solidFill>
              <a:srgbClr val="D8F3DC">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98500" y="4000500"/>
            <a:ext cx="355600" cy="355600"/>
          </a:xfrm>
          <a:prstGeom prst="ellipse">
            <a:avLst/>
          </a:prstGeom>
          <a:solidFill>
            <a:srgbClr val="C8E6C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98500" y="4000500"/>
            <a:ext cx="355600" cy="355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endParaRPr lang="en-US" sz="1100"/>
          </a:p>
        </p:txBody>
      </p:sp>
      <p:sp>
        <p:nvSpPr>
          <p:cNvPr id="16" name="AutoShape 16"/>
          <p:cNvSpPr/>
          <p:nvPr/>
        </p:nvSpPr>
        <p:spPr>
          <a:xfrm>
            <a:off x="1206500" y="4000500"/>
            <a:ext cx="45085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SARAH / SARAH+</a:t>
            </a:r>
            <a:endParaRPr lang="en-US" sz="1100"/>
          </a:p>
          <a:p>
            <a:pPr marL="0" indent="0" algn="l">
              <a:lnSpc>
                <a:spcPct val="100000"/>
              </a:lnSpc>
            </a:pPr>
            <a:r>
              <a:rPr lang="en-US" sz="1200" b="0" i="0" u="none" strike="noStrike">
                <a:solidFill>
                  <a:srgbClr val="6C757D"/>
                </a:solidFill>
                <a:latin typeface="Poppins"/>
                <a:ea typeface="Poppins"/>
                <a:cs typeface="Poppins"/>
                <a:sym typeface="Poppins"/>
              </a:rPr>
              <a:t>Nguyen et al., 2017</a:t>
            </a:r>
            <a:endParaRPr lang="en-US" sz="1200" b="0" i="0" u="none" strike="noStrike">
              <a:solidFill>
                <a:srgbClr val="6C757D"/>
              </a:solidFill>
              <a:latin typeface="Poppins"/>
              <a:ea typeface="Poppins"/>
              <a:cs typeface="Poppins"/>
              <a:sym typeface="Poppins"/>
            </a:endParaRPr>
          </a:p>
          <a:p>
            <a:pPr marL="0" indent="0" algn="l">
              <a:lnSpc>
                <a:spcPct val="108000"/>
              </a:lnSpc>
            </a:pPr>
            <a:r>
              <a:rPr lang="en-US" sz="1400" b="0" i="0" u="none" strike="noStrike">
                <a:solidFill>
                  <a:srgbClr val="2D6A4F"/>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引入递归梯度估计机制，通过递推公式动态更新梯度估计量，避免了全梯度计算的高开销。相比传统 SVRG，它能实现更低的方差累积，尤其适用于大规模非凸优化场景，在深度学习训练中具有很高的实用价值。</a:t>
            </a:r>
            <a:endParaRPr lang="en-US" sz="1400" b="0" i="0" u="none" strike="noStrike">
              <a:solidFill>
                <a:srgbClr val="2D6A4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6286500" y="3810000"/>
            <a:ext cx="5397500" cy="2095500"/>
          </a:xfrm>
          <a:prstGeom prst="roundRect">
            <a:avLst>
              <a:gd name="adj" fmla="val 0"/>
            </a:avLst>
          </a:prstGeom>
          <a:solidFill>
            <a:srgbClr val="FFFFFF">
              <a:alpha val="100000"/>
            </a:srgbClr>
          </a:solidFill>
          <a:ln w="25400" cap="flat" cmpd="sng">
            <a:solidFill>
              <a:srgbClr val="D8F3DC">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6477000" y="4000500"/>
            <a:ext cx="355600" cy="355600"/>
          </a:xfrm>
          <a:prstGeom prst="ellipse">
            <a:avLst/>
          </a:prstGeom>
          <a:solidFill>
            <a:srgbClr val="C8E6C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477000" y="4000500"/>
            <a:ext cx="355600" cy="355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endParaRPr lang="en-US" sz="1100"/>
          </a:p>
        </p:txBody>
      </p:sp>
      <p:sp>
        <p:nvSpPr>
          <p:cNvPr id="20" name="AutoShape 20"/>
          <p:cNvSpPr/>
          <p:nvPr/>
        </p:nvSpPr>
        <p:spPr>
          <a:xfrm>
            <a:off x="6985000" y="4000500"/>
            <a:ext cx="45085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Prox-SVRG</a:t>
            </a:r>
            <a:endParaRPr lang="en-US" sz="1100"/>
          </a:p>
          <a:p>
            <a:pPr marL="0" indent="0" algn="l">
              <a:lnSpc>
                <a:spcPct val="100000"/>
              </a:lnSpc>
            </a:pPr>
            <a:r>
              <a:rPr lang="en-US" sz="1200" b="0" i="0" u="none" strike="noStrike">
                <a:solidFill>
                  <a:srgbClr val="6C757D"/>
                </a:solidFill>
                <a:latin typeface="Poppins"/>
                <a:ea typeface="Poppins"/>
                <a:cs typeface="Poppins"/>
                <a:sym typeface="Poppins"/>
              </a:rPr>
              <a:t>Xiao &amp; Zhang, 2014</a:t>
            </a:r>
            <a:endParaRPr lang="en-US" sz="1200" b="0" i="0" u="none" strike="noStrike">
              <a:solidFill>
                <a:srgbClr val="6C757D"/>
              </a:solidFill>
              <a:latin typeface="Poppins"/>
              <a:ea typeface="Poppins"/>
              <a:cs typeface="Poppins"/>
              <a:sym typeface="Poppins"/>
            </a:endParaRPr>
          </a:p>
          <a:p>
            <a:pPr marL="0" indent="0" algn="l">
              <a:lnSpc>
                <a:spcPct val="108000"/>
              </a:lnSpc>
            </a:pPr>
            <a:r>
              <a:rPr lang="en-US" sz="1400" b="0" i="0" u="none" strike="noStrike">
                <a:solidFill>
                  <a:srgbClr val="2D6A4F"/>
                </a:solidFill>
                <a:latin typeface="Noto Sans SC" panose="020B0200000000000000" charset="-122"/>
                <a:ea typeface="Noto Sans SC" panose="020B0200000000000000" charset="-122"/>
                <a:cs typeface="Noto Sans SC" panose="020B0200000000000000" charset="-122"/>
                <a:sym typeface="Noto Sans SC" panose="020B0200000000000000" charset="-122"/>
              </a:rPr>
              <a:t>将 SVRG 框架推广至非光滑优化领域，创新性地引入近似点算子（Proximal Operator）来处理 L1 正则等非光滑惩罚项。它有效解决了稀疏性建模、带约束优化等场景下的求解难题，扩展了方差缩减技术的应用边界。</a:t>
            </a:r>
            <a:endParaRPr lang="en-US" sz="1400" b="0" i="0" u="none" strike="noStrike">
              <a:solidFill>
                <a:srgbClr val="2D6A4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nvSpPr>
        <p:spPr>
          <a:xfrm>
            <a:off x="508000" y="5842000"/>
            <a:ext cx="11176000" cy="762000"/>
          </a:xfrm>
          <a:prstGeom prst="roundRect">
            <a:avLst>
              <a:gd name="adj" fmla="val 0"/>
            </a:avLst>
          </a:prstGeom>
          <a:solidFill>
            <a:srgbClr val="1B433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35000" y="5842000"/>
            <a:ext cx="1092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核心传承：所有变体均延续了 SVRG 的“方差缩减”核心思想，在梯度估计构造、加速策略融合及非光滑问题适配等维度实现了针对性改进，进一步提升了随机优化算法在大规模机器学习任务中的效率与适用性。</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AF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0" y="-1270000"/>
            <a:ext cx="3810000" cy="3810000"/>
          </a:xfrm>
          <a:prstGeom prst="ellipse">
            <a:avLst/>
          </a:prstGeom>
          <a:solidFill>
            <a:srgbClr val="52B788">
              <a:alpha val="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508000" y="508000"/>
            <a:ext cx="635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Contents / 目录</a:t>
            </a:r>
            <a:endParaRPr lang="en-US" sz="1100"/>
          </a:p>
        </p:txBody>
      </p:sp>
      <p:sp>
        <p:nvSpPr>
          <p:cNvPr id="4" name="AutoShape 4"/>
          <p:cNvSpPr/>
          <p:nvPr/>
        </p:nvSpPr>
        <p:spPr>
          <a:xfrm>
            <a:off x="508000" y="16510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52B788"/>
                </a:solidFill>
                <a:latin typeface="Poppins"/>
                <a:ea typeface="Poppins"/>
                <a:cs typeface="Poppins"/>
                <a:sym typeface="Poppins"/>
              </a:rPr>
              <a:t>01</a:t>
            </a:r>
            <a:endParaRPr lang="en-US" sz="1100"/>
          </a:p>
        </p:txBody>
      </p:sp>
      <p:sp>
        <p:nvSpPr>
          <p:cNvPr id="5" name="AutoShape 5"/>
          <p:cNvSpPr/>
          <p:nvPr/>
        </p:nvSpPr>
        <p:spPr>
          <a:xfrm>
            <a:off x="1651000" y="1714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背景与动机</a:t>
            </a:r>
            <a:endParaRPr lang="en-US" sz="1100"/>
          </a:p>
        </p:txBody>
      </p:sp>
      <p:sp>
        <p:nvSpPr>
          <p:cNvPr id="6" name="AutoShape 6"/>
          <p:cNvSpPr/>
          <p:nvPr/>
        </p:nvSpPr>
        <p:spPr>
          <a:xfrm>
            <a:off x="1651000" y="21590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rPr>
              <a:t>剖析传统随机梯度下降（SGD）在处理大规模数据时的收敛瓶颈，揭示方差对优化效率的核心影响。</a:t>
            </a:r>
            <a:endParaRPr lang="en-US" sz="1100"/>
          </a:p>
        </p:txBody>
      </p:sp>
      <p:cxnSp>
        <p:nvCxnSpPr>
          <p:cNvPr id="7" name="Connector 7"/>
          <p:cNvCxnSpPr/>
          <p:nvPr/>
        </p:nvCxnSpPr>
        <p:spPr>
          <a:xfrm rot="-8185">
            <a:off x="508008" y="3041650"/>
            <a:ext cx="5334000" cy="12700"/>
          </a:xfrm>
          <a:prstGeom prst="straightConnector1">
            <a:avLst/>
          </a:prstGeom>
          <a:solidFill>
            <a:srgbClr val="DEE0E3">
              <a:alpha val="100000"/>
            </a:srgbClr>
          </a:solidFill>
          <a:ln w="25400" cap="flat" cmpd="sng">
            <a:solidFill>
              <a:srgbClr val="D8F3DC">
                <a:alpha val="100000"/>
              </a:srgbClr>
            </a:solidFill>
            <a:prstDash val="solid"/>
            <a:round/>
            <a:headEnd type="none" w="lg" len="lg"/>
            <a:tailEnd type="none" w="lg" len="lg"/>
          </a:ln>
        </p:spPr>
      </p:cxnSp>
      <p:sp>
        <p:nvSpPr>
          <p:cNvPr id="8" name="AutoShape 8"/>
          <p:cNvSpPr/>
          <p:nvPr/>
        </p:nvSpPr>
        <p:spPr>
          <a:xfrm>
            <a:off x="508000" y="32385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52B788"/>
                </a:solidFill>
                <a:latin typeface="Poppins"/>
                <a:ea typeface="Poppins"/>
                <a:cs typeface="Poppins"/>
                <a:sym typeface="Poppins"/>
              </a:rPr>
              <a:t>02</a:t>
            </a:r>
            <a:endParaRPr lang="en-US" sz="1100"/>
          </a:p>
        </p:txBody>
      </p:sp>
      <p:sp>
        <p:nvSpPr>
          <p:cNvPr id="9" name="AutoShape 9"/>
          <p:cNvSpPr/>
          <p:nvPr/>
        </p:nvSpPr>
        <p:spPr>
          <a:xfrm>
            <a:off x="1651000" y="3302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a:t>
            </a:r>
            <a:endParaRPr lang="en-US" sz="1100"/>
          </a:p>
        </p:txBody>
      </p:sp>
      <p:sp>
        <p:nvSpPr>
          <p:cNvPr id="10" name="AutoShape 10"/>
          <p:cNvSpPr/>
          <p:nvPr/>
        </p:nvSpPr>
        <p:spPr>
          <a:xfrm>
            <a:off x="1651000" y="37465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rPr>
              <a:t>从直观角度理解方差缩减技术，探讨如何利用全梯度信息来修正随机梯度，从而降低迭代波动。</a:t>
            </a:r>
            <a:endParaRPr lang="en-US" sz="1100"/>
          </a:p>
        </p:txBody>
      </p:sp>
      <p:cxnSp>
        <p:nvCxnSpPr>
          <p:cNvPr id="11" name="Connector 11"/>
          <p:cNvCxnSpPr/>
          <p:nvPr/>
        </p:nvCxnSpPr>
        <p:spPr>
          <a:xfrm rot="-8185">
            <a:off x="508008" y="4629150"/>
            <a:ext cx="5334000" cy="12700"/>
          </a:xfrm>
          <a:prstGeom prst="straightConnector1">
            <a:avLst/>
          </a:prstGeom>
          <a:solidFill>
            <a:srgbClr val="DEE0E3">
              <a:alpha val="100000"/>
            </a:srgbClr>
          </a:solidFill>
          <a:ln w="25400" cap="flat" cmpd="sng">
            <a:solidFill>
              <a:srgbClr val="D8F3DC">
                <a:alpha val="100000"/>
              </a:srgbClr>
            </a:solidFill>
            <a:prstDash val="solid"/>
            <a:round/>
            <a:headEnd type="none" w="lg" len="lg"/>
            <a:tailEnd type="none" w="lg" len="lg"/>
          </a:ln>
        </p:spPr>
      </p:cxnSp>
      <p:sp>
        <p:nvSpPr>
          <p:cNvPr id="12" name="AutoShape 12"/>
          <p:cNvSpPr/>
          <p:nvPr/>
        </p:nvSpPr>
        <p:spPr>
          <a:xfrm>
            <a:off x="508000" y="48260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52B788"/>
                </a:solidFill>
                <a:latin typeface="Poppins"/>
                <a:ea typeface="Poppins"/>
                <a:cs typeface="Poppins"/>
                <a:sym typeface="Poppins"/>
              </a:rPr>
              <a:t>03</a:t>
            </a:r>
            <a:endParaRPr lang="en-US" sz="1100"/>
          </a:p>
        </p:txBody>
      </p:sp>
      <p:sp>
        <p:nvSpPr>
          <p:cNvPr id="13" name="AutoShape 13"/>
          <p:cNvSpPr/>
          <p:nvPr/>
        </p:nvSpPr>
        <p:spPr>
          <a:xfrm>
            <a:off x="1651000" y="4889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算法详解</a:t>
            </a:r>
            <a:endParaRPr lang="en-US" sz="1100"/>
          </a:p>
        </p:txBody>
      </p:sp>
      <p:sp>
        <p:nvSpPr>
          <p:cNvPr id="14" name="AutoShape 14"/>
          <p:cNvSpPr/>
          <p:nvPr/>
        </p:nvSpPr>
        <p:spPr>
          <a:xfrm>
            <a:off x="1651000" y="53340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深度解析SVRG的内外双循环机制，通过伪代码逐行拆解其梯度更新策略与参数迭代流程。</a:t>
            </a:r>
            <a:endParaRPr lang="en-US" sz="1100"/>
          </a:p>
        </p:txBody>
      </p:sp>
      <p:sp>
        <p:nvSpPr>
          <p:cNvPr id="15" name="AutoShape 15"/>
          <p:cNvSpPr/>
          <p:nvPr/>
        </p:nvSpPr>
        <p:spPr>
          <a:xfrm>
            <a:off x="6350000" y="16510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52B788"/>
                </a:solidFill>
                <a:latin typeface="Poppins"/>
                <a:ea typeface="Poppins"/>
                <a:cs typeface="Poppins"/>
                <a:sym typeface="Poppins"/>
              </a:rPr>
              <a:t>04</a:t>
            </a:r>
            <a:endParaRPr lang="en-US" sz="1100"/>
          </a:p>
        </p:txBody>
      </p:sp>
      <p:sp>
        <p:nvSpPr>
          <p:cNvPr id="16" name="AutoShape 16"/>
          <p:cNvSpPr/>
          <p:nvPr/>
        </p:nvSpPr>
        <p:spPr>
          <a:xfrm>
            <a:off x="7493000" y="1714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理论分析</a:t>
            </a:r>
            <a:endParaRPr lang="en-US" sz="1100"/>
          </a:p>
        </p:txBody>
      </p:sp>
      <p:sp>
        <p:nvSpPr>
          <p:cNvPr id="17" name="AutoShape 17"/>
          <p:cNvSpPr/>
          <p:nvPr/>
        </p:nvSpPr>
        <p:spPr>
          <a:xfrm>
            <a:off x="7493000" y="21590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rPr>
              <a:t>推导SVRG的线性收敛速率，证明其在强凸条件下的理论优势，分析步长选择对收敛性的影响。</a:t>
            </a:r>
            <a:endParaRPr lang="en-US" sz="1100"/>
          </a:p>
        </p:txBody>
      </p:sp>
      <p:cxnSp>
        <p:nvCxnSpPr>
          <p:cNvPr id="18" name="Connector 18"/>
          <p:cNvCxnSpPr/>
          <p:nvPr/>
        </p:nvCxnSpPr>
        <p:spPr>
          <a:xfrm rot="-8185">
            <a:off x="6350008" y="3041650"/>
            <a:ext cx="5334000" cy="12700"/>
          </a:xfrm>
          <a:prstGeom prst="straightConnector1">
            <a:avLst/>
          </a:prstGeom>
          <a:solidFill>
            <a:srgbClr val="DEE0E3">
              <a:alpha val="100000"/>
            </a:srgbClr>
          </a:solidFill>
          <a:ln w="25400" cap="flat" cmpd="sng">
            <a:solidFill>
              <a:srgbClr val="D8F3DC">
                <a:alpha val="100000"/>
              </a:srgbClr>
            </a:solidFill>
            <a:prstDash val="solid"/>
            <a:round/>
            <a:headEnd type="none" w="lg" len="lg"/>
            <a:tailEnd type="none" w="lg" len="lg"/>
          </a:ln>
        </p:spPr>
      </p:cxnSp>
      <p:sp>
        <p:nvSpPr>
          <p:cNvPr id="19" name="AutoShape 19"/>
          <p:cNvSpPr/>
          <p:nvPr/>
        </p:nvSpPr>
        <p:spPr>
          <a:xfrm>
            <a:off x="6350000" y="32385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52B788"/>
                </a:solidFill>
                <a:latin typeface="Poppins"/>
                <a:ea typeface="Poppins"/>
                <a:cs typeface="Poppins"/>
                <a:sym typeface="Poppins"/>
              </a:rPr>
              <a:t>05</a:t>
            </a:r>
            <a:endParaRPr lang="en-US" sz="1100"/>
          </a:p>
        </p:txBody>
      </p:sp>
      <p:sp>
        <p:nvSpPr>
          <p:cNvPr id="20" name="AutoShape 20"/>
          <p:cNvSpPr/>
          <p:nvPr/>
        </p:nvSpPr>
        <p:spPr>
          <a:xfrm>
            <a:off x="7493000" y="3302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对比与扩展</a:t>
            </a:r>
            <a:endParaRPr lang="en-US" sz="1100"/>
          </a:p>
        </p:txBody>
      </p:sp>
      <p:sp>
        <p:nvSpPr>
          <p:cNvPr id="21" name="AutoShape 21"/>
          <p:cNvSpPr/>
          <p:nvPr/>
        </p:nvSpPr>
        <p:spPr>
          <a:xfrm>
            <a:off x="7493000" y="37465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rPr>
              <a:t>对比SVRG与SGD、Adam、Adagrad的性能差异，探讨其在分布式训练及非凸优化中的变体应用。</a:t>
            </a:r>
            <a:endParaRPr lang="en-US" sz="1100"/>
          </a:p>
        </p:txBody>
      </p:sp>
      <p:cxnSp>
        <p:nvCxnSpPr>
          <p:cNvPr id="22" name="Connector 22"/>
          <p:cNvCxnSpPr/>
          <p:nvPr/>
        </p:nvCxnSpPr>
        <p:spPr>
          <a:xfrm rot="-8185">
            <a:off x="6350008" y="4629150"/>
            <a:ext cx="5334000" cy="12700"/>
          </a:xfrm>
          <a:prstGeom prst="straightConnector1">
            <a:avLst/>
          </a:prstGeom>
          <a:solidFill>
            <a:srgbClr val="DEE0E3">
              <a:alpha val="100000"/>
            </a:srgbClr>
          </a:solidFill>
          <a:ln w="25400" cap="flat" cmpd="sng">
            <a:solidFill>
              <a:srgbClr val="D8F3DC">
                <a:alpha val="100000"/>
              </a:srgbClr>
            </a:solidFill>
            <a:prstDash val="solid"/>
            <a:round/>
            <a:headEnd type="none" w="lg" len="lg"/>
            <a:tailEnd type="none" w="lg" len="lg"/>
          </a:ln>
        </p:spPr>
      </p:cxnSp>
      <p:sp>
        <p:nvSpPr>
          <p:cNvPr id="23" name="AutoShape 23"/>
          <p:cNvSpPr/>
          <p:nvPr/>
        </p:nvSpPr>
        <p:spPr>
          <a:xfrm>
            <a:off x="6350000" y="48260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52B788"/>
                </a:solidFill>
                <a:latin typeface="Poppins"/>
                <a:ea typeface="Poppins"/>
                <a:cs typeface="Poppins"/>
                <a:sym typeface="Poppins"/>
              </a:rPr>
              <a:t>06</a:t>
            </a:r>
            <a:endParaRPr lang="en-US" sz="1100"/>
          </a:p>
        </p:txBody>
      </p:sp>
      <p:sp>
        <p:nvSpPr>
          <p:cNvPr id="24" name="AutoShape 24"/>
          <p:cNvSpPr/>
          <p:nvPr/>
        </p:nvSpPr>
        <p:spPr>
          <a:xfrm>
            <a:off x="7493000" y="4889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总结与应用</a:t>
            </a:r>
            <a:endParaRPr lang="en-US" sz="1100"/>
          </a:p>
        </p:txBody>
      </p:sp>
      <p:sp>
        <p:nvSpPr>
          <p:cNvPr id="25" name="AutoShape 25"/>
          <p:cNvSpPr/>
          <p:nvPr/>
        </p:nvSpPr>
        <p:spPr>
          <a:xfrm>
            <a:off x="7493000" y="53340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总结算法的优缺点与适用场景，梳理其在深度学习、推荐系统等领域的实际应用及前沿进展。</a:t>
            </a:r>
            <a:endParaRPr lang="en-US" sz="1100"/>
          </a:p>
        </p:txBody>
      </p:sp>
      <p:sp>
        <p:nvSpPr>
          <p:cNvPr id="26" name="AutoShape 26"/>
          <p:cNvSpPr/>
          <p:nvPr/>
        </p:nvSpPr>
        <p:spPr>
          <a:xfrm>
            <a:off x="11176000" y="5842000"/>
            <a:ext cx="762000" cy="762000"/>
          </a:xfrm>
          <a:prstGeom prst="ellipse">
            <a:avLst/>
          </a:prstGeom>
          <a:solidFill>
            <a:srgbClr val="D8F3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10922000" y="6096000"/>
            <a:ext cx="304800" cy="304800"/>
          </a:xfrm>
          <a:prstGeom prst="ellipse">
            <a:avLst/>
          </a:prstGeom>
          <a:solidFill>
            <a:srgbClr val="52B788">
              <a:alpha val="3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tags/tag1.xml><?xml version="1.0" encoding="utf-8"?>
<p:tagLst xmlns:p="http://schemas.openxmlformats.org/presentationml/2006/main">
  <p:tag name="KSO_WM_DIAGRAM_VIRTUALLY_FRAME" val="{&quot;height&quot;:345,&quot;left&quot;:540,&quot;top&quot;:130,&quot;width&quot;:380}"/>
</p:tagLst>
</file>

<file path=ppt/tags/tag2.xml><?xml version="1.0" encoding="utf-8"?>
<p:tagLst xmlns:p="http://schemas.openxmlformats.org/presentationml/2006/main">
  <p:tag name="KSO_WM_DIAGRAM_VIRTUALLY_FRAME" val="{&quot;height&quot;:345,&quot;left&quot;:540,&quot;top&quot;:130,&quot;width&quot;:380}"/>
</p:tagLst>
</file>

<file path=ppt/tags/tag3.xml><?xml version="1.0" encoding="utf-8"?>
<p:tagLst xmlns:p="http://schemas.openxmlformats.org/presentationml/2006/main">
  <p:tag name="KSO_WM_DIAGRAM_VIRTUALLY_FRAME" val="{&quot;height&quot;:345,&quot;left&quot;:540,&quot;top&quot;:130,&quot;width&quot;:380}"/>
</p:tagLst>
</file>

<file path=ppt/tags/tag4.xml><?xml version="1.0" encoding="utf-8"?>
<p:tagLst xmlns:p="http://schemas.openxmlformats.org/presentationml/2006/main">
  <p:tag name="KSO_WM_DIAGRAM_VIRTUALLY_FRAME" val="{&quot;height&quot;:345,&quot;left&quot;:540,&quot;top&quot;:130,&quot;width&quot;:380}"/>
</p:tagLst>
</file>

<file path=ppt/tags/tag5.xml><?xml version="1.0" encoding="utf-8"?>
<p:tagLst xmlns:p="http://schemas.openxmlformats.org/presentationml/2006/main">
  <p:tag name="KSO_WM_DIAGRAM_VIRTUALLY_FRAME" val="{&quot;height&quot;:345,&quot;left&quot;:540,&quot;top&quot;:130,&quot;width&quot;:380}"/>
</p:tagLst>
</file>

<file path=ppt/tags/tag6.xml><?xml version="1.0" encoding="utf-8"?>
<p:tagLst xmlns:p="http://schemas.openxmlformats.org/presentationml/2006/main">
  <p:tag name="KSO_WM_DIAGRAM_VIRTUALLY_FRAME" val="{&quot;height&quot;:345,&quot;left&quot;:540,&quot;top&quot;:130,&quot;width&quot;:380}"/>
</p:tagLst>
</file>

<file path=ppt/tags/tag7.xml><?xml version="1.0" encoding="utf-8"?>
<p:tagLst xmlns:p="http://schemas.openxmlformats.org/presentationml/2006/main">
  <p:tag name="KSO_WM_DIAGRAM_VIRTUALLY_FRAME" val="{&quot;height&quot;:345,&quot;left&quot;:540,&quot;top&quot;:130,&quot;width&quot;:380}"/>
</p:tagLst>
</file>

<file path=ppt/tags/tag8.xml><?xml version="1.0" encoding="utf-8"?>
<p:tagLst xmlns:p="http://schemas.openxmlformats.org/presentationml/2006/main">
  <p:tag name="KSO_WM_DIAGRAM_VIRTUALLY_FRAME" val="{&quot;height&quot;:345,&quot;left&quot;:540,&quot;top&quot;:130,&quot;width&quot;:380}"/>
</p:tagLst>
</file>

<file path=ppt/tags/tag9.xml><?xml version="1.0" encoding="utf-8"?>
<p:tagLst xmlns:p="http://schemas.openxmlformats.org/presentationml/2006/main">
  <p:tag name="KSO_WM_DIAGRAM_VIRTUALLY_FRAME" val="{&quot;height&quot;:345,&quot;left&quot;:540,&quot;top&quot;:130,&quot;width&quot;:380}"/>
</p:tagLst>
</file>

<file path=ppt/tags/tag10.xml><?xml version="1.0" encoding="utf-8"?>
<p:tagLst xmlns:p="http://schemas.openxmlformats.org/presentationml/2006/main">
  <p:tag name="KSO_WM_DIAGRAM_VIRTUALLY_FRAME" val="{&quot;height&quot;:345,&quot;left&quot;:540,&quot;top&quot;:130,&quot;width&quot;:380}"/>
</p:tagLst>
</file>

<file path=ppt/tags/tag11.xml><?xml version="1.0" encoding="utf-8"?>
<p:tagLst xmlns:p="http://schemas.openxmlformats.org/presentationml/2006/main">
  <p:tag name="KSO_WM_DIAGRAM_VIRTUALLY_FRAME" val="{&quot;height&quot;:345,&quot;left&quot;:540,&quot;top&quot;:130,&quot;width&quot;:380}"/>
</p:tagLst>
</file>

<file path=ppt/tags/tag12.xml><?xml version="1.0" encoding="utf-8"?>
<p:tagLst xmlns:p="http://schemas.openxmlformats.org/presentationml/2006/main">
  <p:tag name="KSO_WM_DIAGRAM_VIRTUALLY_FRAME" val="{&quot;height&quot;:350,&quot;left&quot;:40,&quot;top&quot;:130,&quot;width&quot;:890}"/>
</p:tagLst>
</file>

<file path=ppt/tags/tag13.xml><?xml version="1.0" encoding="utf-8"?>
<p:tagLst xmlns:p="http://schemas.openxmlformats.org/presentationml/2006/main">
  <p:tag name="KSO_WM_DIAGRAM_VIRTUALLY_FRAME" val="{&quot;height&quot;:350,&quot;left&quot;:40,&quot;top&quot;:130,&quot;width&quot;:890}"/>
</p:tagLst>
</file>

<file path=ppt/tags/tag14.xml><?xml version="1.0" encoding="utf-8"?>
<p:tagLst xmlns:p="http://schemas.openxmlformats.org/presentationml/2006/main">
  <p:tag name="KSO_WM_DIAGRAM_VIRTUALLY_FRAME" val="{&quot;height&quot;:350,&quot;left&quot;:40,&quot;top&quot;:130,&quot;width&quot;:890}"/>
</p:tagLst>
</file>

<file path=ppt/tags/tag15.xml><?xml version="1.0" encoding="utf-8"?>
<p:tagLst xmlns:p="http://schemas.openxmlformats.org/presentationml/2006/main">
  <p:tag name="KSO_WM_DIAGRAM_VIRTUALLY_FRAME" val="{&quot;height&quot;:350,&quot;left&quot;:40,&quot;top&quot;:130,&quot;width&quot;:890}"/>
</p:tagLst>
</file>

<file path=ppt/tags/tag16.xml><?xml version="1.0" encoding="utf-8"?>
<p:tagLst xmlns:p="http://schemas.openxmlformats.org/presentationml/2006/main">
  <p:tag name="KSO_WM_DIAGRAM_VIRTUALLY_FRAME" val="{&quot;height&quot;:350,&quot;left&quot;:40,&quot;top&quot;:130,&quot;width&quot;:890}"/>
</p:tagLst>
</file>

<file path=ppt/tags/tag17.xml><?xml version="1.0" encoding="utf-8"?>
<p:tagLst xmlns:p="http://schemas.openxmlformats.org/presentationml/2006/main">
  <p:tag name="KSO_WM_DIAGRAM_VIRTUALLY_FRAME" val="{&quot;height&quot;:350,&quot;left&quot;:40,&quot;top&quot;:130,&quot;width&quot;:890}"/>
</p:tagLst>
</file>

<file path=ppt/tags/tag18.xml><?xml version="1.0" encoding="utf-8"?>
<p:tagLst xmlns:p="http://schemas.openxmlformats.org/presentationml/2006/main">
  <p:tag name="KSO_WM_DIAGRAM_VIRTUALLY_FRAME" val="{&quot;height&quot;:350,&quot;left&quot;:40,&quot;top&quot;:130,&quot;width&quot;:890}"/>
</p:tagLst>
</file>

<file path=ppt/tags/tag19.xml><?xml version="1.0" encoding="utf-8"?>
<p:tagLst xmlns:p="http://schemas.openxmlformats.org/presentationml/2006/main">
  <p:tag name="KSO_WM_DIAGRAM_VIRTUALLY_FRAME" val="{&quot;height&quot;:350,&quot;left&quot;:40,&quot;top&quot;:130,&quot;width&quot;:890}"/>
</p:tagLst>
</file>

<file path=ppt/tags/tag20.xml><?xml version="1.0" encoding="utf-8"?>
<p:tagLst xmlns:p="http://schemas.openxmlformats.org/presentationml/2006/main">
  <p:tag name="KSO_WM_DIAGRAM_VIRTUALLY_FRAME" val="{&quot;height&quot;:350,&quot;left&quot;:40,&quot;top&quot;:130,&quot;width&quot;:890}"/>
</p:tagLst>
</file>

<file path=ppt/tags/tag21.xml><?xml version="1.0" encoding="utf-8"?>
<p:tagLst xmlns:p="http://schemas.openxmlformats.org/presentationml/2006/main">
  <p:tag name="KSO_WM_DIAGRAM_VIRTUALLY_FRAME" val="{&quot;height&quot;:350,&quot;left&quot;:40,&quot;top&quot;:130,&quot;width&quot;:890}"/>
</p:tagLst>
</file>

<file path=ppt/tags/tag22.xml><?xml version="1.0" encoding="utf-8"?>
<p:tagLst xmlns:p="http://schemas.openxmlformats.org/presentationml/2006/main">
  <p:tag name="KSO_WM_DIAGRAM_VIRTUALLY_FRAME" val="{&quot;height&quot;:350,&quot;left&quot;:40,&quot;top&quot;:130,&quot;width&quot;:890}"/>
</p:tagLst>
</file>

<file path=ppt/tags/tag23.xml><?xml version="1.0" encoding="utf-8"?>
<p:tagLst xmlns:p="http://schemas.openxmlformats.org/presentationml/2006/main">
  <p:tag name="KSO_WM_DIAGRAM_VIRTUALLY_FRAME" val="{&quot;height&quot;:350,&quot;left&quot;:40,&quot;top&quot;:130,&quot;width&quot;:890}"/>
</p:tagLst>
</file>

<file path=ppt/tags/tag24.xml><?xml version="1.0" encoding="utf-8"?>
<p:tagLst xmlns:p="http://schemas.openxmlformats.org/presentationml/2006/main">
  <p:tag name="KSO_WM_DIAGRAM_VIRTUALLY_FRAME" val="{&quot;height&quot;:350,&quot;left&quot;:40,&quot;top&quot;:130,&quot;width&quot;:890}"/>
</p:tagLst>
</file>

<file path=ppt/tags/tag25.xml><?xml version="1.0" encoding="utf-8"?>
<p:tagLst xmlns:p="http://schemas.openxmlformats.org/presentationml/2006/main">
  <p:tag name="KSO_WM_DIAGRAM_VIRTUALLY_FRAME" val="{&quot;height&quot;:350,&quot;left&quot;:40,&quot;top&quot;:130,&quot;width&quot;:890}"/>
</p:tagLst>
</file>

<file path=ppt/tags/tag26.xml><?xml version="1.0" encoding="utf-8"?>
<p:tagLst xmlns:p="http://schemas.openxmlformats.org/presentationml/2006/main">
  <p:tag name="KSO_WM_DIAGRAM_VIRTUALLY_FRAME" val="{&quot;height&quot;:350,&quot;left&quot;:40,&quot;top&quot;:130,&quot;width&quot;:890}"/>
</p:tagLst>
</file>

<file path=ppt/tags/tag27.xml><?xml version="1.0" encoding="utf-8"?>
<p:tagLst xmlns:p="http://schemas.openxmlformats.org/presentationml/2006/main">
  <p:tag name="KSO_WM_DIAGRAM_VIRTUALLY_FRAME" val="{&quot;height&quot;:350,&quot;left&quot;:40,&quot;top&quot;:130,&quot;width&quot;:890}"/>
</p:tagLst>
</file>

<file path=ppt/tags/tag28.xml><?xml version="1.0" encoding="utf-8"?>
<p:tagLst xmlns:p="http://schemas.openxmlformats.org/presentationml/2006/main">
  <p:tag name="KSO_WM_DIAGRAM_VIRTUALLY_FRAME" val="{&quot;height&quot;:350,&quot;left&quot;:40,&quot;top&quot;:130,&quot;width&quot;:890}"/>
</p:tagLst>
</file>

<file path=ppt/tags/tag29.xml><?xml version="1.0" encoding="utf-8"?>
<p:tagLst xmlns:p="http://schemas.openxmlformats.org/presentationml/2006/main">
  <p:tag name="KSO_WM_DIAGRAM_VIRTUALLY_FRAME" val="{&quot;height&quot;:350,&quot;left&quot;:40,&quot;top&quot;:130,&quot;width&quot;:890}"/>
</p:tagLst>
</file>

<file path=ppt/tags/tag30.xml><?xml version="1.0" encoding="utf-8"?>
<p:tagLst xmlns:p="http://schemas.openxmlformats.org/presentationml/2006/main">
  <p:tag name="KSO_WM_DIAGRAM_VIRTUALLY_FRAME" val="{&quot;height&quot;:350,&quot;left&quot;:40,&quot;top&quot;:130,&quot;width&quot;:890}"/>
</p:tagLst>
</file>

<file path=ppt/tags/tag31.xml><?xml version="1.0" encoding="utf-8"?>
<p:tagLst xmlns:p="http://schemas.openxmlformats.org/presentationml/2006/main">
  <p:tag name="KSO_WM_DIAGRAM_VIRTUALLY_FRAME" val="{&quot;height&quot;:190,&quot;left&quot;:40,&quot;top&quot;:300,&quot;width&quot;:880}"/>
</p:tagLst>
</file>

<file path=ppt/tags/tag32.xml><?xml version="1.0" encoding="utf-8"?>
<p:tagLst xmlns:p="http://schemas.openxmlformats.org/presentationml/2006/main">
  <p:tag name="KSO_WM_DIAGRAM_VIRTUALLY_FRAME" val="{&quot;height&quot;:190,&quot;left&quot;:40,&quot;top&quot;:300,&quot;width&quot;:880}"/>
</p:tagLst>
</file>

<file path=ppt/tags/tag33.xml><?xml version="1.0" encoding="utf-8"?>
<p:tagLst xmlns:p="http://schemas.openxmlformats.org/presentationml/2006/main">
  <p:tag name="KSO_WM_DIAGRAM_VIRTUALLY_FRAME" val="{&quot;height&quot;:190,&quot;left&quot;:40,&quot;top&quot;:300,&quot;width&quot;:880}"/>
</p:tagLst>
</file>

<file path=ppt/tags/tag34.xml><?xml version="1.0" encoding="utf-8"?>
<p:tagLst xmlns:p="http://schemas.openxmlformats.org/presentationml/2006/main">
  <p:tag name="KSO_WM_DIAGRAM_VIRTUALLY_FRAME" val="{&quot;height&quot;:190,&quot;left&quot;:40,&quot;top&quot;:300,&quot;width&quot;:880}"/>
</p:tagLst>
</file>

<file path=ppt/tags/tag35.xml><?xml version="1.0" encoding="utf-8"?>
<p:tagLst xmlns:p="http://schemas.openxmlformats.org/presentationml/2006/main">
  <p:tag name="KSO_WM_DIAGRAM_VIRTUALLY_FRAME" val="{&quot;height&quot;:190,&quot;left&quot;:40,&quot;top&quot;:300,&quot;width&quot;:880}"/>
</p:tagLst>
</file>

<file path=ppt/tags/tag36.xml><?xml version="1.0" encoding="utf-8"?>
<p:tagLst xmlns:p="http://schemas.openxmlformats.org/presentationml/2006/main">
  <p:tag name="KSO_WM_DIAGRAM_VIRTUALLY_FRAME" val="{&quot;height&quot;:190,&quot;left&quot;:40,&quot;top&quot;:300,&quot;width&quot;:880}"/>
</p:tagLst>
</file>

<file path=ppt/tags/tag37.xml><?xml version="1.0" encoding="utf-8"?>
<p:tagLst xmlns:p="http://schemas.openxmlformats.org/presentationml/2006/main">
  <p:tag name="KSO_WM_DIAGRAM_VIRTUALLY_FRAME" val="{&quot;height&quot;:190,&quot;left&quot;:40,&quot;top&quot;:300,&quot;width&quot;:880}"/>
</p:tagLst>
</file>

<file path=ppt/tags/tag38.xml><?xml version="1.0" encoding="utf-8"?>
<p:tagLst xmlns:p="http://schemas.openxmlformats.org/presentationml/2006/main">
  <p:tag name="KSO_WM_DIAGRAM_VIRTUALLY_FRAME" val="{&quot;height&quot;:190,&quot;left&quot;:40,&quot;top&quot;:300,&quot;width&quot;:880}"/>
</p:tagLst>
</file>

<file path=ppt/tags/tag39.xml><?xml version="1.0" encoding="utf-8"?>
<p:tagLst xmlns:p="http://schemas.openxmlformats.org/presentationml/2006/main">
  <p:tag name="KSO_WM_DIAGRAM_VIRTUALLY_FRAME" val="{&quot;height&quot;:190,&quot;left&quot;:40,&quot;top&quot;:300,&quot;width&quot;:880}"/>
</p:tagLst>
</file>

<file path=ppt/tags/tag40.xml><?xml version="1.0" encoding="utf-8"?>
<p:tagLst xmlns:p="http://schemas.openxmlformats.org/presentationml/2006/main">
  <p:tag name="KSO_WM_DIAGRAM_VIRTUALLY_FRAME" val="{&quot;height&quot;:190,&quot;left&quot;:40,&quot;top&quot;:300,&quot;width&quot;:880}"/>
</p:tagLst>
</file>

<file path=ppt/tags/tag41.xml><?xml version="1.0" encoding="utf-8"?>
<p:tagLst xmlns:p="http://schemas.openxmlformats.org/presentationml/2006/main">
  <p:tag name="KSO_WM_DIAGRAM_VIRTUALLY_FRAME" val="{&quot;height&quot;:190,&quot;left&quot;:40,&quot;top&quot;:300,&quot;width&quot;:880}"/>
</p:tagLst>
</file>

<file path=ppt/tags/tag42.xml><?xml version="1.0" encoding="utf-8"?>
<p:tagLst xmlns:p="http://schemas.openxmlformats.org/presentationml/2006/main">
  <p:tag name="KSO_WM_DIAGRAM_VIRTUALLY_FRAME" val="{&quot;height&quot;:190,&quot;left&quot;:40,&quot;top&quot;:300,&quot;width&quot;:880}"/>
</p:tagLst>
</file>

<file path=ppt/tags/tag43.xml><?xml version="1.0" encoding="utf-8"?>
<p:tagLst xmlns:p="http://schemas.openxmlformats.org/presentationml/2006/main">
  <p:tag name="KSO_WM_DIAGRAM_VIRTUALLY_FRAME" val="{&quot;height&quot;:190,&quot;left&quot;:40,&quot;top&quot;:300,&quot;width&quot;:880}"/>
</p:tagLst>
</file>

<file path=ppt/tags/tag44.xml><?xml version="1.0" encoding="utf-8"?>
<p:tagLst xmlns:p="http://schemas.openxmlformats.org/presentationml/2006/main">
  <p:tag name="KSO_WM_DIAGRAM_VIRTUALLY_FRAME" val="{&quot;height&quot;:190,&quot;left&quot;:40,&quot;top&quot;:300,&quot;width&quot;:880}"/>
</p:tagLst>
</file>

<file path=ppt/tags/tag45.xml><?xml version="1.0" encoding="utf-8"?>
<p:tagLst xmlns:p="http://schemas.openxmlformats.org/presentationml/2006/main">
  <p:tag name="KSO_WM_DIAGRAM_VIRTUALLY_FRAME" val="{&quot;height&quot;:190,&quot;left&quot;:40,&quot;top&quot;:300,&quot;width&quot;:880}"/>
</p:tagLst>
</file>

<file path=ppt/tags/tag46.xml><?xml version="1.0" encoding="utf-8"?>
<p:tagLst xmlns:p="http://schemas.openxmlformats.org/presentationml/2006/main">
  <p:tag name="KSO_WM_DIAGRAM_VIRTUALLY_FRAME" val="{&quot;height&quot;:350,&quot;left&quot;:40,&quot;top&quot;:130,&quot;width&quot;:890}"/>
</p:tagLst>
</file>

<file path=ppt/tags/tag47.xml><?xml version="1.0" encoding="utf-8"?>
<p:tagLst xmlns:p="http://schemas.openxmlformats.org/presentationml/2006/main">
  <p:tag name="KSO_WM_DIAGRAM_VIRTUALLY_FRAME" val="{&quot;height&quot;:350,&quot;left&quot;:40,&quot;top&quot;:130,&quot;width&quot;:890}"/>
</p:tagLst>
</file>

<file path=ppt/tags/tag48.xml><?xml version="1.0" encoding="utf-8"?>
<p:tagLst xmlns:p="http://schemas.openxmlformats.org/presentationml/2006/main">
  <p:tag name="KSO_WM_DIAGRAM_VIRTUALLY_FRAME" val="{&quot;height&quot;:350,&quot;left&quot;:40,&quot;top&quot;:130,&quot;width&quot;:890}"/>
</p:tagLst>
</file>

<file path=ppt/tags/tag49.xml><?xml version="1.0" encoding="utf-8"?>
<p:tagLst xmlns:p="http://schemas.openxmlformats.org/presentationml/2006/main">
  <p:tag name="KSO_WM_DIAGRAM_VIRTUALLY_FRAME" val="{&quot;height&quot;:350,&quot;left&quot;:40,&quot;top&quot;:130,&quot;width&quot;:890}"/>
</p:tagLst>
</file>

<file path=ppt/tags/tag50.xml><?xml version="1.0" encoding="utf-8"?>
<p:tagLst xmlns:p="http://schemas.openxmlformats.org/presentationml/2006/main">
  <p:tag name="KSO_WM_DIAGRAM_VIRTUALLY_FRAME" val="{&quot;height&quot;:350,&quot;left&quot;:40,&quot;top&quot;:130,&quot;width&quot;:890}"/>
</p:tagLst>
</file>

<file path=ppt/tags/tag51.xml><?xml version="1.0" encoding="utf-8"?>
<p:tagLst xmlns:p="http://schemas.openxmlformats.org/presentationml/2006/main">
  <p:tag name="KSO_WM_DIAGRAM_VIRTUALLY_FRAME" val="{&quot;height&quot;:350,&quot;left&quot;:40,&quot;top&quot;:130,&quot;width&quot;:890}"/>
</p:tagLst>
</file>

<file path=ppt/tags/tag52.xml><?xml version="1.0" encoding="utf-8"?>
<p:tagLst xmlns:p="http://schemas.openxmlformats.org/presentationml/2006/main">
  <p:tag name="KSO_WM_DIAGRAM_VIRTUALLY_FRAME" val="{&quot;height&quot;:350,&quot;left&quot;:40,&quot;top&quot;:130,&quot;width&quot;:890}"/>
</p:tagLst>
</file>

<file path=ppt/tags/tag53.xml><?xml version="1.0" encoding="utf-8"?>
<p:tagLst xmlns:p="http://schemas.openxmlformats.org/presentationml/2006/main">
  <p:tag name="KSO_WM_DIAGRAM_VIRTUALLY_FRAME" val="{&quot;height&quot;:350,&quot;left&quot;:40,&quot;top&quot;:130,&quot;width&quot;:890}"/>
</p:tagLst>
</file>

<file path=ppt/tags/tag54.xml><?xml version="1.0" encoding="utf-8"?>
<p:tagLst xmlns:p="http://schemas.openxmlformats.org/presentationml/2006/main">
  <p:tag name="KSO_WM_DIAGRAM_VIRTUALLY_FRAME" val="{&quot;height&quot;:350,&quot;left&quot;:40,&quot;top&quot;:130,&quot;width&quot;:890}"/>
</p:tagLst>
</file>

<file path=ppt/tags/tag55.xml><?xml version="1.0" encoding="utf-8"?>
<p:tagLst xmlns:p="http://schemas.openxmlformats.org/presentationml/2006/main">
  <p:tag name="KSO_WM_DIAGRAM_VIRTUALLY_FRAME" val="{&quot;height&quot;:350,&quot;left&quot;:40,&quot;top&quot;:130,&quot;width&quot;:890}"/>
</p:tagLst>
</file>

<file path=ppt/tags/tag56.xml><?xml version="1.0" encoding="utf-8"?>
<p:tagLst xmlns:p="http://schemas.openxmlformats.org/presentationml/2006/main">
  <p:tag name="KSO_WM_DIAGRAM_VIRTUALLY_FRAME" val="{&quot;height&quot;:350,&quot;left&quot;:40,&quot;top&quot;:130,&quot;width&quot;:890}"/>
</p:tagLst>
</file>

<file path=ppt/tags/tag57.xml><?xml version="1.0" encoding="utf-8"?>
<p:tagLst xmlns:p="http://schemas.openxmlformats.org/presentationml/2006/main">
  <p:tag name="KSO_WM_DIAGRAM_VIRTUALLY_FRAME" val="{&quot;height&quot;:350,&quot;left&quot;:40,&quot;top&quot;:130,&quot;width&quot;:890}"/>
</p:tagLst>
</file>

<file path=ppt/tags/tag58.xml><?xml version="1.0" encoding="utf-8"?>
<p:tagLst xmlns:p="http://schemas.openxmlformats.org/presentationml/2006/main">
  <p:tag name="KSO_WM_DIAGRAM_VIRTUALLY_FRAME" val="{&quot;height&quot;:350,&quot;left&quot;:40,&quot;top&quot;:130,&quot;width&quot;:890}"/>
</p:tagLst>
</file>

<file path=ppt/tags/tag59.xml><?xml version="1.0" encoding="utf-8"?>
<p:tagLst xmlns:p="http://schemas.openxmlformats.org/presentationml/2006/main">
  <p:tag name="KSO_WM_DIAGRAM_VIRTUALLY_FRAME" val="{&quot;height&quot;:350,&quot;left&quot;:40,&quot;top&quot;:130,&quot;width&quot;:890}"/>
</p:tagLst>
</file>

<file path=ppt/tags/tag60.xml><?xml version="1.0" encoding="utf-8"?>
<p:tagLst xmlns:p="http://schemas.openxmlformats.org/presentationml/2006/main">
  <p:tag name="KSO_WM_DIAGRAM_VIRTUALLY_FRAME" val="{&quot;height&quot;:350,&quot;left&quot;:40,&quot;top&quot;:130,&quot;width&quot;:890}"/>
</p:tagLst>
</file>

<file path=ppt/tags/tag61.xml><?xml version="1.0" encoding="utf-8"?>
<p:tagLst xmlns:p="http://schemas.openxmlformats.org/presentationml/2006/main">
  <p:tag name="KSO_WM_DIAGRAM_VIRTUALLY_FRAME" val="{&quot;height&quot;:350,&quot;left&quot;:40,&quot;top&quot;:130,&quot;width&quot;:890}"/>
</p:tagLst>
</file>

<file path=ppt/tags/tag62.xml><?xml version="1.0" encoding="utf-8"?>
<p:tagLst xmlns:p="http://schemas.openxmlformats.org/presentationml/2006/main">
  <p:tag name="KSO_WM_DIAGRAM_VIRTUALLY_FRAME" val="{&quot;height&quot;:350,&quot;left&quot;:40,&quot;top&quot;:130,&quot;width&quot;:890}"/>
</p:tagLst>
</file>

<file path=ppt/tags/tag63.xml><?xml version="1.0" encoding="utf-8"?>
<p:tagLst xmlns:p="http://schemas.openxmlformats.org/presentationml/2006/main">
  <p:tag name="KSO_WM_DIAGRAM_VIRTUALLY_FRAME" val="{&quot;height&quot;:350,&quot;left&quot;:40,&quot;top&quot;:130,&quot;width&quot;:890}"/>
</p:tagLst>
</file>

<file path=ppt/tags/tag64.xml><?xml version="1.0" encoding="utf-8"?>
<p:tagLst xmlns:p="http://schemas.openxmlformats.org/presentationml/2006/main">
  <p:tag name="KSO_WM_DIAGRAM_VIRTUALLY_FRAME" val="{&quot;height&quot;:350,&quot;left&quot;:40,&quot;top&quot;:130,&quot;width&quot;:890}"/>
</p:tagLst>
</file>

<file path=ppt/tags/tag65.xml><?xml version="1.0" encoding="utf-8"?>
<p:tagLst xmlns:p="http://schemas.openxmlformats.org/presentationml/2006/main">
  <p:tag name="KSO_WM_DIAGRAM_VIRTUALLY_FRAME" val="{&quot;height&quot;:350,&quot;left&quot;:40,&quot;top&quot;:130,&quot;width&quot;:890}"/>
</p:tagLst>
</file>

<file path=ppt/tags/tag66.xml><?xml version="1.0" encoding="utf-8"?>
<p:tagLst xmlns:p="http://schemas.openxmlformats.org/presentationml/2006/main">
  <p:tag name="KSO_WM_DIAGRAM_VIRTUALLY_FRAME" val="{&quot;height&quot;:350,&quot;left&quot;:40,&quot;top&quot;:130,&quot;width&quot;:890}"/>
</p:tagLst>
</file>

<file path=ppt/tags/tag67.xml><?xml version="1.0" encoding="utf-8"?>
<p:tagLst xmlns:p="http://schemas.openxmlformats.org/presentationml/2006/main">
  <p:tag name="KSO_WM_DIAGRAM_VIRTUALLY_FRAME" val="{&quot;height&quot;:350,&quot;left&quot;:40,&quot;top&quot;:130,&quot;width&quot;:890}"/>
</p:tagLst>
</file>

<file path=ppt/tags/tag68.xml><?xml version="1.0" encoding="utf-8"?>
<p:tagLst xmlns:p="http://schemas.openxmlformats.org/presentationml/2006/main">
  <p:tag name="KSO_WM_DIAGRAM_VIRTUALLY_FRAME" val="{&quot;height&quot;:350,&quot;left&quot;:40,&quot;top&quot;:130,&quot;width&quot;:890}"/>
</p:tagLst>
</file>

<file path=ppt/tags/tag69.xml><?xml version="1.0" encoding="utf-8"?>
<p:tagLst xmlns:p="http://schemas.openxmlformats.org/presentationml/2006/main">
  <p:tag name="KSO_WM_DIAGRAM_VIRTUALLY_FRAME" val="{&quot;height&quot;:350,&quot;left&quot;:40,&quot;top&quot;:130,&quot;width&quot;:890}"/>
</p:tagLst>
</file>

<file path=ppt/tags/tag70.xml><?xml version="1.0" encoding="utf-8"?>
<p:tagLst xmlns:p="http://schemas.openxmlformats.org/presentationml/2006/main">
  <p:tag name="KSO_WM_DIAGRAM_VIRTUALLY_FRAME" val="{&quot;height&quot;:350,&quot;left&quot;:40,&quot;top&quot;:130,&quot;width&quot;:890}"/>
</p:tagLst>
</file>

<file path=ppt/tags/tag71.xml><?xml version="1.0" encoding="utf-8"?>
<p:tagLst xmlns:p="http://schemas.openxmlformats.org/presentationml/2006/main">
  <p:tag name="KSO_WM_DIAGRAM_VIRTUALLY_FRAME" val="{&quot;height&quot;:350,&quot;left&quot;:40,&quot;top&quot;:130,&quot;width&quot;:890}"/>
</p:tagLst>
</file>

<file path=ppt/tags/tag72.xml><?xml version="1.0" encoding="utf-8"?>
<p:tagLst xmlns:p="http://schemas.openxmlformats.org/presentationml/2006/main">
  <p:tag name="KSO_WM_DIAGRAM_VIRTUALLY_FRAME" val="{&quot;height&quot;:350,&quot;left&quot;:40,&quot;top&quot;:130,&quot;width&quot;:890}"/>
</p:tagLst>
</file>

<file path=ppt/tags/tag73.xml><?xml version="1.0" encoding="utf-8"?>
<p:tagLst xmlns:p="http://schemas.openxmlformats.org/presentationml/2006/main">
  <p:tag name="KSO_WM_DIAGRAM_VIRTUALLY_FRAME" val="{&quot;height&quot;:350,&quot;left&quot;:40,&quot;top&quot;:130,&quot;width&quot;:890}"/>
</p:tagLst>
</file>

<file path=ppt/tags/tag74.xml><?xml version="1.0" encoding="utf-8"?>
<p:tagLst xmlns:p="http://schemas.openxmlformats.org/presentationml/2006/main">
  <p:tag name="KSO_WM_DIAGRAM_VIRTUALLY_FRAME" val="{&quot;height&quot;:350,&quot;left&quot;:40,&quot;top&quot;:130,&quot;width&quot;:890}"/>
</p:tagLst>
</file>

<file path=ppt/tags/tag75.xml><?xml version="1.0" encoding="utf-8"?>
<p:tagLst xmlns:p="http://schemas.openxmlformats.org/presentationml/2006/main">
  <p:tag name="KSO_WM_DIAGRAM_VIRTUALLY_FRAME" val="{&quot;height&quot;:350,&quot;left&quot;:40,&quot;top&quot;:130,&quot;width&quot;:890}"/>
</p:tagLst>
</file>

<file path=ppt/tags/tag76.xml><?xml version="1.0" encoding="utf-8"?>
<p:tagLst xmlns:p="http://schemas.openxmlformats.org/presentationml/2006/main">
  <p:tag name="KSO_WM_DIAGRAM_VIRTUALLY_FRAME" val="{&quot;height&quot;:350,&quot;left&quot;:40,&quot;top&quot;:130,&quot;width&quot;:890}"/>
</p:tagLst>
</file>

<file path=ppt/tags/tag77.xml><?xml version="1.0" encoding="utf-8"?>
<p:tagLst xmlns:p="http://schemas.openxmlformats.org/presentationml/2006/main">
  <p:tag name="KSO_WM_DIAGRAM_VIRTUALLY_FRAME" val="{&quot;height&quot;:350,&quot;left&quot;:40,&quot;top&quot;:130,&quot;width&quot;:890}"/>
</p:tagLst>
</file>

<file path=ppt/tags/tag78.xml><?xml version="1.0" encoding="utf-8"?>
<p:tagLst xmlns:p="http://schemas.openxmlformats.org/presentationml/2006/main">
  <p:tag name="KSO_WM_DIAGRAM_VIRTUALLY_FRAME" val="{&quot;height&quot;:350,&quot;left&quot;:40,&quot;top&quot;:130,&quot;width&quot;:890}"/>
</p:tagLst>
</file>

<file path=ppt/tags/tag79.xml><?xml version="1.0" encoding="utf-8"?>
<p:tagLst xmlns:p="http://schemas.openxmlformats.org/presentationml/2006/main">
  <p:tag name="KSO_WM_DIAGRAM_VIRTUALLY_FRAME" val="{&quot;height&quot;:350,&quot;left&quot;:40,&quot;top&quot;:130,&quot;width&quot;:890}"/>
</p:tagLst>
</file>

<file path=ppt/tags/tag80.xml><?xml version="1.0" encoding="utf-8"?>
<p:tagLst xmlns:p="http://schemas.openxmlformats.org/presentationml/2006/main">
  <p:tag name="KSO_WM_DIAGRAM_VIRTUALLY_FRAME" val="{&quot;height&quot;:350,&quot;left&quot;:40,&quot;top&quot;:130,&quot;width&quot;:890}"/>
</p:tagLst>
</file>

<file path=ppt/tags/tag81.xml><?xml version="1.0" encoding="utf-8"?>
<p:tagLst xmlns:p="http://schemas.openxmlformats.org/presentationml/2006/main">
  <p:tag name="KSO_WM_DIAGRAM_VIRTUALLY_FRAME" val="{&quot;height&quot;:350,&quot;left&quot;:40,&quot;top&quot;:130,&quot;width&quot;:890}"/>
</p:tagLst>
</file>

<file path=ppt/tags/tag82.xml><?xml version="1.0" encoding="utf-8"?>
<p:tagLst xmlns:p="http://schemas.openxmlformats.org/presentationml/2006/main">
  <p:tag name="KSO_WM_DIAGRAM_VIRTUALLY_FRAME" val="{&quot;height&quot;:350,&quot;left&quot;:40,&quot;top&quot;:130,&quot;width&quot;:890}"/>
</p:tagLst>
</file>

<file path=ppt/tags/tag83.xml><?xml version="1.0" encoding="utf-8"?>
<p:tagLst xmlns:p="http://schemas.openxmlformats.org/presentationml/2006/main">
  <p:tag name="KSO_WM_DIAGRAM_VIRTUALLY_FRAME" val="{&quot;height&quot;:350,&quot;left&quot;:40,&quot;top&quot;:130,&quot;width&quot;:890}"/>
</p:tagLst>
</file>

<file path=ppt/tags/tag84.xml><?xml version="1.0" encoding="utf-8"?>
<p:tagLst xmlns:p="http://schemas.openxmlformats.org/presentationml/2006/main">
  <p:tag name="KSO_WM_DIAGRAM_VIRTUALLY_FRAME" val="{&quot;height&quot;:350,&quot;left&quot;:40,&quot;top&quot;:130,&quot;width&quot;:890}"/>
</p:tagLst>
</file>

<file path=ppt/tags/tag85.xml><?xml version="1.0" encoding="utf-8"?>
<p:tagLst xmlns:p="http://schemas.openxmlformats.org/presentationml/2006/main">
  <p:tag name="KSO_WM_DIAGRAM_VIRTUALLY_FRAME" val="{&quot;height&quot;:350,&quot;left&quot;:40,&quot;top&quot;:130,&quot;width&quot;:890}"/>
</p:tagLst>
</file>

<file path=ppt/tags/tag86.xml><?xml version="1.0" encoding="utf-8"?>
<p:tagLst xmlns:p="http://schemas.openxmlformats.org/presentationml/2006/main">
  <p:tag name="KSO_WM_DIAGRAM_VIRTUALLY_FRAME" val="{&quot;height&quot;:350,&quot;left&quot;:40,&quot;top&quot;:130,&quot;width&quot;:890}"/>
</p:tagLst>
</file>

<file path=ppt/tags/tag87.xml><?xml version="1.0" encoding="utf-8"?>
<p:tagLst xmlns:p="http://schemas.openxmlformats.org/presentationml/2006/main">
  <p:tag name="KSO_WM_DIAGRAM_VIRTUALLY_FRAME" val="{&quot;height&quot;:350,&quot;left&quot;:40,&quot;top&quot;:130,&quot;width&quot;:890}"/>
</p:tagLst>
</file>

<file path=ppt/tags/tag88.xml><?xml version="1.0" encoding="utf-8"?>
<p:tagLst xmlns:p="http://schemas.openxmlformats.org/presentationml/2006/main">
  <p:tag name="KSO_WM_DIAGRAM_VIRTUALLY_FRAME" val="{&quot;height&quot;:350,&quot;left&quot;:40,&quot;top&quot;:130,&quot;width&quot;:890}"/>
</p:tagLst>
</file>

<file path=ppt/tags/tag89.xml><?xml version="1.0" encoding="utf-8"?>
<p:tagLst xmlns:p="http://schemas.openxmlformats.org/presentationml/2006/main">
  <p:tag name="KSO_WM_DIAGRAM_VIRTUALLY_FRAME" val="{&quot;height&quot;:350,&quot;left&quot;:40,&quot;top&quot;:130,&quot;width&quot;:890}"/>
</p:tagLst>
</file>

<file path=ppt/tags/tag90.xml><?xml version="1.0" encoding="utf-8"?>
<p:tagLst xmlns:p="http://schemas.openxmlformats.org/presentationml/2006/main">
  <p:tag name="KSO_WM_DIAGRAM_VIRTUALLY_FRAME" val="{&quot;height&quot;:350,&quot;left&quot;:40,&quot;top&quot;:130,&quot;width&quot;:890}"/>
</p:tagLst>
</file>

<file path=ppt/tags/tag91.xml><?xml version="1.0" encoding="utf-8"?>
<p:tagLst xmlns:p="http://schemas.openxmlformats.org/presentationml/2006/main">
  <p:tag name="KSO_WM_DIAGRAM_VIRTUALLY_FRAME" val="{&quot;height&quot;:350,&quot;left&quot;:40,&quot;top&quot;:130,&quot;width&quot;:890}"/>
</p:tagLst>
</file>

<file path=ppt/tags/tag92.xml><?xml version="1.0" encoding="utf-8"?>
<p:tagLst xmlns:p="http://schemas.openxmlformats.org/presentationml/2006/main">
  <p:tag name="KSO_WM_DIAGRAM_VIRTUALLY_FRAME" val="{&quot;height&quot;:350,&quot;left&quot;:40,&quot;top&quot;:130,&quot;width&quot;:890}"/>
</p:tagLst>
</file>

<file path=ppt/tags/tag93.xml><?xml version="1.0" encoding="utf-8"?>
<p:tagLst xmlns:p="http://schemas.openxmlformats.org/presentationml/2006/main">
  <p:tag name="KSO_WM_DIAGRAM_VIRTUALLY_FRAME" val="{&quot;height&quot;:350,&quot;left&quot;:40,&quot;top&quot;:130,&quot;width&quot;:890}"/>
</p:tagLst>
</file>

<file path=ppt/tags/tag94.xml><?xml version="1.0" encoding="utf-8"?>
<p:tagLst xmlns:p="http://schemas.openxmlformats.org/presentationml/2006/main">
  <p:tag name="KSO_WM_DIAGRAM_VIRTUALLY_FRAME" val="{&quot;height&quot;:350,&quot;left&quot;:40,&quot;top&quot;:130,&quot;width&quot;:890}"/>
</p:tagLst>
</file>

<file path=ppt/tags/tag95.xml><?xml version="1.0" encoding="utf-8"?>
<p:tagLst xmlns:p="http://schemas.openxmlformats.org/presentationml/2006/main">
  <p:tag name="KSO_WM_DIAGRAM_VIRTUALLY_FRAME" val="{&quot;height&quot;:350,&quot;left&quot;:40,&quot;top&quot;:130,&quot;width&quot;:895.25}"/>
</p:tagLst>
</file>

<file path=ppt/tags/tag96.xml><?xml version="1.0" encoding="utf-8"?>
<p:tagLst xmlns:p="http://schemas.openxmlformats.org/presentationml/2006/main">
  <p:tag name="KSO_WM_DIAGRAM_VIRTUALLY_FRAME" val="{&quot;height&quot;:350,&quot;left&quot;:40,&quot;top&quot;:130,&quot;width&quot;:895.25}"/>
</p:tagLst>
</file>

<file path=ppt/tags/tag97.xml><?xml version="1.0" encoding="utf-8"?>
<p:tagLst xmlns:p="http://schemas.openxmlformats.org/presentationml/2006/main">
  <p:tag name="KSO_WM_DIAGRAM_VIRTUALLY_FRAME" val="{&quot;height&quot;:350,&quot;left&quot;:40,&quot;top&quot;:130,&quot;width&quot;:895.25}"/>
</p:tagLst>
</file>

<file path=ppt/tags/tag98.xml><?xml version="1.0" encoding="utf-8"?>
<p:tagLst xmlns:p="http://schemas.openxmlformats.org/presentationml/2006/main">
  <p:tag name="KSO_WM_DIAGRAM_VIRTUALLY_FRAME" val="{&quot;height&quot;:350,&quot;left&quot;:40,&quot;top&quot;:130,&quot;width&quot;:895.25}"/>
</p:tagLst>
</file>

<file path=ppt/tags/tag99.xml><?xml version="1.0" encoding="utf-8"?>
<p:tagLst xmlns:p="http://schemas.openxmlformats.org/presentationml/2006/main">
  <p:tag name="KSO_WM_DIAGRAM_VIRTUALLY_FRAME" val="{&quot;height&quot;:350,&quot;left&quot;:40,&quot;top&quot;:130,&quot;width&quot;:895.25}"/>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9170</Words>
  <Application>WPS 演示</Application>
  <PresentationFormat/>
  <Paragraphs>565</Paragraphs>
  <Slides>21</Slides>
  <Notes>0</Notes>
  <HiddenSlides>0</HiddenSlides>
  <MMClips>0</MMClips>
  <ScaleCrop>false</ScaleCrop>
  <HeadingPairs>
    <vt:vector size="6" baseType="variant">
      <vt:variant>
        <vt:lpstr>已用的字体</vt:lpstr>
      </vt:variant>
      <vt:variant>
        <vt:i4>15</vt:i4>
      </vt:variant>
      <vt:variant>
        <vt:lpstr>主题</vt:lpstr>
      </vt:variant>
      <vt:variant>
        <vt:i4>7</vt:i4>
      </vt:variant>
      <vt:variant>
        <vt:lpstr>幻灯片标题</vt:lpstr>
      </vt:variant>
      <vt:variant>
        <vt:i4>21</vt:i4>
      </vt:variant>
    </vt:vector>
  </HeadingPairs>
  <TitlesOfParts>
    <vt:vector size="43" baseType="lpstr">
      <vt:lpstr>Arial</vt:lpstr>
      <vt:lpstr>宋体</vt:lpstr>
      <vt:lpstr>Wingdings</vt:lpstr>
      <vt:lpstr>Arial</vt:lpstr>
      <vt:lpstr>Noto Sans SC</vt:lpstr>
      <vt:lpstr>Poppins</vt:lpstr>
      <vt:lpstr>FFont-Family</vt:lpstr>
      <vt:lpstr>Cambria Math</vt:lpstr>
      <vt:lpstr>MS Mincho</vt:lpstr>
      <vt:lpstr>Consolas</vt:lpstr>
      <vt:lpstr>微软雅黑</vt:lpstr>
      <vt:lpstr>Arial Unicode MS</vt:lpstr>
      <vt:lpstr>Noto Serif SC</vt:lpstr>
      <vt:lpstr>Consolas</vt:lpstr>
      <vt:lpstr>Poppins</vt:lpstr>
      <vt:lpstr>Office 主题​​</vt:lpstr>
      <vt:lpstr>默认主题</vt:lpstr>
      <vt:lpstr>1_默认主题</vt:lpstr>
      <vt:lpstr>2_默认主题</vt:lpstr>
      <vt:lpstr>3_默认主题</vt:lpstr>
      <vt:lpstr>4_默认主题</vt:lpstr>
      <vt:lpstr>5_默认主题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熹微</cp:lastModifiedBy>
  <cp:revision>8</cp:revision>
  <dcterms:created xsi:type="dcterms:W3CDTF">2026-09-16T16:03:00Z</dcterms:created>
  <dcterms:modified xsi:type="dcterms:W3CDTF">2026-09-20T01:05:30Z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{"Label":"1","ContentProducer":"001191110102MACQD9K64010000","ProduceID":"7685801954832026924","ReservedCode1":"","ContentPropagator":"","PropagateID":"","ReservedCode2":""}</vt:lpwstr>
  </property>
  <property fmtid="{D5CDD505-2E9C-101B-9397-08002B2CF9AE}" pid="3" name="KSOProductBuildVer">
    <vt:lpwstr>2052-12.1.0.28505</vt:lpwstr>
  </property>
  <property fmtid="{D5CDD505-2E9C-101B-9397-08002B2CF9AE}" pid="4" name="ICV">
    <vt:lpwstr>E71DFD7D8B5D4499B3297B7531422D34_12</vt:lpwstr>
  </property>
</Properties>
</file>