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embeddedFontLst>
    <p:embeddedFont>
      <p:font typeface="FZYaYiHei GB18030L2 R" panose="02000500000000000000" charset="-122"/>
      <p:regular r:id="rId26"/>
    </p:embeddedFont>
    <p:embeddedFont>
      <p:font typeface="Inter" panose="02000503000000020004"/>
      <p:regular r:id="rId27"/>
      <p:bold r:id="rId28"/>
    </p:embeddedFont>
    <p:embeddedFont>
      <p:font typeface="Source Han Serif CN" panose="02020400000000000000" charset="-122"/>
      <p:regular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大家好，欢迎来到今天的课程。今天我们将深入讲解RNN循环神经网络，从最基础的序列建模概念出发，一直到它面临的训练挑战和应对策略。我们会特别关注RNN内部的核心公式，先把完整公式呈现出来，再逐一拆解分析每一项的数学意义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份课程分为四个部分：第一部分，我们从RNN的基础概念和诞生背景讲起，理解为什么需要一种专门处理序列数据的网络；第二部分，深入RNN的结构与内部计算机制，特别会详细拆解核心公式；第三部分，探索RNN在自然语言处理、语音识别等领域的典型应用；第四部分，直面RNN的训练挑战，分析梯度消失和梯度爆炸的根源与对策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我们先从最基础的问题开始——什么是循环神经网络？它为什么会被发明出来？要回答这些问题，我们首先要理解序列数据的本质特征，以及传统神经网络在处理这类数据时的根本局限。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首先我们来理解RNN到底是什么。序列数据的核心特征是元素之间存在明确的时序依赖关系，比如一句话中词语的顺序是不能随意打乱的，时间序列中前后的数据点是有关联的。而传统的前馈神经网络有一个根本假设，就是输入之间是相互独立的，这就导致它无法建模序列内部的时序模式。RNN的核心创新就是引入了隐藏状态的循环传递机制，让网络在每个时间步都能'回忆'之前积累的信息，这就是它的记忆能力。从可视化的角度看，我们会把同一个网络模块沿时间轴展开，形成一条从过去到未来的信息传递链条，这种展开结构是理解RNN计算过程的关键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接下来我们进入第二部分，这是今天课程的重点。我们会深入RNN的内部结构，特别是把核心计算公式完整列出来，然后逐一分析每个变量的含义和作用。理解这些公式，是掌握RNN工作原理的关键。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RNN的整体结构可以分为三层。输入层负责接收当前时间步的数据，比如一个词向量或一帧音频信号。隐藏层是RNN的核心，它不仅接收当前输入，还接收上一时刻的隐藏状态，通过循环权重矩阵Whh实现跨时间步的信息传递——这是RNN区别于其他网络的根本特征。输出层则通过权重矩阵Why将隐藏状态映射到目标空间，完成预测或分类。值得注意的是，根据任务不同，输出层的设计也很灵活：序列标注任务需要每步都输出，分类任务只需要最后一步输出，生成任务则逐步输出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一页我们先把RNN的两个核心公式完整呈现出来，给大家一个全局的数学印象。第一个是隐藏状态更新公式：ht等于tanh函数作用于三项之和——输入权重Wxh乘以当前输入xt，加上循环权重Whh乘以历史状态ht-1，再加上偏置bh。这个公式的核心思想是：当前时刻的隐藏状态，是当前输入和历史记忆经过非线性融合后的结果。第二个是输出公式：yt等于输出权重Why乘以隐藏状态ht，加上输出偏置by，负责把内部表示转换为最终预测。大家先记住这两个公式的整体结构，接下来我们会逐一拆解每一项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现在我们来逐一拆解隐藏状态更新公式中的每一项。首先看输入项Wxh·xt，输入权重矩阵Wxh负责把当前时刻的原始输入xt映射到隐藏状态空间，这个矩阵的每一列可以理解为网络对不同输入特征的'敏感度'。然后是循环项Whh·ht-1，这是RNN的灵魂所在——循环权重矩阵Whh把上一时刻的隐藏状态传递到当前时刻，形成了信息的时间链条，也是RNN具备记忆能力的数学基础。最后是激活函数tanh，双曲正切函数把数值约束在负1到正1之间，防止数值在多次循环后无限增长或衰减，保证了训练的稳定性。偏置项bh则提供了额外的灵活性，让网络可以调整激活的阈值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输出公式 yt = Why·ht + by 相对简单但同样重要。输出权重矩阵Why负责把隐藏层的内部表示'翻译'成我们需要的输出形式——比如分类任务中输出各类别的概率，回归任务中输出预测值。偏置by则调整输出的基线水平。值得注意的是，隐藏状态ht在这里扮演着双重角色：它既是当前时刻的输出表示，也会作为历史信息传递给下一个时间步参与门控计算。不同的任务对输出层有不同要求：情感分析只需要最后一个时间步的输出，而序列标注任务需要每个时间步都产生输出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把RNN沿时间轴展开，我们能更直观地看到信息是怎么在多个时间步之间流动的。在时间步t-1，输入xt-1经过隐藏层计算产生ht-1并输出yt-1，而ht-1携带的时序信息会传递给下一时刻。到了时间步t，当前输入xt与历史ht-1融合计算，产生新的ht和yt。这个链条不断延伸，理论上可以捕获任意长度的序列依赖。还有一个非常重要的概念是参数共享——展开结构中所有时间步共用同一组权重Wxh、Whh和Why，这不仅大幅减少了参数量，也意味着网络在不同位置用相同的方式处理信息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理解了RNN的结构和计算原理之后，我们来看看它在实际中的应用。RNN凭借对序列数据的强大建模能力，在多个领域都有广泛应用。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RNN在四个领域表现尤为突出。在文本生成方面，RNN能学习字符或词语的序列模式，生成连贯的文本内容，比如Karpathy展示的用RNN生成莎士比亚风格的诗歌。在机器翻译中，通过编码器-解码器架构，RNN将源语言句子编码为向量表示，再解码生成目标语言的翻译结果。语音识别方面，RNN能捕获音频信号中的时序特征和语言模式，将连续的语音信号转化为文本。在时间序列预测中，比如股票价格预测、气象预报等场景，RNN能学习历史数据的趋势和周期性规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RNN的灵活性还体现在它支持多种输入输出模式。多对一模式是输入完整序列后仅在最后一个时间步产生输出，适用于文本分类、情感分析这类需要对整个序列做全局判断的任务——最终的隐藏状态聚合了整个序列的信息。多对多同步模式是每个时间步都有对应的输出，适用于词性标注、命名实体识别等序列标注任务，输入和输出序列长度相同。编码器-解码器模式最为灵活，编码器处理输入序列并压缩为上下文向量，解码器据此生成不同长度的输出序列，经典应用就是机器翻译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最后一个部分我们来直面RNN训练中的核心挑战。这部分我们同样会把梯度传播的数学公式先完整列出来，再逐一分析梯度消失和梯度爆炸产生的根源，以及各自的应对策略。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在分析梯度消失和梯度爆炸之前，我们先把BPTT算法中梯度传播的核心公式完整列出来。损失函数L对某时刻tk的隐藏状态ht的梯度，等于后续所有时间步的梯度贡献之和。每一项梯度贡献包含三个部分的连乘：输出层梯度∂L/∂yt、输出到隐藏的雅可比矩阵∂yt/∂ht，以及从时刻t到时刻k的隐藏状态雅可比连乘积。关键在于最后这个连乘项——它是多个雅可比矩阵∂hj+1/∂hj的连续相乘，每多一个时间步就多乘一个矩阵。当这些矩阵的最大特征值小于1时，连乘结果指数衰减；大于1时，指数增长。这就是梯度消失和梯度爆炸的数学根源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来逐一分析梯度消失的成因。首先是BPTT的连乘效应——梯度反向传播需要经过多个时间步，每步都要乘以循环权重矩阵转置与激活函数导数的乘积，形成梯度连乘链。由于tanh函数的导数最大值只有1，实际中通常远小于1，所以连乘项会越来越小。其次是指数级衰减——如果权重矩阵的最大特征值小于1，连乘结果会趋近于零，导致远离输出层的时间步几乎收不到梯度信号。这就引发了第三个问题：长期依赖失败，网络无法建立相隔多步的输入输出关联，比如句子开头的'中国'和末尾的'中文'之间的语义联系。最后用一个类比来理解：就像传话游戏，信息经过多人传递后严重失真，早期输入的信息在深层网络中逐渐丢失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梯度爆炸是另一个极端问题。当循环权重矩阵的最大特征值大于1时，梯度连乘结果会指数增长，导致参数更新幅度过大，训练过程发散不稳定。对于梯度爆炸，有一些相对有效的应对策略。梯度裁剪是最常用的方法：设定一个梯度范数阈值，当梯度超过阈值时按比例缩放，强制将梯度控制在合理范围内。权重初始化也有辅助作用：采用正交初始化或小方差初始化，避免初始权重过大导致训练初期就出现梯度异常。但需要注意，梯度裁剪只能治标，梯度消失问题仍然无法通过这些方法解决，这直接推动了后来LSTM等门控循环单元的诞生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张表格把梯度消失和梯度爆炸做了一个全面的对比。两者同源于BPTT的梯度连乘效应，但表现形式和应对难度截然不同。梯度消失发生在权重矩阵最大特征值小于1的情况下，梯度指数衰减趋近于零，导致网络无法学习长距离依赖关系，解决难度大，需要从根本上改变网络结构，比如引入门控机制。梯度爆炸则发生在特征值大于1时，梯度指数增长趋向无穷，导致参数更新发散，但解决起来相对简单，梯度裁剪加上合理的权重初始化就能有效控制。所以梯度消失才是RNN训练的真正瓶颈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我们来做一个总结。RNN奠定了序列建模的基础，它的循环连接机制首次让神经网络具备了处理时序数据的能力。虽然它在训练中面临梯度消失和梯度爆炸的挑战，但正是这些挑战推动了门控循环单元的持续演进——从LSTM到GRU，再到后来的Transformer架构。理解RNN的核心公式和训练难题，是掌握整个序列建模特族的知识基石。好，今天的课程就到这里，感谢大家的聆听，欢迎课后交流讨论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 l="440" r="440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1364264" y="2785170"/>
            <a:ext cx="9460424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4F6F9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RNN循环神经网络详解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2047363" y="3768030"/>
            <a:ext cx="8094226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4F6F9">
                    <a:alpha val="9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从序列建模到深度记忆——核心原理与训练挑战</a:t>
            </a:r>
            <a:endParaRPr lang="en-US" sz="1100"/>
          </a:p>
        </p:txBody>
      </p:sp>
      <p:pic>
        <p:nvPicPr>
          <p:cNvPr id="99999" name="WatermarkAig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2581424"/>
            <a:ext cx="450732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744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Contents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2952899"/>
            <a:ext cx="4507323" cy="6000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4200" b="1" i="0" strike="noStrike">
                <a:solidFill>
                  <a:srgbClr val="1A2744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课程目录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3825329"/>
            <a:ext cx="4507323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2744">
                    <a:alpha val="7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从基础概念到训练实践，系统掌握循环神经网络的核心知识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2744">
                    <a:alpha val="7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体系。</a:t>
            </a:r>
            <a:endParaRPr sz="1200" b="0" i="0" strike="noStrike">
              <a:solidFill>
                <a:srgbClr val="1A2744">
                  <a:alpha val="70196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421494" y="1731616"/>
            <a:ext cx="6310222" cy="9525"/>
          </a:xfrm>
          <a:prstGeom prst="line">
            <a:avLst/>
          </a:prstGeom>
          <a:ln w="9525">
            <a:solidFill>
              <a:srgbClr val="C8D3D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5421494" y="136966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744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5840490" y="130299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2744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RNN基础概念与诞生背景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421494" y="3015555"/>
            <a:ext cx="6310222" cy="9525"/>
          </a:xfrm>
          <a:prstGeom prst="line">
            <a:avLst/>
          </a:prstGeom>
          <a:ln w="9525">
            <a:solidFill>
              <a:srgbClr val="C8D3D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5421494" y="2653605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744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840490" y="2586930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2744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RNN结构与内部计算机制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421494" y="4299496"/>
            <a:ext cx="6310222" cy="9525"/>
          </a:xfrm>
          <a:prstGeom prst="line">
            <a:avLst/>
          </a:prstGeom>
          <a:ln w="9525">
            <a:solidFill>
              <a:srgbClr val="C8D3D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5421494" y="393754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744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5840490" y="387087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2744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RNN的典型应用场景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421494" y="5583436"/>
            <a:ext cx="6310222" cy="9525"/>
          </a:xfrm>
          <a:prstGeom prst="line">
            <a:avLst/>
          </a:prstGeom>
          <a:ln w="9525">
            <a:solidFill>
              <a:srgbClr val="C8D3D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5421494" y="522148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744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04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5840490" y="515481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2744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RNN的训练挑战与应对策略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 l="440" r="440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10196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5638283" y="2527250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4F6F9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01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199031" y="2998738"/>
            <a:ext cx="9790888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4F6F9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RNN基础概念与诞生背景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897381" y="4019699"/>
            <a:ext cx="8394188" cy="32995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4F6F9">
                    <a:alpha val="8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理解序列数据的本质特征与循环神经网络的核心创新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332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DEEP LEARNING · SEQUENCE MODELING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5247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2332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什么是循环神经网络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33500"/>
            <a:ext cx="9522" cy="649486"/>
          </a:xfrm>
          <a:prstGeom prst="line">
            <a:avLst/>
          </a:prstGeom>
          <a:ln w="9525">
            <a:solidFill>
              <a:srgbClr val="2C5282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99925" y="137160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2332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RNN是一种专门处理序列数据的神经网络架构，通过引入循环连接机制，使网络能够维护内部状态并捕获时间序列中的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2332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前后依赖关系，弥补了传统前馈网络无法建模时序模式的根本缺陷。</a:t>
            </a:r>
            <a:endParaRPr sz="1600" b="0" i="1" strike="noStrike">
              <a:solidFill>
                <a:srgbClr val="1A2332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alphaModFix amt="100000"/>
          </a:blip>
          <a:srcRect t="24" b="24"/>
          <a:stretch>
            <a:fillRect/>
          </a:stretch>
        </p:blipFill>
        <p:spPr>
          <a:xfrm>
            <a:off x="457086" y="2639318"/>
            <a:ext cx="4570857" cy="304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TextBox 8"/>
          <p:cNvSpPr txBox="1"/>
          <p:nvPr/>
        </p:nvSpPr>
        <p:spPr>
          <a:xfrm>
            <a:off x="457086" y="5782568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332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序列数据处理与自然语言分析工作场景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5485028" y="2470845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332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01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5797340" y="2480370"/>
            <a:ext cx="5782164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1A2332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序列数据的本质：</a:t>
            </a:r>
            <a:r>
              <a:rPr sz="1100" b="0" i="0" strike="noStrike">
                <a:solidFill>
                  <a:srgbClr val="1A2332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元素之间存在明确的时序依赖关系，如文本中的词语顺序、时间序列中的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2332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前后关联、语音信号的连续波形。</a:t>
            </a:r>
            <a:endParaRPr sz="1100" b="0" i="0" strike="noStrike">
              <a:solidFill>
                <a:srgbClr val="1A2332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485028" y="3546723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332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797340" y="3556248"/>
            <a:ext cx="5782164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1A2332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前馈网络的局限：</a:t>
            </a:r>
            <a:r>
              <a:rPr sz="1100" b="0" i="0" strike="noStrike">
                <a:solidFill>
                  <a:srgbClr val="1A2332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标准前馈网络假设输入相互独立，无法建模序列内部的时序模式和长期依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2332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赖关系，这是其处理序列问题的根本局限。</a:t>
            </a:r>
            <a:endParaRPr sz="1100" b="0" i="0" strike="noStrike">
              <a:solidFill>
                <a:srgbClr val="1A2332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485028" y="4622602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332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03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5797340" y="4632127"/>
            <a:ext cx="5782164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1A2332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循环传递机制：</a:t>
            </a:r>
            <a:r>
              <a:rPr sz="1100" b="0" i="0" strike="noStrike">
                <a:solidFill>
                  <a:srgbClr val="1A2332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RNN的核心创新是引入隐藏状态的循环传递，使网络在每个时间步都能访问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2332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之前积累的信息，实现"记忆"能力。</a:t>
            </a:r>
            <a:endParaRPr sz="1100" b="0" i="0" strike="noStrike">
              <a:solidFill>
                <a:srgbClr val="1A2332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485028" y="5698480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332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04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5797340" y="5708005"/>
            <a:ext cx="5782164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1A2332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时间轴展开视角：</a:t>
            </a:r>
            <a:r>
              <a:rPr sz="1100" b="0" i="0" strike="noStrike">
                <a:solidFill>
                  <a:srgbClr val="1A2332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将同一网络模块沿时间轴展开，形成从过去到未来的信息传递链条，这种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2332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展开结构是理解RNN计算过程的关键。</a:t>
            </a:r>
            <a:endParaRPr sz="1100" b="0" i="0" strike="noStrike">
              <a:solidFill>
                <a:srgbClr val="1A2332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 l="440" r="440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18039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5638283" y="2539901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EEF1F5">
                    <a:alpha val="6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CHAPTER 02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174332" y="3011388"/>
            <a:ext cx="9840288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EEF1F5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RNN结构与内部计算机制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809298" y="4032349"/>
            <a:ext cx="8570358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EEF1F5">
                    <a:alpha val="8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从输入层到隐藏层循环连接，深入理解公式推导与信息流动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E">
                    <a:alpha val="6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ARCHITECTURE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5247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RNN基本结构解析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33500"/>
            <a:ext cx="9522" cy="649486"/>
          </a:xfrm>
          <a:prstGeom prst="line">
            <a:avLst/>
          </a:prstGeom>
          <a:ln w="9525">
            <a:solidFill>
              <a:srgbClr val="3D5A80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3716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RNN由输入层、带循环连接的隐藏层和输出层三部分组成，其中隐藏层通过循环权重矩阵Whh实现跨时间步的信息传递，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这是RNN区别于其他神经网络架构的根本特征。</a:t>
            </a:r>
            <a:endParaRPr sz="1600" b="0" i="1" strike="noStrike">
              <a:solidFill>
                <a:srgbClr val="1A1A1E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154436"/>
            <a:ext cx="3605799" cy="42463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2154436"/>
            <a:ext cx="3605799" cy="9525"/>
          </a:xfrm>
          <a:prstGeom prst="line">
            <a:avLst/>
          </a:prstGeom>
          <a:ln w="28575">
            <a:solidFill>
              <a:srgbClr val="3D5A80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95151" y="244971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9500"/>
                </a:moveTo>
                <a:lnTo>
                  <a:pt x="1111" y="6500"/>
                </a:lnTo>
                <a:lnTo>
                  <a:pt x="2222" y="6500"/>
                </a:lnTo>
                <a:lnTo>
                  <a:pt x="2222" y="9000"/>
                </a:lnTo>
                <a:lnTo>
                  <a:pt x="8887" y="9000"/>
                </a:lnTo>
                <a:lnTo>
                  <a:pt x="8887" y="1000"/>
                </a:lnTo>
                <a:lnTo>
                  <a:pt x="2222" y="1000"/>
                </a:lnTo>
                <a:lnTo>
                  <a:pt x="2222" y="3500"/>
                </a:lnTo>
                <a:lnTo>
                  <a:pt x="1111" y="3500"/>
                </a:lnTo>
                <a:lnTo>
                  <a:pt x="1111" y="500"/>
                </a:lnTo>
                <a:cubicBezTo>
                  <a:pt x="1111" y="360"/>
                  <a:pt x="1164" y="241"/>
                  <a:pt x="1272" y="145"/>
                </a:cubicBezTo>
                <a:cubicBezTo>
                  <a:pt x="1379" y="48"/>
                  <a:pt x="1510" y="0"/>
                  <a:pt x="1666" y="0"/>
                </a:cubicBezTo>
                <a:lnTo>
                  <a:pt x="9443" y="0"/>
                </a:lnTo>
                <a:cubicBezTo>
                  <a:pt x="9598" y="0"/>
                  <a:pt x="9729" y="48"/>
                  <a:pt x="9837" y="145"/>
                </a:cubicBezTo>
                <a:cubicBezTo>
                  <a:pt x="9944" y="241"/>
                  <a:pt x="9998" y="360"/>
                  <a:pt x="9998" y="500"/>
                </a:cubicBezTo>
                <a:lnTo>
                  <a:pt x="9998" y="9500"/>
                </a:lnTo>
                <a:cubicBezTo>
                  <a:pt x="9998" y="9640"/>
                  <a:pt x="9944" y="9758"/>
                  <a:pt x="9837" y="9855"/>
                </a:cubicBezTo>
                <a:cubicBezTo>
                  <a:pt x="9729" y="9951"/>
                  <a:pt x="9598" y="10000"/>
                  <a:pt x="9443" y="10000"/>
                </a:cubicBezTo>
                <a:lnTo>
                  <a:pt x="1666" y="10000"/>
                </a:lnTo>
                <a:cubicBezTo>
                  <a:pt x="1510" y="10000"/>
                  <a:pt x="1379" y="9951"/>
                  <a:pt x="1272" y="9855"/>
                </a:cubicBezTo>
                <a:cubicBezTo>
                  <a:pt x="1164" y="9758"/>
                  <a:pt x="1111" y="9640"/>
                  <a:pt x="1111" y="9500"/>
                </a:cubicBezTo>
                <a:moveTo>
                  <a:pt x="0" y="4500"/>
                </a:moveTo>
                <a:lnTo>
                  <a:pt x="4444" y="4500"/>
                </a:lnTo>
                <a:lnTo>
                  <a:pt x="4444" y="3000"/>
                </a:lnTo>
                <a:lnTo>
                  <a:pt x="7221" y="5000"/>
                </a:lnTo>
                <a:lnTo>
                  <a:pt x="4444" y="7000"/>
                </a:lnTo>
                <a:lnTo>
                  <a:pt x="4444" y="5500"/>
                </a:lnTo>
                <a:lnTo>
                  <a:pt x="0" y="5500"/>
                </a:lnTo>
              </a:path>
            </a:pathLst>
          </a:custGeom>
          <a:solidFill>
            <a:srgbClr val="3D5A8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695151" y="3600897"/>
            <a:ext cx="3129669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1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输入层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95151" y="4062860"/>
            <a:ext cx="3367734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接收当前时间步的输入数据xt，可以是词向量、音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频帧或传感器读数等序列元素</a:t>
            </a:r>
            <a:endParaRPr sz="1100" b="0" i="0" strike="noStrike">
              <a:solidFill>
                <a:srgbClr val="1A1A1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95151" y="4629597"/>
            <a:ext cx="3367734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通过输入权重矩阵Wxh将原始输入映射到隐藏状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态空间，为后续循环计算做准备</a:t>
            </a:r>
            <a:endParaRPr sz="1100" b="0" i="0" strike="noStrike">
              <a:solidFill>
                <a:srgbClr val="1A1A1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95151" y="5795070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695151" y="5918895"/>
            <a:ext cx="312966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D5A80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Wxh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291428" y="2154436"/>
            <a:ext cx="3605948" cy="42463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4291428" y="2154436"/>
            <a:ext cx="3605948" cy="9525"/>
          </a:xfrm>
          <a:prstGeom prst="line">
            <a:avLst/>
          </a:prstGeom>
          <a:ln w="28575">
            <a:solidFill>
              <a:srgbClr val="3D5A80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4529493" y="244971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230" y="2110"/>
                </a:moveTo>
                <a:lnTo>
                  <a:pt x="1730" y="1220"/>
                </a:lnTo>
                <a:cubicBezTo>
                  <a:pt x="2176" y="833"/>
                  <a:pt x="2676" y="533"/>
                  <a:pt x="3229" y="320"/>
                </a:cubicBezTo>
                <a:cubicBezTo>
                  <a:pt x="3795" y="106"/>
                  <a:pt x="4385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526"/>
                  <a:pt x="9918" y="6036"/>
                  <a:pt x="9758" y="6530"/>
                </a:cubicBezTo>
                <a:cubicBezTo>
                  <a:pt x="9604" y="7010"/>
                  <a:pt x="9381" y="7456"/>
                  <a:pt x="9088" y="7870"/>
                </a:cubicBezTo>
                <a:lnTo>
                  <a:pt x="7499" y="5000"/>
                </a:lnTo>
                <a:lnTo>
                  <a:pt x="8998" y="5000"/>
                </a:ln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472" y="1000"/>
                  <a:pt x="3965" y="1100"/>
                  <a:pt x="3479" y="1300"/>
                </a:cubicBezTo>
                <a:cubicBezTo>
                  <a:pt x="3012" y="1493"/>
                  <a:pt x="2596" y="1763"/>
                  <a:pt x="2230" y="2110"/>
                </a:cubicBezTo>
                <a:moveTo>
                  <a:pt x="7768" y="7890"/>
                </a:moveTo>
                <a:lnTo>
                  <a:pt x="8268" y="8780"/>
                </a:lnTo>
                <a:cubicBezTo>
                  <a:pt x="7821" y="9166"/>
                  <a:pt x="7321" y="9466"/>
                  <a:pt x="6769" y="9680"/>
                </a:cubicBezTo>
                <a:cubicBezTo>
                  <a:pt x="6202" y="9893"/>
                  <a:pt x="5612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473"/>
                  <a:pt x="80" y="3963"/>
                  <a:pt x="240" y="3470"/>
                </a:cubicBezTo>
                <a:cubicBezTo>
                  <a:pt x="393" y="2990"/>
                  <a:pt x="616" y="2543"/>
                  <a:pt x="910" y="2130"/>
                </a:cubicBezTo>
                <a:lnTo>
                  <a:pt x="2500" y="5000"/>
                </a:lnTo>
                <a:lnTo>
                  <a:pt x="1000" y="5000"/>
                </a:ln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cubicBezTo>
                  <a:pt x="5525" y="9000"/>
                  <a:pt x="6032" y="8900"/>
                  <a:pt x="6519" y="8700"/>
                </a:cubicBezTo>
                <a:cubicBezTo>
                  <a:pt x="6985" y="8506"/>
                  <a:pt x="7402" y="8236"/>
                  <a:pt x="7768" y="7890"/>
                </a:cubicBezTo>
              </a:path>
            </a:pathLst>
          </a:custGeom>
          <a:solidFill>
            <a:srgbClr val="3D5A8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4529493" y="3600897"/>
            <a:ext cx="3129817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1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隐藏层（循环核心）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529493" y="4062860"/>
            <a:ext cx="3367883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同时接收当前输入xt和上一时刻隐藏状态ht-1，通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过非线性变换生成新的隐藏状态ht</a:t>
            </a:r>
            <a:endParaRPr sz="1100" b="0" i="0" strike="noStrike">
              <a:solidFill>
                <a:srgbClr val="1A1A1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529493" y="4629597"/>
            <a:ext cx="3367883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循环权重矩阵Whh使上一时刻的信息影响当前计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算，形成跨时间步的记忆传递链条</a:t>
            </a:r>
            <a:endParaRPr sz="1100" b="0" i="0" strike="noStrike">
              <a:solidFill>
                <a:srgbClr val="1A1A1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529493" y="5795070"/>
            <a:ext cx="3129817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4529493" y="5918895"/>
            <a:ext cx="3129817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D5A80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Whh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5918" y="2154436"/>
            <a:ext cx="3605799" cy="42463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8125918" y="2154436"/>
            <a:ext cx="3605799" cy="9525"/>
          </a:xfrm>
          <a:prstGeom prst="line">
            <a:avLst/>
          </a:prstGeom>
          <a:ln w="28575">
            <a:solidFill>
              <a:srgbClr val="3D5A80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>
            <a:off x="8363984" y="244971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893" y="10000"/>
                </a:moveTo>
                <a:lnTo>
                  <a:pt x="526" y="10000"/>
                </a:lnTo>
                <a:cubicBezTo>
                  <a:pt x="378" y="10000"/>
                  <a:pt x="254" y="9951"/>
                  <a:pt x="153" y="9855"/>
                </a:cubicBezTo>
                <a:cubicBezTo>
                  <a:pt x="51" y="9758"/>
                  <a:pt x="0" y="9640"/>
                  <a:pt x="0" y="9500"/>
                </a:cubicBezTo>
                <a:lnTo>
                  <a:pt x="0" y="500"/>
                </a:lnTo>
                <a:cubicBezTo>
                  <a:pt x="0" y="360"/>
                  <a:pt x="51" y="241"/>
                  <a:pt x="153" y="145"/>
                </a:cubicBezTo>
                <a:cubicBezTo>
                  <a:pt x="254" y="48"/>
                  <a:pt x="378" y="0"/>
                  <a:pt x="526" y="0"/>
                </a:cubicBezTo>
                <a:lnTo>
                  <a:pt x="7893" y="0"/>
                </a:lnTo>
                <a:cubicBezTo>
                  <a:pt x="8040" y="0"/>
                  <a:pt x="8165" y="48"/>
                  <a:pt x="8267" y="145"/>
                </a:cubicBezTo>
                <a:cubicBezTo>
                  <a:pt x="8368" y="241"/>
                  <a:pt x="8419" y="360"/>
                  <a:pt x="8419" y="500"/>
                </a:cubicBezTo>
                <a:lnTo>
                  <a:pt x="8419" y="2000"/>
                </a:lnTo>
                <a:lnTo>
                  <a:pt x="7367" y="2000"/>
                </a:lnTo>
                <a:lnTo>
                  <a:pt x="7367" y="1000"/>
                </a:lnTo>
                <a:lnTo>
                  <a:pt x="1052" y="1000"/>
                </a:lnTo>
                <a:lnTo>
                  <a:pt x="1052" y="9000"/>
                </a:lnTo>
                <a:lnTo>
                  <a:pt x="7367" y="9000"/>
                </a:lnTo>
                <a:lnTo>
                  <a:pt x="7367" y="8000"/>
                </a:lnTo>
                <a:lnTo>
                  <a:pt x="8419" y="8000"/>
                </a:lnTo>
                <a:lnTo>
                  <a:pt x="8419" y="9500"/>
                </a:lnTo>
                <a:cubicBezTo>
                  <a:pt x="8419" y="9640"/>
                  <a:pt x="8368" y="9758"/>
                  <a:pt x="8267" y="9855"/>
                </a:cubicBezTo>
                <a:cubicBezTo>
                  <a:pt x="8165" y="9951"/>
                  <a:pt x="8040" y="10000"/>
                  <a:pt x="7893" y="10000"/>
                </a:cubicBezTo>
                <a:moveTo>
                  <a:pt x="9998" y="5000"/>
                </a:moveTo>
                <a:lnTo>
                  <a:pt x="7367" y="7000"/>
                </a:lnTo>
                <a:lnTo>
                  <a:pt x="7367" y="5500"/>
                </a:lnTo>
                <a:lnTo>
                  <a:pt x="3683" y="5500"/>
                </a:lnTo>
                <a:lnTo>
                  <a:pt x="3683" y="4500"/>
                </a:lnTo>
                <a:lnTo>
                  <a:pt x="7367" y="4500"/>
                </a:lnTo>
                <a:lnTo>
                  <a:pt x="7367" y="3000"/>
                </a:lnTo>
              </a:path>
            </a:pathLst>
          </a:custGeom>
          <a:solidFill>
            <a:srgbClr val="3D5A8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8363984" y="3600897"/>
            <a:ext cx="3129669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1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输出层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363984" y="4062860"/>
            <a:ext cx="3367734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通过输出权重矩阵Why将隐藏状态ht映射到输出空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间，完成预测或分类任务</a:t>
            </a:r>
            <a:endParaRPr sz="1100" b="0" i="0" strike="noStrike">
              <a:solidFill>
                <a:srgbClr val="1A1A1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363984" y="4629597"/>
            <a:ext cx="3367734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根据任务需求灵活设计：序列标注每步输出、分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类任务仅最终步输出、生成任务逐步输出</a:t>
            </a:r>
            <a:endParaRPr sz="1100" b="0" i="0" strike="noStrike">
              <a:solidFill>
                <a:srgbClr val="1A1A1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363984" y="5795070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8363984" y="5918895"/>
            <a:ext cx="312966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D5A80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Why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Core Formulas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7152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2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RNN核心公式全貌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33500"/>
            <a:ext cx="9522" cy="649486"/>
          </a:xfrm>
          <a:prstGeom prst="line">
            <a:avLst/>
          </a:prstGeom>
          <a:ln w="9525">
            <a:solidFill>
              <a:srgbClr val="2B4C7E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3716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2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RNN的计算本质可由两个核心公式完整概括：隐藏状态更新公式实现当前输入与历史记忆的非线性融合，输出公式完成从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2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内部表示到预测结果的映射。</a:t>
            </a:r>
            <a:endParaRPr sz="1600" b="0" i="1" strike="noStrike">
              <a:solidFill>
                <a:srgbClr val="1A1A2E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135386"/>
            <a:ext cx="6421370" cy="13583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2135386"/>
            <a:ext cx="6421370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657061" y="2316361"/>
            <a:ext cx="602141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Hidden State Update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785170" y="2747962"/>
            <a:ext cx="8257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720023" y="2747962"/>
            <a:ext cx="19372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xh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2061944" y="2747962"/>
            <a:ext cx="8257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2484808" y="2747962"/>
            <a:ext cx="201017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hh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2845477" y="2747962"/>
            <a:ext cx="20116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t-1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3317145" y="2747962"/>
            <a:ext cx="119628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57061" y="2698403"/>
            <a:ext cx="6021419" cy="59828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</a:t>
            </a:r>
            <a:r>
              <a:rPr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lang="en-US" sz="1100"/>
          </a:p>
          <a:p>
            <a:pPr algn="l"/>
            <a:r>
              <a:rPr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= tanh(W</a:t>
            </a:r>
            <a:r>
              <a:rPr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xh</a:t>
            </a:r>
            <a:endParaRPr sz="1000" b="1" i="0" strike="noStrike">
              <a:solidFill>
                <a:srgbClr val="2B4C7E">
                  <a:alpha val="10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  <a:p>
            <a:pPr algn="l"/>
            <a:r>
              <a:rPr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·x</a:t>
            </a:r>
            <a:r>
              <a:rPr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sz="1000" b="1" i="0" strike="noStrike">
              <a:solidFill>
                <a:srgbClr val="2B4C7E">
                  <a:alpha val="10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  <a:p>
            <a:pPr algn="l"/>
            <a:r>
              <a:rPr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+ W</a:t>
            </a:r>
            <a:r>
              <a:rPr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hh</a:t>
            </a:r>
            <a:endParaRPr sz="1000" b="1" i="0" strike="noStrike">
              <a:solidFill>
                <a:srgbClr val="2B4C7E">
                  <a:alpha val="10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  <a:p>
            <a:pPr algn="l"/>
            <a:r>
              <a:rPr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·h</a:t>
            </a:r>
            <a:r>
              <a:rPr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t-1</a:t>
            </a:r>
            <a:endParaRPr sz="1000" b="1" i="0" strike="noStrike">
              <a:solidFill>
                <a:srgbClr val="2B4C7E">
                  <a:alpha val="10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  <a:p>
            <a:pPr algn="l"/>
            <a:r>
              <a:rPr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+ b</a:t>
            </a:r>
            <a:r>
              <a:rPr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</a:t>
            </a:r>
            <a:endParaRPr sz="1000" b="1" i="0" strike="noStrike">
              <a:solidFill>
                <a:srgbClr val="2B4C7E">
                  <a:alpha val="10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  <a:p>
            <a:pPr algn="l"/>
            <a:r>
              <a:rPr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)</a:t>
            </a:r>
            <a:endParaRPr sz="1600" b="1" i="0" strike="noStrike">
              <a:solidFill>
                <a:srgbClr val="2B4C7E">
                  <a:alpha val="10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82937" y="3198466"/>
            <a:ext cx="589554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xh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829533" y="3198466"/>
            <a:ext cx="484894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hh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2830896" y="3198466"/>
            <a:ext cx="3847584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57061" y="3143250"/>
            <a:ext cx="6021419" cy="1885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2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Wxh为输入权重、Whh为循环权重、bh为偏置，实现当前输入与历史信息的非线性融合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7086" y="3588991"/>
            <a:ext cx="6421370" cy="13583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>
            <a:off x="457086" y="3588991"/>
            <a:ext cx="6421370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Box 23"/>
          <p:cNvSpPr txBox="1"/>
          <p:nvPr/>
        </p:nvSpPr>
        <p:spPr>
          <a:xfrm>
            <a:off x="657061" y="3769966"/>
            <a:ext cx="602141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Output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773713" y="4201566"/>
            <a:ext cx="8257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196576" y="4201566"/>
            <a:ext cx="19372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hy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549955" y="4201566"/>
            <a:ext cx="8257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903035" y="4201566"/>
            <a:ext cx="112337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y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657061" y="4152007"/>
            <a:ext cx="6021419" cy="59828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y</a:t>
            </a:r>
            <a:r>
              <a:rPr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lang="en-US" sz="1100"/>
          </a:p>
          <a:p>
            <a:pPr algn="l"/>
            <a:r>
              <a:rPr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= W</a:t>
            </a:r>
            <a:r>
              <a:rPr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hy</a:t>
            </a:r>
            <a:endParaRPr sz="1000" b="1" i="0" strike="noStrike">
              <a:solidFill>
                <a:srgbClr val="2B4C7E">
                  <a:alpha val="10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  <a:p>
            <a:pPr algn="l"/>
            <a:r>
              <a:rPr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·h</a:t>
            </a:r>
            <a:r>
              <a:rPr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sz="1000" b="1" i="0" strike="noStrike">
              <a:solidFill>
                <a:srgbClr val="2B4C7E">
                  <a:alpha val="10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  <a:p>
            <a:pPr algn="l"/>
            <a:r>
              <a:rPr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+ b</a:t>
            </a:r>
            <a:r>
              <a:rPr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y</a:t>
            </a:r>
            <a:endParaRPr sz="1000" b="1" i="0" strike="noStrike">
              <a:solidFill>
                <a:srgbClr val="2B4C7E">
                  <a:alpha val="10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582838" y="4652070"/>
            <a:ext cx="509564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hy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4044286" y="4652070"/>
            <a:ext cx="263419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y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657061" y="4596854"/>
            <a:ext cx="6021419" cy="1885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2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通过输出权重Why将隐藏状态映射到目标空间，配合偏置by完成预测或分类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57086" y="5042595"/>
            <a:ext cx="6421370" cy="13583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AutoShape 33"/>
          <p:cNvSpPr/>
          <p:nvPr/>
        </p:nvSpPr>
        <p:spPr>
          <a:xfrm>
            <a:off x="457086" y="5042595"/>
            <a:ext cx="6421370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TextBox 34"/>
          <p:cNvSpPr txBox="1"/>
          <p:nvPr/>
        </p:nvSpPr>
        <p:spPr>
          <a:xfrm>
            <a:off x="657061" y="5223570"/>
            <a:ext cx="602141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Complete Flow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830848" y="5668416"/>
            <a:ext cx="8257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13502" y="5659859"/>
            <a:ext cx="171407" cy="1714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4357"/>
                </a:moveTo>
                <a:lnTo>
                  <a:pt x="7611" y="4357"/>
                </a:lnTo>
                <a:lnTo>
                  <a:pt x="4249" y="913"/>
                </a:lnTo>
                <a:lnTo>
                  <a:pt x="5136" y="0"/>
                </a:lnTo>
                <a:lnTo>
                  <a:pt x="9998" y="5000"/>
                </a:lnTo>
                <a:lnTo>
                  <a:pt x="5136" y="10000"/>
                </a:lnTo>
                <a:lnTo>
                  <a:pt x="4249" y="9087"/>
                </a:lnTo>
                <a:lnTo>
                  <a:pt x="7611" y="5643"/>
                </a:lnTo>
                <a:lnTo>
                  <a:pt x="0" y="5643"/>
                </a:lnTo>
              </a:path>
            </a:pathLst>
          </a:custGeom>
          <a:solidFill>
            <a:srgbClr val="2B4C7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7" name="TextBox 37"/>
          <p:cNvSpPr txBox="1"/>
          <p:nvPr/>
        </p:nvSpPr>
        <p:spPr>
          <a:xfrm>
            <a:off x="1308318" y="5668416"/>
            <a:ext cx="8257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390971" y="5659859"/>
            <a:ext cx="171407" cy="1714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4357"/>
                </a:moveTo>
                <a:lnTo>
                  <a:pt x="7611" y="4357"/>
                </a:lnTo>
                <a:lnTo>
                  <a:pt x="4249" y="913"/>
                </a:lnTo>
                <a:lnTo>
                  <a:pt x="5136" y="0"/>
                </a:lnTo>
                <a:lnTo>
                  <a:pt x="9998" y="5000"/>
                </a:lnTo>
                <a:lnTo>
                  <a:pt x="5136" y="10000"/>
                </a:lnTo>
                <a:lnTo>
                  <a:pt x="4249" y="9087"/>
                </a:lnTo>
                <a:lnTo>
                  <a:pt x="7611" y="5643"/>
                </a:lnTo>
                <a:lnTo>
                  <a:pt x="0" y="5643"/>
                </a:lnTo>
              </a:path>
            </a:pathLst>
          </a:custGeom>
          <a:solidFill>
            <a:srgbClr val="2B4C7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9" name="TextBox 39"/>
          <p:cNvSpPr txBox="1"/>
          <p:nvPr/>
        </p:nvSpPr>
        <p:spPr>
          <a:xfrm>
            <a:off x="1774332" y="5668416"/>
            <a:ext cx="8257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657061" y="5618857"/>
            <a:ext cx="6021419" cy="62492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x</a:t>
            </a:r>
            <a:r>
              <a:rPr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lang="en-US" sz="1100"/>
          </a:p>
          <a:p>
            <a:pPr algn="l"/>
            <a:r>
              <a:rPr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</a:t>
            </a:r>
            <a:r>
              <a:rPr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sz="1000" b="1" i="0" strike="noStrike">
              <a:solidFill>
                <a:srgbClr val="2B4C7E">
                  <a:alpha val="10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  <a:p>
            <a:pPr algn="l"/>
            <a:r>
              <a:rPr sz="16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y</a:t>
            </a:r>
            <a:r>
              <a:rPr sz="10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sz="1000" b="1" i="0" strike="noStrike">
              <a:solidFill>
                <a:srgbClr val="2B4C7E">
                  <a:alpha val="10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57061" y="6077099"/>
            <a:ext cx="602141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2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先通过隐藏层融合新旧信息，再通过输出层将内部表示转化为可观测的预测结果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7145089" y="2154436"/>
            <a:ext cx="458677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Components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7145089" y="2421136"/>
            <a:ext cx="2255224" cy="12757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TextBox 44"/>
          <p:cNvSpPr txBox="1"/>
          <p:nvPr/>
        </p:nvSpPr>
        <p:spPr>
          <a:xfrm>
            <a:off x="7449812" y="2942778"/>
            <a:ext cx="180766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xh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7287928" y="2851398"/>
            <a:ext cx="1969545" cy="2247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Wxh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7287928" y="3089374"/>
            <a:ext cx="196954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2E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输入权重矩阵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9476494" y="2421136"/>
            <a:ext cx="2255373" cy="12757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TextBox 48"/>
          <p:cNvSpPr txBox="1"/>
          <p:nvPr/>
        </p:nvSpPr>
        <p:spPr>
          <a:xfrm>
            <a:off x="9781217" y="2942778"/>
            <a:ext cx="180780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hh</a:t>
            </a:r>
            <a:endParaRPr lang="en-US" sz="1100"/>
          </a:p>
        </p:txBody>
      </p:sp>
      <p:sp>
        <p:nvSpPr>
          <p:cNvPr id="49" name="TextBox 49"/>
          <p:cNvSpPr txBox="1"/>
          <p:nvPr/>
        </p:nvSpPr>
        <p:spPr>
          <a:xfrm>
            <a:off x="9619333" y="2851398"/>
            <a:ext cx="1969694" cy="2247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Whh</a:t>
            </a:r>
            <a:endParaRPr lang="en-US" sz="1100"/>
          </a:p>
        </p:txBody>
      </p:sp>
      <p:sp>
        <p:nvSpPr>
          <p:cNvPr id="50" name="TextBox 50"/>
          <p:cNvSpPr txBox="1"/>
          <p:nvPr/>
        </p:nvSpPr>
        <p:spPr>
          <a:xfrm>
            <a:off x="9619333" y="3089374"/>
            <a:ext cx="1969694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2E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循环权重矩阵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7145089" y="3773091"/>
            <a:ext cx="2255224" cy="12757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52" name="TextBox 52"/>
          <p:cNvSpPr txBox="1"/>
          <p:nvPr/>
        </p:nvSpPr>
        <p:spPr>
          <a:xfrm>
            <a:off x="7449812" y="4294734"/>
            <a:ext cx="180766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hy</a:t>
            </a:r>
            <a:endParaRPr lang="en-US" sz="1100"/>
          </a:p>
        </p:txBody>
      </p:sp>
      <p:sp>
        <p:nvSpPr>
          <p:cNvPr id="53" name="TextBox 53"/>
          <p:cNvSpPr txBox="1"/>
          <p:nvPr/>
        </p:nvSpPr>
        <p:spPr>
          <a:xfrm>
            <a:off x="7287928" y="4203353"/>
            <a:ext cx="1969545" cy="2247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Why</a:t>
            </a:r>
            <a:endParaRPr lang="en-US" sz="1100"/>
          </a:p>
        </p:txBody>
      </p:sp>
      <p:sp>
        <p:nvSpPr>
          <p:cNvPr id="54" name="TextBox 54"/>
          <p:cNvSpPr txBox="1"/>
          <p:nvPr/>
        </p:nvSpPr>
        <p:spPr>
          <a:xfrm>
            <a:off x="7287928" y="4441328"/>
            <a:ext cx="196954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2E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输出权重矩阵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9476494" y="3773091"/>
            <a:ext cx="2255373" cy="12757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56" name="TextBox 56"/>
          <p:cNvSpPr txBox="1"/>
          <p:nvPr/>
        </p:nvSpPr>
        <p:spPr>
          <a:xfrm>
            <a:off x="9724081" y="4294734"/>
            <a:ext cx="186494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</a:t>
            </a:r>
            <a:endParaRPr lang="en-US" sz="1100"/>
          </a:p>
        </p:txBody>
      </p:sp>
      <p:sp>
        <p:nvSpPr>
          <p:cNvPr id="57" name="TextBox 57"/>
          <p:cNvSpPr txBox="1"/>
          <p:nvPr/>
        </p:nvSpPr>
        <p:spPr>
          <a:xfrm>
            <a:off x="10041602" y="4294734"/>
            <a:ext cx="154742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y</a:t>
            </a:r>
            <a:endParaRPr lang="en-US" sz="1100"/>
          </a:p>
        </p:txBody>
      </p:sp>
      <p:sp>
        <p:nvSpPr>
          <p:cNvPr id="58" name="TextBox 58"/>
          <p:cNvSpPr txBox="1"/>
          <p:nvPr/>
        </p:nvSpPr>
        <p:spPr>
          <a:xfrm>
            <a:off x="9619333" y="4203353"/>
            <a:ext cx="1969694" cy="2247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bh / by</a:t>
            </a:r>
            <a:endParaRPr lang="en-US" sz="1100"/>
          </a:p>
        </p:txBody>
      </p:sp>
      <p:sp>
        <p:nvSpPr>
          <p:cNvPr id="59" name="TextBox 59"/>
          <p:cNvSpPr txBox="1"/>
          <p:nvPr/>
        </p:nvSpPr>
        <p:spPr>
          <a:xfrm>
            <a:off x="9619333" y="4441328"/>
            <a:ext cx="1969694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2E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偏置项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7145089" y="5125046"/>
            <a:ext cx="2255224" cy="12757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61" name="TextBox 61"/>
          <p:cNvSpPr txBox="1"/>
          <p:nvPr/>
        </p:nvSpPr>
        <p:spPr>
          <a:xfrm>
            <a:off x="7287928" y="5566767"/>
            <a:ext cx="1969545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tanh</a:t>
            </a:r>
            <a:endParaRPr lang="en-US" sz="1100"/>
          </a:p>
        </p:txBody>
      </p:sp>
      <p:sp>
        <p:nvSpPr>
          <p:cNvPr id="62" name="TextBox 62"/>
          <p:cNvSpPr txBox="1"/>
          <p:nvPr/>
        </p:nvSpPr>
        <p:spPr>
          <a:xfrm>
            <a:off x="7287928" y="5781972"/>
            <a:ext cx="196954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2E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非线性激活函数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9476494" y="5125046"/>
            <a:ext cx="2255373" cy="12757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64" name="TextBox 64"/>
          <p:cNvSpPr txBox="1"/>
          <p:nvPr/>
        </p:nvSpPr>
        <p:spPr>
          <a:xfrm>
            <a:off x="9724081" y="5646688"/>
            <a:ext cx="186494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endParaRPr lang="en-US" sz="1100"/>
          </a:p>
        </p:txBody>
      </p:sp>
      <p:sp>
        <p:nvSpPr>
          <p:cNvPr id="65" name="TextBox 65"/>
          <p:cNvSpPr txBox="1"/>
          <p:nvPr/>
        </p:nvSpPr>
        <p:spPr>
          <a:xfrm>
            <a:off x="9619333" y="5555308"/>
            <a:ext cx="1969694" cy="2247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2B4C7E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ht</a:t>
            </a:r>
            <a:endParaRPr lang="en-US" sz="1100"/>
          </a:p>
        </p:txBody>
      </p:sp>
      <p:sp>
        <p:nvSpPr>
          <p:cNvPr id="66" name="TextBox 66"/>
          <p:cNvSpPr txBox="1"/>
          <p:nvPr/>
        </p:nvSpPr>
        <p:spPr>
          <a:xfrm>
            <a:off x="9619333" y="5793284"/>
            <a:ext cx="1969694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2E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隐藏状态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380905" y="400050"/>
            <a:ext cx="1142714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E">
                    <a:alpha val="50196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RNN · Hidden State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380905" y="657225"/>
            <a:ext cx="11427142" cy="3524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500" b="1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隐藏状态公式逐项拆解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0905" y="1131541"/>
            <a:ext cx="9522" cy="257175"/>
          </a:xfrm>
          <a:prstGeom prst="line">
            <a:avLst/>
          </a:prstGeom>
          <a:ln w="9525">
            <a:solidFill>
              <a:srgbClr val="2B4C7E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485653" y="1160116"/>
            <a:ext cx="11322394" cy="21312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</a:t>
            </a:r>
            <a:r>
              <a:rPr sz="10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</a:t>
            </a:r>
            <a:r>
              <a:rPr sz="13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= tanh(W</a:t>
            </a:r>
            <a:r>
              <a:rPr sz="10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xh</a:t>
            </a:r>
            <a:r>
              <a:rPr sz="13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·x</a:t>
            </a:r>
            <a:r>
              <a:rPr sz="10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</a:t>
            </a:r>
            <a:r>
              <a:rPr sz="13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+ W</a:t>
            </a:r>
            <a:r>
              <a:rPr sz="10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hh</a:t>
            </a:r>
            <a:r>
              <a:rPr sz="13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·h</a:t>
            </a:r>
            <a:r>
              <a:rPr sz="10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t-1</a:t>
            </a:r>
            <a:r>
              <a:rPr sz="13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+ b</a:t>
            </a:r>
            <a:r>
              <a:rPr sz="10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</a:t>
            </a:r>
            <a:r>
              <a:rPr sz="13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) 中每一项承担不可替代的角色：输入项感知新信息，循环项传承历史记忆，tanh 稳定数值，偏置调节阈值。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0905" y="1541116"/>
            <a:ext cx="3707423" cy="493588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380905" y="1541116"/>
            <a:ext cx="3707423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542789" y="1741141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5499" y="0"/>
                </a:moveTo>
                <a:lnTo>
                  <a:pt x="5499" y="3889"/>
                </a:lnTo>
                <a:lnTo>
                  <a:pt x="7998" y="3889"/>
                </a:lnTo>
                <a:lnTo>
                  <a:pt x="4999" y="7222"/>
                </a:lnTo>
                <a:lnTo>
                  <a:pt x="2000" y="3889"/>
                </a:lnTo>
                <a:lnTo>
                  <a:pt x="4499" y="3889"/>
                </a:lnTo>
                <a:lnTo>
                  <a:pt x="4499" y="0"/>
                </a:lnTo>
                <a:lnTo>
                  <a:pt x="5499" y="0"/>
                </a:lnTo>
                <a:moveTo>
                  <a:pt x="1000" y="5000"/>
                </a:moveTo>
                <a:lnTo>
                  <a:pt x="1000" y="8889"/>
                </a:lnTo>
                <a:lnTo>
                  <a:pt x="8998" y="8889"/>
                </a:lnTo>
                <a:lnTo>
                  <a:pt x="8998" y="5000"/>
                </a:lnTo>
                <a:lnTo>
                  <a:pt x="9998" y="5000"/>
                </a:ln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000"/>
                </a:lnTo>
              </a:path>
            </a:pathLst>
          </a:custGeom>
          <a:solidFill>
            <a:srgbClr val="2B4C7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542789" y="3433911"/>
            <a:ext cx="3383655" cy="2190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输入项 W</a:t>
            </a:r>
            <a:r>
              <a:rPr sz="900" b="0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xh</a:t>
            </a:r>
            <a:r>
              <a:rPr sz="1500" b="0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·x</a:t>
            </a:r>
            <a:r>
              <a:rPr sz="900" b="0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t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542789" y="3757761"/>
            <a:ext cx="354553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权重矩阵 W</a:t>
            </a:r>
            <a:r>
              <a:rPr sz="7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xh</a:t>
            </a:r>
            <a:r>
              <a:rPr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将当前输入 x</a:t>
            </a:r>
            <a:r>
              <a:rPr sz="7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</a:t>
            </a:r>
            <a:r>
              <a:rPr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映射到隐藏状态空间，每列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代表对不同输入特征的敏感度。</a:t>
            </a:r>
            <a:endParaRPr sz="1000" b="0" i="0" strike="noStrike">
              <a:solidFill>
                <a:srgbClr val="1A1A1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42789" y="4228059"/>
            <a:ext cx="354553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使网络感知当前新信息，是 RNN 与外部数据交互的入口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通道。</a:t>
            </a:r>
            <a:endParaRPr sz="1000" b="0" i="0" strike="noStrike">
              <a:solidFill>
                <a:srgbClr val="1A1A1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42789" y="5981551"/>
            <a:ext cx="3383655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542789" y="6086326"/>
            <a:ext cx="3383655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2B4C7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入口通道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240690" y="1541116"/>
            <a:ext cx="3707423" cy="493588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4240690" y="1541116"/>
            <a:ext cx="3707423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4402574" y="1741141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"/>
                </a:moveTo>
                <a:cubicBezTo>
                  <a:pt x="4325" y="1000"/>
                  <a:pt x="3692" y="1160"/>
                  <a:pt x="3099" y="1480"/>
                </a:cubicBezTo>
                <a:cubicBezTo>
                  <a:pt x="2526" y="1786"/>
                  <a:pt x="2056" y="2210"/>
                  <a:pt x="1690" y="2750"/>
                </a:cubicBezTo>
                <a:lnTo>
                  <a:pt x="2999" y="2750"/>
                </a:lnTo>
                <a:lnTo>
                  <a:pt x="2999" y="3750"/>
                </a:lnTo>
                <a:lnTo>
                  <a:pt x="0" y="3750"/>
                </a:lnTo>
                <a:lnTo>
                  <a:pt x="0" y="750"/>
                </a:lnTo>
                <a:lnTo>
                  <a:pt x="1000" y="750"/>
                </a:lnTo>
                <a:lnTo>
                  <a:pt x="1000" y="2000"/>
                </a:lnTo>
                <a:cubicBezTo>
                  <a:pt x="1466" y="1380"/>
                  <a:pt x="2043" y="893"/>
                  <a:pt x="2729" y="540"/>
                </a:cubicBezTo>
                <a:cubicBezTo>
                  <a:pt x="3435" y="180"/>
                  <a:pt x="4192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lnTo>
                  <a:pt x="8998" y="5000"/>
                </a:ln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moveTo>
                  <a:pt x="0" y="5000"/>
                </a:moveTo>
                <a:lnTo>
                  <a:pt x="1000" y="5000"/>
                </a:ln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cubicBezTo>
                  <a:pt x="5672" y="9000"/>
                  <a:pt x="6305" y="8840"/>
                  <a:pt x="6899" y="8520"/>
                </a:cubicBezTo>
                <a:cubicBezTo>
                  <a:pt x="7471" y="8213"/>
                  <a:pt x="7941" y="7790"/>
                  <a:pt x="8308" y="7250"/>
                </a:cubicBezTo>
                <a:lnTo>
                  <a:pt x="6999" y="7250"/>
                </a:lnTo>
                <a:lnTo>
                  <a:pt x="6999" y="6250"/>
                </a:lnTo>
                <a:lnTo>
                  <a:pt x="9998" y="6250"/>
                </a:lnTo>
                <a:lnTo>
                  <a:pt x="9998" y="9250"/>
                </a:lnTo>
                <a:lnTo>
                  <a:pt x="8998" y="9250"/>
                </a:lnTo>
                <a:lnTo>
                  <a:pt x="8998" y="8000"/>
                </a:lnTo>
                <a:cubicBezTo>
                  <a:pt x="8531" y="8620"/>
                  <a:pt x="7955" y="9106"/>
                  <a:pt x="7269" y="9460"/>
                </a:cubicBezTo>
                <a:cubicBezTo>
                  <a:pt x="6562" y="9820"/>
                  <a:pt x="5805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</a:path>
            </a:pathLst>
          </a:custGeom>
          <a:solidFill>
            <a:srgbClr val="2B4C7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4402574" y="3537198"/>
            <a:ext cx="3383655" cy="2190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循环项 W</a:t>
            </a:r>
            <a:r>
              <a:rPr sz="900" b="0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hh</a:t>
            </a:r>
            <a:r>
              <a:rPr sz="1500" b="0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·h</a:t>
            </a:r>
            <a:r>
              <a:rPr sz="900" b="0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t-1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402574" y="3861048"/>
            <a:ext cx="354553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权重矩阵 W</a:t>
            </a:r>
            <a:r>
              <a:rPr sz="7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hh</a:t>
            </a:r>
            <a:r>
              <a:rPr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将上一时刻隐藏状态 h</a:t>
            </a:r>
            <a:r>
              <a:rPr sz="7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t-1</a:t>
            </a:r>
            <a:r>
              <a:rPr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传递到当前，形成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信息的时间链条。</a:t>
            </a:r>
            <a:endParaRPr sz="1000" b="0" i="0" strike="noStrike">
              <a:solidFill>
                <a:srgbClr val="1A1A1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402574" y="4331345"/>
            <a:ext cx="354553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赋予网络"回忆"能力，让当前决策依赖于全部历史积累。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402574" y="5981551"/>
            <a:ext cx="3383655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4402574" y="6086326"/>
            <a:ext cx="3383655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2B4C7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记忆基础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00475" y="1541116"/>
            <a:ext cx="3707572" cy="493588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8100475" y="1541116"/>
            <a:ext cx="3707572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>
            <a:off x="8262360" y="1741141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515" y="0"/>
                </a:moveTo>
                <a:lnTo>
                  <a:pt x="5483" y="0"/>
                </a:lnTo>
                <a:lnTo>
                  <a:pt x="5483" y="674"/>
                </a:lnTo>
                <a:lnTo>
                  <a:pt x="7905" y="1547"/>
                </a:lnTo>
                <a:lnTo>
                  <a:pt x="9669" y="916"/>
                </a:lnTo>
                <a:lnTo>
                  <a:pt x="9969" y="1916"/>
                </a:lnTo>
                <a:lnTo>
                  <a:pt x="8506" y="2442"/>
                </a:lnTo>
                <a:lnTo>
                  <a:pt x="9998" y="6926"/>
                </a:lnTo>
                <a:cubicBezTo>
                  <a:pt x="9733" y="7228"/>
                  <a:pt x="9420" y="7465"/>
                  <a:pt x="9058" y="7637"/>
                </a:cubicBezTo>
                <a:cubicBezTo>
                  <a:pt x="8696" y="7809"/>
                  <a:pt x="8312" y="7895"/>
                  <a:pt x="7905" y="7895"/>
                </a:cubicBezTo>
                <a:cubicBezTo>
                  <a:pt x="7498" y="7895"/>
                  <a:pt x="7114" y="7809"/>
                  <a:pt x="6753" y="7637"/>
                </a:cubicBezTo>
                <a:cubicBezTo>
                  <a:pt x="6391" y="7465"/>
                  <a:pt x="6077" y="7228"/>
                  <a:pt x="5813" y="6926"/>
                </a:cubicBezTo>
                <a:lnTo>
                  <a:pt x="7305" y="2442"/>
                </a:lnTo>
                <a:lnTo>
                  <a:pt x="5483" y="1779"/>
                </a:lnTo>
                <a:lnTo>
                  <a:pt x="5483" y="8947"/>
                </a:lnTo>
                <a:lnTo>
                  <a:pt x="7421" y="8947"/>
                </a:lnTo>
                <a:lnTo>
                  <a:pt x="7421" y="10000"/>
                </a:lnTo>
                <a:lnTo>
                  <a:pt x="2577" y="10000"/>
                </a:lnTo>
                <a:lnTo>
                  <a:pt x="2577" y="8947"/>
                </a:lnTo>
                <a:lnTo>
                  <a:pt x="4515" y="8947"/>
                </a:lnTo>
                <a:lnTo>
                  <a:pt x="4515" y="1779"/>
                </a:lnTo>
                <a:lnTo>
                  <a:pt x="2693" y="2442"/>
                </a:lnTo>
                <a:lnTo>
                  <a:pt x="4185" y="6926"/>
                </a:lnTo>
                <a:cubicBezTo>
                  <a:pt x="3920" y="7228"/>
                  <a:pt x="3607" y="7465"/>
                  <a:pt x="3245" y="7637"/>
                </a:cubicBezTo>
                <a:cubicBezTo>
                  <a:pt x="2883" y="7809"/>
                  <a:pt x="2499" y="7895"/>
                  <a:pt x="2093" y="7895"/>
                </a:cubicBezTo>
                <a:cubicBezTo>
                  <a:pt x="1685" y="7895"/>
                  <a:pt x="1301" y="7809"/>
                  <a:pt x="940" y="7637"/>
                </a:cubicBezTo>
                <a:cubicBezTo>
                  <a:pt x="578" y="7465"/>
                  <a:pt x="264" y="7228"/>
                  <a:pt x="0" y="6926"/>
                </a:cubicBezTo>
                <a:lnTo>
                  <a:pt x="1492" y="2442"/>
                </a:lnTo>
                <a:lnTo>
                  <a:pt x="29" y="1916"/>
                </a:lnTo>
                <a:lnTo>
                  <a:pt x="329" y="916"/>
                </a:lnTo>
                <a:lnTo>
                  <a:pt x="2093" y="1547"/>
                </a:lnTo>
                <a:lnTo>
                  <a:pt x="4515" y="674"/>
                </a:lnTo>
                <a:lnTo>
                  <a:pt x="4515" y="0"/>
                </a:lnTo>
                <a:moveTo>
                  <a:pt x="8855" y="6568"/>
                </a:moveTo>
                <a:lnTo>
                  <a:pt x="7905" y="3737"/>
                </a:lnTo>
                <a:lnTo>
                  <a:pt x="6956" y="6568"/>
                </a:lnTo>
                <a:cubicBezTo>
                  <a:pt x="7246" y="6750"/>
                  <a:pt x="7563" y="6842"/>
                  <a:pt x="7905" y="6842"/>
                </a:cubicBezTo>
                <a:cubicBezTo>
                  <a:pt x="8247" y="6842"/>
                  <a:pt x="8564" y="6750"/>
                  <a:pt x="8855" y="6568"/>
                </a:cubicBezTo>
                <a:moveTo>
                  <a:pt x="3042" y="6568"/>
                </a:moveTo>
                <a:lnTo>
                  <a:pt x="2093" y="3737"/>
                </a:lnTo>
                <a:lnTo>
                  <a:pt x="1143" y="6568"/>
                </a:lnTo>
                <a:cubicBezTo>
                  <a:pt x="1433" y="6750"/>
                  <a:pt x="1750" y="6842"/>
                  <a:pt x="2093" y="6842"/>
                </a:cubicBezTo>
                <a:cubicBezTo>
                  <a:pt x="2435" y="6842"/>
                  <a:pt x="2751" y="6750"/>
                  <a:pt x="3042" y="6568"/>
                </a:cubicBezTo>
              </a:path>
            </a:pathLst>
          </a:custGeom>
          <a:solidFill>
            <a:srgbClr val="2B4C7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8262360" y="3433911"/>
            <a:ext cx="338380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激活函数与偏置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262360" y="3757761"/>
            <a:ext cx="3545688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tanh 将状态约束在 (−1, 1) 区间，防止多次循环后数值爆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炸或消失，保证训练稳定。</a:t>
            </a:r>
            <a:endParaRPr sz="1000" b="0" i="0" strike="noStrike">
              <a:solidFill>
                <a:srgbClr val="1A1A1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262360" y="4228059"/>
            <a:ext cx="3545688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偏置 b</a:t>
            </a:r>
            <a:r>
              <a:rPr sz="7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</a:t>
            </a:r>
            <a:r>
              <a:rPr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灵活调节激活阈值，使网络自适应不同数据分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布。</a:t>
            </a:r>
            <a:endParaRPr sz="1000" b="0" i="0" strike="noStrike">
              <a:solidFill>
                <a:srgbClr val="1A1A1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262360" y="5981551"/>
            <a:ext cx="338380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8262360" y="6086326"/>
            <a:ext cx="338380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2B4C7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(−1, 1)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744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OUTPUT LAYER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7152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2744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输出公式逐项拆解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71600"/>
            <a:ext cx="9522" cy="649486"/>
          </a:xfrm>
          <a:prstGeom prst="line">
            <a:avLst/>
          </a:prstGeom>
          <a:ln w="9525">
            <a:solidFill>
              <a:srgbClr val="3B6CB5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4097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2744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输出公式 yt = Why·ht + by 将隐藏状态映射到目标空间，输出权重Why决定如何"解读"内部记忆，偏置by调节输出基线。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2744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隐藏状态ht在此扮演双重角色：既是当前输出表示，也是传递给下一时刻的历史载体。</a:t>
            </a:r>
            <a:endParaRPr sz="1600" b="0" i="1" strike="noStrike">
              <a:solidFill>
                <a:srgbClr val="1A2744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249686"/>
            <a:ext cx="5542164" cy="1980307"/>
          </a:xfrm>
          <a:prstGeom prst="rect">
            <a:avLst/>
          </a:prstGeom>
          <a:solidFill>
            <a:srgbClr val="E4E7EC">
              <a:alpha val="100000"/>
            </a:srgbClr>
          </a:solidFill>
          <a:ln w="9525">
            <a:solidFill>
              <a:srgbClr val="C5CA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2249686"/>
            <a:ext cx="5542164" cy="9525"/>
          </a:xfrm>
          <a:prstGeom prst="line">
            <a:avLst/>
          </a:prstGeom>
          <a:ln w="28575">
            <a:solidFill>
              <a:srgbClr val="3B6CB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95151" y="2487811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3889"/>
                </a:move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3888" y="0"/>
                </a:lnTo>
                <a:cubicBezTo>
                  <a:pt x="4043" y="0"/>
                  <a:pt x="4174" y="53"/>
                  <a:pt x="4282" y="161"/>
                </a:cubicBezTo>
                <a:cubicBezTo>
                  <a:pt x="4390" y="268"/>
                  <a:pt x="4444" y="400"/>
                  <a:pt x="4444" y="556"/>
                </a:cubicBezTo>
                <a:lnTo>
                  <a:pt x="4444" y="3889"/>
                </a:lnTo>
                <a:cubicBezTo>
                  <a:pt x="4444" y="4044"/>
                  <a:pt x="4390" y="4175"/>
                  <a:pt x="4282" y="4283"/>
                </a:cubicBezTo>
                <a:cubicBezTo>
                  <a:pt x="4174" y="4390"/>
                  <a:pt x="4043" y="4444"/>
                  <a:pt x="3888" y="4444"/>
                </a:cubicBezTo>
                <a:lnTo>
                  <a:pt x="555" y="4444"/>
                </a:lnTo>
                <a:cubicBezTo>
                  <a:pt x="399" y="4444"/>
                  <a:pt x="268" y="4390"/>
                  <a:pt x="161" y="4283"/>
                </a:cubicBezTo>
                <a:cubicBezTo>
                  <a:pt x="53" y="4175"/>
                  <a:pt x="0" y="4044"/>
                  <a:pt x="0" y="3889"/>
                </a:cubicBezTo>
                <a:moveTo>
                  <a:pt x="0" y="9444"/>
                </a:moveTo>
                <a:lnTo>
                  <a:pt x="0" y="6111"/>
                </a:lnTo>
                <a:cubicBezTo>
                  <a:pt x="0" y="5955"/>
                  <a:pt x="53" y="5824"/>
                  <a:pt x="161" y="5717"/>
                </a:cubicBezTo>
                <a:cubicBezTo>
                  <a:pt x="268" y="5609"/>
                  <a:pt x="399" y="5556"/>
                  <a:pt x="555" y="5556"/>
                </a:cubicBezTo>
                <a:lnTo>
                  <a:pt x="3888" y="5556"/>
                </a:lnTo>
                <a:cubicBezTo>
                  <a:pt x="4043" y="5556"/>
                  <a:pt x="4174" y="5609"/>
                  <a:pt x="4282" y="5717"/>
                </a:cubicBezTo>
                <a:cubicBezTo>
                  <a:pt x="4390" y="5824"/>
                  <a:pt x="4444" y="5955"/>
                  <a:pt x="4444" y="6111"/>
                </a:cubicBezTo>
                <a:lnTo>
                  <a:pt x="4444" y="9444"/>
                </a:lnTo>
                <a:cubicBezTo>
                  <a:pt x="4444" y="9600"/>
                  <a:pt x="4390" y="9731"/>
                  <a:pt x="4282" y="9839"/>
                </a:cubicBezTo>
                <a:cubicBezTo>
                  <a:pt x="4174" y="9946"/>
                  <a:pt x="4043" y="10000"/>
                  <a:pt x="3888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moveTo>
                  <a:pt x="5554" y="3889"/>
                </a:moveTo>
                <a:lnTo>
                  <a:pt x="5554" y="556"/>
                </a:lnTo>
                <a:cubicBezTo>
                  <a:pt x="5554" y="400"/>
                  <a:pt x="5608" y="268"/>
                  <a:pt x="5716" y="161"/>
                </a:cubicBezTo>
                <a:cubicBezTo>
                  <a:pt x="5823" y="53"/>
                  <a:pt x="5954" y="0"/>
                  <a:pt x="6110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lnTo>
                  <a:pt x="9998" y="3889"/>
                </a:lnTo>
                <a:cubicBezTo>
                  <a:pt x="9998" y="4044"/>
                  <a:pt x="9944" y="4175"/>
                  <a:pt x="9837" y="4283"/>
                </a:cubicBezTo>
                <a:cubicBezTo>
                  <a:pt x="9729" y="4390"/>
                  <a:pt x="9598" y="4444"/>
                  <a:pt x="9443" y="4444"/>
                </a:cubicBezTo>
                <a:lnTo>
                  <a:pt x="6110" y="4444"/>
                </a:lnTo>
                <a:cubicBezTo>
                  <a:pt x="5954" y="4444"/>
                  <a:pt x="5823" y="4390"/>
                  <a:pt x="5716" y="4283"/>
                </a:cubicBezTo>
                <a:cubicBezTo>
                  <a:pt x="5608" y="4175"/>
                  <a:pt x="5554" y="4044"/>
                  <a:pt x="5554" y="3889"/>
                </a:cubicBezTo>
                <a:moveTo>
                  <a:pt x="5554" y="9444"/>
                </a:moveTo>
                <a:lnTo>
                  <a:pt x="5554" y="6111"/>
                </a:lnTo>
                <a:cubicBezTo>
                  <a:pt x="5554" y="5955"/>
                  <a:pt x="5608" y="5824"/>
                  <a:pt x="5716" y="5717"/>
                </a:cubicBezTo>
                <a:cubicBezTo>
                  <a:pt x="5823" y="5609"/>
                  <a:pt x="5954" y="5556"/>
                  <a:pt x="6110" y="5556"/>
                </a:cubicBezTo>
                <a:lnTo>
                  <a:pt x="9443" y="5556"/>
                </a:lnTo>
                <a:cubicBezTo>
                  <a:pt x="9598" y="5556"/>
                  <a:pt x="9729" y="5609"/>
                  <a:pt x="9837" y="5717"/>
                </a:cubicBezTo>
                <a:cubicBezTo>
                  <a:pt x="9944" y="5824"/>
                  <a:pt x="9998" y="5955"/>
                  <a:pt x="9998" y="6111"/>
                </a:cubicBez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6110" y="10000"/>
                </a:lnTo>
                <a:cubicBezTo>
                  <a:pt x="5954" y="10000"/>
                  <a:pt x="5823" y="9946"/>
                  <a:pt x="5716" y="9839"/>
                </a:cubicBezTo>
                <a:cubicBezTo>
                  <a:pt x="5608" y="9731"/>
                  <a:pt x="5554" y="9600"/>
                  <a:pt x="5554" y="9444"/>
                </a:cubicBezTo>
                <a:moveTo>
                  <a:pt x="8887" y="1111"/>
                </a:moveTo>
                <a:lnTo>
                  <a:pt x="6665" y="1111"/>
                </a:lnTo>
                <a:lnTo>
                  <a:pt x="6665" y="3333"/>
                </a:lnTo>
                <a:lnTo>
                  <a:pt x="8887" y="3333"/>
                </a:lnTo>
                <a:lnTo>
                  <a:pt x="8887" y="1111"/>
                </a:lnTo>
                <a:moveTo>
                  <a:pt x="8887" y="6667"/>
                </a:moveTo>
                <a:lnTo>
                  <a:pt x="6665" y="6667"/>
                </a:lnTo>
                <a:lnTo>
                  <a:pt x="6665" y="8889"/>
                </a:lnTo>
                <a:lnTo>
                  <a:pt x="8887" y="8889"/>
                </a:lnTo>
                <a:lnTo>
                  <a:pt x="8887" y="6667"/>
                </a:lnTo>
                <a:moveTo>
                  <a:pt x="3333" y="1111"/>
                </a:moveTo>
                <a:lnTo>
                  <a:pt x="1111" y="1111"/>
                </a:lnTo>
                <a:lnTo>
                  <a:pt x="1111" y="3333"/>
                </a:lnTo>
                <a:lnTo>
                  <a:pt x="3333" y="3333"/>
                </a:lnTo>
                <a:lnTo>
                  <a:pt x="3333" y="1111"/>
                </a:lnTo>
                <a:moveTo>
                  <a:pt x="3333" y="6667"/>
                </a:moveTo>
                <a:lnTo>
                  <a:pt x="1111" y="6667"/>
                </a:lnTo>
                <a:lnTo>
                  <a:pt x="1111" y="8889"/>
                </a:lnTo>
                <a:lnTo>
                  <a:pt x="3333" y="8889"/>
                </a:lnTo>
              </a:path>
            </a:pathLst>
          </a:custGeom>
          <a:solidFill>
            <a:srgbClr val="3B6CB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695151" y="3021211"/>
            <a:ext cx="5066033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A2744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输出权重矩阵 Why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95151" y="3411736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744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将隐藏状态 ht 映射到目标输出空间，在分类任务中通常配合 softmax 函数输出各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2744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类别概率。</a:t>
            </a:r>
            <a:endParaRPr sz="1100" b="0" i="0" strike="noStrike">
              <a:solidFill>
                <a:srgbClr val="1A2744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95151" y="3992761"/>
            <a:ext cx="5066033" cy="9525"/>
          </a:xfrm>
          <a:prstGeom prst="line">
            <a:avLst/>
          </a:prstGeom>
          <a:ln w="9525">
            <a:solidFill>
              <a:srgbClr val="C5CA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695151" y="4107061"/>
            <a:ext cx="5066033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3B6CB5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softmax(Why·ht)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89702" y="2249686"/>
            <a:ext cx="5542164" cy="1980307"/>
          </a:xfrm>
          <a:prstGeom prst="rect">
            <a:avLst/>
          </a:prstGeom>
          <a:solidFill>
            <a:srgbClr val="E4E7EC">
              <a:alpha val="100000"/>
            </a:srgbClr>
          </a:solidFill>
          <a:ln w="9525">
            <a:solidFill>
              <a:srgbClr val="C5CA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6189702" y="2249686"/>
            <a:ext cx="5542164" cy="9525"/>
          </a:xfrm>
          <a:prstGeom prst="line">
            <a:avLst/>
          </a:prstGeom>
          <a:ln w="28575">
            <a:solidFill>
              <a:srgbClr val="3B6CB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6427767" y="2487811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8000"/>
                </a:moveTo>
                <a:lnTo>
                  <a:pt x="2090" y="8000"/>
                </a:lnTo>
                <a:cubicBezTo>
                  <a:pt x="2190" y="7706"/>
                  <a:pt x="2369" y="7466"/>
                  <a:pt x="2629" y="7280"/>
                </a:cubicBezTo>
                <a:cubicBezTo>
                  <a:pt x="2889" y="7093"/>
                  <a:pt x="3179" y="7000"/>
                  <a:pt x="3499" y="7000"/>
                </a:cubicBezTo>
                <a:cubicBezTo>
                  <a:pt x="3819" y="7000"/>
                  <a:pt x="4109" y="7093"/>
                  <a:pt x="4369" y="7280"/>
                </a:cubicBezTo>
                <a:cubicBezTo>
                  <a:pt x="4629" y="7466"/>
                  <a:pt x="4809" y="7706"/>
                  <a:pt x="4909" y="8000"/>
                </a:cubicBezTo>
                <a:lnTo>
                  <a:pt x="9998" y="8000"/>
                </a:lnTo>
                <a:lnTo>
                  <a:pt x="9998" y="9000"/>
                </a:lnTo>
                <a:lnTo>
                  <a:pt x="4909" y="9000"/>
                </a:lnTo>
                <a:cubicBezTo>
                  <a:pt x="4809" y="9293"/>
                  <a:pt x="4629" y="9533"/>
                  <a:pt x="4369" y="9720"/>
                </a:cubicBezTo>
                <a:cubicBezTo>
                  <a:pt x="4109" y="9906"/>
                  <a:pt x="3819" y="10000"/>
                  <a:pt x="3499" y="10000"/>
                </a:cubicBezTo>
                <a:cubicBezTo>
                  <a:pt x="3179" y="10000"/>
                  <a:pt x="2889" y="9906"/>
                  <a:pt x="2629" y="9720"/>
                </a:cubicBezTo>
                <a:cubicBezTo>
                  <a:pt x="2369" y="9533"/>
                  <a:pt x="2190" y="9293"/>
                  <a:pt x="2090" y="9000"/>
                </a:cubicBezTo>
                <a:lnTo>
                  <a:pt x="0" y="9000"/>
                </a:lnTo>
                <a:lnTo>
                  <a:pt x="0" y="8000"/>
                </a:lnTo>
                <a:moveTo>
                  <a:pt x="0" y="4500"/>
                </a:moveTo>
                <a:lnTo>
                  <a:pt x="5089" y="4500"/>
                </a:lnTo>
                <a:cubicBezTo>
                  <a:pt x="5189" y="4206"/>
                  <a:pt x="5369" y="3966"/>
                  <a:pt x="5629" y="3780"/>
                </a:cubicBezTo>
                <a:cubicBezTo>
                  <a:pt x="5889" y="3593"/>
                  <a:pt x="6179" y="3500"/>
                  <a:pt x="6499" y="3500"/>
                </a:cubicBezTo>
                <a:cubicBezTo>
                  <a:pt x="6819" y="3500"/>
                  <a:pt x="7109" y="3593"/>
                  <a:pt x="7369" y="3780"/>
                </a:cubicBezTo>
                <a:cubicBezTo>
                  <a:pt x="7628" y="3966"/>
                  <a:pt x="7808" y="4206"/>
                  <a:pt x="7908" y="4500"/>
                </a:cubicBezTo>
                <a:lnTo>
                  <a:pt x="9998" y="4500"/>
                </a:lnTo>
                <a:lnTo>
                  <a:pt x="9998" y="5500"/>
                </a:lnTo>
                <a:lnTo>
                  <a:pt x="7908" y="5500"/>
                </a:lnTo>
                <a:cubicBezTo>
                  <a:pt x="7808" y="5793"/>
                  <a:pt x="7628" y="6033"/>
                  <a:pt x="7369" y="6220"/>
                </a:cubicBezTo>
                <a:cubicBezTo>
                  <a:pt x="7109" y="6406"/>
                  <a:pt x="6819" y="6500"/>
                  <a:pt x="6499" y="6500"/>
                </a:cubicBezTo>
                <a:cubicBezTo>
                  <a:pt x="6179" y="6500"/>
                  <a:pt x="5889" y="6406"/>
                  <a:pt x="5629" y="6220"/>
                </a:cubicBezTo>
                <a:cubicBezTo>
                  <a:pt x="5369" y="6033"/>
                  <a:pt x="5189" y="5793"/>
                  <a:pt x="5089" y="5500"/>
                </a:cubicBezTo>
                <a:lnTo>
                  <a:pt x="0" y="5500"/>
                </a:lnTo>
                <a:lnTo>
                  <a:pt x="0" y="4500"/>
                </a:lnTo>
                <a:moveTo>
                  <a:pt x="0" y="1000"/>
                </a:moveTo>
                <a:lnTo>
                  <a:pt x="2090" y="1000"/>
                </a:lnTo>
                <a:cubicBezTo>
                  <a:pt x="2190" y="706"/>
                  <a:pt x="2369" y="466"/>
                  <a:pt x="2629" y="280"/>
                </a:cubicBezTo>
                <a:cubicBezTo>
                  <a:pt x="2889" y="93"/>
                  <a:pt x="3179" y="0"/>
                  <a:pt x="3499" y="0"/>
                </a:cubicBezTo>
                <a:cubicBezTo>
                  <a:pt x="3819" y="0"/>
                  <a:pt x="4109" y="93"/>
                  <a:pt x="4369" y="280"/>
                </a:cubicBezTo>
                <a:cubicBezTo>
                  <a:pt x="4629" y="466"/>
                  <a:pt x="4809" y="706"/>
                  <a:pt x="4909" y="1000"/>
                </a:cubicBezTo>
                <a:lnTo>
                  <a:pt x="9998" y="1000"/>
                </a:lnTo>
                <a:lnTo>
                  <a:pt x="9998" y="2000"/>
                </a:lnTo>
                <a:lnTo>
                  <a:pt x="4909" y="2000"/>
                </a:lnTo>
                <a:cubicBezTo>
                  <a:pt x="4809" y="2293"/>
                  <a:pt x="4629" y="2533"/>
                  <a:pt x="4369" y="2720"/>
                </a:cubicBezTo>
                <a:cubicBezTo>
                  <a:pt x="4109" y="2906"/>
                  <a:pt x="3819" y="3000"/>
                  <a:pt x="3499" y="3000"/>
                </a:cubicBezTo>
                <a:cubicBezTo>
                  <a:pt x="3179" y="3000"/>
                  <a:pt x="2889" y="2906"/>
                  <a:pt x="2629" y="2720"/>
                </a:cubicBezTo>
                <a:cubicBezTo>
                  <a:pt x="2369" y="2533"/>
                  <a:pt x="2190" y="2293"/>
                  <a:pt x="2090" y="2000"/>
                </a:cubicBezTo>
                <a:lnTo>
                  <a:pt x="0" y="2000"/>
                </a:lnTo>
                <a:lnTo>
                  <a:pt x="0" y="1000"/>
                </a:lnTo>
                <a:moveTo>
                  <a:pt x="3499" y="2000"/>
                </a:moveTo>
                <a:cubicBezTo>
                  <a:pt x="3639" y="2000"/>
                  <a:pt x="3757" y="1951"/>
                  <a:pt x="3854" y="1855"/>
                </a:cubicBezTo>
                <a:cubicBezTo>
                  <a:pt x="3950" y="1758"/>
                  <a:pt x="3999" y="1640"/>
                  <a:pt x="3999" y="1500"/>
                </a:cubicBezTo>
                <a:cubicBezTo>
                  <a:pt x="3999" y="1360"/>
                  <a:pt x="3950" y="1241"/>
                  <a:pt x="3854" y="1145"/>
                </a:cubicBezTo>
                <a:cubicBezTo>
                  <a:pt x="3757" y="1048"/>
                  <a:pt x="3639" y="1000"/>
                  <a:pt x="3499" y="1000"/>
                </a:cubicBezTo>
                <a:cubicBezTo>
                  <a:pt x="3359" y="1000"/>
                  <a:pt x="3240" y="1048"/>
                  <a:pt x="3144" y="1145"/>
                </a:cubicBezTo>
                <a:cubicBezTo>
                  <a:pt x="3047" y="1241"/>
                  <a:pt x="2999" y="1360"/>
                  <a:pt x="2999" y="1500"/>
                </a:cubicBezTo>
                <a:cubicBezTo>
                  <a:pt x="2999" y="1640"/>
                  <a:pt x="3047" y="1758"/>
                  <a:pt x="3144" y="1855"/>
                </a:cubicBezTo>
                <a:cubicBezTo>
                  <a:pt x="3240" y="1951"/>
                  <a:pt x="3359" y="2000"/>
                  <a:pt x="3499" y="2000"/>
                </a:cubicBezTo>
                <a:moveTo>
                  <a:pt x="6499" y="5500"/>
                </a:moveTo>
                <a:cubicBezTo>
                  <a:pt x="6639" y="5500"/>
                  <a:pt x="6757" y="5451"/>
                  <a:pt x="6854" y="5355"/>
                </a:cubicBezTo>
                <a:cubicBezTo>
                  <a:pt x="6950" y="5258"/>
                  <a:pt x="6999" y="5140"/>
                  <a:pt x="6999" y="5000"/>
                </a:cubicBezTo>
                <a:cubicBezTo>
                  <a:pt x="6999" y="4860"/>
                  <a:pt x="6950" y="4741"/>
                  <a:pt x="6854" y="4645"/>
                </a:cubicBezTo>
                <a:cubicBezTo>
                  <a:pt x="6757" y="4548"/>
                  <a:pt x="6639" y="4500"/>
                  <a:pt x="6499" y="4500"/>
                </a:cubicBezTo>
                <a:cubicBezTo>
                  <a:pt x="6359" y="4500"/>
                  <a:pt x="6240" y="4548"/>
                  <a:pt x="6144" y="4645"/>
                </a:cubicBezTo>
                <a:cubicBezTo>
                  <a:pt x="6047" y="4741"/>
                  <a:pt x="5999" y="4860"/>
                  <a:pt x="5999" y="5000"/>
                </a:cubicBezTo>
                <a:cubicBezTo>
                  <a:pt x="5999" y="5140"/>
                  <a:pt x="6047" y="5258"/>
                  <a:pt x="6144" y="5355"/>
                </a:cubicBezTo>
                <a:cubicBezTo>
                  <a:pt x="6240" y="5451"/>
                  <a:pt x="6359" y="5500"/>
                  <a:pt x="6499" y="5500"/>
                </a:cubicBezTo>
                <a:moveTo>
                  <a:pt x="3499" y="9000"/>
                </a:moveTo>
                <a:cubicBezTo>
                  <a:pt x="3639" y="9000"/>
                  <a:pt x="3757" y="8951"/>
                  <a:pt x="3854" y="8855"/>
                </a:cubicBezTo>
                <a:cubicBezTo>
                  <a:pt x="3950" y="8758"/>
                  <a:pt x="3999" y="8640"/>
                  <a:pt x="3999" y="8500"/>
                </a:cubicBezTo>
                <a:cubicBezTo>
                  <a:pt x="3999" y="8360"/>
                  <a:pt x="3950" y="8241"/>
                  <a:pt x="3854" y="8145"/>
                </a:cubicBezTo>
                <a:cubicBezTo>
                  <a:pt x="3757" y="8048"/>
                  <a:pt x="3639" y="8000"/>
                  <a:pt x="3499" y="8000"/>
                </a:cubicBezTo>
                <a:cubicBezTo>
                  <a:pt x="3359" y="8000"/>
                  <a:pt x="3240" y="8048"/>
                  <a:pt x="3144" y="8145"/>
                </a:cubicBezTo>
                <a:cubicBezTo>
                  <a:pt x="3047" y="8241"/>
                  <a:pt x="2999" y="8360"/>
                  <a:pt x="2999" y="8500"/>
                </a:cubicBezTo>
                <a:cubicBezTo>
                  <a:pt x="2999" y="8640"/>
                  <a:pt x="3047" y="8758"/>
                  <a:pt x="3144" y="8855"/>
                </a:cubicBezTo>
                <a:cubicBezTo>
                  <a:pt x="3240" y="8951"/>
                  <a:pt x="3359" y="9000"/>
                  <a:pt x="3499" y="9000"/>
                </a:cubicBezTo>
              </a:path>
            </a:pathLst>
          </a:custGeom>
          <a:solidFill>
            <a:srgbClr val="3B6CB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6427767" y="3021211"/>
            <a:ext cx="5066033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A2744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偏置项 by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427767" y="3411736"/>
            <a:ext cx="506603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744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调节输出的基线水平，使网络能够适应不同任务对输出范围的具体要求。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27767" y="3764161"/>
            <a:ext cx="5066033" cy="9525"/>
          </a:xfrm>
          <a:prstGeom prst="line">
            <a:avLst/>
          </a:prstGeom>
          <a:ln w="9525">
            <a:solidFill>
              <a:srgbClr val="C5CA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6427767" y="3878461"/>
            <a:ext cx="5066033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3B6CB5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基线调节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7086" y="4420493"/>
            <a:ext cx="5542164" cy="1980307"/>
          </a:xfrm>
          <a:prstGeom prst="rect">
            <a:avLst/>
          </a:prstGeom>
          <a:solidFill>
            <a:srgbClr val="E4E7EC">
              <a:alpha val="100000"/>
            </a:srgbClr>
          </a:solidFill>
          <a:ln w="9525">
            <a:solidFill>
              <a:srgbClr val="C5CA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>
            <a:off x="457086" y="4420493"/>
            <a:ext cx="5542164" cy="9525"/>
          </a:xfrm>
          <a:prstGeom prst="line">
            <a:avLst/>
          </a:prstGeom>
          <a:ln w="28575">
            <a:solidFill>
              <a:srgbClr val="3B6CB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>
            <a:off x="695151" y="4658618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6465" y="5734"/>
                </a:moveTo>
                <a:lnTo>
                  <a:pt x="7254" y="5030"/>
                </a:lnTo>
                <a:lnTo>
                  <a:pt x="9998" y="7515"/>
                </a:lnTo>
                <a:lnTo>
                  <a:pt x="7254" y="10000"/>
                </a:lnTo>
                <a:lnTo>
                  <a:pt x="6465" y="9296"/>
                </a:lnTo>
                <a:lnTo>
                  <a:pt x="7876" y="8018"/>
                </a:lnTo>
                <a:lnTo>
                  <a:pt x="555" y="8018"/>
                </a:lnTo>
                <a:lnTo>
                  <a:pt x="555" y="7012"/>
                </a:lnTo>
                <a:lnTo>
                  <a:pt x="7876" y="7012"/>
                </a:lnTo>
                <a:lnTo>
                  <a:pt x="6465" y="5734"/>
                </a:lnTo>
                <a:moveTo>
                  <a:pt x="0" y="2485"/>
                </a:moveTo>
                <a:lnTo>
                  <a:pt x="2744" y="0"/>
                </a:lnTo>
                <a:lnTo>
                  <a:pt x="3533" y="704"/>
                </a:lnTo>
                <a:lnTo>
                  <a:pt x="2122" y="1982"/>
                </a:lnTo>
                <a:lnTo>
                  <a:pt x="9443" y="1982"/>
                </a:lnTo>
                <a:lnTo>
                  <a:pt x="9443" y="2988"/>
                </a:lnTo>
                <a:lnTo>
                  <a:pt x="2122" y="2988"/>
                </a:lnTo>
                <a:lnTo>
                  <a:pt x="3533" y="4266"/>
                </a:lnTo>
                <a:lnTo>
                  <a:pt x="2744" y="4970"/>
                </a:lnTo>
              </a:path>
            </a:pathLst>
          </a:custGeom>
          <a:solidFill>
            <a:srgbClr val="3B6CB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/>
        </p:nvSpPr>
        <p:spPr>
          <a:xfrm>
            <a:off x="695151" y="5192018"/>
            <a:ext cx="5066033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A2744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隐藏状态 ht 的双重角色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95151" y="5582543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744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既是当前时刻的输出表示（用于生成 yt），也是传递给下一时间步的历史信息载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2744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体（参与 ht+1 的计算）。</a:t>
            </a:r>
            <a:endParaRPr sz="1100" b="0" i="0" strike="noStrike">
              <a:solidFill>
                <a:srgbClr val="1A2744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95151" y="6163568"/>
            <a:ext cx="5066033" cy="9525"/>
          </a:xfrm>
          <a:prstGeom prst="line">
            <a:avLst/>
          </a:prstGeom>
          <a:ln w="9525">
            <a:solidFill>
              <a:srgbClr val="C5CA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TextBox 27"/>
          <p:cNvSpPr txBox="1"/>
          <p:nvPr/>
        </p:nvSpPr>
        <p:spPr>
          <a:xfrm>
            <a:off x="695151" y="6277868"/>
            <a:ext cx="5066033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3B6CB5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ht → yt &amp; ht+1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89702" y="4420493"/>
            <a:ext cx="5542164" cy="1980307"/>
          </a:xfrm>
          <a:prstGeom prst="rect">
            <a:avLst/>
          </a:prstGeom>
          <a:solidFill>
            <a:srgbClr val="E4E7EC">
              <a:alpha val="100000"/>
            </a:srgbClr>
          </a:solidFill>
          <a:ln w="9525">
            <a:solidFill>
              <a:srgbClr val="C5CA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>
            <a:off x="6189702" y="4420493"/>
            <a:ext cx="5542164" cy="9525"/>
          </a:xfrm>
          <a:prstGeom prst="line">
            <a:avLst/>
          </a:prstGeom>
          <a:ln w="28575">
            <a:solidFill>
              <a:srgbClr val="3B6CB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AutoShape 30"/>
          <p:cNvSpPr/>
          <p:nvPr/>
        </p:nvSpPr>
        <p:spPr>
          <a:xfrm>
            <a:off x="6427767" y="4658618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555" y="0"/>
                </a:moveTo>
                <a:lnTo>
                  <a:pt x="4999" y="0"/>
                </a:lnTo>
                <a:lnTo>
                  <a:pt x="4999" y="10000"/>
                </a:lnTo>
                <a:lnTo>
                  <a:pt x="2555" y="10000"/>
                </a:lnTo>
                <a:cubicBezTo>
                  <a:pt x="2095" y="10000"/>
                  <a:pt x="1670" y="9885"/>
                  <a:pt x="1278" y="9656"/>
                </a:cubicBezTo>
                <a:cubicBezTo>
                  <a:pt x="885" y="9426"/>
                  <a:pt x="574" y="9114"/>
                  <a:pt x="344" y="8722"/>
                </a:cubicBezTo>
                <a:cubicBezTo>
                  <a:pt x="114" y="8329"/>
                  <a:pt x="0" y="7903"/>
                  <a:pt x="0" y="7444"/>
                </a:cubicBezTo>
                <a:lnTo>
                  <a:pt x="0" y="2556"/>
                </a:lnTo>
                <a:cubicBezTo>
                  <a:pt x="0" y="2096"/>
                  <a:pt x="114" y="1670"/>
                  <a:pt x="344" y="1278"/>
                </a:cubicBezTo>
                <a:cubicBezTo>
                  <a:pt x="574" y="885"/>
                  <a:pt x="885" y="574"/>
                  <a:pt x="1278" y="344"/>
                </a:cubicBezTo>
                <a:cubicBezTo>
                  <a:pt x="1670" y="114"/>
                  <a:pt x="2095" y="0"/>
                  <a:pt x="2555" y="0"/>
                </a:cubicBezTo>
                <a:moveTo>
                  <a:pt x="3888" y="8889"/>
                </a:moveTo>
                <a:lnTo>
                  <a:pt x="3888" y="1111"/>
                </a:lnTo>
                <a:lnTo>
                  <a:pt x="2555" y="1111"/>
                </a:lnTo>
                <a:cubicBezTo>
                  <a:pt x="2295" y="1111"/>
                  <a:pt x="2055" y="1176"/>
                  <a:pt x="1833" y="1306"/>
                </a:cubicBezTo>
                <a:cubicBezTo>
                  <a:pt x="1611" y="1435"/>
                  <a:pt x="1435" y="1611"/>
                  <a:pt x="1305" y="1833"/>
                </a:cubicBezTo>
                <a:cubicBezTo>
                  <a:pt x="1175" y="2055"/>
                  <a:pt x="1111" y="2296"/>
                  <a:pt x="1111" y="2556"/>
                </a:cubicBezTo>
                <a:lnTo>
                  <a:pt x="1111" y="7444"/>
                </a:lnTo>
                <a:cubicBezTo>
                  <a:pt x="1111" y="7703"/>
                  <a:pt x="1175" y="7944"/>
                  <a:pt x="1305" y="8167"/>
                </a:cubicBezTo>
                <a:cubicBezTo>
                  <a:pt x="1435" y="8389"/>
                  <a:pt x="1611" y="8564"/>
                  <a:pt x="1833" y="8694"/>
                </a:cubicBezTo>
                <a:cubicBezTo>
                  <a:pt x="2055" y="8824"/>
                  <a:pt x="2295" y="8889"/>
                  <a:pt x="2555" y="8889"/>
                </a:cubicBezTo>
                <a:lnTo>
                  <a:pt x="3888" y="8889"/>
                </a:lnTo>
                <a:moveTo>
                  <a:pt x="2499" y="3889"/>
                </a:moveTo>
                <a:cubicBezTo>
                  <a:pt x="2269" y="3889"/>
                  <a:pt x="2073" y="3807"/>
                  <a:pt x="1911" y="3644"/>
                </a:cubicBezTo>
                <a:cubicBezTo>
                  <a:pt x="1747" y="3481"/>
                  <a:pt x="1666" y="3285"/>
                  <a:pt x="1666" y="3056"/>
                </a:cubicBezTo>
                <a:cubicBezTo>
                  <a:pt x="1666" y="2826"/>
                  <a:pt x="1747" y="2629"/>
                  <a:pt x="1911" y="2467"/>
                </a:cubicBezTo>
                <a:cubicBezTo>
                  <a:pt x="2073" y="2303"/>
                  <a:pt x="2269" y="2222"/>
                  <a:pt x="2499" y="2222"/>
                </a:cubicBezTo>
                <a:cubicBezTo>
                  <a:pt x="2729" y="2222"/>
                  <a:pt x="2925" y="2303"/>
                  <a:pt x="3088" y="2467"/>
                </a:cubicBezTo>
                <a:cubicBezTo>
                  <a:pt x="3251" y="2629"/>
                  <a:pt x="3333" y="2826"/>
                  <a:pt x="3333" y="3056"/>
                </a:cubicBezTo>
                <a:cubicBezTo>
                  <a:pt x="3333" y="3285"/>
                  <a:pt x="3251" y="3481"/>
                  <a:pt x="3088" y="3644"/>
                </a:cubicBezTo>
                <a:cubicBezTo>
                  <a:pt x="2925" y="3807"/>
                  <a:pt x="2729" y="3889"/>
                  <a:pt x="2499" y="3889"/>
                </a:cubicBezTo>
                <a:moveTo>
                  <a:pt x="6110" y="10000"/>
                </a:moveTo>
                <a:lnTo>
                  <a:pt x="6110" y="0"/>
                </a:lnTo>
                <a:lnTo>
                  <a:pt x="7443" y="0"/>
                </a:lnTo>
                <a:cubicBezTo>
                  <a:pt x="7902" y="0"/>
                  <a:pt x="8328" y="114"/>
                  <a:pt x="8720" y="344"/>
                </a:cubicBezTo>
                <a:cubicBezTo>
                  <a:pt x="9112" y="574"/>
                  <a:pt x="9424" y="885"/>
                  <a:pt x="9654" y="1278"/>
                </a:cubicBezTo>
                <a:cubicBezTo>
                  <a:pt x="9883" y="1670"/>
                  <a:pt x="9998" y="2096"/>
                  <a:pt x="9998" y="2556"/>
                </a:cubicBezTo>
                <a:lnTo>
                  <a:pt x="9998" y="7444"/>
                </a:lnTo>
                <a:cubicBezTo>
                  <a:pt x="9998" y="7903"/>
                  <a:pt x="9883" y="8329"/>
                  <a:pt x="9654" y="8722"/>
                </a:cubicBezTo>
                <a:cubicBezTo>
                  <a:pt x="9424" y="9114"/>
                  <a:pt x="9112" y="9426"/>
                  <a:pt x="8720" y="9656"/>
                </a:cubicBezTo>
                <a:cubicBezTo>
                  <a:pt x="8328" y="9885"/>
                  <a:pt x="7902" y="10000"/>
                  <a:pt x="7443" y="10000"/>
                </a:cubicBezTo>
                <a:lnTo>
                  <a:pt x="6110" y="10000"/>
                </a:lnTo>
                <a:moveTo>
                  <a:pt x="7776" y="6500"/>
                </a:moveTo>
                <a:cubicBezTo>
                  <a:pt x="8050" y="6500"/>
                  <a:pt x="8285" y="6402"/>
                  <a:pt x="8482" y="6206"/>
                </a:cubicBezTo>
                <a:cubicBezTo>
                  <a:pt x="8678" y="6009"/>
                  <a:pt x="8776" y="5774"/>
                  <a:pt x="8776" y="5500"/>
                </a:cubicBezTo>
                <a:cubicBezTo>
                  <a:pt x="8776" y="5226"/>
                  <a:pt x="8678" y="4990"/>
                  <a:pt x="8482" y="4794"/>
                </a:cubicBezTo>
                <a:cubicBezTo>
                  <a:pt x="8285" y="4598"/>
                  <a:pt x="8050" y="4500"/>
                  <a:pt x="7776" y="4500"/>
                </a:cubicBezTo>
                <a:cubicBezTo>
                  <a:pt x="7502" y="4500"/>
                  <a:pt x="7267" y="4598"/>
                  <a:pt x="7071" y="4794"/>
                </a:cubicBezTo>
                <a:cubicBezTo>
                  <a:pt x="6874" y="4990"/>
                  <a:pt x="6776" y="5226"/>
                  <a:pt x="6776" y="5500"/>
                </a:cubicBezTo>
                <a:cubicBezTo>
                  <a:pt x="6776" y="5774"/>
                  <a:pt x="6874" y="6009"/>
                  <a:pt x="7071" y="6206"/>
                </a:cubicBezTo>
                <a:cubicBezTo>
                  <a:pt x="7267" y="6402"/>
                  <a:pt x="7502" y="6500"/>
                  <a:pt x="7776" y="6500"/>
                </a:cubicBezTo>
              </a:path>
            </a:pathLst>
          </a:custGeom>
          <a:solidFill>
            <a:srgbClr val="3B6CB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TextBox 31"/>
          <p:cNvSpPr txBox="1"/>
          <p:nvPr/>
        </p:nvSpPr>
        <p:spPr>
          <a:xfrm>
            <a:off x="6427767" y="5192018"/>
            <a:ext cx="5066033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A2744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输出层的任务适配性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427767" y="5582543"/>
            <a:ext cx="530409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744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分类任务仅取最终步输出、序列标注每步输出、生成任务逐步自回归输出。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427767" y="5934968"/>
            <a:ext cx="5066033" cy="9525"/>
          </a:xfrm>
          <a:prstGeom prst="line">
            <a:avLst/>
          </a:prstGeom>
          <a:ln w="9525">
            <a:solidFill>
              <a:srgbClr val="C5CA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TextBox 34"/>
          <p:cNvSpPr txBox="1"/>
          <p:nvPr/>
        </p:nvSpPr>
        <p:spPr>
          <a:xfrm>
            <a:off x="6427767" y="6049268"/>
            <a:ext cx="5066033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3B6CB5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自回归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Deep Learning · Sequence Models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3342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2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RNN时序展开结构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14450"/>
            <a:ext cx="9522" cy="649486"/>
          </a:xfrm>
          <a:prstGeom prst="line">
            <a:avLst/>
          </a:prstGeom>
          <a:ln w="9525">
            <a:solidFill>
              <a:srgbClr val="3D5A80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3525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2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将RNN沿时间轴展开后可清晰观察信息在多个时间步之间的流动路径：每个时间步同时接收外部输入和历史隐藏状态，产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2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生的新隐藏状态既用于当前输出又传递给下一时刻，且所有时间步共用同一组权重参数，形成参数共享的时序信息链。</a:t>
            </a:r>
            <a:endParaRPr sz="1600" b="0" i="1" strike="noStrike">
              <a:solidFill>
                <a:srgbClr val="1A1A2E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173486"/>
            <a:ext cx="3605799" cy="42273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2173486"/>
            <a:ext cx="3605799" cy="9525"/>
          </a:xfrm>
          <a:prstGeom prst="line">
            <a:avLst/>
          </a:prstGeom>
          <a:ln w="28575">
            <a:solidFill>
              <a:srgbClr val="3D5A80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95151" y="24306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4309" y="3210"/>
                </a:moveTo>
                <a:lnTo>
                  <a:pt x="6749" y="4830"/>
                </a:lnTo>
                <a:cubicBezTo>
                  <a:pt x="6795" y="4863"/>
                  <a:pt x="6824" y="4906"/>
                  <a:pt x="6834" y="4960"/>
                </a:cubicBezTo>
                <a:cubicBezTo>
                  <a:pt x="6844" y="5013"/>
                  <a:pt x="6835" y="5063"/>
                  <a:pt x="6809" y="5110"/>
                </a:cubicBezTo>
                <a:cubicBezTo>
                  <a:pt x="6789" y="5130"/>
                  <a:pt x="6769" y="5150"/>
                  <a:pt x="6749" y="5170"/>
                </a:cubicBezTo>
                <a:lnTo>
                  <a:pt x="4309" y="6790"/>
                </a:lnTo>
                <a:cubicBezTo>
                  <a:pt x="4262" y="6823"/>
                  <a:pt x="4212" y="6835"/>
                  <a:pt x="4159" y="6825"/>
                </a:cubicBezTo>
                <a:cubicBezTo>
                  <a:pt x="4105" y="6815"/>
                  <a:pt x="4062" y="6786"/>
                  <a:pt x="4029" y="6740"/>
                </a:cubicBezTo>
                <a:cubicBezTo>
                  <a:pt x="4009" y="6706"/>
                  <a:pt x="3999" y="6670"/>
                  <a:pt x="3999" y="6630"/>
                </a:cubicBezTo>
                <a:lnTo>
                  <a:pt x="3999" y="3370"/>
                </a:lnTo>
                <a:cubicBezTo>
                  <a:pt x="3999" y="3316"/>
                  <a:pt x="4019" y="3270"/>
                  <a:pt x="4059" y="3230"/>
                </a:cubicBezTo>
                <a:cubicBezTo>
                  <a:pt x="4099" y="3190"/>
                  <a:pt x="4145" y="3170"/>
                  <a:pt x="4199" y="3170"/>
                </a:cubicBezTo>
                <a:cubicBezTo>
                  <a:pt x="4239" y="3170"/>
                  <a:pt x="4275" y="3183"/>
                  <a:pt x="4309" y="3210"/>
                </a:cubicBezTo>
              </a:path>
            </a:pathLst>
          </a:custGeom>
          <a:solidFill>
            <a:srgbClr val="3D5A8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695151" y="3517553"/>
            <a:ext cx="312966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Step t−1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95151" y="3746153"/>
            <a:ext cx="3129669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A1A2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时间步 t−1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95151" y="4155728"/>
            <a:ext cx="3367734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输入 x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t-1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经隐藏层计算产生 h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t-1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并输出 y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t-1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，h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t-1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携带的时序信息将传递给下一时刻</a:t>
            </a:r>
            <a:endParaRPr sz="1100" b="0" i="0" strike="noStrike">
              <a:solidFill>
                <a:srgbClr val="1A1A2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95151" y="4689128"/>
            <a:ext cx="3367734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完成从原始输入到隐藏表示的首次映射，建立序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列处理的起始状态</a:t>
            </a:r>
            <a:endParaRPr sz="1100" b="0" i="0" strike="noStrike">
              <a:solidFill>
                <a:srgbClr val="1A1A2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95151" y="5766495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TextBox 15"/>
          <p:cNvSpPr txBox="1"/>
          <p:nvPr/>
        </p:nvSpPr>
        <p:spPr>
          <a:xfrm>
            <a:off x="818946" y="5995095"/>
            <a:ext cx="3005874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t-1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95151" y="5880795"/>
            <a:ext cx="3129669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ht-1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291428" y="2173486"/>
            <a:ext cx="3605948" cy="42273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AutoShape 18"/>
          <p:cNvSpPr/>
          <p:nvPr/>
        </p:nvSpPr>
        <p:spPr>
          <a:xfrm>
            <a:off x="4291428" y="2173486"/>
            <a:ext cx="3605948" cy="9525"/>
          </a:xfrm>
          <a:prstGeom prst="line">
            <a:avLst/>
          </a:prstGeom>
          <a:ln w="28575">
            <a:solidFill>
              <a:srgbClr val="3D5A80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>
            <a:off x="4529493" y="24306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545" y="0"/>
                </a:moveTo>
                <a:lnTo>
                  <a:pt x="5453" y="0"/>
                </a:lnTo>
                <a:lnTo>
                  <a:pt x="5453" y="1391"/>
                </a:lnTo>
                <a:cubicBezTo>
                  <a:pt x="5992" y="1457"/>
                  <a:pt x="6491" y="1636"/>
                  <a:pt x="6949" y="1927"/>
                </a:cubicBezTo>
                <a:cubicBezTo>
                  <a:pt x="7406" y="2218"/>
                  <a:pt x="7780" y="2592"/>
                  <a:pt x="8071" y="3050"/>
                </a:cubicBezTo>
                <a:cubicBezTo>
                  <a:pt x="8361" y="3507"/>
                  <a:pt x="8540" y="4005"/>
                  <a:pt x="8607" y="4545"/>
                </a:cubicBezTo>
                <a:lnTo>
                  <a:pt x="9998" y="4545"/>
                </a:lnTo>
                <a:lnTo>
                  <a:pt x="9998" y="5455"/>
                </a:lnTo>
                <a:lnTo>
                  <a:pt x="8607" y="5455"/>
                </a:lnTo>
                <a:cubicBezTo>
                  <a:pt x="8540" y="5994"/>
                  <a:pt x="8361" y="6492"/>
                  <a:pt x="8071" y="6950"/>
                </a:cubicBezTo>
                <a:cubicBezTo>
                  <a:pt x="7780" y="7407"/>
                  <a:pt x="7406" y="7781"/>
                  <a:pt x="6949" y="8073"/>
                </a:cubicBezTo>
                <a:cubicBezTo>
                  <a:pt x="6491" y="8363"/>
                  <a:pt x="5992" y="8542"/>
                  <a:pt x="5453" y="8609"/>
                </a:cubicBezTo>
                <a:lnTo>
                  <a:pt x="5453" y="10000"/>
                </a:lnTo>
                <a:lnTo>
                  <a:pt x="4545" y="10000"/>
                </a:lnTo>
                <a:lnTo>
                  <a:pt x="4545" y="8609"/>
                </a:lnTo>
                <a:cubicBezTo>
                  <a:pt x="4005" y="8542"/>
                  <a:pt x="3507" y="8363"/>
                  <a:pt x="3049" y="8073"/>
                </a:cubicBezTo>
                <a:cubicBezTo>
                  <a:pt x="2591" y="7781"/>
                  <a:pt x="2217" y="7407"/>
                  <a:pt x="1927" y="6950"/>
                </a:cubicBezTo>
                <a:cubicBezTo>
                  <a:pt x="1636" y="6492"/>
                  <a:pt x="1457" y="5994"/>
                  <a:pt x="1391" y="5455"/>
                </a:cubicBezTo>
                <a:lnTo>
                  <a:pt x="0" y="5455"/>
                </a:lnTo>
                <a:lnTo>
                  <a:pt x="0" y="4545"/>
                </a:lnTo>
                <a:lnTo>
                  <a:pt x="1391" y="4545"/>
                </a:lnTo>
                <a:cubicBezTo>
                  <a:pt x="1457" y="4005"/>
                  <a:pt x="1636" y="3507"/>
                  <a:pt x="1927" y="3050"/>
                </a:cubicBezTo>
                <a:cubicBezTo>
                  <a:pt x="2217" y="2592"/>
                  <a:pt x="2591" y="2218"/>
                  <a:pt x="3049" y="1927"/>
                </a:cubicBezTo>
                <a:cubicBezTo>
                  <a:pt x="3507" y="1636"/>
                  <a:pt x="4005" y="1457"/>
                  <a:pt x="4545" y="1391"/>
                </a:cubicBezTo>
                <a:lnTo>
                  <a:pt x="4545" y="0"/>
                </a:lnTo>
                <a:moveTo>
                  <a:pt x="4999" y="2273"/>
                </a:moveTo>
                <a:cubicBezTo>
                  <a:pt x="4508" y="2273"/>
                  <a:pt x="4051" y="2397"/>
                  <a:pt x="3627" y="2645"/>
                </a:cubicBezTo>
                <a:cubicBezTo>
                  <a:pt x="3214" y="2887"/>
                  <a:pt x="2887" y="3215"/>
                  <a:pt x="2645" y="3627"/>
                </a:cubicBezTo>
                <a:cubicBezTo>
                  <a:pt x="2396" y="4051"/>
                  <a:pt x="2272" y="4509"/>
                  <a:pt x="2272" y="5000"/>
                </a:cubicBezTo>
                <a:cubicBezTo>
                  <a:pt x="2272" y="5490"/>
                  <a:pt x="2396" y="5948"/>
                  <a:pt x="2645" y="6373"/>
                </a:cubicBezTo>
                <a:cubicBezTo>
                  <a:pt x="2887" y="6785"/>
                  <a:pt x="3214" y="7112"/>
                  <a:pt x="3627" y="7355"/>
                </a:cubicBezTo>
                <a:cubicBezTo>
                  <a:pt x="4051" y="7603"/>
                  <a:pt x="4508" y="7727"/>
                  <a:pt x="4999" y="7727"/>
                </a:cubicBezTo>
                <a:cubicBezTo>
                  <a:pt x="5489" y="7727"/>
                  <a:pt x="5947" y="7603"/>
                  <a:pt x="6371" y="7355"/>
                </a:cubicBezTo>
                <a:cubicBezTo>
                  <a:pt x="6783" y="7112"/>
                  <a:pt x="7111" y="6785"/>
                  <a:pt x="7353" y="6373"/>
                </a:cubicBezTo>
                <a:cubicBezTo>
                  <a:pt x="7601" y="5948"/>
                  <a:pt x="7726" y="5490"/>
                  <a:pt x="7726" y="5000"/>
                </a:cubicBezTo>
                <a:cubicBezTo>
                  <a:pt x="7726" y="4509"/>
                  <a:pt x="7601" y="4051"/>
                  <a:pt x="7353" y="3627"/>
                </a:cubicBezTo>
                <a:cubicBezTo>
                  <a:pt x="7111" y="3215"/>
                  <a:pt x="6783" y="2887"/>
                  <a:pt x="6371" y="2645"/>
                </a:cubicBezTo>
                <a:cubicBezTo>
                  <a:pt x="5947" y="2397"/>
                  <a:pt x="5489" y="2273"/>
                  <a:pt x="4999" y="2273"/>
                </a:cubicBezTo>
                <a:moveTo>
                  <a:pt x="4999" y="4091"/>
                </a:moveTo>
                <a:cubicBezTo>
                  <a:pt x="5162" y="4091"/>
                  <a:pt x="5313" y="4132"/>
                  <a:pt x="5453" y="4214"/>
                </a:cubicBezTo>
                <a:cubicBezTo>
                  <a:pt x="5593" y="4295"/>
                  <a:pt x="5703" y="4405"/>
                  <a:pt x="5785" y="4545"/>
                </a:cubicBezTo>
                <a:cubicBezTo>
                  <a:pt x="5867" y="4685"/>
                  <a:pt x="5908" y="4836"/>
                  <a:pt x="5908" y="5000"/>
                </a:cubicBezTo>
                <a:cubicBezTo>
                  <a:pt x="5908" y="5163"/>
                  <a:pt x="5867" y="5315"/>
                  <a:pt x="5785" y="5455"/>
                </a:cubicBezTo>
                <a:cubicBezTo>
                  <a:pt x="5703" y="5594"/>
                  <a:pt x="5593" y="5704"/>
                  <a:pt x="5453" y="5786"/>
                </a:cubicBezTo>
                <a:cubicBezTo>
                  <a:pt x="5313" y="5868"/>
                  <a:pt x="5162" y="5909"/>
                  <a:pt x="4999" y="5909"/>
                </a:cubicBezTo>
                <a:cubicBezTo>
                  <a:pt x="4835" y="5909"/>
                  <a:pt x="4684" y="5868"/>
                  <a:pt x="4545" y="5786"/>
                </a:cubicBezTo>
                <a:cubicBezTo>
                  <a:pt x="4405" y="5704"/>
                  <a:pt x="4294" y="5594"/>
                  <a:pt x="4213" y="5455"/>
                </a:cubicBezTo>
                <a:cubicBezTo>
                  <a:pt x="4131" y="5315"/>
                  <a:pt x="4090" y="5163"/>
                  <a:pt x="4090" y="5000"/>
                </a:cubicBezTo>
                <a:cubicBezTo>
                  <a:pt x="4090" y="4836"/>
                  <a:pt x="4131" y="4685"/>
                  <a:pt x="4213" y="4545"/>
                </a:cubicBezTo>
                <a:cubicBezTo>
                  <a:pt x="4294" y="4405"/>
                  <a:pt x="4405" y="4295"/>
                  <a:pt x="4545" y="4214"/>
                </a:cubicBezTo>
                <a:cubicBezTo>
                  <a:pt x="4684" y="4132"/>
                  <a:pt x="4835" y="4091"/>
                  <a:pt x="4999" y="4091"/>
                </a:cubicBezTo>
              </a:path>
            </a:pathLst>
          </a:custGeom>
          <a:solidFill>
            <a:srgbClr val="3D5A8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4529493" y="3403253"/>
            <a:ext cx="312981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Current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4529493" y="3631853"/>
            <a:ext cx="3129817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A1A2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时间步 t（当前）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4529493" y="4041428"/>
            <a:ext cx="3367883" cy="40778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当前输入 x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与历史隐藏状态 h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t-1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融合计算，产生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新的 h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和 y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，体现RNN同时处理新旧信息的能力</a:t>
            </a:r>
            <a:endParaRPr sz="1100" b="0" i="0" strike="noStrike">
              <a:solidFill>
                <a:srgbClr val="1A1A2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529493" y="4574828"/>
            <a:ext cx="3367883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展开结构揭示所有时间步共用同一组权重 W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xh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、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W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hh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和 W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hy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，大幅减少参数量并实现跨位置统一</a:t>
            </a:r>
            <a:endParaRPr sz="1100" b="0" i="0" strike="noStrike">
              <a:solidFill>
                <a:srgbClr val="1A1A2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处理</a:t>
            </a:r>
            <a:endParaRPr sz="1100" b="0" i="0" strike="noStrike">
              <a:solidFill>
                <a:srgbClr val="1A1A2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529493" y="5766495"/>
            <a:ext cx="3129817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4529493" y="5880795"/>
            <a:ext cx="3129817" cy="2905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W</a:t>
            </a:r>
            <a:r>
              <a:rPr sz="10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xh</a:t>
            </a:r>
            <a:r>
              <a:rPr sz="19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 · W</a:t>
            </a:r>
            <a:r>
              <a:rPr sz="10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hh</a:t>
            </a:r>
            <a:r>
              <a:rPr sz="19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 · W</a:t>
            </a:r>
            <a:r>
              <a:rPr sz="10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hy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5918" y="2173486"/>
            <a:ext cx="3605799" cy="42273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AutoShape 27"/>
          <p:cNvSpPr/>
          <p:nvPr/>
        </p:nvSpPr>
        <p:spPr>
          <a:xfrm>
            <a:off x="8125918" y="2173486"/>
            <a:ext cx="3605799" cy="9525"/>
          </a:xfrm>
          <a:prstGeom prst="line">
            <a:avLst/>
          </a:prstGeom>
          <a:ln w="28575">
            <a:solidFill>
              <a:srgbClr val="3D5A80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AutoShape 28"/>
          <p:cNvSpPr/>
          <p:nvPr/>
        </p:nvSpPr>
        <p:spPr>
          <a:xfrm>
            <a:off x="8363984" y="24306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999" y="4500"/>
                </a:moveTo>
                <a:lnTo>
                  <a:pt x="4999" y="4500"/>
                </a:lnTo>
                <a:lnTo>
                  <a:pt x="4999" y="3000"/>
                </a:lnTo>
                <a:lnTo>
                  <a:pt x="6999" y="5000"/>
                </a:lnTo>
                <a:lnTo>
                  <a:pt x="4999" y="7000"/>
                </a:lnTo>
                <a:lnTo>
                  <a:pt x="4999" y="5500"/>
                </a:lnTo>
                <a:lnTo>
                  <a:pt x="2999" y="5500"/>
                </a:lnTo>
                <a:lnTo>
                  <a:pt x="2999" y="4500"/>
                </a:lnTo>
                <a:moveTo>
                  <a:pt x="4999" y="0"/>
                </a:move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</a:path>
            </a:pathLst>
          </a:custGeom>
          <a:solidFill>
            <a:srgbClr val="3D5A8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9" name="TextBox 29"/>
          <p:cNvSpPr txBox="1"/>
          <p:nvPr/>
        </p:nvSpPr>
        <p:spPr>
          <a:xfrm>
            <a:off x="8363984" y="3403253"/>
            <a:ext cx="312966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Step t+1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8363984" y="3631853"/>
            <a:ext cx="3129669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A1A2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时间步 t+1（未来）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8363984" y="4041428"/>
            <a:ext cx="3367734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作为历史信息继续参与计算，信息链条不断延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伸，理论上可捕获任意长度的序列依赖</a:t>
            </a:r>
            <a:endParaRPr sz="1100" b="0" i="0" strike="noStrike">
              <a:solidFill>
                <a:srgbClr val="1A1A2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363984" y="4574828"/>
            <a:ext cx="3367734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参数共享本质意味着无论序列多长，网络的表达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能力由固定参数集决定，这是RNN高效建模的关</a:t>
            </a:r>
            <a:endParaRPr sz="1100" b="0" i="0" strike="noStrike">
              <a:solidFill>
                <a:srgbClr val="1A1A2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键</a:t>
            </a:r>
            <a:endParaRPr sz="1100" b="0" i="0" strike="noStrike">
              <a:solidFill>
                <a:srgbClr val="1A1A2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363984" y="5766495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TextBox 34"/>
          <p:cNvSpPr txBox="1"/>
          <p:nvPr/>
        </p:nvSpPr>
        <p:spPr>
          <a:xfrm>
            <a:off x="8363984" y="5880795"/>
            <a:ext cx="3129669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参数共享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2A2A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alphaModFix amt="100000"/>
          </a:blip>
          <a:srcRect l="440" r="440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12156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5619684" y="2558951"/>
            <a:ext cx="656926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EDF1F7">
                    <a:alpha val="6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Chapter 03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510302" y="2992338"/>
            <a:ext cx="9168347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EDF1F7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RNN的典型应用场景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809298" y="4013299"/>
            <a:ext cx="8570358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EDF1F7">
                    <a:alpha val="74901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从自然语言处理到时间序列预测，探索序列建模的多元应用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Applications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3342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RNN的四大典型应用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276350"/>
            <a:ext cx="9522" cy="649486"/>
          </a:xfrm>
          <a:prstGeom prst="line">
            <a:avLst/>
          </a:prstGeom>
          <a:ln w="9525">
            <a:solidFill>
              <a:srgbClr val="2D5DA1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3144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RNN凭借对序列数据的强大建模能力，在自然语言处理、语音识别和时间序列预测等多个领域展现出广泛应用价值，能够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完成文本生成、机器翻译、情感分析等复杂任务，是早期深度学习在序列问题上的重要突破。</a:t>
            </a:r>
            <a:endParaRPr sz="1600" b="0" i="1" strike="noStrike">
              <a:solidFill>
                <a:srgbClr val="1A1A1A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097286"/>
            <a:ext cx="5570732" cy="2085082"/>
          </a:xfrm>
          <a:prstGeom prst="rect">
            <a:avLst/>
          </a:prstGeom>
          <a:solidFill>
            <a:srgbClr val="ECE7DE">
              <a:alpha val="100000"/>
            </a:srgbClr>
          </a:solidFill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2097286"/>
            <a:ext cx="5570732" cy="9525"/>
          </a:xfrm>
          <a:prstGeom prst="line">
            <a:avLst/>
          </a:prstGeom>
          <a:ln w="28575">
            <a:solidFill>
              <a:srgbClr val="2D5DA1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31692" y="2308621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188" y="6020"/>
                </a:moveTo>
                <a:cubicBezTo>
                  <a:pt x="2054" y="6333"/>
                  <a:pt x="1943" y="6630"/>
                  <a:pt x="1855" y="6910"/>
                </a:cubicBezTo>
                <a:cubicBezTo>
                  <a:pt x="2395" y="6556"/>
                  <a:pt x="3029" y="6340"/>
                  <a:pt x="3755" y="6260"/>
                </a:cubicBezTo>
                <a:cubicBezTo>
                  <a:pt x="4436" y="6180"/>
                  <a:pt x="5073" y="5953"/>
                  <a:pt x="5666" y="5580"/>
                </a:cubicBezTo>
                <a:cubicBezTo>
                  <a:pt x="6243" y="5213"/>
                  <a:pt x="6691" y="4763"/>
                  <a:pt x="7010" y="4230"/>
                </a:cubicBezTo>
                <a:lnTo>
                  <a:pt x="6210" y="3500"/>
                </a:lnTo>
                <a:lnTo>
                  <a:pt x="7543" y="2290"/>
                </a:lnTo>
                <a:cubicBezTo>
                  <a:pt x="7787" y="2070"/>
                  <a:pt x="8054" y="1676"/>
                  <a:pt x="8343" y="1110"/>
                </a:cubicBezTo>
                <a:cubicBezTo>
                  <a:pt x="6824" y="1323"/>
                  <a:pt x="5550" y="1850"/>
                  <a:pt x="4521" y="2690"/>
                </a:cubicBezTo>
                <a:cubicBezTo>
                  <a:pt x="3551" y="3490"/>
                  <a:pt x="2773" y="4600"/>
                  <a:pt x="2188" y="6020"/>
                </a:cubicBezTo>
                <a:moveTo>
                  <a:pt x="8332" y="3000"/>
                </a:moveTo>
                <a:lnTo>
                  <a:pt x="7776" y="3500"/>
                </a:lnTo>
                <a:lnTo>
                  <a:pt x="8332" y="4000"/>
                </a:lnTo>
                <a:cubicBezTo>
                  <a:pt x="8139" y="4513"/>
                  <a:pt x="7839" y="4996"/>
                  <a:pt x="7432" y="5450"/>
                </a:cubicBezTo>
                <a:cubicBezTo>
                  <a:pt x="6994" y="5930"/>
                  <a:pt x="6483" y="6323"/>
                  <a:pt x="5899" y="6630"/>
                </a:cubicBezTo>
                <a:cubicBezTo>
                  <a:pt x="5269" y="6963"/>
                  <a:pt x="4599" y="7170"/>
                  <a:pt x="3888" y="7250"/>
                </a:cubicBezTo>
                <a:cubicBezTo>
                  <a:pt x="2406" y="7416"/>
                  <a:pt x="1481" y="8333"/>
                  <a:pt x="1111" y="10000"/>
                </a:cubicBezTo>
                <a:lnTo>
                  <a:pt x="0" y="10000"/>
                </a:lnTo>
                <a:lnTo>
                  <a:pt x="33" y="9810"/>
                </a:lnTo>
                <a:cubicBezTo>
                  <a:pt x="203" y="8890"/>
                  <a:pt x="363" y="8153"/>
                  <a:pt x="511" y="7600"/>
                </a:cubicBezTo>
                <a:cubicBezTo>
                  <a:pt x="763" y="6640"/>
                  <a:pt x="1070" y="5780"/>
                  <a:pt x="1433" y="5020"/>
                </a:cubicBezTo>
                <a:cubicBezTo>
                  <a:pt x="1899" y="4060"/>
                  <a:pt x="2466" y="3240"/>
                  <a:pt x="3133" y="2560"/>
                </a:cubicBezTo>
                <a:cubicBezTo>
                  <a:pt x="3910" y="1760"/>
                  <a:pt x="4828" y="1146"/>
                  <a:pt x="5888" y="720"/>
                </a:cubicBezTo>
                <a:cubicBezTo>
                  <a:pt x="7080" y="240"/>
                  <a:pt x="8450" y="0"/>
                  <a:pt x="9998" y="0"/>
                </a:cubicBezTo>
                <a:cubicBezTo>
                  <a:pt x="9442" y="1500"/>
                  <a:pt x="8887" y="2500"/>
                  <a:pt x="8332" y="3000"/>
                </a:cubicBezTo>
              </a:path>
            </a:pathLst>
          </a:custGeom>
          <a:solidFill>
            <a:srgbClr val="2D5DA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930092" y="2297311"/>
            <a:ext cx="1942614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文本生成与语言建模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57061" y="2827288"/>
            <a:ext cx="5370756" cy="3524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RNN学习字符或词语的序列模式，生成连贯文本，如Karpathy展示的莎士比亚风格诗歌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生成</a:t>
            </a:r>
            <a:endParaRPr sz="1000" b="0" i="0" strike="noStrike">
              <a:solidFill>
                <a:srgbClr val="1A1A1A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57061" y="3303538"/>
            <a:ext cx="537075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语言模型预测下一个词的概率分布，量化文本序列合理性，支撑拼写纠错和输入法联想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7061" y="3744218"/>
            <a:ext cx="5170782" cy="9525"/>
          </a:xfrm>
          <a:prstGeom prst="line">
            <a:avLst/>
          </a:prstGeom>
          <a:ln w="9525">
            <a:solidFill>
              <a:srgbClr val="D0C9BC">
                <a:alpha val="70196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657061" y="3848993"/>
            <a:ext cx="517078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2D5DA1">
                    <a:alpha val="70196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Text Generation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61134" y="2097286"/>
            <a:ext cx="5570732" cy="2085082"/>
          </a:xfrm>
          <a:prstGeom prst="rect">
            <a:avLst/>
          </a:prstGeom>
          <a:solidFill>
            <a:srgbClr val="ECE7DE">
              <a:alpha val="100000"/>
            </a:srgbClr>
          </a:solidFill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6161134" y="2097286"/>
            <a:ext cx="5570732" cy="9525"/>
          </a:xfrm>
          <a:prstGeom prst="line">
            <a:avLst/>
          </a:prstGeom>
          <a:ln w="28575">
            <a:solidFill>
              <a:srgbClr val="2D5DA1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6456336" y="2297311"/>
            <a:ext cx="89512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机器翻译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361109" y="2927300"/>
            <a:ext cx="517078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编码器-解码器架构将源语言句子编码为向量表示，再解码生成目标语言翻译结果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61109" y="3203525"/>
            <a:ext cx="537075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编码器压缩源句语义为固定维度向量，解码器逐步生成目标序列，输入输出长度可不同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61109" y="3744218"/>
            <a:ext cx="5170782" cy="9525"/>
          </a:xfrm>
          <a:prstGeom prst="line">
            <a:avLst/>
          </a:prstGeom>
          <a:ln w="9525">
            <a:solidFill>
              <a:srgbClr val="D0C9BC">
                <a:alpha val="7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6361109" y="3848993"/>
            <a:ext cx="517078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2D5DA1">
                    <a:alpha val="70196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Seq2Seq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7086" y="4315718"/>
            <a:ext cx="5570732" cy="2085082"/>
          </a:xfrm>
          <a:prstGeom prst="rect">
            <a:avLst/>
          </a:prstGeom>
          <a:solidFill>
            <a:srgbClr val="ECE7DE">
              <a:alpha val="100000"/>
            </a:srgbClr>
          </a:solidFill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>
            <a:off x="457086" y="4315718"/>
            <a:ext cx="5570732" cy="9525"/>
          </a:xfrm>
          <a:prstGeom prst="line">
            <a:avLst/>
          </a:prstGeom>
          <a:ln w="28575">
            <a:solidFill>
              <a:srgbClr val="2D5DA1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631692" y="4527053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909"/>
                </a:moveTo>
                <a:cubicBezTo>
                  <a:pt x="4693" y="909"/>
                  <a:pt x="4411" y="969"/>
                  <a:pt x="4155" y="1091"/>
                </a:cubicBezTo>
                <a:cubicBezTo>
                  <a:pt x="3897" y="1212"/>
                  <a:pt x="3694" y="1377"/>
                  <a:pt x="3545" y="1586"/>
                </a:cubicBezTo>
                <a:cubicBezTo>
                  <a:pt x="3395" y="1795"/>
                  <a:pt x="3321" y="2024"/>
                  <a:pt x="3321" y="2273"/>
                </a:cubicBezTo>
                <a:lnTo>
                  <a:pt x="3321" y="4091"/>
                </a:lnTo>
                <a:cubicBezTo>
                  <a:pt x="3321" y="4339"/>
                  <a:pt x="3395" y="4568"/>
                  <a:pt x="3545" y="4777"/>
                </a:cubicBezTo>
                <a:cubicBezTo>
                  <a:pt x="3694" y="4986"/>
                  <a:pt x="3897" y="5151"/>
                  <a:pt x="4155" y="5273"/>
                </a:cubicBezTo>
                <a:cubicBezTo>
                  <a:pt x="4411" y="5394"/>
                  <a:pt x="4693" y="5455"/>
                  <a:pt x="4999" y="5455"/>
                </a:cubicBezTo>
                <a:cubicBezTo>
                  <a:pt x="5305" y="5455"/>
                  <a:pt x="5586" y="5394"/>
                  <a:pt x="5843" y="5273"/>
                </a:cubicBezTo>
                <a:cubicBezTo>
                  <a:pt x="6100" y="5151"/>
                  <a:pt x="6303" y="4986"/>
                  <a:pt x="6453" y="4777"/>
                </a:cubicBezTo>
                <a:cubicBezTo>
                  <a:pt x="6602" y="4568"/>
                  <a:pt x="6677" y="4339"/>
                  <a:pt x="6677" y="4091"/>
                </a:cubicBezTo>
                <a:lnTo>
                  <a:pt x="6677" y="2273"/>
                </a:lnTo>
                <a:cubicBezTo>
                  <a:pt x="6677" y="2024"/>
                  <a:pt x="6602" y="1795"/>
                  <a:pt x="6453" y="1586"/>
                </a:cubicBezTo>
                <a:cubicBezTo>
                  <a:pt x="6303" y="1377"/>
                  <a:pt x="6100" y="1212"/>
                  <a:pt x="5843" y="1091"/>
                </a:cubicBezTo>
                <a:cubicBezTo>
                  <a:pt x="5586" y="969"/>
                  <a:pt x="5305" y="909"/>
                  <a:pt x="4999" y="909"/>
                </a:cubicBezTo>
                <a:moveTo>
                  <a:pt x="4999" y="0"/>
                </a:moveTo>
                <a:cubicBezTo>
                  <a:pt x="5505" y="0"/>
                  <a:pt x="5973" y="101"/>
                  <a:pt x="6403" y="305"/>
                </a:cubicBezTo>
                <a:cubicBezTo>
                  <a:pt x="6831" y="507"/>
                  <a:pt x="7170" y="783"/>
                  <a:pt x="7420" y="1132"/>
                </a:cubicBezTo>
                <a:cubicBezTo>
                  <a:pt x="7670" y="1480"/>
                  <a:pt x="7795" y="1861"/>
                  <a:pt x="7795" y="2273"/>
                </a:cubicBezTo>
                <a:lnTo>
                  <a:pt x="7795" y="4091"/>
                </a:lnTo>
                <a:cubicBezTo>
                  <a:pt x="7795" y="4503"/>
                  <a:pt x="7670" y="4883"/>
                  <a:pt x="7420" y="5232"/>
                </a:cubicBezTo>
                <a:cubicBezTo>
                  <a:pt x="7170" y="5580"/>
                  <a:pt x="6831" y="5856"/>
                  <a:pt x="6403" y="6059"/>
                </a:cubicBezTo>
                <a:cubicBezTo>
                  <a:pt x="5973" y="6262"/>
                  <a:pt x="5505" y="6364"/>
                  <a:pt x="4999" y="6364"/>
                </a:cubicBezTo>
                <a:cubicBezTo>
                  <a:pt x="4492" y="6364"/>
                  <a:pt x="4024" y="6262"/>
                  <a:pt x="3595" y="6059"/>
                </a:cubicBezTo>
                <a:cubicBezTo>
                  <a:pt x="3166" y="5856"/>
                  <a:pt x="2827" y="5580"/>
                  <a:pt x="2578" y="5232"/>
                </a:cubicBezTo>
                <a:cubicBezTo>
                  <a:pt x="2328" y="4883"/>
                  <a:pt x="2203" y="4503"/>
                  <a:pt x="2203" y="4091"/>
                </a:cubicBezTo>
                <a:lnTo>
                  <a:pt x="2203" y="2273"/>
                </a:lnTo>
                <a:cubicBezTo>
                  <a:pt x="2203" y="1861"/>
                  <a:pt x="2328" y="1480"/>
                  <a:pt x="2578" y="1132"/>
                </a:cubicBezTo>
                <a:cubicBezTo>
                  <a:pt x="2827" y="783"/>
                  <a:pt x="3166" y="507"/>
                  <a:pt x="3595" y="305"/>
                </a:cubicBezTo>
                <a:cubicBezTo>
                  <a:pt x="4024" y="101"/>
                  <a:pt x="4492" y="0"/>
                  <a:pt x="4999" y="0"/>
                </a:cubicBezTo>
                <a:moveTo>
                  <a:pt x="0" y="4545"/>
                </a:moveTo>
                <a:lnTo>
                  <a:pt x="1130" y="4545"/>
                </a:lnTo>
                <a:cubicBezTo>
                  <a:pt x="1219" y="5054"/>
                  <a:pt x="1444" y="5516"/>
                  <a:pt x="1806" y="5932"/>
                </a:cubicBezTo>
                <a:cubicBezTo>
                  <a:pt x="2168" y="6347"/>
                  <a:pt x="2624" y="6673"/>
                  <a:pt x="3176" y="6909"/>
                </a:cubicBezTo>
                <a:cubicBezTo>
                  <a:pt x="3742" y="7151"/>
                  <a:pt x="4350" y="7273"/>
                  <a:pt x="4999" y="7273"/>
                </a:cubicBezTo>
                <a:cubicBezTo>
                  <a:pt x="5647" y="7273"/>
                  <a:pt x="6255" y="7151"/>
                  <a:pt x="6822" y="6909"/>
                </a:cubicBezTo>
                <a:cubicBezTo>
                  <a:pt x="7373" y="6673"/>
                  <a:pt x="7830" y="6347"/>
                  <a:pt x="8192" y="5932"/>
                </a:cubicBezTo>
                <a:cubicBezTo>
                  <a:pt x="8553" y="5516"/>
                  <a:pt x="8778" y="5054"/>
                  <a:pt x="8868" y="4545"/>
                </a:cubicBezTo>
                <a:lnTo>
                  <a:pt x="9998" y="4545"/>
                </a:lnTo>
                <a:cubicBezTo>
                  <a:pt x="9916" y="5169"/>
                  <a:pt x="9666" y="5748"/>
                  <a:pt x="9249" y="6282"/>
                </a:cubicBezTo>
                <a:cubicBezTo>
                  <a:pt x="8846" y="6797"/>
                  <a:pt x="8328" y="7218"/>
                  <a:pt x="7694" y="7545"/>
                </a:cubicBezTo>
                <a:cubicBezTo>
                  <a:pt x="7038" y="7885"/>
                  <a:pt x="6326" y="8088"/>
                  <a:pt x="5558" y="8155"/>
                </a:cubicBezTo>
                <a:lnTo>
                  <a:pt x="5558" y="10000"/>
                </a:lnTo>
                <a:lnTo>
                  <a:pt x="4440" y="10000"/>
                </a:lnTo>
                <a:lnTo>
                  <a:pt x="4440" y="8155"/>
                </a:lnTo>
                <a:cubicBezTo>
                  <a:pt x="3672" y="8088"/>
                  <a:pt x="2960" y="7885"/>
                  <a:pt x="2304" y="7545"/>
                </a:cubicBezTo>
                <a:cubicBezTo>
                  <a:pt x="1670" y="7218"/>
                  <a:pt x="1151" y="6797"/>
                  <a:pt x="749" y="6282"/>
                </a:cubicBezTo>
                <a:cubicBezTo>
                  <a:pt x="331" y="5748"/>
                  <a:pt x="82" y="5169"/>
                  <a:pt x="0" y="4545"/>
                </a:cubicBezTo>
              </a:path>
            </a:pathLst>
          </a:custGeom>
          <a:solidFill>
            <a:srgbClr val="2D5DA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930092" y="4515743"/>
            <a:ext cx="89512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语音识别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57061" y="5145733"/>
            <a:ext cx="517078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将连续语音信号转化为文本，RNN捕获音频信号中的时序特征和语言模式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657061" y="5421958"/>
            <a:ext cx="517078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语音帧序列逐帧积累声学上下文，最终映射为字符或词级别的文本输出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57061" y="5962650"/>
            <a:ext cx="5170782" cy="9525"/>
          </a:xfrm>
          <a:prstGeom prst="line">
            <a:avLst/>
          </a:prstGeom>
          <a:ln w="9525">
            <a:solidFill>
              <a:srgbClr val="D0C9BC">
                <a:alpha val="7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TextBox 29"/>
          <p:cNvSpPr txBox="1"/>
          <p:nvPr/>
        </p:nvSpPr>
        <p:spPr>
          <a:xfrm>
            <a:off x="657061" y="6067425"/>
            <a:ext cx="517078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2D5DA1">
                    <a:alpha val="70196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Speech Recognition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61134" y="4315718"/>
            <a:ext cx="5570732" cy="2085082"/>
          </a:xfrm>
          <a:prstGeom prst="rect">
            <a:avLst/>
          </a:prstGeom>
          <a:solidFill>
            <a:srgbClr val="ECE7DE">
              <a:alpha val="100000"/>
            </a:srgbClr>
          </a:solidFill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AutoShape 31"/>
          <p:cNvSpPr/>
          <p:nvPr/>
        </p:nvSpPr>
        <p:spPr>
          <a:xfrm>
            <a:off x="6161134" y="4315718"/>
            <a:ext cx="5570732" cy="9525"/>
          </a:xfrm>
          <a:prstGeom prst="line">
            <a:avLst/>
          </a:prstGeom>
          <a:ln w="28575">
            <a:solidFill>
              <a:srgbClr val="2D5DA1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AutoShape 32"/>
          <p:cNvSpPr/>
          <p:nvPr/>
        </p:nvSpPr>
        <p:spPr>
          <a:xfrm>
            <a:off x="6335740" y="4527053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0"/>
                </a:moveTo>
                <a:lnTo>
                  <a:pt x="1068" y="0"/>
                </a:lnTo>
                <a:lnTo>
                  <a:pt x="1068" y="8889"/>
                </a:lnTo>
                <a:lnTo>
                  <a:pt x="9613" y="8889"/>
                </a:lnTo>
                <a:lnTo>
                  <a:pt x="9613" y="10000"/>
                </a:lnTo>
                <a:lnTo>
                  <a:pt x="0" y="10000"/>
                </a:lnTo>
                <a:lnTo>
                  <a:pt x="0" y="0"/>
                </a:lnTo>
                <a:moveTo>
                  <a:pt x="6943" y="4211"/>
                </a:moveTo>
                <a:lnTo>
                  <a:pt x="9240" y="1833"/>
                </a:lnTo>
                <a:lnTo>
                  <a:pt x="9998" y="2611"/>
                </a:lnTo>
                <a:lnTo>
                  <a:pt x="6943" y="5789"/>
                </a:lnTo>
                <a:lnTo>
                  <a:pt x="5341" y="4122"/>
                </a:lnTo>
                <a:lnTo>
                  <a:pt x="3055" y="6500"/>
                </a:lnTo>
                <a:lnTo>
                  <a:pt x="2297" y="5722"/>
                </a:lnTo>
                <a:lnTo>
                  <a:pt x="5341" y="2544"/>
                </a:lnTo>
              </a:path>
            </a:pathLst>
          </a:custGeom>
          <a:solidFill>
            <a:srgbClr val="2D5DA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3" name="TextBox 33"/>
          <p:cNvSpPr txBox="1"/>
          <p:nvPr/>
        </p:nvSpPr>
        <p:spPr>
          <a:xfrm>
            <a:off x="6634141" y="4515743"/>
            <a:ext cx="131412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时间序列预测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361109" y="5145733"/>
            <a:ext cx="517078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在股票预测、气象预报、流量预估等场景中，学习历史数据的趋势和周期性规律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6361109" y="5421958"/>
            <a:ext cx="517078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对历史窗口数据序列建模，预测未来时间步数值变化，适用于连续型回归任务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361109" y="5962650"/>
            <a:ext cx="5170782" cy="9525"/>
          </a:xfrm>
          <a:prstGeom prst="line">
            <a:avLst/>
          </a:prstGeom>
          <a:ln w="9525">
            <a:solidFill>
              <a:srgbClr val="D0C9BC">
                <a:alpha val="70196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TextBox 37"/>
          <p:cNvSpPr txBox="1"/>
          <p:nvPr/>
        </p:nvSpPr>
        <p:spPr>
          <a:xfrm>
            <a:off x="6361109" y="6067425"/>
            <a:ext cx="517078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2D5DA1">
                    <a:alpha val="70196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Time Series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4901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Neural Network Architecture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7152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RNN的输入输出模式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71600"/>
            <a:ext cx="9522" cy="649486"/>
          </a:xfrm>
          <a:prstGeom prst="line">
            <a:avLst/>
          </a:prstGeom>
          <a:ln w="9525">
            <a:solidFill>
              <a:srgbClr val="C45A3C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4097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RNN的灵活性体现在其支持多种输入输出模式：多对一适用于分类任务，多对多适用于序列标注和翻译，不同的模式选择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决定了网络的架构设计和信息聚合方式。</a:t>
            </a:r>
            <a:endParaRPr sz="1600" b="0" i="1" strike="noStrike">
              <a:solidFill>
                <a:srgbClr val="1A1A1A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249686"/>
            <a:ext cx="3605799" cy="4151114"/>
          </a:xfrm>
          <a:prstGeom prst="rect">
            <a:avLst/>
          </a:prstGeom>
          <a:solidFill>
            <a:srgbClr val="ECE7DE">
              <a:alpha val="100000"/>
            </a:srgbClr>
          </a:solidFill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2249686"/>
            <a:ext cx="3605799" cy="9525"/>
          </a:xfrm>
          <a:prstGeom prst="line">
            <a:avLst/>
          </a:prstGeom>
          <a:ln w="28575">
            <a:solidFill>
              <a:srgbClr val="C45A3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95151" y="25449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545" y="0"/>
                </a:moveTo>
                <a:lnTo>
                  <a:pt x="5453" y="0"/>
                </a:lnTo>
                <a:lnTo>
                  <a:pt x="5453" y="1391"/>
                </a:lnTo>
                <a:cubicBezTo>
                  <a:pt x="5992" y="1457"/>
                  <a:pt x="6491" y="1636"/>
                  <a:pt x="6949" y="1927"/>
                </a:cubicBezTo>
                <a:cubicBezTo>
                  <a:pt x="7406" y="2218"/>
                  <a:pt x="7780" y="2592"/>
                  <a:pt x="8071" y="3050"/>
                </a:cubicBezTo>
                <a:cubicBezTo>
                  <a:pt x="8361" y="3507"/>
                  <a:pt x="8540" y="4005"/>
                  <a:pt x="8607" y="4545"/>
                </a:cubicBezTo>
                <a:lnTo>
                  <a:pt x="9998" y="4545"/>
                </a:lnTo>
                <a:lnTo>
                  <a:pt x="9998" y="5455"/>
                </a:lnTo>
                <a:lnTo>
                  <a:pt x="8607" y="5455"/>
                </a:lnTo>
                <a:cubicBezTo>
                  <a:pt x="8540" y="5994"/>
                  <a:pt x="8361" y="6492"/>
                  <a:pt x="8071" y="6950"/>
                </a:cubicBezTo>
                <a:cubicBezTo>
                  <a:pt x="7780" y="7407"/>
                  <a:pt x="7406" y="7781"/>
                  <a:pt x="6949" y="8073"/>
                </a:cubicBezTo>
                <a:cubicBezTo>
                  <a:pt x="6491" y="8363"/>
                  <a:pt x="5992" y="8542"/>
                  <a:pt x="5453" y="8609"/>
                </a:cubicBezTo>
                <a:lnTo>
                  <a:pt x="5453" y="10000"/>
                </a:lnTo>
                <a:lnTo>
                  <a:pt x="4545" y="10000"/>
                </a:lnTo>
                <a:lnTo>
                  <a:pt x="4545" y="8609"/>
                </a:lnTo>
                <a:cubicBezTo>
                  <a:pt x="4005" y="8542"/>
                  <a:pt x="3507" y="8363"/>
                  <a:pt x="3049" y="8073"/>
                </a:cubicBezTo>
                <a:cubicBezTo>
                  <a:pt x="2591" y="7781"/>
                  <a:pt x="2217" y="7407"/>
                  <a:pt x="1927" y="6950"/>
                </a:cubicBezTo>
                <a:cubicBezTo>
                  <a:pt x="1636" y="6492"/>
                  <a:pt x="1457" y="5994"/>
                  <a:pt x="1391" y="5455"/>
                </a:cubicBezTo>
                <a:lnTo>
                  <a:pt x="0" y="5455"/>
                </a:lnTo>
                <a:lnTo>
                  <a:pt x="0" y="4545"/>
                </a:lnTo>
                <a:lnTo>
                  <a:pt x="1391" y="4545"/>
                </a:lnTo>
                <a:cubicBezTo>
                  <a:pt x="1457" y="4005"/>
                  <a:pt x="1636" y="3507"/>
                  <a:pt x="1927" y="3050"/>
                </a:cubicBezTo>
                <a:cubicBezTo>
                  <a:pt x="2217" y="2592"/>
                  <a:pt x="2591" y="2218"/>
                  <a:pt x="3049" y="1927"/>
                </a:cubicBezTo>
                <a:cubicBezTo>
                  <a:pt x="3507" y="1636"/>
                  <a:pt x="4005" y="1457"/>
                  <a:pt x="4545" y="1391"/>
                </a:cubicBezTo>
                <a:lnTo>
                  <a:pt x="4545" y="0"/>
                </a:lnTo>
                <a:moveTo>
                  <a:pt x="4999" y="2273"/>
                </a:moveTo>
                <a:cubicBezTo>
                  <a:pt x="4508" y="2273"/>
                  <a:pt x="4051" y="2397"/>
                  <a:pt x="3627" y="2645"/>
                </a:cubicBezTo>
                <a:cubicBezTo>
                  <a:pt x="3214" y="2887"/>
                  <a:pt x="2887" y="3215"/>
                  <a:pt x="2645" y="3627"/>
                </a:cubicBezTo>
                <a:cubicBezTo>
                  <a:pt x="2396" y="4051"/>
                  <a:pt x="2272" y="4509"/>
                  <a:pt x="2272" y="5000"/>
                </a:cubicBezTo>
                <a:cubicBezTo>
                  <a:pt x="2272" y="5490"/>
                  <a:pt x="2396" y="5948"/>
                  <a:pt x="2645" y="6373"/>
                </a:cubicBezTo>
                <a:cubicBezTo>
                  <a:pt x="2887" y="6785"/>
                  <a:pt x="3214" y="7112"/>
                  <a:pt x="3627" y="7355"/>
                </a:cubicBezTo>
                <a:cubicBezTo>
                  <a:pt x="4051" y="7603"/>
                  <a:pt x="4508" y="7727"/>
                  <a:pt x="4999" y="7727"/>
                </a:cubicBezTo>
                <a:cubicBezTo>
                  <a:pt x="5489" y="7727"/>
                  <a:pt x="5947" y="7603"/>
                  <a:pt x="6371" y="7355"/>
                </a:cubicBezTo>
                <a:cubicBezTo>
                  <a:pt x="6783" y="7112"/>
                  <a:pt x="7111" y="6785"/>
                  <a:pt x="7353" y="6373"/>
                </a:cubicBezTo>
                <a:cubicBezTo>
                  <a:pt x="7601" y="5948"/>
                  <a:pt x="7726" y="5490"/>
                  <a:pt x="7726" y="5000"/>
                </a:cubicBezTo>
                <a:cubicBezTo>
                  <a:pt x="7726" y="4509"/>
                  <a:pt x="7601" y="4051"/>
                  <a:pt x="7353" y="3627"/>
                </a:cubicBezTo>
                <a:cubicBezTo>
                  <a:pt x="7111" y="3215"/>
                  <a:pt x="6783" y="2887"/>
                  <a:pt x="6371" y="2645"/>
                </a:cubicBezTo>
                <a:cubicBezTo>
                  <a:pt x="5947" y="2397"/>
                  <a:pt x="5489" y="2273"/>
                  <a:pt x="4999" y="2273"/>
                </a:cubicBezTo>
                <a:moveTo>
                  <a:pt x="4999" y="4091"/>
                </a:moveTo>
                <a:cubicBezTo>
                  <a:pt x="5162" y="4091"/>
                  <a:pt x="5313" y="4132"/>
                  <a:pt x="5453" y="4214"/>
                </a:cubicBezTo>
                <a:cubicBezTo>
                  <a:pt x="5593" y="4295"/>
                  <a:pt x="5703" y="4405"/>
                  <a:pt x="5785" y="4545"/>
                </a:cubicBezTo>
                <a:cubicBezTo>
                  <a:pt x="5867" y="4685"/>
                  <a:pt x="5908" y="4836"/>
                  <a:pt x="5908" y="5000"/>
                </a:cubicBezTo>
                <a:cubicBezTo>
                  <a:pt x="5908" y="5163"/>
                  <a:pt x="5867" y="5315"/>
                  <a:pt x="5785" y="5455"/>
                </a:cubicBezTo>
                <a:cubicBezTo>
                  <a:pt x="5703" y="5594"/>
                  <a:pt x="5593" y="5704"/>
                  <a:pt x="5453" y="5786"/>
                </a:cubicBezTo>
                <a:cubicBezTo>
                  <a:pt x="5313" y="5868"/>
                  <a:pt x="5162" y="5909"/>
                  <a:pt x="4999" y="5909"/>
                </a:cubicBezTo>
                <a:cubicBezTo>
                  <a:pt x="4835" y="5909"/>
                  <a:pt x="4684" y="5868"/>
                  <a:pt x="4545" y="5786"/>
                </a:cubicBezTo>
                <a:cubicBezTo>
                  <a:pt x="4405" y="5704"/>
                  <a:pt x="4294" y="5594"/>
                  <a:pt x="4213" y="5455"/>
                </a:cubicBezTo>
                <a:cubicBezTo>
                  <a:pt x="4131" y="5315"/>
                  <a:pt x="4090" y="5163"/>
                  <a:pt x="4090" y="5000"/>
                </a:cubicBezTo>
                <a:cubicBezTo>
                  <a:pt x="4090" y="4836"/>
                  <a:pt x="4131" y="4685"/>
                  <a:pt x="4213" y="4545"/>
                </a:cubicBezTo>
                <a:cubicBezTo>
                  <a:pt x="4294" y="4405"/>
                  <a:pt x="4405" y="4295"/>
                  <a:pt x="4545" y="4214"/>
                </a:cubicBezTo>
                <a:cubicBezTo>
                  <a:pt x="4684" y="4132"/>
                  <a:pt x="4835" y="4091"/>
                  <a:pt x="4999" y="4091"/>
                </a:cubicBezTo>
              </a:path>
            </a:pathLst>
          </a:custGeom>
          <a:solidFill>
            <a:srgbClr val="C45A3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695151" y="3154561"/>
            <a:ext cx="3129669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多对一模式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95151" y="3583186"/>
            <a:ext cx="3367734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输入完整序列后仅在最后一个时间步产生输出，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适用于文本分类、情感分析等整体判断任务。</a:t>
            </a:r>
            <a:endParaRPr sz="1100" b="0" i="0" strike="noStrike">
              <a:solidFill>
                <a:srgbClr val="1A1A1A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95151" y="4149923"/>
            <a:ext cx="3367734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最终隐藏状态聚合了整个序列的信息，相当于对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整个输入做了一个全局特征提取。</a:t>
            </a:r>
            <a:endParaRPr sz="1100" b="0" i="0" strike="noStrike">
              <a:solidFill>
                <a:srgbClr val="1A1A1A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95151" y="5709345"/>
            <a:ext cx="3129669" cy="9525"/>
          </a:xfrm>
          <a:prstGeom prst="line">
            <a:avLst/>
          </a:prstGeom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695151" y="5842695"/>
            <a:ext cx="3129669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C45A3C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分类任务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291428" y="2249686"/>
            <a:ext cx="3605948" cy="4151114"/>
          </a:xfrm>
          <a:prstGeom prst="rect">
            <a:avLst/>
          </a:prstGeom>
          <a:solidFill>
            <a:srgbClr val="ECE7DE">
              <a:alpha val="100000"/>
            </a:srgbClr>
          </a:solidFill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4291428" y="2249686"/>
            <a:ext cx="3605948" cy="9525"/>
          </a:xfrm>
          <a:prstGeom prst="line">
            <a:avLst/>
          </a:prstGeom>
          <a:ln w="28575">
            <a:solidFill>
              <a:srgbClr val="C45A3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4529493" y="25449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812" y="3708"/>
                </a:moveTo>
                <a:lnTo>
                  <a:pt x="5551" y="2979"/>
                </a:lnTo>
                <a:lnTo>
                  <a:pt x="6290" y="3708"/>
                </a:lnTo>
                <a:cubicBezTo>
                  <a:pt x="6755" y="4173"/>
                  <a:pt x="7071" y="4725"/>
                  <a:pt x="7238" y="5365"/>
                </a:cubicBezTo>
                <a:cubicBezTo>
                  <a:pt x="7398" y="5983"/>
                  <a:pt x="7398" y="6601"/>
                  <a:pt x="7238" y="7219"/>
                </a:cubicBezTo>
                <a:cubicBezTo>
                  <a:pt x="7071" y="7851"/>
                  <a:pt x="6755" y="8399"/>
                  <a:pt x="6290" y="8865"/>
                </a:cubicBezTo>
                <a:lnTo>
                  <a:pt x="6103" y="9052"/>
                </a:lnTo>
                <a:cubicBezTo>
                  <a:pt x="5637" y="9517"/>
                  <a:pt x="5085" y="9833"/>
                  <a:pt x="4447" y="10000"/>
                </a:cubicBezTo>
                <a:cubicBezTo>
                  <a:pt x="3836" y="10160"/>
                  <a:pt x="3222" y="10160"/>
                  <a:pt x="2604" y="10000"/>
                </a:cubicBezTo>
                <a:cubicBezTo>
                  <a:pt x="1965" y="9833"/>
                  <a:pt x="1413" y="9517"/>
                  <a:pt x="948" y="9052"/>
                </a:cubicBezTo>
                <a:cubicBezTo>
                  <a:pt x="482" y="8586"/>
                  <a:pt x="166" y="8034"/>
                  <a:pt x="0" y="7396"/>
                </a:cubicBezTo>
                <a:cubicBezTo>
                  <a:pt x="-160" y="6778"/>
                  <a:pt x="-160" y="6163"/>
                  <a:pt x="0" y="5552"/>
                </a:cubicBezTo>
                <a:cubicBezTo>
                  <a:pt x="166" y="4913"/>
                  <a:pt x="482" y="4361"/>
                  <a:pt x="948" y="3896"/>
                </a:cubicBezTo>
                <a:lnTo>
                  <a:pt x="1687" y="4635"/>
                </a:lnTo>
                <a:cubicBezTo>
                  <a:pt x="1353" y="4968"/>
                  <a:pt x="1128" y="5357"/>
                  <a:pt x="1010" y="5802"/>
                </a:cubicBezTo>
                <a:cubicBezTo>
                  <a:pt x="892" y="6246"/>
                  <a:pt x="892" y="6693"/>
                  <a:pt x="1010" y="7141"/>
                </a:cubicBezTo>
                <a:cubicBezTo>
                  <a:pt x="1128" y="7589"/>
                  <a:pt x="1353" y="7979"/>
                  <a:pt x="1687" y="8313"/>
                </a:cubicBezTo>
                <a:cubicBezTo>
                  <a:pt x="2020" y="8646"/>
                  <a:pt x="2411" y="8872"/>
                  <a:pt x="2859" y="8990"/>
                </a:cubicBezTo>
                <a:cubicBezTo>
                  <a:pt x="3307" y="9108"/>
                  <a:pt x="3753" y="9108"/>
                  <a:pt x="4197" y="8990"/>
                </a:cubicBezTo>
                <a:cubicBezTo>
                  <a:pt x="4641" y="8872"/>
                  <a:pt x="5030" y="8646"/>
                  <a:pt x="5364" y="8313"/>
                </a:cubicBezTo>
                <a:lnTo>
                  <a:pt x="5551" y="8135"/>
                </a:lnTo>
                <a:cubicBezTo>
                  <a:pt x="5884" y="7795"/>
                  <a:pt x="6110" y="7402"/>
                  <a:pt x="6228" y="6958"/>
                </a:cubicBezTo>
                <a:cubicBezTo>
                  <a:pt x="6346" y="6514"/>
                  <a:pt x="6346" y="6068"/>
                  <a:pt x="6228" y="5620"/>
                </a:cubicBezTo>
                <a:cubicBezTo>
                  <a:pt x="6110" y="5172"/>
                  <a:pt x="5884" y="4781"/>
                  <a:pt x="5551" y="4448"/>
                </a:cubicBezTo>
                <a:lnTo>
                  <a:pt x="4812" y="3708"/>
                </a:lnTo>
                <a:moveTo>
                  <a:pt x="9050" y="6104"/>
                </a:moveTo>
                <a:lnTo>
                  <a:pt x="8311" y="5365"/>
                </a:lnTo>
                <a:cubicBezTo>
                  <a:pt x="8644" y="5031"/>
                  <a:pt x="8870" y="4642"/>
                  <a:pt x="8988" y="4198"/>
                </a:cubicBezTo>
                <a:cubicBezTo>
                  <a:pt x="9106" y="3753"/>
                  <a:pt x="9106" y="3307"/>
                  <a:pt x="8988" y="2859"/>
                </a:cubicBezTo>
                <a:cubicBezTo>
                  <a:pt x="8870" y="2411"/>
                  <a:pt x="8644" y="2021"/>
                  <a:pt x="8311" y="1688"/>
                </a:cubicBezTo>
                <a:cubicBezTo>
                  <a:pt x="7977" y="1354"/>
                  <a:pt x="7587" y="1128"/>
                  <a:pt x="7139" y="1010"/>
                </a:cubicBezTo>
                <a:cubicBezTo>
                  <a:pt x="6691" y="892"/>
                  <a:pt x="6245" y="892"/>
                  <a:pt x="5801" y="1010"/>
                </a:cubicBezTo>
                <a:cubicBezTo>
                  <a:pt x="5356" y="1128"/>
                  <a:pt x="4967" y="1354"/>
                  <a:pt x="4634" y="1688"/>
                </a:cubicBezTo>
                <a:lnTo>
                  <a:pt x="4447" y="1865"/>
                </a:lnTo>
                <a:cubicBezTo>
                  <a:pt x="4113" y="2205"/>
                  <a:pt x="3888" y="2597"/>
                  <a:pt x="3770" y="3042"/>
                </a:cubicBezTo>
                <a:cubicBezTo>
                  <a:pt x="3652" y="3486"/>
                  <a:pt x="3652" y="3932"/>
                  <a:pt x="3770" y="4380"/>
                </a:cubicBezTo>
                <a:cubicBezTo>
                  <a:pt x="3888" y="4828"/>
                  <a:pt x="4113" y="5218"/>
                  <a:pt x="4447" y="5552"/>
                </a:cubicBezTo>
                <a:lnTo>
                  <a:pt x="5186" y="6292"/>
                </a:lnTo>
                <a:lnTo>
                  <a:pt x="4447" y="7021"/>
                </a:lnTo>
                <a:lnTo>
                  <a:pt x="3708" y="6292"/>
                </a:lnTo>
                <a:cubicBezTo>
                  <a:pt x="3242" y="5826"/>
                  <a:pt x="2926" y="5274"/>
                  <a:pt x="2760" y="4635"/>
                </a:cubicBezTo>
                <a:cubicBezTo>
                  <a:pt x="2600" y="4017"/>
                  <a:pt x="2600" y="3399"/>
                  <a:pt x="2760" y="2781"/>
                </a:cubicBezTo>
                <a:cubicBezTo>
                  <a:pt x="2926" y="2149"/>
                  <a:pt x="3242" y="1600"/>
                  <a:pt x="3708" y="1135"/>
                </a:cubicBezTo>
                <a:lnTo>
                  <a:pt x="3895" y="948"/>
                </a:lnTo>
                <a:cubicBezTo>
                  <a:pt x="4360" y="482"/>
                  <a:pt x="4912" y="166"/>
                  <a:pt x="5551" y="0"/>
                </a:cubicBezTo>
                <a:cubicBezTo>
                  <a:pt x="6161" y="-160"/>
                  <a:pt x="6776" y="-160"/>
                  <a:pt x="7394" y="0"/>
                </a:cubicBezTo>
                <a:cubicBezTo>
                  <a:pt x="8032" y="166"/>
                  <a:pt x="8584" y="482"/>
                  <a:pt x="9050" y="948"/>
                </a:cubicBezTo>
                <a:cubicBezTo>
                  <a:pt x="9515" y="1413"/>
                  <a:pt x="9831" y="1965"/>
                  <a:pt x="9998" y="2604"/>
                </a:cubicBezTo>
                <a:cubicBezTo>
                  <a:pt x="10158" y="3222"/>
                  <a:pt x="10158" y="3836"/>
                  <a:pt x="9998" y="4448"/>
                </a:cubicBezTo>
                <a:cubicBezTo>
                  <a:pt x="9831" y="5086"/>
                  <a:pt x="9515" y="5638"/>
                  <a:pt x="9050" y="6104"/>
                </a:cubicBezTo>
              </a:path>
            </a:pathLst>
          </a:custGeom>
          <a:solidFill>
            <a:srgbClr val="C45A3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4529493" y="3154561"/>
            <a:ext cx="3129817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多对多模式（同步）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529493" y="3583186"/>
            <a:ext cx="3367883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每个时间步都有对应的输出，适用于词性标注、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命名实体识别等序列标注任务。</a:t>
            </a:r>
            <a:endParaRPr sz="1100" b="0" i="0" strike="noStrike">
              <a:solidFill>
                <a:srgbClr val="1A1A1A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529493" y="4149923"/>
            <a:ext cx="3367883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输入和输出序列长度相同，网络需要同时维护时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序记忆并做出逐步决策。</a:t>
            </a:r>
            <a:endParaRPr sz="1100" b="0" i="0" strike="noStrike">
              <a:solidFill>
                <a:srgbClr val="1A1A1A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529493" y="5709345"/>
            <a:ext cx="3129817" cy="9525"/>
          </a:xfrm>
          <a:prstGeom prst="line">
            <a:avLst/>
          </a:prstGeom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4529493" y="5842695"/>
            <a:ext cx="3129817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C45A3C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序列标注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5918" y="2249686"/>
            <a:ext cx="3605799" cy="4151114"/>
          </a:xfrm>
          <a:prstGeom prst="rect">
            <a:avLst/>
          </a:prstGeom>
          <a:solidFill>
            <a:srgbClr val="ECE7DE">
              <a:alpha val="100000"/>
            </a:srgbClr>
          </a:solidFill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8125918" y="2249686"/>
            <a:ext cx="3605799" cy="9525"/>
          </a:xfrm>
          <a:prstGeom prst="line">
            <a:avLst/>
          </a:prstGeom>
          <a:ln w="28575">
            <a:solidFill>
              <a:srgbClr val="C45A3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>
            <a:off x="8363984" y="25449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6936" y="4211"/>
                </a:moveTo>
                <a:lnTo>
                  <a:pt x="7893" y="4211"/>
                </a:lnTo>
                <a:lnTo>
                  <a:pt x="9998" y="10000"/>
                </a:lnTo>
                <a:lnTo>
                  <a:pt x="8965" y="10000"/>
                </a:lnTo>
                <a:lnTo>
                  <a:pt x="8391" y="8421"/>
                </a:lnTo>
                <a:lnTo>
                  <a:pt x="6429" y="8421"/>
                </a:lnTo>
                <a:lnTo>
                  <a:pt x="5855" y="10000"/>
                </a:lnTo>
                <a:lnTo>
                  <a:pt x="4832" y="10000"/>
                </a:lnTo>
                <a:lnTo>
                  <a:pt x="6936" y="4211"/>
                </a:lnTo>
                <a:moveTo>
                  <a:pt x="2870" y="0"/>
                </a:moveTo>
                <a:lnTo>
                  <a:pt x="3827" y="0"/>
                </a:lnTo>
                <a:lnTo>
                  <a:pt x="3827" y="1053"/>
                </a:lnTo>
                <a:lnTo>
                  <a:pt x="6697" y="1053"/>
                </a:lnTo>
                <a:lnTo>
                  <a:pt x="6697" y="2105"/>
                </a:lnTo>
                <a:lnTo>
                  <a:pt x="5750" y="2105"/>
                </a:lnTo>
                <a:cubicBezTo>
                  <a:pt x="5374" y="3347"/>
                  <a:pt x="4796" y="4452"/>
                  <a:pt x="4018" y="5421"/>
                </a:cubicBezTo>
                <a:cubicBezTo>
                  <a:pt x="4362" y="5765"/>
                  <a:pt x="4736" y="6063"/>
                  <a:pt x="5138" y="6316"/>
                </a:cubicBezTo>
                <a:lnTo>
                  <a:pt x="4774" y="7305"/>
                </a:lnTo>
                <a:cubicBezTo>
                  <a:pt x="4264" y="6989"/>
                  <a:pt x="3785" y="6610"/>
                  <a:pt x="3339" y="6168"/>
                </a:cubicBezTo>
                <a:cubicBezTo>
                  <a:pt x="2465" y="7038"/>
                  <a:pt x="1476" y="7663"/>
                  <a:pt x="373" y="8042"/>
                </a:cubicBezTo>
                <a:lnTo>
                  <a:pt x="124" y="7021"/>
                </a:lnTo>
                <a:cubicBezTo>
                  <a:pt x="1062" y="6698"/>
                  <a:pt x="1910" y="6165"/>
                  <a:pt x="2669" y="5421"/>
                </a:cubicBezTo>
                <a:cubicBezTo>
                  <a:pt x="2121" y="4740"/>
                  <a:pt x="1671" y="3986"/>
                  <a:pt x="1320" y="3158"/>
                </a:cubicBezTo>
                <a:lnTo>
                  <a:pt x="2392" y="3158"/>
                </a:lnTo>
                <a:cubicBezTo>
                  <a:pt x="2660" y="3705"/>
                  <a:pt x="2975" y="4210"/>
                  <a:pt x="3339" y="4674"/>
                </a:cubicBezTo>
                <a:cubicBezTo>
                  <a:pt x="3938" y="3916"/>
                  <a:pt x="4404" y="3059"/>
                  <a:pt x="4736" y="2105"/>
                </a:cubicBezTo>
                <a:lnTo>
                  <a:pt x="0" y="2105"/>
                </a:lnTo>
                <a:lnTo>
                  <a:pt x="0" y="1053"/>
                </a:lnTo>
                <a:lnTo>
                  <a:pt x="2870" y="1053"/>
                </a:lnTo>
                <a:lnTo>
                  <a:pt x="2870" y="0"/>
                </a:lnTo>
                <a:moveTo>
                  <a:pt x="8008" y="7368"/>
                </a:moveTo>
                <a:lnTo>
                  <a:pt x="7415" y="5726"/>
                </a:lnTo>
                <a:lnTo>
                  <a:pt x="6812" y="7368"/>
                </a:lnTo>
              </a:path>
            </a:pathLst>
          </a:custGeom>
          <a:solidFill>
            <a:srgbClr val="C45A3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8363984" y="3154561"/>
            <a:ext cx="3129669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编码器-解码器模式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363984" y="3583186"/>
            <a:ext cx="3367734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编码器处理输入序列并压缩为上下文向量，解码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器据此生成不同长度的输出序列。</a:t>
            </a:r>
            <a:endParaRPr sz="1100" b="0" i="0" strike="noStrike">
              <a:solidFill>
                <a:srgbClr val="1A1A1A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363984" y="4149923"/>
            <a:ext cx="3367734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经典应用于机器翻译场景，输入和输出序列长度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可以不同，架构灵活度高。</a:t>
            </a:r>
            <a:endParaRPr sz="1100" b="0" i="0" strike="noStrike">
              <a:solidFill>
                <a:srgbClr val="1A1A1A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363984" y="5709345"/>
            <a:ext cx="3129669" cy="9525"/>
          </a:xfrm>
          <a:prstGeom prst="line">
            <a:avLst/>
          </a:prstGeom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8363984" y="5842695"/>
            <a:ext cx="3129669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C45A3C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机器翻译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alphaModFix amt="100000"/>
          </a:blip>
          <a:srcRect l="440" r="440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12156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5638283" y="2558951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0F2F5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04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033799" y="2992338"/>
            <a:ext cx="10121354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0F2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RNN的训练挑战与应对策略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735200" y="4013299"/>
            <a:ext cx="8718553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0F2F5">
                    <a:alpha val="8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深入分析梯度消失与梯度爆炸问题，理解BPTT算法的核心困境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1D5D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Backpropagation Through Time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5247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2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BPTT梯度传播公式全貌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333500"/>
            <a:ext cx="9522" cy="649486"/>
          </a:xfrm>
          <a:prstGeom prst="line">
            <a:avLst/>
          </a:prstGeom>
          <a:ln w="9525">
            <a:solidFill>
              <a:srgbClr val="3D5A80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580880" y="13716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2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BPTT反向传播中，损失函数对隐藏状态的梯度涉及多个雅可比矩阵的连续相乘。梯度公式中的连乘项决定了梯度随时间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2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步的传播行为。</a:t>
            </a:r>
            <a:endParaRPr sz="1600" b="0" i="1" strike="noStrike">
              <a:solidFill>
                <a:srgbClr val="1A1A2E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086" y="2173486"/>
            <a:ext cx="3605799" cy="42273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457086" y="2173486"/>
            <a:ext cx="3605799" cy="9525"/>
          </a:xfrm>
          <a:prstGeom prst="line">
            <a:avLst/>
          </a:prstGeom>
          <a:ln w="28575">
            <a:solidFill>
              <a:srgbClr val="3D5A80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695151" y="2421136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4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28158" y="2487811"/>
            <a:ext cx="190452" cy="9525"/>
          </a:xfrm>
          <a:prstGeom prst="rect">
            <a:avLst/>
          </a:prstGeom>
          <a:solidFill>
            <a:srgbClr val="C5CDD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2" name="TextBox 12"/>
          <p:cNvSpPr txBox="1"/>
          <p:nvPr/>
        </p:nvSpPr>
        <p:spPr>
          <a:xfrm>
            <a:off x="695151" y="3612952"/>
            <a:ext cx="312966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A2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核心公式结构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95151" y="4003178"/>
            <a:ext cx="3129669" cy="19466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∂L/∂h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= Σ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k≥t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( ∂L/∂y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k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· Π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j=t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k−1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∂h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j+1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/∂h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j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)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95151" y="4361557"/>
            <a:ext cx="3367734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2E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求和遍历所有后续时间步 k≥t，连乘从 j=t 到 k−1，汇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2E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聚每个未来时刻对当前梯度的贡献</a:t>
            </a:r>
            <a:endParaRPr sz="1000" b="0" i="0" strike="noStrike">
              <a:solidFill>
                <a:srgbClr val="1A1A2E">
                  <a:alpha val="72156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95151" y="5808464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695151" y="5922764"/>
            <a:ext cx="312966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Σ · Π 双重聚合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291428" y="2173486"/>
            <a:ext cx="3605948" cy="42273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AutoShape 18"/>
          <p:cNvSpPr/>
          <p:nvPr/>
        </p:nvSpPr>
        <p:spPr>
          <a:xfrm>
            <a:off x="4291428" y="2173486"/>
            <a:ext cx="3605948" cy="9525"/>
          </a:xfrm>
          <a:prstGeom prst="line">
            <a:avLst/>
          </a:prstGeom>
          <a:ln w="28575">
            <a:solidFill>
              <a:srgbClr val="3D5A80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Box 19"/>
          <p:cNvSpPr txBox="1"/>
          <p:nvPr/>
        </p:nvSpPr>
        <p:spPr>
          <a:xfrm>
            <a:off x="4529493" y="2421136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4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762500" y="2487811"/>
            <a:ext cx="190452" cy="9525"/>
          </a:xfrm>
          <a:prstGeom prst="rect">
            <a:avLst/>
          </a:prstGeom>
          <a:solidFill>
            <a:srgbClr val="C5CDD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4529493" y="3612952"/>
            <a:ext cx="3129817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A2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雅可比矩阵构成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4529493" y="4018657"/>
            <a:ext cx="3129817" cy="17918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∂h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j+1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/∂h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j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= diag(σ′(z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j+1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)) · W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hh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4529493" y="4361557"/>
            <a:ext cx="3367883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2E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包含激活函数导数与循环权重矩阵的乘积，控制梯度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2E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在相邻时间步之间的缩放比例</a:t>
            </a:r>
            <a:endParaRPr sz="1000" b="0" i="0" strike="noStrike">
              <a:solidFill>
                <a:srgbClr val="1A1A2E">
                  <a:alpha val="72156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529493" y="5808464"/>
            <a:ext cx="3129817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4529493" y="5922764"/>
            <a:ext cx="3129817" cy="2678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σ′ · W</a:t>
            </a:r>
            <a:r>
              <a:rPr sz="12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hh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5918" y="2173486"/>
            <a:ext cx="3605799" cy="42273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AutoShape 27"/>
          <p:cNvSpPr/>
          <p:nvPr/>
        </p:nvSpPr>
        <p:spPr>
          <a:xfrm>
            <a:off x="8125918" y="2173486"/>
            <a:ext cx="3605799" cy="9525"/>
          </a:xfrm>
          <a:prstGeom prst="line">
            <a:avLst/>
          </a:prstGeom>
          <a:ln w="28575">
            <a:solidFill>
              <a:srgbClr val="3D5A80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TextBox 28"/>
          <p:cNvSpPr txBox="1"/>
          <p:nvPr/>
        </p:nvSpPr>
        <p:spPr>
          <a:xfrm>
            <a:off x="8363984" y="2421136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2E">
                    <a:alpha val="4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03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596991" y="2487811"/>
            <a:ext cx="190452" cy="9525"/>
          </a:xfrm>
          <a:prstGeom prst="rect">
            <a:avLst/>
          </a:prstGeom>
          <a:solidFill>
            <a:srgbClr val="C5CDD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8363984" y="3498652"/>
            <a:ext cx="312966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A2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谱范数决定行为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8363984" y="3904357"/>
            <a:ext cx="3367734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连乘项 Π(∂h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j+1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/∂h</a:t>
            </a:r>
            <a:r>
              <a:rPr sz="8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j</a:t>
            </a:r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) 的最大特征值决定梯度传播的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2E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收敛或发散</a:t>
            </a:r>
            <a:endParaRPr sz="1100" b="0" i="0" strike="noStrike">
              <a:solidFill>
                <a:srgbClr val="1A1A2E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363984" y="4475857"/>
            <a:ext cx="3367734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2E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最大特征值 &lt;1 导致指数衰减（梯度消失），&gt;1 导致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2E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指数增长（梯度爆炸）</a:t>
            </a:r>
            <a:endParaRPr sz="1000" b="0" i="0" strike="noStrike">
              <a:solidFill>
                <a:srgbClr val="1A1A2E">
                  <a:alpha val="72156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363984" y="5808464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TextBox 34"/>
          <p:cNvSpPr txBox="1"/>
          <p:nvPr/>
        </p:nvSpPr>
        <p:spPr>
          <a:xfrm>
            <a:off x="8363984" y="5922764"/>
            <a:ext cx="3129669" cy="2678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λ</a:t>
            </a:r>
            <a:r>
              <a:rPr sz="12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max</a:t>
            </a:r>
            <a:r>
              <a:rPr sz="1600" b="0" i="0" strike="noStrike">
                <a:solidFill>
                  <a:srgbClr val="3D5A8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 ⇌ 稳定性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B">
                    <a:alpha val="50196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Deep Learning · RNN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42950"/>
            <a:ext cx="11274781" cy="381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梯度消失问题逐项拆解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251496"/>
            <a:ext cx="9522" cy="649486"/>
          </a:xfrm>
          <a:prstGeom prst="line">
            <a:avLst/>
          </a:prstGeom>
          <a:ln w="9525">
            <a:solidFill>
              <a:srgbClr val="2B4C7E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580880" y="1289596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B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梯度消失是RNN训练的核心难题，源于BPTT反向传播过程中梯度的连乘效应——当循环权重矩阵特征值小于1时，梯度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B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随时间步数指数衰减，导致网络无法有效学习长距离依赖关系。</a:t>
            </a:r>
            <a:endParaRPr sz="1600" b="0" i="1" strike="noStrike">
              <a:solidFill>
                <a:srgbClr val="1A1A1B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086" y="2091482"/>
            <a:ext cx="5570732" cy="2087909"/>
          </a:xfrm>
          <a:prstGeom prst="rect">
            <a:avLst/>
          </a:prstGeom>
          <a:solidFill>
            <a:srgbClr val="F1EDE6">
              <a:alpha val="100000"/>
            </a:srgbClr>
          </a:solidFill>
          <a:ln w="9525">
            <a:solidFill>
              <a:srgbClr val="D9D3C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457086" y="2091482"/>
            <a:ext cx="5570732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676106" y="2772965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B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076056" y="2753916"/>
            <a:ext cx="473274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BPTT连乘效应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076056" y="3102472"/>
            <a:ext cx="4751786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B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梯度反向传播需经过多个时间步，每步乘以循环权重矩阵转置与激活函数导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B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数之积，形成梯度连乘链。</a:t>
            </a:r>
            <a:endParaRPr sz="1100" b="0" i="0" strike="noStrike">
              <a:solidFill>
                <a:srgbClr val="1A1A1B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61134" y="2091482"/>
            <a:ext cx="5570732" cy="2087909"/>
          </a:xfrm>
          <a:prstGeom prst="rect">
            <a:avLst/>
          </a:prstGeom>
          <a:solidFill>
            <a:srgbClr val="F1EDE6">
              <a:alpha val="100000"/>
            </a:srgbClr>
          </a:solidFill>
          <a:ln w="9525">
            <a:solidFill>
              <a:srgbClr val="D9D3C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>
            <a:off x="6161134" y="2091482"/>
            <a:ext cx="5570732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TextBox 15"/>
          <p:cNvSpPr txBox="1"/>
          <p:nvPr/>
        </p:nvSpPr>
        <p:spPr>
          <a:xfrm>
            <a:off x="6380155" y="2772965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B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780105" y="2753916"/>
            <a:ext cx="473274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指数级衰减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780105" y="3102472"/>
            <a:ext cx="4732741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B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tanh导数最大值为1且实际远小于1，若权重矩阵最大特征值&lt;1，连乘结果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B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趋近于零，前层参数几乎无法更新。</a:t>
            </a:r>
            <a:endParaRPr sz="1100" b="0" i="0" strike="noStrike">
              <a:solidFill>
                <a:srgbClr val="1A1A1B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57086" y="4312741"/>
            <a:ext cx="5570732" cy="2088059"/>
          </a:xfrm>
          <a:prstGeom prst="rect">
            <a:avLst/>
          </a:prstGeom>
          <a:solidFill>
            <a:srgbClr val="F1EDE6">
              <a:alpha val="100000"/>
            </a:srgbClr>
          </a:solidFill>
          <a:ln w="9525">
            <a:solidFill>
              <a:srgbClr val="D9D3C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>
            <a:off x="457086" y="4312741"/>
            <a:ext cx="5570732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676106" y="4994374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B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76056" y="4975324"/>
            <a:ext cx="473274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长期依赖失败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76056" y="5323879"/>
            <a:ext cx="4732741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B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网络无法建立相隔多步的输入输出关联，如句子开头的"中国"与末尾的"中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B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文"之间的语义联系被丢失。</a:t>
            </a:r>
            <a:endParaRPr sz="1100" b="0" i="0" strike="noStrike">
              <a:solidFill>
                <a:srgbClr val="1A1A1B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161134" y="4312741"/>
            <a:ext cx="5570732" cy="2088059"/>
          </a:xfrm>
          <a:prstGeom prst="rect">
            <a:avLst/>
          </a:prstGeom>
          <a:solidFill>
            <a:srgbClr val="F1EDE6">
              <a:alpha val="100000"/>
            </a:srgbClr>
          </a:solidFill>
          <a:ln w="9525">
            <a:solidFill>
              <a:srgbClr val="D9D3C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6161134" y="4312741"/>
            <a:ext cx="5570732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6380155" y="4994374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B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04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780105" y="4975324"/>
            <a:ext cx="473274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传话游戏类比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6780105" y="5323879"/>
            <a:ext cx="4751786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B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信息经多人传递后严重失真，早期输入的信息在深层网络中逐渐丢失，每一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B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层的衰减都加剧了最终输出的偏差。</a:t>
            </a:r>
            <a:endParaRPr sz="1100" b="0" i="0" strike="noStrike">
              <a:solidFill>
                <a:srgbClr val="1A1A1B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BPTT · 训练稳定性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7152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梯度爆炸与早期应对策略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52550"/>
            <a:ext cx="9522" cy="649486"/>
          </a:xfrm>
          <a:prstGeom prst="line">
            <a:avLst/>
          </a:prstGeom>
          <a:ln w="9525">
            <a:solidFill>
              <a:srgbClr val="C23A2B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99925" y="139065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梯度爆炸是RNN训练的另一极端问题，当循环权重特征值大于1时梯度指数增长导致训练发散。虽然梯度裁剪能缓解爆炸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问题，但梯度消失仍无有效解决方案，这直接推动了LSTM等门控循环单元的诞生。</a:t>
            </a:r>
            <a:endParaRPr sz="1600" b="0" i="1" strike="noStrike">
              <a:solidFill>
                <a:srgbClr val="1A1A1A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230636"/>
            <a:ext cx="3605799" cy="4170164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2230636"/>
            <a:ext cx="3605799" cy="9525"/>
          </a:xfrm>
          <a:prstGeom prst="line">
            <a:avLst/>
          </a:prstGeom>
          <a:ln w="28575">
            <a:solidFill>
              <a:srgbClr val="C23A2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57061" y="2449711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0"/>
                </a:move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6999" y="5000"/>
                </a:moveTo>
                <a:lnTo>
                  <a:pt x="5499" y="5000"/>
                </a:lnTo>
                <a:lnTo>
                  <a:pt x="5499" y="7000"/>
                </a:lnTo>
                <a:lnTo>
                  <a:pt x="4499" y="7000"/>
                </a:lnTo>
                <a:lnTo>
                  <a:pt x="4499" y="5000"/>
                </a:lnTo>
                <a:lnTo>
                  <a:pt x="2999" y="5000"/>
                </a:lnTo>
                <a:lnTo>
                  <a:pt x="4999" y="3000"/>
                </a:lnTo>
              </a:path>
            </a:pathLst>
          </a:custGeom>
          <a:solidFill>
            <a:srgbClr val="C23A2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657061" y="2954536"/>
            <a:ext cx="3205850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梯度爆炸成因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57061" y="3321248"/>
            <a:ext cx="3405824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循环权重矩阵特征值大于1时，梯度连乘结果指数增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长，参数更新幅度过大导致训练不稳定</a:t>
            </a:r>
            <a:endParaRPr sz="1000" b="0" i="0" strike="noStrike">
              <a:solidFill>
                <a:srgbClr val="1A1A1A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57061" y="3810596"/>
            <a:ext cx="3405824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与梯度消失互为镜像，同源于BPTT连乘效应，但方向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相反——一个是衰减趋零，一个是增长趋无穷</a:t>
            </a:r>
            <a:endParaRPr sz="1000" b="0" i="0" strike="noStrike">
              <a:solidFill>
                <a:srgbClr val="1A1A1A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57061" y="5823645"/>
            <a:ext cx="3205850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657061" y="5918895"/>
            <a:ext cx="3205850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C23A2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λ &gt; 1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291428" y="2230636"/>
            <a:ext cx="3605948" cy="4170164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4291428" y="2230636"/>
            <a:ext cx="3605948" cy="9525"/>
          </a:xfrm>
          <a:prstGeom prst="line">
            <a:avLst/>
          </a:prstGeom>
          <a:ln w="28575">
            <a:solidFill>
              <a:srgbClr val="C23A2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4491403" y="2449711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721" y="5536"/>
                </a:moveTo>
                <a:lnTo>
                  <a:pt x="7476" y="3282"/>
                </a:lnTo>
                <a:lnTo>
                  <a:pt x="8254" y="3927"/>
                </a:lnTo>
                <a:lnTo>
                  <a:pt x="4721" y="6818"/>
                </a:lnTo>
                <a:lnTo>
                  <a:pt x="2366" y="4891"/>
                </a:lnTo>
                <a:lnTo>
                  <a:pt x="3155" y="4245"/>
                </a:lnTo>
              </a:path>
            </a:pathLst>
          </a:custGeom>
          <a:solidFill>
            <a:srgbClr val="C23A2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4491403" y="2954536"/>
            <a:ext cx="320599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应对策略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491403" y="3321248"/>
            <a:ext cx="3405972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梯度裁剪</a:t>
            </a:r>
            <a:r>
              <a:rPr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：设定梯度范数阈值，超过阈值时按比例缩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放，强制将梯度控制在合理范围内，有效防止参数发散</a:t>
            </a:r>
            <a:endParaRPr sz="1000" b="0" i="0" strike="noStrike">
              <a:solidFill>
                <a:srgbClr val="1A1A1A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491403" y="3810596"/>
            <a:ext cx="3405972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权重初始化</a:t>
            </a:r>
            <a:r>
              <a:rPr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：采用正交初始化或小方差初始化，避免初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始权重过大导致训练初期即出现梯度异常</a:t>
            </a:r>
            <a:endParaRPr sz="1000" b="0" i="0" strike="noStrike">
              <a:solidFill>
                <a:srgbClr val="1A1A1A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491403" y="5823645"/>
            <a:ext cx="3205998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4491403" y="5918895"/>
            <a:ext cx="3205998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C23A2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Clipping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5918" y="2230636"/>
            <a:ext cx="3605799" cy="4170164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8125918" y="2230636"/>
            <a:ext cx="3605799" cy="9525"/>
          </a:xfrm>
          <a:prstGeom prst="line">
            <a:avLst/>
          </a:prstGeom>
          <a:ln w="28575">
            <a:solidFill>
              <a:srgbClr val="C23A2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>
            <a:off x="8325894" y="2449711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737" y="7619"/>
                </a:moveTo>
                <a:lnTo>
                  <a:pt x="4374" y="7619"/>
                </a:lnTo>
                <a:lnTo>
                  <a:pt x="4374" y="5238"/>
                </a:lnTo>
                <a:lnTo>
                  <a:pt x="5624" y="5238"/>
                </a:lnTo>
                <a:lnTo>
                  <a:pt x="5624" y="7619"/>
                </a:lnTo>
                <a:lnTo>
                  <a:pt x="6261" y="7619"/>
                </a:lnTo>
                <a:cubicBezTo>
                  <a:pt x="6303" y="7346"/>
                  <a:pt x="6419" y="7079"/>
                  <a:pt x="6611" y="6819"/>
                </a:cubicBezTo>
                <a:cubicBezTo>
                  <a:pt x="6777" y="6584"/>
                  <a:pt x="7023" y="6330"/>
                  <a:pt x="7349" y="6057"/>
                </a:cubicBezTo>
                <a:lnTo>
                  <a:pt x="7523" y="5914"/>
                </a:lnTo>
                <a:cubicBezTo>
                  <a:pt x="7765" y="5724"/>
                  <a:pt x="7898" y="5619"/>
                  <a:pt x="7923" y="5600"/>
                </a:cubicBezTo>
                <a:cubicBezTo>
                  <a:pt x="8189" y="5346"/>
                  <a:pt x="8394" y="5066"/>
                  <a:pt x="8536" y="4762"/>
                </a:cubicBezTo>
                <a:cubicBezTo>
                  <a:pt x="8677" y="4457"/>
                  <a:pt x="8748" y="4140"/>
                  <a:pt x="8748" y="3810"/>
                </a:cubicBezTo>
                <a:cubicBezTo>
                  <a:pt x="8748" y="3295"/>
                  <a:pt x="8577" y="2815"/>
                  <a:pt x="8236" y="2371"/>
                </a:cubicBezTo>
                <a:cubicBezTo>
                  <a:pt x="7902" y="1939"/>
                  <a:pt x="7452" y="1597"/>
                  <a:pt x="6886" y="1343"/>
                </a:cubicBezTo>
                <a:cubicBezTo>
                  <a:pt x="6302" y="1082"/>
                  <a:pt x="5673" y="952"/>
                  <a:pt x="4999" y="952"/>
                </a:cubicBezTo>
                <a:cubicBezTo>
                  <a:pt x="4324" y="952"/>
                  <a:pt x="3695" y="1082"/>
                  <a:pt x="3112" y="1343"/>
                </a:cubicBezTo>
                <a:cubicBezTo>
                  <a:pt x="2545" y="1597"/>
                  <a:pt x="2095" y="1939"/>
                  <a:pt x="1762" y="2371"/>
                </a:cubicBezTo>
                <a:cubicBezTo>
                  <a:pt x="1420" y="2815"/>
                  <a:pt x="1250" y="3295"/>
                  <a:pt x="1250" y="3810"/>
                </a:cubicBezTo>
                <a:cubicBezTo>
                  <a:pt x="1250" y="4140"/>
                  <a:pt x="1320" y="4457"/>
                  <a:pt x="1462" y="4762"/>
                </a:cubicBezTo>
                <a:cubicBezTo>
                  <a:pt x="1604" y="5066"/>
                  <a:pt x="1808" y="5342"/>
                  <a:pt x="2075" y="5590"/>
                </a:cubicBezTo>
                <a:cubicBezTo>
                  <a:pt x="2099" y="5616"/>
                  <a:pt x="2233" y="5724"/>
                  <a:pt x="2475" y="5914"/>
                </a:cubicBezTo>
                <a:lnTo>
                  <a:pt x="2649" y="6057"/>
                </a:lnTo>
                <a:cubicBezTo>
                  <a:pt x="2974" y="6330"/>
                  <a:pt x="3220" y="6584"/>
                  <a:pt x="3387" y="6819"/>
                </a:cubicBezTo>
                <a:cubicBezTo>
                  <a:pt x="3578" y="7079"/>
                  <a:pt x="3695" y="7346"/>
                  <a:pt x="3737" y="7619"/>
                </a:cubicBezTo>
                <a:moveTo>
                  <a:pt x="6249" y="8571"/>
                </a:moveTo>
                <a:lnTo>
                  <a:pt x="3749" y="8571"/>
                </a:lnTo>
                <a:lnTo>
                  <a:pt x="3749" y="9048"/>
                </a:lnTo>
                <a:lnTo>
                  <a:pt x="6249" y="9048"/>
                </a:lnTo>
                <a:lnTo>
                  <a:pt x="6249" y="8571"/>
                </a:lnTo>
                <a:moveTo>
                  <a:pt x="1100" y="6190"/>
                </a:moveTo>
                <a:cubicBezTo>
                  <a:pt x="750" y="5860"/>
                  <a:pt x="479" y="5495"/>
                  <a:pt x="287" y="5095"/>
                </a:cubicBezTo>
                <a:cubicBezTo>
                  <a:pt x="95" y="4682"/>
                  <a:pt x="0" y="4254"/>
                  <a:pt x="0" y="3810"/>
                </a:cubicBezTo>
                <a:cubicBezTo>
                  <a:pt x="0" y="3117"/>
                  <a:pt x="229" y="2476"/>
                  <a:pt x="687" y="1886"/>
                </a:cubicBezTo>
                <a:cubicBezTo>
                  <a:pt x="1129" y="1314"/>
                  <a:pt x="1725" y="860"/>
                  <a:pt x="2475" y="524"/>
                </a:cubicBezTo>
                <a:cubicBezTo>
                  <a:pt x="3249" y="174"/>
                  <a:pt x="4091" y="0"/>
                  <a:pt x="4999" y="0"/>
                </a:cubicBezTo>
                <a:cubicBezTo>
                  <a:pt x="5907" y="0"/>
                  <a:pt x="6748" y="174"/>
                  <a:pt x="7523" y="524"/>
                </a:cubicBezTo>
                <a:cubicBezTo>
                  <a:pt x="8273" y="860"/>
                  <a:pt x="8869" y="1314"/>
                  <a:pt x="9311" y="1886"/>
                </a:cubicBezTo>
                <a:cubicBezTo>
                  <a:pt x="9769" y="2476"/>
                  <a:pt x="9998" y="3117"/>
                  <a:pt x="9998" y="3810"/>
                </a:cubicBezTo>
                <a:cubicBezTo>
                  <a:pt x="9998" y="4254"/>
                  <a:pt x="9902" y="4682"/>
                  <a:pt x="9711" y="5095"/>
                </a:cubicBezTo>
                <a:cubicBezTo>
                  <a:pt x="9519" y="5495"/>
                  <a:pt x="9248" y="5860"/>
                  <a:pt x="8898" y="6190"/>
                </a:cubicBezTo>
                <a:cubicBezTo>
                  <a:pt x="8840" y="6247"/>
                  <a:pt x="8723" y="6342"/>
                  <a:pt x="8548" y="6476"/>
                </a:cubicBezTo>
                <a:cubicBezTo>
                  <a:pt x="8223" y="6736"/>
                  <a:pt x="7994" y="6943"/>
                  <a:pt x="7861" y="7095"/>
                </a:cubicBezTo>
                <a:cubicBezTo>
                  <a:pt x="7619" y="7361"/>
                  <a:pt x="7498" y="7615"/>
                  <a:pt x="7498" y="7857"/>
                </a:cubicBezTo>
                <a:lnTo>
                  <a:pt x="7498" y="9048"/>
                </a:lnTo>
                <a:cubicBezTo>
                  <a:pt x="7498" y="9219"/>
                  <a:pt x="7442" y="9378"/>
                  <a:pt x="7330" y="9524"/>
                </a:cubicBezTo>
                <a:cubicBezTo>
                  <a:pt x="7217" y="9670"/>
                  <a:pt x="7065" y="9785"/>
                  <a:pt x="6874" y="9871"/>
                </a:cubicBezTo>
                <a:cubicBezTo>
                  <a:pt x="6682" y="9957"/>
                  <a:pt x="6473" y="10000"/>
                  <a:pt x="6249" y="10000"/>
                </a:cubicBezTo>
                <a:lnTo>
                  <a:pt x="3749" y="10000"/>
                </a:lnTo>
                <a:cubicBezTo>
                  <a:pt x="3524" y="10000"/>
                  <a:pt x="3316" y="9957"/>
                  <a:pt x="3124" y="9871"/>
                </a:cubicBezTo>
                <a:cubicBezTo>
                  <a:pt x="2932" y="9785"/>
                  <a:pt x="2780" y="9670"/>
                  <a:pt x="2668" y="9524"/>
                </a:cubicBezTo>
                <a:cubicBezTo>
                  <a:pt x="2556" y="9378"/>
                  <a:pt x="2500" y="9219"/>
                  <a:pt x="2500" y="9048"/>
                </a:cubicBezTo>
                <a:lnTo>
                  <a:pt x="2500" y="7857"/>
                </a:lnTo>
                <a:cubicBezTo>
                  <a:pt x="2500" y="7615"/>
                  <a:pt x="2379" y="7361"/>
                  <a:pt x="2137" y="7095"/>
                </a:cubicBezTo>
                <a:cubicBezTo>
                  <a:pt x="2003" y="6943"/>
                  <a:pt x="1774" y="6736"/>
                  <a:pt x="1450" y="6476"/>
                </a:cubicBezTo>
                <a:cubicBezTo>
                  <a:pt x="1274" y="6342"/>
                  <a:pt x="1158" y="6247"/>
                  <a:pt x="1100" y="6190"/>
                </a:cubicBezTo>
              </a:path>
            </a:pathLst>
          </a:custGeom>
          <a:solidFill>
            <a:srgbClr val="C23A2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8325894" y="2954536"/>
            <a:ext cx="3205850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根本性挑战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325894" y="3321248"/>
            <a:ext cx="3405824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梯度裁剪只能治标不治本，梯度消失问题仍需从网络结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构层面寻求突破</a:t>
            </a:r>
            <a:endParaRPr sz="1000" b="0" i="0" strike="noStrike">
              <a:solidFill>
                <a:srgbClr val="1A1A1A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325894" y="3810596"/>
            <a:ext cx="3405824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这一未解决的难题直接催生了门控机制的设计思路，推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动了LSTM和GRU等改进架构的诞生</a:t>
            </a:r>
            <a:endParaRPr sz="1000" b="0" i="0" strike="noStrike">
              <a:solidFill>
                <a:srgbClr val="1A1A1A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325894" y="5823645"/>
            <a:ext cx="3205850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8325894" y="5918895"/>
            <a:ext cx="3205850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C23A2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LSTM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Deep Learning · RNN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7152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RNN训练难题对比总结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71600"/>
            <a:ext cx="9522" cy="649486"/>
          </a:xfrm>
          <a:prstGeom prst="line">
            <a:avLst/>
          </a:prstGeom>
          <a:ln w="9525">
            <a:solidFill>
              <a:srgbClr val="B5453A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99925" y="140970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梯度消失和梯度爆炸是RNN训练中互为镜像的两大难题，根源均在于BPTT的梯度连乘效应。梯度爆炸可通过裁剪技术有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效缓解，而梯度消失需要从网络架构层面引入门控机制等根本性解决方案。</a:t>
            </a:r>
            <a:endParaRPr sz="1600" b="0" i="1" strike="noStrike">
              <a:solidFill>
                <a:srgbClr val="1A1A1A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57086" y="2259211"/>
            <a:ext cx="1127478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梯度消失 vs 梯度爆炸</a:t>
            </a:r>
            <a:endParaRPr lang="en-US" sz="110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57086" y="2878336"/>
          <a:ext cx="11274781" cy="2914650"/>
        </p:xfrm>
        <a:graphic>
          <a:graphicData uri="http://schemas.openxmlformats.org/drawingml/2006/table">
            <a:tbl>
              <a:tblPr/>
              <a:tblGrid>
                <a:gridCol w="1231900"/>
                <a:gridCol w="4927600"/>
                <a:gridCol w="5092700"/>
              </a:tblGrid>
              <a:tr h="482600"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1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对比维度</a:t>
                      </a:r>
                      <a:endParaRPr sz="1200" b="1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  <a:solidFill>
                      <a:srgbClr val="F1EDE5">
                        <a:alpha val="100000"/>
                      </a:srgbClr>
                    </a:solidFill>
                  </a:tcPr>
                </a:tc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1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梯度消失</a:t>
                      </a:r>
                      <a:endParaRPr sz="1200" b="1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  <a:solidFill>
                      <a:srgbClr val="F1EDE5">
                        <a:alpha val="100000"/>
                      </a:srgbClr>
                    </a:solidFill>
                  </a:tcPr>
                </a:tc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1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梯度爆炸</a:t>
                      </a:r>
                      <a:endParaRPr sz="1200" b="1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  <a:solidFill>
                      <a:srgbClr val="F1EDE5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rot="0" wrap="square"/>
                    <a:p>
                      <a:pPr algn="l">
                        <a:defRPr sz="10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产生条件</a:t>
                      </a:r>
                      <a:endParaRPr sz="1000" b="0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权重矩阵最大特征值 &lt; 1</a:t>
                      </a:r>
                      <a:endParaRPr sz="1200" b="0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权重矩阵最大特征值 &gt; 1</a:t>
                      </a:r>
                      <a:endParaRPr sz="1200" b="0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</a:tr>
              <a:tr h="482600">
                <a:tc>
                  <a:txBody>
                    <a:bodyPr rot="0" wrap="square"/>
                    <a:p>
                      <a:pPr algn="l">
                        <a:defRPr sz="10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表现形式</a:t>
                      </a:r>
                      <a:endParaRPr sz="1000" b="0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梯度指数衰减趋近于零</a:t>
                      </a:r>
                      <a:endParaRPr sz="1200" b="0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梯度指数增长趋向无穷</a:t>
                      </a:r>
                      <a:endParaRPr sz="1200" b="0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</a:tr>
              <a:tr h="482600">
                <a:tc>
                  <a:txBody>
                    <a:bodyPr rot="0" wrap="square"/>
                    <a:p>
                      <a:pPr algn="l">
                        <a:defRPr sz="10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对训练的影响</a:t>
                      </a:r>
                      <a:endParaRPr sz="1000" b="0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无法学习长距离依赖关系</a:t>
                      </a:r>
                      <a:endParaRPr sz="1200" b="0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参数更新发散、训练不稳定</a:t>
                      </a:r>
                      <a:endParaRPr sz="1200" b="0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</a:tr>
              <a:tr h="482600">
                <a:tc>
                  <a:txBody>
                    <a:bodyPr rot="0" wrap="square"/>
                    <a:p>
                      <a:pPr algn="l">
                        <a:defRPr sz="10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解决难度</a:t>
                      </a:r>
                      <a:endParaRPr sz="1000" b="0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B5453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B5453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困难，需改变网络结构</a:t>
                      </a:r>
                      <a:endParaRPr sz="1200" b="0" i="0" strike="noStrike">
                        <a:solidFill>
                          <a:srgbClr val="B5453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相对简单，梯度裁剪即可</a:t>
                      </a:r>
                      <a:endParaRPr sz="1200" b="0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</a:tr>
              <a:tr h="469900">
                <a:tc>
                  <a:txBody>
                    <a:bodyPr rot="0" wrap="square"/>
                    <a:p>
                      <a:pPr algn="l">
                        <a:defRPr sz="10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典型解决方案</a:t>
                      </a:r>
                      <a:endParaRPr sz="1000" b="0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B5453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B5453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门控机制（如LSTM架构）</a:t>
                      </a:r>
                      <a:endParaRPr sz="1200" b="0" i="0" strike="noStrike">
                        <a:solidFill>
                          <a:srgbClr val="B5453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1A1A1A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梯度裁剪 + 合理权重初始化</a:t>
                      </a:r>
                      <a:endParaRPr sz="1200" b="0" i="0" strike="noStrike">
                        <a:solidFill>
                          <a:srgbClr val="1A1A1A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71450" marR="171450" marT="123825" marB="123825" vert="horz" anchor="ctr" anchorCtr="0">
                    <a:lnL w="25400">
                      <a:solidFill>
                        <a:srgbClr val="D8D2C5">
                          <a:alpha val="100000"/>
                        </a:srgbClr>
                      </a:solidFill>
                    </a:lnL>
                    <a:lnR w="25400">
                      <a:solidFill>
                        <a:srgbClr val="D8D2C5">
                          <a:alpha val="100000"/>
                        </a:srgbClr>
                      </a:solidFill>
                    </a:lnR>
                    <a:lnT w="25400">
                      <a:solidFill>
                        <a:srgbClr val="D8D2C5">
                          <a:alpha val="100000"/>
                        </a:srgbClr>
                      </a:solidFill>
                    </a:lnT>
                    <a:lnB w="25400">
                      <a:solidFill>
                        <a:srgbClr val="D8D2C5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457086" y="6187529"/>
            <a:ext cx="9522" cy="213271"/>
          </a:xfrm>
          <a:prstGeom prst="line">
            <a:avLst/>
          </a:prstGeom>
          <a:ln w="9525">
            <a:solidFill>
              <a:srgbClr val="D8D2C5">
                <a:alpha val="5490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599925" y="6216104"/>
            <a:ext cx="1113194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54901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梯度消失和梯度爆炸同源于BPTT连乘效应，但梯度消失是RNN训练的真正瓶颈，直接推动了门控循环单元的设计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2A2A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alphaModFix amt="100000"/>
          </a:blip>
          <a:srcRect l="440" r="440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18039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5338618" y="2380357"/>
            <a:ext cx="6850334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EDF0F5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Summary &amp; Outlook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2221001" y="2799457"/>
            <a:ext cx="7746948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EDF0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总结与展望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65933" y="3858518"/>
            <a:ext cx="457086" cy="9525"/>
          </a:xfrm>
          <a:prstGeom prst="rect">
            <a:avLst/>
          </a:prstGeom>
          <a:solidFill>
            <a:srgbClr val="4A5FD6">
              <a:alpha val="70196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1515659" y="4172843"/>
            <a:ext cx="9157635" cy="3238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EDF0F5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RNN奠定了序列建模的基础，其训练挑战推动了门控循环单元的持续演进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4999</Words>
  <Application>WPS 演示</Application>
  <PresentationFormat>On-screen Show (4:3)</PresentationFormat>
  <Paragraphs>585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宋体</vt:lpstr>
      <vt:lpstr>Wingdings</vt:lpstr>
      <vt:lpstr>Alibaba PuHuiTi 3.0 55 Regular</vt:lpstr>
      <vt:lpstr>Segoe Print</vt:lpstr>
      <vt:lpstr>FZYaYiHei GB18030L2 R</vt:lpstr>
      <vt:lpstr>Inter</vt:lpstr>
      <vt:lpstr>Source Han Serif CN</vt:lpstr>
      <vt:lpstr>"FZYaYiHei GB18030L2 R", sans-serif</vt:lpstr>
      <vt:lpstr>Calibri</vt:lpstr>
      <vt:lpstr>微软雅黑</vt:lpstr>
      <vt:lpstr>Arial Unicode MS</vt:lpstr>
      <vt:lpstr>"FZYaYiHei GB18030L2 R", sans-serif</vt:lpstr>
      <vt:lpstr>Alibaba PuHuiTi 3.0 55 Regular</vt:lpstr>
      <vt:lpstr>Inter</vt:lpstr>
      <vt:lpstr>Oxford Regular</vt:lpstr>
      <vt:lpstr>方正雅意黑 GB18030L2 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熹微</cp:lastModifiedBy>
  <cp:revision>2</cp:revision>
  <dcterms:created xsi:type="dcterms:W3CDTF">2006-08-16T00:00:00Z</dcterms:created>
  <dcterms:modified xsi:type="dcterms:W3CDTF">2026-08-27T08:47:12Z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BD8D32B1142E42F6A8EADBC943402BB3_12</vt:lpwstr>
  </property>
</Properties>
</file>